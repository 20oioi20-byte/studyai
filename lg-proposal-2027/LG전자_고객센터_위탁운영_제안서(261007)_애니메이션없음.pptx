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xlsx" ContentType="application/vnd.openxmlformats-officedocument.spreadsheetml.sheet"/>
  <Default Extension="mp4" ContentType="video/mp4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rts/chart8.xml" ContentType="application/vnd.openxmlformats-officedocument.drawingml.chart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rts/chart9.xml" ContentType="application/vnd.openxmlformats-officedocument.drawingml.chart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charts/chart12.xml" ContentType="application/vnd.openxmlformats-officedocument.drawingml.chart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notesSlides/notesSlide47.xml" ContentType="application/vnd.openxmlformats-officedocument.presentationml.notesSlide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19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1"/>
  </p:notesMasterIdLst>
  <p:handoutMasterIdLst>
    <p:handoutMasterId r:id="rId52"/>
  </p:handoutMasterIdLst>
  <p:sldIdLst>
    <p:sldId id="457" r:id="rId2"/>
    <p:sldId id="441" r:id="rId3"/>
    <p:sldId id="259" r:id="rId4"/>
    <p:sldId id="315" r:id="rId5"/>
    <p:sldId id="321" r:id="rId6"/>
    <p:sldId id="323" r:id="rId7"/>
    <p:sldId id="324" r:id="rId8"/>
    <p:sldId id="325" r:id="rId9"/>
    <p:sldId id="426" r:id="rId10"/>
    <p:sldId id="427" r:id="rId11"/>
    <p:sldId id="332" r:id="rId12"/>
    <p:sldId id="335" r:id="rId13"/>
    <p:sldId id="449" r:id="rId14"/>
    <p:sldId id="450" r:id="rId15"/>
    <p:sldId id="337" r:id="rId16"/>
    <p:sldId id="451" r:id="rId17"/>
    <p:sldId id="340" r:id="rId18"/>
    <p:sldId id="388" r:id="rId19"/>
    <p:sldId id="428" r:id="rId20"/>
    <p:sldId id="429" r:id="rId21"/>
    <p:sldId id="390" r:id="rId22"/>
    <p:sldId id="392" r:id="rId23"/>
    <p:sldId id="415" r:id="rId24"/>
    <p:sldId id="421" r:id="rId25"/>
    <p:sldId id="407" r:id="rId26"/>
    <p:sldId id="404" r:id="rId27"/>
    <p:sldId id="368" r:id="rId28"/>
    <p:sldId id="405" r:id="rId29"/>
    <p:sldId id="406" r:id="rId30"/>
    <p:sldId id="398" r:id="rId31"/>
    <p:sldId id="414" r:id="rId32"/>
    <p:sldId id="442" r:id="rId33"/>
    <p:sldId id="402" r:id="rId34"/>
    <p:sldId id="403" r:id="rId35"/>
    <p:sldId id="438" r:id="rId36"/>
    <p:sldId id="439" r:id="rId37"/>
    <p:sldId id="346" r:id="rId38"/>
    <p:sldId id="443" r:id="rId39"/>
    <p:sldId id="347" r:id="rId40"/>
    <p:sldId id="444" r:id="rId41"/>
    <p:sldId id="452" r:id="rId42"/>
    <p:sldId id="453" r:id="rId43"/>
    <p:sldId id="409" r:id="rId44"/>
    <p:sldId id="358" r:id="rId45"/>
    <p:sldId id="417" r:id="rId46"/>
    <p:sldId id="418" r:id="rId47"/>
    <p:sldId id="419" r:id="rId48"/>
    <p:sldId id="420" r:id="rId49"/>
    <p:sldId id="422" r:id="rId50"/>
  </p:sldIdLst>
  <p:sldSz cx="9906000" cy="6858000" type="A4"/>
  <p:notesSz cx="6858000" cy="9144000"/>
  <p:embeddedFontLst>
    <p:embeddedFont>
      <p:font typeface="kt flow thin" pitchFamily="2" charset="-127"/>
      <p:regular r:id="rId53"/>
    </p:embeddedFont>
    <p:embeddedFont>
      <p:font typeface="페이퍼로지 4 Regular" pitchFamily="2" charset="-127"/>
      <p:regular r:id="rId54"/>
    </p:embeddedFont>
    <p:embeddedFont>
      <p:font typeface="페이퍼로지 5 Medium" pitchFamily="2" charset="-127"/>
      <p:regular r:id="rId55"/>
    </p:embeddedFont>
    <p:embeddedFont>
      <p:font typeface="페이퍼로지 7 Bold" pitchFamily="2" charset="-127"/>
      <p:bold r:id="rId56"/>
    </p:embeddedFont>
    <p:embeddedFont>
      <p:font typeface="페이퍼로지 8 ExtraBold" pitchFamily="2" charset="-127"/>
      <p:bold r:id="rId57"/>
    </p:embeddedFont>
    <p:embeddedFont>
      <p:font typeface="페이퍼로지 9 Black" pitchFamily="2" charset="-127"/>
      <p:bold r:id="rId58"/>
    </p:embeddedFont>
  </p:embeddedFontLst>
  <p:defaultTextStyle>
    <a:defPPr>
      <a:defRPr lang="ko-KR"/>
    </a:defPPr>
    <a:lvl1pPr marL="0" algn="l" defTabSz="914400" rtl="0" eaLnBrk="1" latinLnBrk="1" hangingPunct="1">
      <a:defRPr sz="1462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462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462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462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462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462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462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462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46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제목 없는 구역" id="{3DA66DB7-D2C5-4D4B-8AC5-88EFC27A0899}">
          <p14:sldIdLst>
            <p14:sldId id="457"/>
            <p14:sldId id="441"/>
            <p14:sldId id="259"/>
            <p14:sldId id="315"/>
            <p14:sldId id="321"/>
            <p14:sldId id="323"/>
            <p14:sldId id="324"/>
            <p14:sldId id="325"/>
            <p14:sldId id="426"/>
            <p14:sldId id="427"/>
            <p14:sldId id="332"/>
            <p14:sldId id="335"/>
            <p14:sldId id="449"/>
            <p14:sldId id="450"/>
            <p14:sldId id="337"/>
            <p14:sldId id="451"/>
            <p14:sldId id="340"/>
            <p14:sldId id="388"/>
            <p14:sldId id="428"/>
            <p14:sldId id="429"/>
            <p14:sldId id="390"/>
            <p14:sldId id="392"/>
            <p14:sldId id="415"/>
            <p14:sldId id="421"/>
            <p14:sldId id="407"/>
            <p14:sldId id="404"/>
            <p14:sldId id="368"/>
            <p14:sldId id="405"/>
            <p14:sldId id="406"/>
            <p14:sldId id="398"/>
            <p14:sldId id="414"/>
            <p14:sldId id="442"/>
            <p14:sldId id="402"/>
            <p14:sldId id="403"/>
            <p14:sldId id="438"/>
            <p14:sldId id="439"/>
            <p14:sldId id="346"/>
            <p14:sldId id="443"/>
            <p14:sldId id="347"/>
            <p14:sldId id="444"/>
            <p14:sldId id="452"/>
            <p14:sldId id="453"/>
            <p14:sldId id="409"/>
            <p14:sldId id="358"/>
            <p14:sldId id="417"/>
            <p14:sldId id="418"/>
            <p14:sldId id="419"/>
            <p14:sldId id="420"/>
            <p14:sldId id="42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0C60"/>
    <a:srgbClr val="000000"/>
    <a:srgbClr val="F4F5F7"/>
    <a:srgbClr val="F3F4F6"/>
    <a:srgbClr val="ED2024"/>
    <a:srgbClr val="FD413E"/>
    <a:srgbClr val="C9CCD3"/>
    <a:srgbClr val="0F131F"/>
    <a:srgbClr val="F6F4F1"/>
    <a:srgbClr val="2226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86" autoAdjust="0"/>
    <p:restoredTop sz="79196" autoAdjust="0"/>
  </p:normalViewPr>
  <p:slideViewPr>
    <p:cSldViewPr snapToGrid="0">
      <p:cViewPr varScale="1">
        <p:scale>
          <a:sx n="86" d="100"/>
          <a:sy n="86" d="100"/>
        </p:scale>
        <p:origin x="2100" y="84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6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3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1.fntdata"/><Relationship Id="rId58" Type="http://schemas.openxmlformats.org/officeDocument/2006/relationships/font" Target="fonts/font6.fntdata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4.fntdata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2.fntdata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5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상시</c:v>
                </c:pt>
              </c:strCache>
            </c:strRef>
          </c:tx>
          <c:spPr>
            <a:solidFill>
              <a:srgbClr val="C9CCD3"/>
            </a:solidFill>
          </c:spPr>
          <c:invertIfNegative val="0"/>
          <c:cat>
            <c:strRef>
              <c:f>Sheet1!$A$2:$A$11</c:f>
              <c:strCache>
                <c:ptCount val="10"/>
                <c:pt idx="0">
                  <c:v>24.11</c:v>
                </c:pt>
                <c:pt idx="1">
                  <c:v>24.12</c:v>
                </c:pt>
                <c:pt idx="2">
                  <c:v>25.01</c:v>
                </c:pt>
                <c:pt idx="3">
                  <c:v>25.02</c:v>
                </c:pt>
                <c:pt idx="4">
                  <c:v>25.03</c:v>
                </c:pt>
                <c:pt idx="5">
                  <c:v>25.04</c:v>
                </c:pt>
                <c:pt idx="6">
                  <c:v>25.05</c:v>
                </c:pt>
                <c:pt idx="7">
                  <c:v>25.06</c:v>
                </c:pt>
                <c:pt idx="8">
                  <c:v>25.07</c:v>
                </c:pt>
                <c:pt idx="9">
                  <c:v>25.08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21</c:v>
                </c:pt>
                <c:pt idx="1">
                  <c:v>20</c:v>
                </c:pt>
                <c:pt idx="2">
                  <c:v>17</c:v>
                </c:pt>
                <c:pt idx="3">
                  <c:v>17</c:v>
                </c:pt>
                <c:pt idx="4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17-4769-A1F5-DF3963FCDEE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성수기</c:v>
                </c:pt>
              </c:strCache>
            </c:strRef>
          </c:tx>
          <c:spPr>
            <a:solidFill>
              <a:srgbClr val="9AA0AA"/>
            </a:solidFill>
          </c:spPr>
          <c:invertIfNegative val="0"/>
          <c:cat>
            <c:strRef>
              <c:f>Sheet1!$A$2:$A$11</c:f>
              <c:strCache>
                <c:ptCount val="10"/>
                <c:pt idx="0">
                  <c:v>24.11</c:v>
                </c:pt>
                <c:pt idx="1">
                  <c:v>24.12</c:v>
                </c:pt>
                <c:pt idx="2">
                  <c:v>25.01</c:v>
                </c:pt>
                <c:pt idx="3">
                  <c:v>25.02</c:v>
                </c:pt>
                <c:pt idx="4">
                  <c:v>25.03</c:v>
                </c:pt>
                <c:pt idx="5">
                  <c:v>25.04</c:v>
                </c:pt>
                <c:pt idx="6">
                  <c:v>25.05</c:v>
                </c:pt>
                <c:pt idx="7">
                  <c:v>25.06</c:v>
                </c:pt>
                <c:pt idx="8">
                  <c:v>25.07</c:v>
                </c:pt>
                <c:pt idx="9">
                  <c:v>25.08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5">
                  <c:v>30</c:v>
                </c:pt>
                <c:pt idx="6">
                  <c:v>46</c:v>
                </c:pt>
                <c:pt idx="7">
                  <c:v>75</c:v>
                </c:pt>
                <c:pt idx="8">
                  <c:v>63</c:v>
                </c:pt>
                <c:pt idx="9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117-4769-A1F5-DF3963FCDE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D7D3CB"/>
            </a:solidFill>
          </a:ln>
        </c:spPr>
        <c:txPr>
          <a:bodyPr/>
          <a:lstStyle/>
          <a:p>
            <a:pPr>
              <a:defRPr sz="40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8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500"/>
      </a:pPr>
      <a:endParaRPr lang="ko-KR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ln w="28575">
              <a:solidFill>
                <a:srgbClr val="E30C60"/>
              </a:solidFill>
            </a:ln>
          </c:spPr>
          <c:marker>
            <c:symbol val="none"/>
          </c:marker>
          <c:cat>
            <c:strRef>
              <c:f>Sheet1!$A$2:$A$19</c:f>
              <c:strCache>
                <c:ptCount val="1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88.9</c:v>
                </c:pt>
                <c:pt idx="1">
                  <c:v>86.3</c:v>
                </c:pt>
                <c:pt idx="2">
                  <c:v>89.3</c:v>
                </c:pt>
                <c:pt idx="3">
                  <c:v>89</c:v>
                </c:pt>
                <c:pt idx="4">
                  <c:v>88.7</c:v>
                </c:pt>
                <c:pt idx="5">
                  <c:v>88.2</c:v>
                </c:pt>
                <c:pt idx="6">
                  <c:v>91.2</c:v>
                </c:pt>
                <c:pt idx="7">
                  <c:v>94.3</c:v>
                </c:pt>
                <c:pt idx="8">
                  <c:v>95.4</c:v>
                </c:pt>
                <c:pt idx="9">
                  <c:v>94.9</c:v>
                </c:pt>
                <c:pt idx="10">
                  <c:v>94.4</c:v>
                </c:pt>
                <c:pt idx="11">
                  <c:v>94.5</c:v>
                </c:pt>
                <c:pt idx="12">
                  <c:v>92.7</c:v>
                </c:pt>
                <c:pt idx="13">
                  <c:v>94.4</c:v>
                </c:pt>
                <c:pt idx="14">
                  <c:v>93.3</c:v>
                </c:pt>
                <c:pt idx="15">
                  <c:v>94.9</c:v>
                </c:pt>
                <c:pt idx="16">
                  <c:v>93.9</c:v>
                </c:pt>
                <c:pt idx="17">
                  <c:v>92.2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70F-477A-9453-AC86B51137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D7D3CB"/>
            </a:solidFill>
          </a:ln>
        </c:spPr>
        <c:txPr>
          <a:bodyPr/>
          <a:lstStyle/>
          <a:p>
            <a:pPr>
              <a:defRPr sz="70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endParaRPr lang="ko-KR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97"/>
          <c:min val="84"/>
        </c:scaling>
        <c:delete val="1"/>
        <c:axPos val="l"/>
        <c:majorGridlines>
          <c:spPr>
            <a:ln w="6350">
              <a:solidFill>
                <a:srgbClr val="FFFFFF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500"/>
      </a:pPr>
      <a:endParaRPr lang="ko-KR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석</c:v>
                </c:pt>
              </c:strCache>
            </c:strRef>
          </c:tx>
          <c:spPr>
            <a:solidFill>
              <a:srgbClr val="E30C60"/>
            </a:solidFill>
          </c:spPr>
          <c:invertIfNegative val="0"/>
          <c:dPt>
            <c:idx val="0"/>
            <c:invertIfNegative val="1"/>
            <c:bubble3D val="0"/>
            <c:spPr>
              <a:solidFill>
                <a:srgbClr val="C9CCD3"/>
              </a:solidFill>
            </c:spPr>
            <c:extLst>
              <c:ext xmlns:c16="http://schemas.microsoft.com/office/drawing/2014/chart" uri="{C3380CC4-5D6E-409C-BE32-E72D297353CC}">
                <c16:uniqueId val="{00000001-5A40-4C81-B449-D83E36676276}"/>
              </c:ext>
            </c:extLst>
          </c:dPt>
          <c:dPt>
            <c:idx val="1"/>
            <c:invertIfNegative val="1"/>
            <c:bubble3D val="0"/>
            <c:spPr>
              <a:solidFill>
                <a:srgbClr val="F3B8CC"/>
              </a:solidFill>
            </c:spPr>
            <c:extLst>
              <c:ext xmlns:c16="http://schemas.microsoft.com/office/drawing/2014/chart" uri="{C3380CC4-5D6E-409C-BE32-E72D297353CC}">
                <c16:uniqueId val="{00000003-5A40-4C81-B449-D83E36676276}"/>
              </c:ext>
            </c:extLst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>
                    <a:solidFill>
                      <a:srgbClr val="10151F"/>
                    </a:solidFill>
                    <a:latin typeface="페이퍼로지 8 ExtraBold"/>
                    <a:ea typeface="페이퍼로지 8 ExtraBold"/>
                    <a:cs typeface="페이퍼로지 8 ExtraBol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현재 상시</c:v>
                </c:pt>
                <c:pt idx="1">
                  <c:v>2027 최소</c:v>
                </c:pt>
                <c:pt idx="2">
                  <c:v>2027 목표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</c:v>
                </c:pt>
                <c:pt idx="1">
                  <c:v>50</c:v>
                </c:pt>
                <c:pt idx="2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A40-4C81-B449-D83E3667627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D7D3CB"/>
            </a:solidFill>
          </a:ln>
        </c:spPr>
        <c:txPr>
          <a:bodyPr/>
          <a:lstStyle/>
          <a:p>
            <a:pPr>
              <a:defRPr sz="70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95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500"/>
      </a:pPr>
      <a:endParaRPr lang="ko-KR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05"/>
          <c:y val="0.08"/>
          <c:w val="0.93"/>
          <c:h val="0.7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상시 (주4일)</c:v>
                </c:pt>
              </c:strCache>
            </c:strRef>
          </c:tx>
          <c:spPr>
            <a:solidFill>
              <a:srgbClr val="C9CCD3"/>
            </a:solidFill>
            <a:effectLst/>
          </c:spPr>
          <c:invertIfNegative val="0"/>
          <c:cat>
            <c:strRef>
              <c:f>Sheet1!$A$2:$A$23</c:f>
              <c:strCache>
                <c:ptCount val="22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  <c:pt idx="20">
                  <c:v>26.09</c:v>
                </c:pt>
                <c:pt idx="21">
                  <c:v>27 제안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17</c:v>
                </c:pt>
                <c:pt idx="1">
                  <c:v>17</c:v>
                </c:pt>
                <c:pt idx="2">
                  <c:v>20</c:v>
                </c:pt>
                <c:pt idx="8">
                  <c:v>15</c:v>
                </c:pt>
                <c:pt idx="9">
                  <c:v>15</c:v>
                </c:pt>
                <c:pt idx="10">
                  <c:v>15</c:v>
                </c:pt>
                <c:pt idx="11">
                  <c:v>14</c:v>
                </c:pt>
                <c:pt idx="12">
                  <c:v>13</c:v>
                </c:pt>
                <c:pt idx="13">
                  <c:v>12</c:v>
                </c:pt>
                <c:pt idx="14">
                  <c:v>15</c:v>
                </c:pt>
                <c:pt idx="15">
                  <c:v>18</c:v>
                </c:pt>
                <c:pt idx="20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16D-4B87-99CD-9EBA87AA241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성수기 (상시+한시)</c:v>
                </c:pt>
              </c:strCache>
            </c:strRef>
          </c:tx>
          <c:spPr>
            <a:solidFill>
              <a:srgbClr val="E51F6C"/>
            </a:solidFill>
            <a:effectLst/>
          </c:spPr>
          <c:invertIfNegative val="0"/>
          <c:cat>
            <c:strRef>
              <c:f>Sheet1!$A$2:$A$23</c:f>
              <c:strCache>
                <c:ptCount val="22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  <c:pt idx="20">
                  <c:v>26.09</c:v>
                </c:pt>
                <c:pt idx="21">
                  <c:v>27 제안</c:v>
                </c:pt>
              </c:strCache>
            </c:strRef>
          </c:cat>
          <c:val>
            <c:numRef>
              <c:f>Sheet1!$C$2:$C$23</c:f>
              <c:numCache>
                <c:formatCode>General</c:formatCode>
                <c:ptCount val="22"/>
                <c:pt idx="3">
                  <c:v>30</c:v>
                </c:pt>
                <c:pt idx="4">
                  <c:v>46</c:v>
                </c:pt>
                <c:pt idx="5">
                  <c:v>75</c:v>
                </c:pt>
                <c:pt idx="6">
                  <c:v>63</c:v>
                </c:pt>
                <c:pt idx="7">
                  <c:v>45</c:v>
                </c:pt>
                <c:pt idx="16">
                  <c:v>21</c:v>
                </c:pt>
                <c:pt idx="17">
                  <c:v>52</c:v>
                </c:pt>
                <c:pt idx="18">
                  <c:v>46</c:v>
                </c:pt>
                <c:pt idx="19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16D-4B87-99CD-9EBA87AA241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2027 주5일 상시 제안</c:v>
                </c:pt>
              </c:strCache>
            </c:strRef>
          </c:tx>
          <c:spPr>
            <a:solidFill>
              <a:srgbClr val="0F131F"/>
            </a:solidFill>
            <a:effectLst/>
          </c:spPr>
          <c:invertIfNegative val="0"/>
          <c:cat>
            <c:strRef>
              <c:f>Sheet1!$A$2:$A$23</c:f>
              <c:strCache>
                <c:ptCount val="22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  <c:pt idx="20">
                  <c:v>26.09</c:v>
                </c:pt>
                <c:pt idx="21">
                  <c:v>27 제안</c:v>
                </c:pt>
              </c:strCache>
            </c:strRef>
          </c:cat>
          <c:val>
            <c:numRef>
              <c:f>Sheet1!$D$2:$D$23</c:f>
              <c:numCache>
                <c:formatCode>General</c:formatCode>
                <c:ptCount val="22"/>
                <c:pt idx="21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16D-4B87-99CD-9EBA87AA24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DED5"/>
            </a:solidFill>
            <a:prstDash val="solid"/>
            <a:round/>
          </a:ln>
        </c:spPr>
        <c:txPr>
          <a:bodyPr/>
          <a:lstStyle/>
          <a:p>
            <a:pPr>
              <a:defRPr sz="500" b="0" i="0" u="none" strike="noStrike">
                <a:solidFill>
                  <a:srgbClr val="9A9EA6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EEA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9A9EA6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endParaRPr lang="ko-KR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월 실적</c:v>
                </c:pt>
              </c:strCache>
            </c:strRef>
          </c:tx>
          <c:spPr>
            <a:ln w="15875" cap="flat">
              <a:solidFill>
                <a:srgbClr val="C9CCD3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91.9</c:v>
                </c:pt>
                <c:pt idx="1">
                  <c:v>84.3</c:v>
                </c:pt>
                <c:pt idx="2">
                  <c:v>90.5</c:v>
                </c:pt>
                <c:pt idx="3">
                  <c:v>84</c:v>
                </c:pt>
                <c:pt idx="4">
                  <c:v>93.3</c:v>
                </c:pt>
                <c:pt idx="5">
                  <c:v>89.6</c:v>
                </c:pt>
                <c:pt idx="6">
                  <c:v>83.1</c:v>
                </c:pt>
                <c:pt idx="7">
                  <c:v>92</c:v>
                </c:pt>
                <c:pt idx="8">
                  <c:v>98.6</c:v>
                </c:pt>
                <c:pt idx="9">
                  <c:v>92.4</c:v>
                </c:pt>
                <c:pt idx="10">
                  <c:v>95.1</c:v>
                </c:pt>
                <c:pt idx="11">
                  <c:v>97.1</c:v>
                </c:pt>
                <c:pt idx="12">
                  <c:v>90.9</c:v>
                </c:pt>
                <c:pt idx="13">
                  <c:v>95.6</c:v>
                </c:pt>
                <c:pt idx="14">
                  <c:v>91.7</c:v>
                </c:pt>
                <c:pt idx="15">
                  <c:v>96</c:v>
                </c:pt>
                <c:pt idx="16">
                  <c:v>92.3</c:v>
                </c:pt>
                <c:pt idx="17">
                  <c:v>96.3</c:v>
                </c:pt>
                <c:pt idx="18">
                  <c:v>93.2</c:v>
                </c:pt>
                <c:pt idx="19">
                  <c:v>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5F8-459E-899A-03EC8E9B2E5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3개월 이동평균</c:v>
                </c:pt>
              </c:strCache>
            </c:strRef>
          </c:tx>
          <c:spPr>
            <a:ln w="15875" cap="flat">
              <a:solidFill>
                <a:srgbClr val="E51F6C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2">
                  <c:v>88.9</c:v>
                </c:pt>
                <c:pt idx="3">
                  <c:v>86.3</c:v>
                </c:pt>
                <c:pt idx="4">
                  <c:v>89.3</c:v>
                </c:pt>
                <c:pt idx="5">
                  <c:v>89</c:v>
                </c:pt>
                <c:pt idx="6">
                  <c:v>88.7</c:v>
                </c:pt>
                <c:pt idx="7">
                  <c:v>88.2</c:v>
                </c:pt>
                <c:pt idx="8">
                  <c:v>91.2</c:v>
                </c:pt>
                <c:pt idx="9">
                  <c:v>94.3</c:v>
                </c:pt>
                <c:pt idx="10">
                  <c:v>95.4</c:v>
                </c:pt>
                <c:pt idx="11">
                  <c:v>94.9</c:v>
                </c:pt>
                <c:pt idx="12">
                  <c:v>94.4</c:v>
                </c:pt>
                <c:pt idx="13">
                  <c:v>94.5</c:v>
                </c:pt>
                <c:pt idx="14">
                  <c:v>92.7</c:v>
                </c:pt>
                <c:pt idx="15">
                  <c:v>94.4</c:v>
                </c:pt>
                <c:pt idx="16">
                  <c:v>93.3</c:v>
                </c:pt>
                <c:pt idx="17">
                  <c:v>94.9</c:v>
                </c:pt>
                <c:pt idx="18">
                  <c:v>93.9</c:v>
                </c:pt>
                <c:pt idx="19">
                  <c:v>92.2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5F8-459E-899A-03EC8E9B2E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DED5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9A9EA6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tickLblSkip val="3"/>
        <c:noMultiLvlLbl val="1"/>
      </c:catAx>
      <c:valAx>
        <c:axId val="2094734552"/>
        <c:scaling>
          <c:orientation val="minMax"/>
          <c:max val="100"/>
          <c:min val="80"/>
        </c:scaling>
        <c:delete val="0"/>
        <c:axPos val="l"/>
        <c:majorGridlines>
          <c:spPr>
            <a:ln w="6350" cap="flat">
              <a:solidFill>
                <a:srgbClr val="EEEA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9A9EA6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endParaRPr lang="ko-KR"/>
          </a:p>
        </c:txPr>
        <c:crossAx val="2094734554"/>
        <c:crosses val="autoZero"/>
        <c:crossBetween val="between"/>
        <c:majorUnit val="4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월 실적</c:v>
                </c:pt>
              </c:strCache>
            </c:strRef>
          </c:tx>
          <c:spPr>
            <a:ln w="15875" cap="flat">
              <a:solidFill>
                <a:srgbClr val="C9CCD3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61.2</c:v>
                </c:pt>
                <c:pt idx="1">
                  <c:v>67.599999999999994</c:v>
                </c:pt>
                <c:pt idx="2">
                  <c:v>66.900000000000006</c:v>
                </c:pt>
                <c:pt idx="3">
                  <c:v>64.400000000000006</c:v>
                </c:pt>
                <c:pt idx="4">
                  <c:v>61.6</c:v>
                </c:pt>
                <c:pt idx="5">
                  <c:v>67.599999999999994</c:v>
                </c:pt>
                <c:pt idx="6">
                  <c:v>72.5</c:v>
                </c:pt>
                <c:pt idx="7">
                  <c:v>71.599999999999994</c:v>
                </c:pt>
                <c:pt idx="8">
                  <c:v>73.099999999999994</c:v>
                </c:pt>
                <c:pt idx="9">
                  <c:v>74.8</c:v>
                </c:pt>
                <c:pt idx="10">
                  <c:v>74.599999999999994</c:v>
                </c:pt>
                <c:pt idx="11">
                  <c:v>71.599999999999994</c:v>
                </c:pt>
                <c:pt idx="12">
                  <c:v>70.2</c:v>
                </c:pt>
                <c:pt idx="13">
                  <c:v>72.8</c:v>
                </c:pt>
                <c:pt idx="14">
                  <c:v>76.099999999999994</c:v>
                </c:pt>
                <c:pt idx="15">
                  <c:v>74.7</c:v>
                </c:pt>
                <c:pt idx="16">
                  <c:v>74.8</c:v>
                </c:pt>
                <c:pt idx="17">
                  <c:v>76.5</c:v>
                </c:pt>
                <c:pt idx="18">
                  <c:v>80.599999999999994</c:v>
                </c:pt>
                <c:pt idx="19">
                  <c:v>75.3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7B6-4750-AB4B-8A5BB0C0E71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3개월 이동평균</c:v>
                </c:pt>
              </c:strCache>
            </c:strRef>
          </c:tx>
          <c:spPr>
            <a:ln w="15875" cap="flat">
              <a:solidFill>
                <a:srgbClr val="E51F6C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2">
                  <c:v>65.2</c:v>
                </c:pt>
                <c:pt idx="3">
                  <c:v>66.3</c:v>
                </c:pt>
                <c:pt idx="4">
                  <c:v>64.3</c:v>
                </c:pt>
                <c:pt idx="5">
                  <c:v>64.5</c:v>
                </c:pt>
                <c:pt idx="6">
                  <c:v>67.2</c:v>
                </c:pt>
                <c:pt idx="7">
                  <c:v>70.599999999999994</c:v>
                </c:pt>
                <c:pt idx="8">
                  <c:v>72.400000000000006</c:v>
                </c:pt>
                <c:pt idx="9">
                  <c:v>73.2</c:v>
                </c:pt>
                <c:pt idx="10">
                  <c:v>74.2</c:v>
                </c:pt>
                <c:pt idx="11">
                  <c:v>73.7</c:v>
                </c:pt>
                <c:pt idx="12">
                  <c:v>72.099999999999994</c:v>
                </c:pt>
                <c:pt idx="13">
                  <c:v>71.5</c:v>
                </c:pt>
                <c:pt idx="14">
                  <c:v>73</c:v>
                </c:pt>
                <c:pt idx="15">
                  <c:v>74.5</c:v>
                </c:pt>
                <c:pt idx="16">
                  <c:v>75.2</c:v>
                </c:pt>
                <c:pt idx="17">
                  <c:v>75.3</c:v>
                </c:pt>
                <c:pt idx="18">
                  <c:v>77.3</c:v>
                </c:pt>
                <c:pt idx="19">
                  <c:v>77.5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7B6-4750-AB4B-8A5BB0C0E7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DED5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9A9EA6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tickLblSkip val="3"/>
        <c:noMultiLvlLbl val="1"/>
      </c:catAx>
      <c:valAx>
        <c:axId val="2094734552"/>
        <c:scaling>
          <c:orientation val="minMax"/>
          <c:max val="85"/>
          <c:min val="55"/>
        </c:scaling>
        <c:delete val="0"/>
        <c:axPos val="l"/>
        <c:majorGridlines>
          <c:spPr>
            <a:ln w="6350" cap="flat">
              <a:solidFill>
                <a:srgbClr val="EEEA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9A9EA6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endParaRPr lang="ko-K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월 실적</c:v>
                </c:pt>
              </c:strCache>
            </c:strRef>
          </c:tx>
          <c:spPr>
            <a:ln w="15875" cap="flat">
              <a:solidFill>
                <a:srgbClr val="C9CCD3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41.8</c:v>
                </c:pt>
                <c:pt idx="1">
                  <c:v>46.1</c:v>
                </c:pt>
                <c:pt idx="2">
                  <c:v>47.7</c:v>
                </c:pt>
                <c:pt idx="3">
                  <c:v>40.4</c:v>
                </c:pt>
                <c:pt idx="4">
                  <c:v>39.6</c:v>
                </c:pt>
                <c:pt idx="5">
                  <c:v>45.4</c:v>
                </c:pt>
                <c:pt idx="6">
                  <c:v>47.9</c:v>
                </c:pt>
                <c:pt idx="7">
                  <c:v>50.4</c:v>
                </c:pt>
                <c:pt idx="8">
                  <c:v>50.3</c:v>
                </c:pt>
                <c:pt idx="9">
                  <c:v>50.7</c:v>
                </c:pt>
                <c:pt idx="10">
                  <c:v>50.9</c:v>
                </c:pt>
                <c:pt idx="11">
                  <c:v>48</c:v>
                </c:pt>
                <c:pt idx="12">
                  <c:v>46.8</c:v>
                </c:pt>
                <c:pt idx="13">
                  <c:v>47.2</c:v>
                </c:pt>
                <c:pt idx="14">
                  <c:v>49.2</c:v>
                </c:pt>
                <c:pt idx="15">
                  <c:v>48.2</c:v>
                </c:pt>
                <c:pt idx="16">
                  <c:v>52</c:v>
                </c:pt>
                <c:pt idx="17">
                  <c:v>55.2</c:v>
                </c:pt>
                <c:pt idx="18">
                  <c:v>49.8</c:v>
                </c:pt>
                <c:pt idx="19">
                  <c:v>50.1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D80-4AA5-BDD1-2BA752F1D14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3개월 이동평균</c:v>
                </c:pt>
              </c:strCache>
            </c:strRef>
          </c:tx>
          <c:spPr>
            <a:ln w="15875" cap="flat">
              <a:solidFill>
                <a:srgbClr val="E51F6C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2">
                  <c:v>45.2</c:v>
                </c:pt>
                <c:pt idx="3">
                  <c:v>44.7</c:v>
                </c:pt>
                <c:pt idx="4">
                  <c:v>42.6</c:v>
                </c:pt>
                <c:pt idx="5">
                  <c:v>41.8</c:v>
                </c:pt>
                <c:pt idx="6">
                  <c:v>44.3</c:v>
                </c:pt>
                <c:pt idx="7">
                  <c:v>47.9</c:v>
                </c:pt>
                <c:pt idx="8">
                  <c:v>49.5</c:v>
                </c:pt>
                <c:pt idx="9">
                  <c:v>50.5</c:v>
                </c:pt>
                <c:pt idx="10">
                  <c:v>50.6</c:v>
                </c:pt>
                <c:pt idx="11">
                  <c:v>49.9</c:v>
                </c:pt>
                <c:pt idx="12">
                  <c:v>48.6</c:v>
                </c:pt>
                <c:pt idx="13">
                  <c:v>47.3</c:v>
                </c:pt>
                <c:pt idx="14">
                  <c:v>47.7</c:v>
                </c:pt>
                <c:pt idx="15">
                  <c:v>48.2</c:v>
                </c:pt>
                <c:pt idx="16">
                  <c:v>49.8</c:v>
                </c:pt>
                <c:pt idx="17">
                  <c:v>51.8</c:v>
                </c:pt>
                <c:pt idx="18">
                  <c:v>52.3</c:v>
                </c:pt>
                <c:pt idx="19">
                  <c:v>51.7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D80-4AA5-BDD1-2BA752F1D1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DED5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9A9EA6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tickLblSkip val="3"/>
        <c:noMultiLvlLbl val="1"/>
      </c:catAx>
      <c:valAx>
        <c:axId val="2094734552"/>
        <c:scaling>
          <c:orientation val="minMax"/>
          <c:max val="60"/>
          <c:min val="35"/>
        </c:scaling>
        <c:delete val="0"/>
        <c:axPos val="l"/>
        <c:majorGridlines>
          <c:spPr>
            <a:ln w="6350" cap="flat">
              <a:solidFill>
                <a:srgbClr val="EEEA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9A9EA6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endParaRPr lang="ko-K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계획</c:v>
                </c:pt>
              </c:strCache>
            </c:strRef>
          </c:tx>
          <c:spPr>
            <a:solidFill>
              <a:srgbClr val="C9CCD3"/>
            </a:solidFill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10151F"/>
                    </a:solidFill>
                    <a:latin typeface="페이퍼로지 7 Bol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6월 (4일)</c:v>
                </c:pt>
                <c:pt idx="1">
                  <c:v>7월 (15일)</c:v>
                </c:pt>
                <c:pt idx="2">
                  <c:v>8월 (10일)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18.8</c:v>
                </c:pt>
                <c:pt idx="1">
                  <c:v>333.6</c:v>
                </c:pt>
                <c:pt idx="2">
                  <c:v>190.4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2F2-4584-B0E8-38E1238BC8F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실제</c:v>
                </c:pt>
              </c:strCache>
            </c:strRef>
          </c:tx>
          <c:spPr>
            <a:solidFill>
              <a:srgbClr val="E30C60"/>
            </a:solidFill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10151F"/>
                    </a:solidFill>
                    <a:latin typeface="페이퍼로지 7 Bol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6월 (4일)</c:v>
                </c:pt>
                <c:pt idx="1">
                  <c:v>7월 (15일)</c:v>
                </c:pt>
                <c:pt idx="2">
                  <c:v>8월 (10일)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20</c:v>
                </c:pt>
                <c:pt idx="1">
                  <c:v>361</c:v>
                </c:pt>
                <c:pt idx="2">
                  <c:v>202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2F2-4584-B0E8-38E1238BC8F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D7D3CB"/>
            </a:solidFill>
          </a:ln>
        </c:spPr>
        <c:txPr>
          <a:bodyPr/>
          <a:lstStyle/>
          <a:p>
            <a:pPr>
              <a:defRPr sz="900">
                <a:solidFill>
                  <a:srgbClr val="10151F"/>
                </a:solidFill>
                <a:latin typeface="페이퍼로지 5 Medium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42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900">
              <a:solidFill>
                <a:srgbClr val="6A7180"/>
              </a:solidFill>
              <a:latin typeface="페이퍼로지 5 Medium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ko-KR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C9CCD3"/>
            </a:solidFill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>
                    <a:solidFill>
                      <a:srgbClr val="10151F"/>
                    </a:solidFill>
                    <a:latin typeface="페이퍼로지 8 ExtraBold"/>
                    <a:ea typeface="페이퍼로지 8 ExtraBold"/>
                    <a:cs typeface="페이퍼로지 8 ExtraBol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채용</c:v>
                </c:pt>
                <c:pt idx="1">
                  <c:v>교육 시작</c:v>
                </c:pt>
                <c:pt idx="2">
                  <c:v>현장 투입</c:v>
                </c:pt>
                <c:pt idx="3">
                  <c:v>종료 시점 유지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141</c:v>
                </c:pt>
                <c:pt idx="1">
                  <c:v>118</c:v>
                </c:pt>
                <c:pt idx="2">
                  <c:v>68</c:v>
                </c:pt>
                <c:pt idx="3">
                  <c:v>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3B2-44C4-BEF9-C7B0927D5A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E30C60"/>
            </a:solidFill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>
                    <a:solidFill>
                      <a:srgbClr val="10151F"/>
                    </a:solidFill>
                    <a:latin typeface="페이퍼로지 8 ExtraBold"/>
                    <a:ea typeface="페이퍼로지 8 ExtraBold"/>
                    <a:cs typeface="페이퍼로지 8 ExtraBol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채용</c:v>
                </c:pt>
                <c:pt idx="1">
                  <c:v>교육 시작</c:v>
                </c:pt>
                <c:pt idx="2">
                  <c:v>현장 투입</c:v>
                </c:pt>
                <c:pt idx="3">
                  <c:v>종료 시점 유지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75</c:v>
                </c:pt>
                <c:pt idx="1">
                  <c:v>68</c:v>
                </c:pt>
                <c:pt idx="2">
                  <c:v>38</c:v>
                </c:pt>
                <c:pt idx="3">
                  <c:v>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3B2-44C4-BEF9-C7B0927D5A2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D7D3CB"/>
            </a:solidFill>
          </a:ln>
        </c:spPr>
        <c:txPr>
          <a:bodyPr/>
          <a:lstStyle/>
          <a:p>
            <a:pPr>
              <a:defRPr sz="90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900">
              <a:solidFill>
                <a:srgbClr val="6A7180"/>
              </a:solidFill>
              <a:latin typeface="페이퍼로지 5 Medium"/>
              <a:ea typeface="페이퍼로지 5 Medium"/>
              <a:cs typeface="페이퍼로지 5 Medium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500"/>
      </a:pPr>
      <a:endParaRPr lang="ko-KR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</c:v>
                </c:pt>
              </c:strCache>
            </c:strRef>
          </c:tx>
          <c:spPr>
            <a:solidFill>
              <a:srgbClr val="C9CCD3"/>
            </a:solidFill>
          </c:spPr>
          <c:invertIfNegative val="0"/>
          <c:dPt>
            <c:idx val="3"/>
            <c:invertIfNegative val="1"/>
            <c:bubble3D val="0"/>
            <c:spPr>
              <a:solidFill>
                <a:srgbClr val="E30C60"/>
              </a:solidFill>
            </c:spPr>
            <c:extLst>
              <c:ext xmlns:c16="http://schemas.microsoft.com/office/drawing/2014/chart" uri="{C3380CC4-5D6E-409C-BE32-E72D297353CC}">
                <c16:uniqueId val="{00000003-BEFA-4AFB-99E4-A342D3B46265}"/>
              </c:ext>
            </c:extLst>
          </c:dPt>
          <c:dPt>
            <c:idx val="6"/>
            <c:invertIfNegative val="1"/>
            <c:bubble3D val="0"/>
            <c:spPr>
              <a:solidFill>
                <a:srgbClr val="E30C60"/>
              </a:solidFill>
            </c:spPr>
            <c:extLst>
              <c:ext xmlns:c16="http://schemas.microsoft.com/office/drawing/2014/chart" uri="{C3380CC4-5D6E-409C-BE32-E72D297353CC}">
                <c16:uniqueId val="{00000001-BEFA-4AFB-99E4-A342D3B46265}"/>
              </c:ext>
            </c:extLst>
          </c:dPt>
          <c:dLbls>
            <c:numFmt formatCode="0&quot;h&quot;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900" b="1">
                    <a:solidFill>
                      <a:srgbClr val="10151F"/>
                    </a:solidFill>
                    <a:latin typeface="페이퍼로지 8 ExtraBol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회사·보안·개인정보</c:v>
                </c:pt>
                <c:pt idx="1">
                  <c:v>제품 교육 (초급)</c:v>
                </c:pt>
                <c:pt idx="2">
                  <c:v>CS마인드·NPS·VOC</c:v>
                </c:pt>
                <c:pt idx="3">
                  <c:v>실전 콜 청취·Check</c:v>
                </c:pt>
                <c:pt idx="4">
                  <c:v>응대 스크립트</c:v>
                </c:pt>
                <c:pt idx="5">
                  <c:v>Wrap-up·Q&amp;A (TEST)</c:v>
                </c:pt>
                <c:pt idx="6">
                  <c:v>고객 실전 응대 실습</c:v>
                </c:pt>
                <c:pt idx="7">
                  <c:v>전산·업무 이론+실습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14</c:v>
                </c:pt>
                <c:pt idx="5">
                  <c:v>14</c:v>
                </c:pt>
                <c:pt idx="6">
                  <c:v>24</c:v>
                </c:pt>
                <c:pt idx="7">
                  <c:v>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EFA-4AFB-99E4-A342D3B4626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low"/>
        <c:spPr>
          <a:ln>
            <a:solidFill>
              <a:srgbClr val="D7D3CB"/>
            </a:solidFill>
          </a:ln>
        </c:spPr>
        <c:txPr>
          <a:bodyPr wrap="none"/>
          <a:lstStyle/>
          <a:p>
            <a:pPr>
              <a:defRPr sz="900">
                <a:solidFill>
                  <a:srgbClr val="10151F"/>
                </a:solidFill>
                <a:latin typeface="페이퍼로지 5 Medium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46"/>
          <c:min val="0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 wrap="none"/>
    <a:lstStyle/>
    <a:p>
      <a:pPr>
        <a:defRPr sz="1500"/>
      </a:pPr>
      <a:endParaRPr lang="ko-KR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</c:v>
                </c:pt>
              </c:strCache>
            </c:strRef>
          </c:tx>
          <c:spPr>
            <a:solidFill>
              <a:srgbClr val="C9CCD3"/>
            </a:solidFill>
          </c:spPr>
          <c:invertIfNegative val="0"/>
          <c:dPt>
            <c:idx val="2"/>
            <c:invertIfNegative val="1"/>
            <c:bubble3D val="0"/>
            <c:spPr>
              <a:solidFill>
                <a:srgbClr val="E30C60"/>
              </a:solidFill>
            </c:spPr>
            <c:extLst>
              <c:ext xmlns:c16="http://schemas.microsoft.com/office/drawing/2014/chart" uri="{C3380CC4-5D6E-409C-BE32-E72D297353CC}">
                <c16:uniqueId val="{00000001-5DD0-4F45-B189-A3402014CDA3}"/>
              </c:ext>
            </c:extLst>
          </c:dPt>
          <c:dLbls>
            <c:numFmt formatCode="0.0&quot;h&quot;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900" b="1">
                    <a:solidFill>
                      <a:srgbClr val="10151F"/>
                    </a:solidFill>
                    <a:latin typeface="페이퍼로지 8 ExtraBol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6월</c:v>
                </c:pt>
                <c:pt idx="1">
                  <c:v>7월</c:v>
                </c:pt>
                <c:pt idx="2">
                  <c:v>8월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</c:v>
                </c:pt>
                <c:pt idx="1">
                  <c:v>11</c:v>
                </c:pt>
                <c:pt idx="2">
                  <c:v>31.5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DD0-4F45-B189-A3402014CDA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2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D7D3CB"/>
            </a:solidFill>
          </a:ln>
        </c:spPr>
        <c:txPr>
          <a:bodyPr wrap="none"/>
          <a:lstStyle/>
          <a:p>
            <a:pPr>
              <a:defRPr sz="900">
                <a:solidFill>
                  <a:srgbClr val="10151F"/>
                </a:solidFill>
                <a:latin typeface="페이퍼로지 5 Medium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38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 wrap="none"/>
    <a:lstStyle/>
    <a:p>
      <a:pPr>
        <a:defRPr sz="1500"/>
      </a:pPr>
      <a:endParaRPr lang="ko-KR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투자액(억원)</c:v>
                </c:pt>
              </c:strCache>
            </c:strRef>
          </c:tx>
          <c:spPr>
            <a:solidFill>
              <a:srgbClr val="E30C60"/>
            </a:solidFill>
          </c:spPr>
          <c:invertIfNegative val="0"/>
          <c:dPt>
            <c:idx val="0"/>
            <c:invertIfNegative val="1"/>
            <c:bubble3D val="0"/>
            <c:spPr>
              <a:solidFill>
                <a:srgbClr val="8A909B"/>
              </a:solidFill>
            </c:spPr>
            <c:extLst>
              <c:ext xmlns:c16="http://schemas.microsoft.com/office/drawing/2014/chart" uri="{C3380CC4-5D6E-409C-BE32-E72D297353CC}">
                <c16:uniqueId val="{00000001-B990-4B08-8D22-EB2BB16C5F9F}"/>
              </c:ext>
            </c:extLst>
          </c:dPt>
          <c:dPt>
            <c:idx val="1"/>
            <c:invertIfNegative val="1"/>
            <c:bubble3D val="0"/>
            <c:spPr>
              <a:solidFill>
                <a:srgbClr val="8A909B"/>
              </a:solidFill>
            </c:spPr>
            <c:extLst>
              <c:ext xmlns:c16="http://schemas.microsoft.com/office/drawing/2014/chart" uri="{C3380CC4-5D6E-409C-BE32-E72D297353CC}">
                <c16:uniqueId val="{00000003-B990-4B08-8D22-EB2BB16C5F9F}"/>
              </c:ext>
            </c:extLst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10151F"/>
                    </a:solidFill>
                    <a:latin typeface="페이퍼로지 7 Bol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S사</c:v>
                </c:pt>
                <c:pt idx="1">
                  <c:v>L사</c:v>
                </c:pt>
                <c:pt idx="2">
                  <c:v>kt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600</c:v>
                </c:pt>
                <c:pt idx="1">
                  <c:v>632</c:v>
                </c:pt>
                <c:pt idx="2">
                  <c:v>1218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990-4B08-8D22-EB2BB16C5F9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D7D3CB"/>
            </a:solidFill>
          </a:ln>
        </c:spPr>
        <c:txPr>
          <a:bodyPr/>
          <a:lstStyle/>
          <a:p>
            <a:pPr>
              <a:defRPr sz="900">
                <a:solidFill>
                  <a:srgbClr val="10151F"/>
                </a:solidFill>
                <a:latin typeface="페이퍼로지 5 Medium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45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ko-KR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생산성(IN+OUT)</c:v>
                </c:pt>
              </c:strCache>
            </c:strRef>
          </c:tx>
          <c:spPr>
            <a:solidFill>
              <a:srgbClr val="C9CCD3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>
                    <a:solidFill>
                      <a:srgbClr val="000000"/>
                    </a:solidFill>
                    <a:latin typeface="페이퍼로지 8 ExtraBold"/>
                    <a:ea typeface="페이퍼로지 8 ExtraBold"/>
                    <a:cs typeface="페이퍼로지 8 ExtraBol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2024 (11~12월)</c:v>
                </c:pt>
                <c:pt idx="1">
                  <c:v>2025</c:v>
                </c:pt>
                <c:pt idx="2">
                  <c:v>2026 (1~8월)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58.5</c:v>
                </c:pt>
                <c:pt idx="1">
                  <c:v>68.8</c:v>
                </c:pt>
                <c:pt idx="2">
                  <c:v>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F84-47E4-93BE-5EE7DA4694C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 생산성</c:v>
                </c:pt>
              </c:strCache>
            </c:strRef>
          </c:tx>
          <c:spPr>
            <a:solidFill>
              <a:srgbClr val="9AA0AA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>
                    <a:solidFill>
                      <a:srgbClr val="000000"/>
                    </a:solidFill>
                    <a:latin typeface="페이퍼로지 8 ExtraBold"/>
                    <a:ea typeface="페이퍼로지 8 ExtraBold"/>
                    <a:cs typeface="페이퍼로지 8 ExtraBol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2024 (11~12월)</c:v>
                </c:pt>
                <c:pt idx="1">
                  <c:v>2025</c:v>
                </c:pt>
                <c:pt idx="2">
                  <c:v>2026 (1~8월)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38.799999999999997</c:v>
                </c:pt>
                <c:pt idx="1">
                  <c:v>46.4</c:v>
                </c:pt>
                <c:pt idx="2">
                  <c:v>49.7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F84-47E4-93BE-5EE7DA4694C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D7D3CB"/>
            </a:solidFill>
          </a:ln>
        </c:spPr>
        <c:txPr>
          <a:bodyPr/>
          <a:lstStyle/>
          <a:p>
            <a:pPr>
              <a:defRPr sz="900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5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900">
              <a:solidFill>
                <a:srgbClr val="6A7180"/>
              </a:solidFill>
              <a:latin typeface="페이퍼로지 5 Medium"/>
              <a:ea typeface="페이퍼로지 5 Medium"/>
              <a:cs typeface="페이퍼로지 5 Medium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500"/>
      </a:pPr>
      <a:endParaRPr lang="ko-KR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425882011348326E-2"/>
          <c:y val="0.13592233009708737"/>
          <c:w val="0.93148235977303351"/>
          <c:h val="0.7371523583823865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T-NPS</c:v>
                </c:pt>
              </c:strCache>
            </c:strRef>
          </c:tx>
          <c:spPr>
            <a:ln w="31750">
              <a:solidFill>
                <a:srgbClr val="E30C60"/>
              </a:solidFill>
            </a:ln>
          </c:spPr>
          <c:marker>
            <c:symbol val="none"/>
          </c:marker>
          <c:dLbls>
            <c:dLbl>
              <c:idx val="0"/>
              <c:spPr>
                <a:ln>
                  <a:noFill/>
                </a:ln>
              </c:spPr>
              <c:txPr>
                <a:bodyPr/>
                <a:lstStyle/>
                <a:p>
                  <a:pPr>
                    <a:defRPr sz="900" b="0">
                      <a:solidFill>
                        <a:srgbClr val="E30C60"/>
                      </a:solidFill>
                      <a:latin typeface="페이퍼로지 8 ExtraBold"/>
                      <a:ea typeface="페이퍼로지 8 ExtraBold"/>
                      <a:cs typeface="페이퍼로지 8 ExtraBold"/>
                    </a:defRPr>
                  </a:pPr>
                  <a:endParaRPr lang="ko-K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CE85-497C-A878-D310C70B5B7C}"/>
                </c:ext>
              </c:extLst>
            </c:dLbl>
            <c:dLbl>
              <c:idx val="1"/>
              <c:spPr>
                <a:ln>
                  <a:noFill/>
                </a:ln>
              </c:spPr>
              <c:txPr>
                <a:bodyPr/>
                <a:lstStyle/>
                <a:p>
                  <a:pPr>
                    <a:defRPr sz="900" b="0">
                      <a:solidFill>
                        <a:srgbClr val="E30C60"/>
                      </a:solidFill>
                      <a:latin typeface="페이퍼로지 8 ExtraBold"/>
                      <a:ea typeface="페이퍼로지 8 ExtraBold"/>
                      <a:cs typeface="페이퍼로지 8 ExtraBold"/>
                    </a:defRPr>
                  </a:pPr>
                  <a:endParaRPr lang="ko-K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CE85-497C-A878-D310C70B5B7C}"/>
                </c:ext>
              </c:extLst>
            </c:dLbl>
            <c:dLbl>
              <c:idx val="2"/>
              <c:spPr>
                <a:ln>
                  <a:noFill/>
                </a:ln>
              </c:spPr>
              <c:txPr>
                <a:bodyPr/>
                <a:lstStyle/>
                <a:p>
                  <a:pPr>
                    <a:defRPr sz="900" b="0">
                      <a:solidFill>
                        <a:srgbClr val="E30C60"/>
                      </a:solidFill>
                      <a:latin typeface="페이퍼로지 8 ExtraBold"/>
                      <a:ea typeface="페이퍼로지 8 ExtraBold"/>
                      <a:cs typeface="페이퍼로지 8 ExtraBold"/>
                    </a:defRPr>
                  </a:pPr>
                  <a:endParaRPr lang="ko-K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CE85-497C-A878-D310C70B5B7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rgbClr val="E30C60"/>
                    </a:solidFill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2024 (11~12월)</c:v>
                </c:pt>
                <c:pt idx="1">
                  <c:v>2025</c:v>
                </c:pt>
                <c:pt idx="2">
                  <c:v>2026 (1~8월)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88.1</c:v>
                </c:pt>
                <c:pt idx="1">
                  <c:v>90.9</c:v>
                </c:pt>
                <c:pt idx="2">
                  <c:v>92.9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E85-497C-A878-D310C70B5B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D7D3CB"/>
            </a:solidFill>
          </a:ln>
        </c:spPr>
        <c:txPr>
          <a:bodyPr/>
          <a:lstStyle/>
          <a:p>
            <a:pPr>
              <a:defRPr sz="90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endParaRPr lang="ko-KR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05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500"/>
      </a:pPr>
      <a:endParaRPr lang="ko-KR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2025 성수기</c:v>
                </c:pt>
              </c:strCache>
            </c:strRef>
          </c:tx>
          <c:spPr>
            <a:solidFill>
              <a:srgbClr val="C9CCD3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>
                    <a:solidFill>
                      <a:srgbClr val="000000"/>
                    </a:solidFill>
                    <a:latin typeface="페이퍼로지 8 ExtraBold"/>
                    <a:ea typeface="페이퍼로지 8 ExtraBold"/>
                    <a:cs typeface="페이퍼로지 8 ExtraBol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T-NPS</c:v>
                </c:pt>
                <c:pt idx="1">
                  <c:v>완결상담율(%)</c:v>
                </c:pt>
                <c:pt idx="2">
                  <c:v>투입 대비 유지율(%)</c:v>
                </c:pt>
                <c:pt idx="3">
                  <c:v>한시 퇴직률(%)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</c:v>
                </c:pt>
                <c:pt idx="1">
                  <c:v>74.099999999999994</c:v>
                </c:pt>
                <c:pt idx="2">
                  <c:v>60.3</c:v>
                </c:pt>
                <c:pt idx="3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14-4877-9EE4-6175BD0443B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 성수기</c:v>
                </c:pt>
              </c:strCache>
            </c:strRef>
          </c:tx>
          <c:spPr>
            <a:solidFill>
              <a:srgbClr val="E30C60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>
                    <a:solidFill>
                      <a:srgbClr val="000000"/>
                    </a:solidFill>
                    <a:latin typeface="페이퍼로지 8 ExtraBold"/>
                    <a:ea typeface="페이퍼로지 8 ExtraBold"/>
                    <a:cs typeface="페이퍼로지 8 ExtraBol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T-NPS</c:v>
                </c:pt>
                <c:pt idx="1">
                  <c:v>완결상담율(%)</c:v>
                </c:pt>
                <c:pt idx="2">
                  <c:v>투입 대비 유지율(%)</c:v>
                </c:pt>
                <c:pt idx="3">
                  <c:v>한시 퇴직률(%)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89.3</c:v>
                </c:pt>
                <c:pt idx="1">
                  <c:v>83</c:v>
                </c:pt>
                <c:pt idx="2">
                  <c:v>89.5</c:v>
                </c:pt>
                <c:pt idx="3">
                  <c:v>4.7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14-4877-9EE4-6175BD0443B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D7D3CB"/>
            </a:solidFill>
          </a:ln>
        </c:spPr>
        <c:txPr>
          <a:bodyPr/>
          <a:lstStyle/>
          <a:p>
            <a:pPr>
              <a:defRPr sz="900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1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900">
              <a:solidFill>
                <a:srgbClr val="6A7180"/>
              </a:solidFill>
              <a:latin typeface="페이퍼로지 5 Medium"/>
              <a:ea typeface="페이퍼로지 5 Medium"/>
              <a:cs typeface="페이퍼로지 5 Medium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500"/>
      </a:pPr>
      <a:endParaRPr lang="ko-KR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상반기(6월)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</c:spPr>
          <c:invertIfNegative val="0"/>
          <c:cat>
            <c:strRef>
              <c:f>Sheet1!$A$2:$A$16</c:f>
              <c:strCache>
                <c:ptCount val="15"/>
                <c:pt idx="0">
                  <c:v>맞이</c:v>
                </c:pt>
                <c:pt idx="1">
                  <c:v>종료</c:v>
                </c:pt>
                <c:pt idx="2">
                  <c:v>문의</c:v>
                </c:pt>
                <c:pt idx="3">
                  <c:v>업무</c:v>
                </c:pt>
                <c:pt idx="4">
                  <c:v>예의</c:v>
                </c:pt>
                <c:pt idx="5">
                  <c:v>표현</c:v>
                </c:pt>
                <c:pt idx="6">
                  <c:v>경청</c:v>
                </c:pt>
                <c:pt idx="7">
                  <c:v>신속</c:v>
                </c:pt>
                <c:pt idx="8">
                  <c:v>공감</c:v>
                </c:pt>
                <c:pt idx="9">
                  <c:v>적극</c:v>
                </c:pt>
                <c:pt idx="10">
                  <c:v>이해</c:v>
                </c:pt>
                <c:pt idx="11">
                  <c:v>음성</c:v>
                </c:pt>
                <c:pt idx="12">
                  <c:v>발음</c:v>
                </c:pt>
                <c:pt idx="13">
                  <c:v>속도</c:v>
                </c:pt>
                <c:pt idx="14">
                  <c:v>환경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80</c:v>
                </c:pt>
                <c:pt idx="1">
                  <c:v>65</c:v>
                </c:pt>
                <c:pt idx="2">
                  <c:v>95</c:v>
                </c:pt>
                <c:pt idx="3">
                  <c:v>95</c:v>
                </c:pt>
                <c:pt idx="4">
                  <c:v>58</c:v>
                </c:pt>
                <c:pt idx="5">
                  <c:v>22</c:v>
                </c:pt>
                <c:pt idx="6">
                  <c:v>66</c:v>
                </c:pt>
                <c:pt idx="7">
                  <c:v>92</c:v>
                </c:pt>
                <c:pt idx="8">
                  <c:v>58</c:v>
                </c:pt>
                <c:pt idx="9">
                  <c:v>92</c:v>
                </c:pt>
                <c:pt idx="10">
                  <c:v>90</c:v>
                </c:pt>
                <c:pt idx="11">
                  <c:v>80</c:v>
                </c:pt>
                <c:pt idx="12">
                  <c:v>87</c:v>
                </c:pt>
                <c:pt idx="13">
                  <c:v>95</c:v>
                </c:pt>
                <c:pt idx="14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DD-4568-B405-32FE9BC1DAF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하반기(9월)</c:v>
                </c:pt>
              </c:strCache>
            </c:strRef>
          </c:tx>
          <c:spPr>
            <a:solidFill>
              <a:schemeClr val="bg1">
                <a:lumMod val="50000"/>
              </a:schemeClr>
            </a:solidFill>
          </c:spPr>
          <c:invertIfNegative val="0"/>
          <c:cat>
            <c:strRef>
              <c:f>Sheet1!$A$2:$A$16</c:f>
              <c:strCache>
                <c:ptCount val="15"/>
                <c:pt idx="0">
                  <c:v>맞이</c:v>
                </c:pt>
                <c:pt idx="1">
                  <c:v>종료</c:v>
                </c:pt>
                <c:pt idx="2">
                  <c:v>문의</c:v>
                </c:pt>
                <c:pt idx="3">
                  <c:v>업무</c:v>
                </c:pt>
                <c:pt idx="4">
                  <c:v>예의</c:v>
                </c:pt>
                <c:pt idx="5">
                  <c:v>표현</c:v>
                </c:pt>
                <c:pt idx="6">
                  <c:v>경청</c:v>
                </c:pt>
                <c:pt idx="7">
                  <c:v>신속</c:v>
                </c:pt>
                <c:pt idx="8">
                  <c:v>공감</c:v>
                </c:pt>
                <c:pt idx="9">
                  <c:v>적극</c:v>
                </c:pt>
                <c:pt idx="10">
                  <c:v>이해</c:v>
                </c:pt>
                <c:pt idx="11">
                  <c:v>음성</c:v>
                </c:pt>
                <c:pt idx="12">
                  <c:v>발음</c:v>
                </c:pt>
                <c:pt idx="13">
                  <c:v>속도</c:v>
                </c:pt>
                <c:pt idx="14">
                  <c:v>환경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83</c:v>
                </c:pt>
                <c:pt idx="1">
                  <c:v>67</c:v>
                </c:pt>
                <c:pt idx="2">
                  <c:v>95</c:v>
                </c:pt>
                <c:pt idx="3">
                  <c:v>92</c:v>
                </c:pt>
                <c:pt idx="4">
                  <c:v>64</c:v>
                </c:pt>
                <c:pt idx="5">
                  <c:v>33</c:v>
                </c:pt>
                <c:pt idx="6">
                  <c:v>80</c:v>
                </c:pt>
                <c:pt idx="7">
                  <c:v>90</c:v>
                </c:pt>
                <c:pt idx="8">
                  <c:v>66</c:v>
                </c:pt>
                <c:pt idx="9">
                  <c:v>93</c:v>
                </c:pt>
                <c:pt idx="10">
                  <c:v>90</c:v>
                </c:pt>
                <c:pt idx="11">
                  <c:v>72</c:v>
                </c:pt>
                <c:pt idx="12">
                  <c:v>88</c:v>
                </c:pt>
                <c:pt idx="13">
                  <c:v>92</c:v>
                </c:pt>
                <c:pt idx="14">
                  <c:v>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0DD-4568-B405-32FE9BC1DA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D7D3CB"/>
            </a:solidFill>
          </a:ln>
        </c:spPr>
        <c:txPr>
          <a:bodyPr/>
          <a:lstStyle/>
          <a:p>
            <a:pPr>
              <a:defRPr sz="900">
                <a:solidFill>
                  <a:srgbClr val="000000"/>
                </a:solidFill>
                <a:latin typeface="페이퍼로지 5 Medium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1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900">
              <a:solidFill>
                <a:srgbClr val="6A7180"/>
              </a:solidFill>
              <a:latin typeface="페이퍼로지 5 Medium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500"/>
      </a:pPr>
      <a:endParaRPr lang="ko-KR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2984076742164865E-2"/>
          <c:y val="8.0882352941176475E-2"/>
          <c:w val="0.91127983564245651"/>
          <c:h val="0.72686313107920331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25년 KS-CQI</c:v>
                </c:pt>
              </c:strCache>
            </c:strRef>
          </c:tx>
          <c:spPr>
            <a:ln w="19050">
              <a:solidFill>
                <a:schemeClr val="tx1">
                  <a:lumMod val="50000"/>
                  <a:lumOff val="50000"/>
                </a:schemeClr>
              </a:solidFill>
            </a:ln>
          </c:spPr>
          <c:marker>
            <c:symbol val="circle"/>
            <c:size val="4"/>
            <c:spPr>
              <a:solidFill>
                <a:srgbClr val="000000"/>
              </a:solidFill>
            </c:spPr>
          </c:marker>
          <c:cat>
            <c:strRef>
              <c:f>Sheet1!$A$2:$A$16</c:f>
              <c:strCache>
                <c:ptCount val="15"/>
                <c:pt idx="0">
                  <c:v>맞이</c:v>
                </c:pt>
                <c:pt idx="1">
                  <c:v>종료</c:v>
                </c:pt>
                <c:pt idx="2">
                  <c:v>문의</c:v>
                </c:pt>
                <c:pt idx="3">
                  <c:v>업무</c:v>
                </c:pt>
                <c:pt idx="4">
                  <c:v>예의</c:v>
                </c:pt>
                <c:pt idx="5">
                  <c:v>표현</c:v>
                </c:pt>
                <c:pt idx="6">
                  <c:v>경청</c:v>
                </c:pt>
                <c:pt idx="7">
                  <c:v>신속</c:v>
                </c:pt>
                <c:pt idx="8">
                  <c:v>공감</c:v>
                </c:pt>
                <c:pt idx="9">
                  <c:v>적극</c:v>
                </c:pt>
                <c:pt idx="10">
                  <c:v>이해</c:v>
                </c:pt>
                <c:pt idx="11">
                  <c:v>음성</c:v>
                </c:pt>
                <c:pt idx="12">
                  <c:v>발음</c:v>
                </c:pt>
                <c:pt idx="13">
                  <c:v>속도</c:v>
                </c:pt>
                <c:pt idx="14">
                  <c:v>환경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60</c:v>
                </c:pt>
                <c:pt idx="1">
                  <c:v>60</c:v>
                </c:pt>
                <c:pt idx="2">
                  <c:v>96</c:v>
                </c:pt>
                <c:pt idx="3">
                  <c:v>96</c:v>
                </c:pt>
                <c:pt idx="4">
                  <c:v>72</c:v>
                </c:pt>
                <c:pt idx="5">
                  <c:v>93</c:v>
                </c:pt>
                <c:pt idx="6">
                  <c:v>93</c:v>
                </c:pt>
                <c:pt idx="7">
                  <c:v>91</c:v>
                </c:pt>
                <c:pt idx="8">
                  <c:v>64</c:v>
                </c:pt>
                <c:pt idx="9">
                  <c:v>71</c:v>
                </c:pt>
                <c:pt idx="10">
                  <c:v>98</c:v>
                </c:pt>
                <c:pt idx="11">
                  <c:v>98</c:v>
                </c:pt>
                <c:pt idx="12">
                  <c:v>85</c:v>
                </c:pt>
                <c:pt idx="13">
                  <c:v>95</c:v>
                </c:pt>
                <c:pt idx="14">
                  <c:v>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DDA-4333-8C0A-8C56C6C8CB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1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500"/>
      </a:pPr>
      <a:endParaRPr lang="ko-KR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1899156908057327"/>
          <c:y val="0.128929984869396"/>
          <c:w val="0.6153651058789944"/>
          <c:h val="0.83610606584564706"/>
        </c:manualLayout>
      </c:layout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text 1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  <a:effectLst/>
          </c:spPr>
          <c:dLbls>
            <c:dLbl>
              <c:idx val="0"/>
              <c:layout>
                <c:manualLayout>
                  <c:x val="0"/>
                  <c:y val="2.032450933113693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BC3A-4C78-B5EC-C434963B0998}"/>
                </c:ext>
              </c:extLst>
            </c:dLbl>
            <c:dLbl>
              <c:idx val="1"/>
              <c:layout>
                <c:manualLayout>
                  <c:x val="0.14249067415367261"/>
                  <c:y val="7.45232008808354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C3A-4C78-B5EC-C434963B0998}"/>
                </c:ext>
              </c:extLst>
            </c:dLbl>
            <c:dLbl>
              <c:idx val="2"/>
              <c:layout>
                <c:manualLayout>
                  <c:x val="0"/>
                  <c:y val="-1.354967288742462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BC3A-4C78-B5EC-C434963B0998}"/>
                </c:ext>
              </c:extLst>
            </c:dLbl>
            <c:dLbl>
              <c:idx val="3"/>
              <c:layout>
                <c:manualLayout>
                  <c:x val="-4.5597015729175253E-2"/>
                  <c:y val="7.45232008808354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C3A-4C78-B5EC-C434963B099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ko-KR" altLang="en-US" sz="800" b="0" i="0" u="none" strike="noStrike" kern="1200" baseline="0">
                    <a:solidFill>
                      <a:srgbClr val="60584C"/>
                    </a:solidFill>
                    <a:latin typeface="kt flow thin" panose="020B0603020101020101" pitchFamily="50" charset="-127"/>
                    <a:ea typeface="kt flow thin" panose="020B0603020101020101" pitchFamily="50" charset="-127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신뢰성</c:v>
                </c:pt>
                <c:pt idx="1">
                  <c:v>신뢰성</c:v>
                </c:pt>
                <c:pt idx="2">
                  <c:v>신뢰성</c:v>
                </c:pt>
                <c:pt idx="3">
                  <c:v>신뢰성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83.4</c:v>
                </c:pt>
                <c:pt idx="1">
                  <c:v>58</c:v>
                </c:pt>
                <c:pt idx="2">
                  <c:v>78.900000000000006</c:v>
                </c:pt>
                <c:pt idx="3">
                  <c:v>88.2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C3A-4C78-B5EC-C434963B09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981639296"/>
        <c:axId val="-981637120"/>
      </c:radarChart>
      <c:catAx>
        <c:axId val="-981639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ko-KR" altLang="en-US" sz="800" b="0" i="0" u="none" strike="noStrike" kern="1200" baseline="0">
                <a:solidFill>
                  <a:srgbClr val="60584C"/>
                </a:solidFill>
                <a:latin typeface="kt flow thin" panose="020B0603020101020101" pitchFamily="50" charset="-127"/>
                <a:ea typeface="kt flow thin" panose="020B0603020101020101" pitchFamily="50" charset="-127"/>
                <a:cs typeface="+mn-cs"/>
              </a:defRPr>
            </a:pPr>
            <a:endParaRPr lang="ko-KR"/>
          </a:p>
        </c:txPr>
        <c:crossAx val="-981637120"/>
        <c:crosses val="autoZero"/>
        <c:auto val="1"/>
        <c:lblAlgn val="ctr"/>
        <c:lblOffset val="100"/>
        <c:noMultiLvlLbl val="0"/>
      </c:catAx>
      <c:valAx>
        <c:axId val="-981637120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bg1">
                  <a:lumMod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-9816392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solidFill>
        <a:schemeClr val="bg1">
          <a:lumMod val="85000"/>
        </a:schemeClr>
      </a:solidFill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text 1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  <a:alpha val="95000"/>
                </a:schemeClr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75000"/>
                    <a:alpha val="9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705-4A24-B0F4-F307BB1898DC}"/>
              </c:ext>
            </c:extLst>
          </c:dPt>
          <c:dPt>
            <c:idx val="1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75000"/>
                    <a:alpha val="9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705-4A24-B0F4-F307BB1898DC}"/>
              </c:ext>
            </c:extLst>
          </c:dPt>
          <c:dPt>
            <c:idx val="2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75000"/>
                    <a:alpha val="9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705-4A24-B0F4-F307BB1898DC}"/>
              </c:ext>
            </c:extLst>
          </c:dPt>
          <c:dPt>
            <c:idx val="3"/>
            <c:invertIfNegative val="0"/>
            <c:bubble3D val="0"/>
            <c:spPr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  <a:alpha val="9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705-4A24-B0F4-F307BB1898D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 rtl="0">
                  <a:defRPr lang="ko-KR" altLang="en-US" sz="800" b="0" i="0" u="none" strike="noStrike" kern="1200" baseline="0">
                    <a:solidFill>
                      <a:srgbClr val="60584C"/>
                    </a:solidFill>
                    <a:latin typeface="kt flow thin" panose="020B0603020101020101" pitchFamily="50" charset="-127"/>
                    <a:ea typeface="kt flow thin" panose="020B0603020101020101" pitchFamily="50" charset="-127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1년미만</c:v>
                </c:pt>
                <c:pt idx="1">
                  <c:v>3년미만</c:v>
                </c:pt>
                <c:pt idx="2">
                  <c:v>3년이상</c:v>
                </c:pt>
                <c:pt idx="3">
                  <c:v>종합결과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81.2</c:v>
                </c:pt>
                <c:pt idx="1">
                  <c:v>91.6</c:v>
                </c:pt>
                <c:pt idx="2">
                  <c:v>90.3</c:v>
                </c:pt>
                <c:pt idx="3">
                  <c:v>89.7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705-4A24-B0F4-F307BB1898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3"/>
        <c:axId val="-981642016"/>
        <c:axId val="-981641472"/>
      </c:barChart>
      <c:catAx>
        <c:axId val="-981642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 rtl="0">
              <a:defRPr lang="ko-KR" altLang="en-US" sz="800" b="0" i="0" u="none" strike="noStrike" kern="1200" baseline="0">
                <a:solidFill>
                  <a:srgbClr val="60584C"/>
                </a:solidFill>
                <a:latin typeface="kt flow thin" panose="020B0603020101020101" pitchFamily="50" charset="-127"/>
                <a:ea typeface="kt flow thin" panose="020B0603020101020101" pitchFamily="50" charset="-127"/>
                <a:cs typeface="+mn-cs"/>
              </a:defRPr>
            </a:pPr>
            <a:endParaRPr lang="ko-KR"/>
          </a:p>
        </c:txPr>
        <c:crossAx val="-981641472"/>
        <c:crosses val="autoZero"/>
        <c:auto val="1"/>
        <c:lblAlgn val="ctr"/>
        <c:lblOffset val="100"/>
        <c:noMultiLvlLbl val="0"/>
      </c:catAx>
      <c:valAx>
        <c:axId val="-981641472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-9816420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solidFill>
        <a:schemeClr val="bg1">
          <a:lumMod val="85000"/>
        </a:schemeClr>
      </a:solidFill>
    </a:ln>
    <a:effectLst/>
  </c:spPr>
  <c:txPr>
    <a:bodyPr/>
    <a:lstStyle/>
    <a:p>
      <a:pPr>
        <a:defRPr sz="1000">
          <a:solidFill>
            <a:schemeClr val="tx1">
              <a:lumMod val="50000"/>
              <a:lumOff val="50000"/>
            </a:schemeClr>
          </a:solidFill>
          <a:latin typeface="+mn-lt"/>
        </a:defRPr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05B52FDD-02A9-4768-AD60-B3CA7D5887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DB39E44-311A-4C8C-A674-86605F94B39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362D33-23BB-4D85-B277-4A9C96078069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2E298D7-F449-4292-B19D-DCA45D2FC85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DDF9F87-2090-4E86-A81D-0ED290977A7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09FFFA-004A-40A8-B98B-69C1C3371A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24177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</a:t>
            </a:r>
            <a:r>
              <a:rPr dirty="0" err="1"/>
              <a:t>발표</a:t>
            </a:r>
            <a:r>
              <a:rPr dirty="0"/>
              <a:t> 약 20초]</a:t>
            </a:r>
          </a:p>
          <a:p>
            <a:r>
              <a:rPr dirty="0" err="1"/>
              <a:t>안녕하십니까</a:t>
            </a:r>
            <a:r>
              <a:rPr dirty="0"/>
              <a:t>. </a:t>
            </a:r>
            <a:r>
              <a:rPr dirty="0" err="1"/>
              <a:t>LG전자</a:t>
            </a:r>
            <a:r>
              <a:rPr dirty="0"/>
              <a:t> </a:t>
            </a:r>
            <a:r>
              <a:rPr dirty="0" err="1"/>
              <a:t>고객센터</a:t>
            </a:r>
            <a:r>
              <a:rPr dirty="0"/>
              <a:t> </a:t>
            </a:r>
            <a:r>
              <a:rPr dirty="0" err="1"/>
              <a:t>위탁운영</a:t>
            </a:r>
            <a:r>
              <a:rPr dirty="0"/>
              <a:t> </a:t>
            </a:r>
            <a:r>
              <a:rPr dirty="0" err="1"/>
              <a:t>제안</a:t>
            </a:r>
            <a:r>
              <a:rPr dirty="0"/>
              <a:t> </a:t>
            </a:r>
            <a:r>
              <a:rPr dirty="0" err="1"/>
              <a:t>발표를</a:t>
            </a:r>
            <a:r>
              <a:rPr dirty="0"/>
              <a:t> </a:t>
            </a:r>
            <a:r>
              <a:rPr dirty="0" err="1"/>
              <a:t>맡은</a:t>
            </a:r>
            <a:r>
              <a:rPr dirty="0"/>
              <a:t> </a:t>
            </a:r>
            <a:r>
              <a:rPr lang="en-US" altLang="ko-KR" dirty="0"/>
              <a:t>000</a:t>
            </a:r>
            <a:r>
              <a:rPr dirty="0"/>
              <a:t>입니다.</a:t>
            </a:r>
            <a:endParaRPr lang="en-US" altLang="ko-KR" dirty="0"/>
          </a:p>
          <a:p>
            <a:pPr rtl="0"/>
            <a:r>
              <a:rPr lang="en-US" altLang="ko-KR" dirty="0"/>
              <a:t>(</a:t>
            </a:r>
            <a:r>
              <a:rPr lang="ko-KR" altLang="en-US" dirty="0"/>
              <a:t>잠시 멈춤</a:t>
            </a:r>
            <a:r>
              <a:rPr lang="en-US" altLang="ko-KR" dirty="0"/>
              <a:t>)</a:t>
            </a:r>
          </a:p>
          <a:p>
            <a:pPr rtl="0"/>
            <a:r>
              <a:rPr lang="ko-KR" altLang="en-US" dirty="0"/>
              <a:t>세탁기가 멈춘 아침</a:t>
            </a:r>
            <a:r>
              <a:rPr lang="en-US" altLang="ko-KR" dirty="0"/>
              <a:t>, </a:t>
            </a:r>
            <a:r>
              <a:rPr lang="ko-KR" altLang="en-US" dirty="0"/>
              <a:t>에어컨이 꺼진 한여름 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고객이 </a:t>
            </a:r>
            <a:r>
              <a:rPr lang="en-US" altLang="ko-KR" dirty="0"/>
              <a:t>LG</a:t>
            </a:r>
            <a:r>
              <a:rPr lang="ko-KR" altLang="en-US" dirty="0"/>
              <a:t>전자 고객센터에 전화를 거는 순간은</a:t>
            </a:r>
            <a:r>
              <a:rPr lang="en-US" altLang="ko-KR" dirty="0"/>
              <a:t>, </a:t>
            </a:r>
            <a:r>
              <a:rPr lang="ko-KR" altLang="en-US" dirty="0"/>
              <a:t>대부분 가장 불편하고 다급한 순간입니다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지난 </a:t>
            </a:r>
            <a:r>
              <a:rPr lang="en-US" altLang="ko-KR" dirty="0"/>
              <a:t>3</a:t>
            </a:r>
            <a:r>
              <a:rPr lang="ko-KR" altLang="en-US" dirty="0"/>
              <a:t>년 동안 저희는 그 첫 통화를 받는 자리에 있었습니다</a:t>
            </a:r>
            <a:r>
              <a:rPr lang="en-US" altLang="ko-KR" dirty="0"/>
              <a:t>.</a:t>
            </a:r>
          </a:p>
          <a:p>
            <a:pPr rtl="0"/>
            <a:endParaRPr lang="en-US" altLang="ko-KR" dirty="0"/>
          </a:p>
          <a:p>
            <a:pPr rtl="0"/>
            <a:r>
              <a:rPr lang="ko-KR" altLang="en-US" dirty="0"/>
              <a:t>잘 해낸 날도 있었고</a:t>
            </a:r>
            <a:r>
              <a:rPr lang="en-US" altLang="ko-KR" dirty="0"/>
              <a:t>, </a:t>
            </a:r>
            <a:r>
              <a:rPr lang="ko-KR" altLang="en-US" dirty="0"/>
              <a:t>부족해서 많이 배운 날도 있었습니다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오늘은 그 현장에서 저희가 무엇을 겪고</a:t>
            </a:r>
            <a:r>
              <a:rPr lang="en-US" altLang="ko-KR" dirty="0"/>
              <a:t>, </a:t>
            </a:r>
            <a:r>
              <a:rPr lang="ko-KR" altLang="en-US" dirty="0"/>
              <a:t>무엇을 바꿨으며</a:t>
            </a:r>
            <a:r>
              <a:rPr lang="en-US" altLang="ko-KR" dirty="0"/>
              <a:t>, </a:t>
            </a:r>
            <a:r>
              <a:rPr lang="ko-KR" altLang="en-US" dirty="0"/>
              <a:t>앞으로 무엇을 더 잘하고 </a:t>
            </a:r>
            <a:r>
              <a:rPr lang="ko-KR" altLang="en-US" dirty="0" err="1"/>
              <a:t>싶은지</a:t>
            </a:r>
            <a:r>
              <a:rPr lang="ko-KR" altLang="en-US" dirty="0"/>
              <a:t> 진심을 담아 말씀드리겠습니다</a:t>
            </a:r>
            <a:r>
              <a:rPr lang="en-US" altLang="ko-KR" dirty="0"/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776563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</a:t>
            </a:r>
            <a:r>
              <a:rPr dirty="0" err="1"/>
              <a:t>발표</a:t>
            </a:r>
            <a:r>
              <a:rPr dirty="0"/>
              <a:t> 약 60초]</a:t>
            </a:r>
          </a:p>
          <a:p>
            <a:r>
              <a:rPr dirty="0" err="1"/>
              <a:t>먼저</a:t>
            </a:r>
            <a:r>
              <a:rPr dirty="0"/>
              <a:t> </a:t>
            </a:r>
            <a:r>
              <a:rPr dirty="0" err="1"/>
              <a:t>오늘</a:t>
            </a:r>
            <a:r>
              <a:rPr dirty="0"/>
              <a:t> </a:t>
            </a:r>
            <a:r>
              <a:rPr dirty="0" err="1"/>
              <a:t>말씀드릴</a:t>
            </a:r>
            <a:r>
              <a:rPr dirty="0"/>
              <a:t> </a:t>
            </a:r>
            <a:r>
              <a:rPr dirty="0" err="1"/>
              <a:t>내용을</a:t>
            </a:r>
            <a:r>
              <a:rPr dirty="0"/>
              <a:t> 한 </a:t>
            </a:r>
            <a:r>
              <a:rPr dirty="0" err="1"/>
              <a:t>장으로</a:t>
            </a:r>
            <a:r>
              <a:rPr dirty="0"/>
              <a:t> </a:t>
            </a:r>
            <a:r>
              <a:rPr dirty="0" err="1"/>
              <a:t>담았습니다</a:t>
            </a:r>
            <a:r>
              <a:rPr dirty="0"/>
              <a:t>.</a:t>
            </a:r>
          </a:p>
          <a:p>
            <a:r>
              <a:rPr dirty="0" err="1"/>
              <a:t>저희는</a:t>
            </a:r>
            <a:r>
              <a:rPr dirty="0"/>
              <a:t> 2024년 </a:t>
            </a:r>
            <a:r>
              <a:rPr dirty="0" err="1"/>
              <a:t>단기</a:t>
            </a:r>
            <a:r>
              <a:rPr dirty="0"/>
              <a:t> </a:t>
            </a:r>
            <a:r>
              <a:rPr dirty="0" err="1"/>
              <a:t>성수기를</a:t>
            </a:r>
            <a:r>
              <a:rPr dirty="0"/>
              <a:t> </a:t>
            </a:r>
            <a:r>
              <a:rPr dirty="0" err="1"/>
              <a:t>시작으로</a:t>
            </a:r>
            <a:r>
              <a:rPr dirty="0"/>
              <a:t> 주4일 </a:t>
            </a:r>
            <a:r>
              <a:rPr dirty="0" err="1"/>
              <a:t>상시</a:t>
            </a:r>
            <a:r>
              <a:rPr dirty="0"/>
              <a:t> </a:t>
            </a:r>
            <a:r>
              <a:rPr dirty="0" err="1"/>
              <a:t>운영</a:t>
            </a:r>
            <a:r>
              <a:rPr dirty="0"/>
              <a:t>, </a:t>
            </a:r>
            <a:r>
              <a:rPr dirty="0" err="1"/>
              <a:t>그리고</a:t>
            </a:r>
            <a:r>
              <a:rPr dirty="0"/>
              <a:t> 두 </a:t>
            </a:r>
            <a:r>
              <a:rPr dirty="0" err="1"/>
              <a:t>번의</a:t>
            </a:r>
            <a:r>
              <a:rPr dirty="0"/>
              <a:t> </a:t>
            </a:r>
            <a:r>
              <a:rPr dirty="0" err="1"/>
              <a:t>성수기를</a:t>
            </a:r>
            <a:r>
              <a:rPr dirty="0"/>
              <a:t> </a:t>
            </a:r>
            <a:r>
              <a:rPr dirty="0" err="1"/>
              <a:t>직접</a:t>
            </a:r>
            <a:r>
              <a:rPr dirty="0"/>
              <a:t> </a:t>
            </a:r>
            <a:r>
              <a:rPr dirty="0" err="1"/>
              <a:t>운영해</a:t>
            </a:r>
            <a:r>
              <a:rPr dirty="0"/>
              <a:t> </a:t>
            </a:r>
            <a:r>
              <a:rPr dirty="0" err="1"/>
              <a:t>왔습니다</a:t>
            </a:r>
            <a:r>
              <a:rPr dirty="0"/>
              <a:t>.</a:t>
            </a:r>
          </a:p>
          <a:p>
            <a:r>
              <a:rPr dirty="0" err="1"/>
              <a:t>처음부터</a:t>
            </a:r>
            <a:r>
              <a:rPr dirty="0"/>
              <a:t> </a:t>
            </a:r>
            <a:r>
              <a:rPr dirty="0" err="1"/>
              <a:t>순탄했던</a:t>
            </a:r>
            <a:r>
              <a:rPr dirty="0"/>
              <a:t> </a:t>
            </a:r>
            <a:r>
              <a:rPr dirty="0" err="1"/>
              <a:t>것은</a:t>
            </a:r>
            <a:r>
              <a:rPr dirty="0"/>
              <a:t> </a:t>
            </a:r>
            <a:r>
              <a:rPr dirty="0" err="1"/>
              <a:t>아닙니다</a:t>
            </a:r>
            <a:r>
              <a:rPr dirty="0"/>
              <a:t>. 2025년 </a:t>
            </a:r>
            <a:r>
              <a:rPr dirty="0" err="1"/>
              <a:t>성수기에는</a:t>
            </a:r>
            <a:r>
              <a:rPr dirty="0"/>
              <a:t> </a:t>
            </a:r>
            <a:r>
              <a:rPr dirty="0" err="1"/>
              <a:t>퇴직률이</a:t>
            </a:r>
            <a:r>
              <a:rPr dirty="0"/>
              <a:t> </a:t>
            </a:r>
            <a:r>
              <a:rPr dirty="0" err="1"/>
              <a:t>높았고</a:t>
            </a:r>
            <a:r>
              <a:rPr dirty="0"/>
              <a:t>, </a:t>
            </a:r>
            <a:r>
              <a:rPr dirty="0" err="1"/>
              <a:t>SLA도</a:t>
            </a:r>
            <a:r>
              <a:rPr dirty="0"/>
              <a:t> </a:t>
            </a:r>
            <a:r>
              <a:rPr dirty="0" err="1"/>
              <a:t>D등급에</a:t>
            </a:r>
            <a:r>
              <a:rPr dirty="0"/>
              <a:t> </a:t>
            </a:r>
            <a:r>
              <a:rPr dirty="0" err="1"/>
              <a:t>머물렀습니다</a:t>
            </a:r>
            <a:r>
              <a:rPr dirty="0"/>
              <a:t>.</a:t>
            </a:r>
          </a:p>
          <a:p>
            <a:r>
              <a:rPr dirty="0"/>
              <a:t>그 </a:t>
            </a:r>
            <a:r>
              <a:rPr dirty="0" err="1"/>
              <a:t>경험을</a:t>
            </a:r>
            <a:r>
              <a:rPr dirty="0"/>
              <a:t> </a:t>
            </a:r>
            <a:r>
              <a:rPr dirty="0" err="1"/>
              <a:t>그냥</a:t>
            </a:r>
            <a:r>
              <a:rPr dirty="0"/>
              <a:t> </a:t>
            </a:r>
            <a:r>
              <a:rPr dirty="0" err="1"/>
              <a:t>넘기지</a:t>
            </a:r>
            <a:r>
              <a:rPr dirty="0"/>
              <a:t> </a:t>
            </a:r>
            <a:r>
              <a:rPr dirty="0" err="1"/>
              <a:t>않고</a:t>
            </a:r>
            <a:r>
              <a:rPr dirty="0"/>
              <a:t> </a:t>
            </a:r>
            <a:r>
              <a:rPr dirty="0" err="1"/>
              <a:t>채용과</a:t>
            </a:r>
            <a:r>
              <a:rPr dirty="0"/>
              <a:t> </a:t>
            </a:r>
            <a:r>
              <a:rPr dirty="0" err="1"/>
              <a:t>교육</a:t>
            </a:r>
            <a:r>
              <a:rPr dirty="0"/>
              <a:t>, </a:t>
            </a:r>
            <a:r>
              <a:rPr dirty="0" err="1"/>
              <a:t>관리</a:t>
            </a:r>
            <a:r>
              <a:rPr dirty="0"/>
              <a:t> </a:t>
            </a:r>
            <a:r>
              <a:rPr dirty="0" err="1"/>
              <a:t>방식을</a:t>
            </a:r>
            <a:r>
              <a:rPr dirty="0"/>
              <a:t> </a:t>
            </a:r>
            <a:r>
              <a:rPr dirty="0" err="1"/>
              <a:t>하나씩</a:t>
            </a:r>
            <a:r>
              <a:rPr dirty="0"/>
              <a:t> </a:t>
            </a:r>
            <a:r>
              <a:rPr dirty="0" err="1"/>
              <a:t>바꿨고</a:t>
            </a:r>
            <a:r>
              <a:rPr dirty="0"/>
              <a:t>, 2026년에는 </a:t>
            </a:r>
            <a:r>
              <a:rPr dirty="0" err="1"/>
              <a:t>한시</a:t>
            </a:r>
            <a:r>
              <a:rPr dirty="0"/>
              <a:t> </a:t>
            </a:r>
            <a:r>
              <a:rPr dirty="0" err="1"/>
              <a:t>퇴직률</a:t>
            </a:r>
            <a:r>
              <a:rPr dirty="0"/>
              <a:t> 4.7%, </a:t>
            </a:r>
            <a:r>
              <a:rPr dirty="0" err="1"/>
              <a:t>투입</a:t>
            </a:r>
            <a:r>
              <a:rPr dirty="0"/>
              <a:t> </a:t>
            </a:r>
            <a:r>
              <a:rPr dirty="0" err="1"/>
              <a:t>대비</a:t>
            </a:r>
            <a:r>
              <a:rPr dirty="0"/>
              <a:t> </a:t>
            </a:r>
            <a:r>
              <a:rPr dirty="0" err="1"/>
              <a:t>유지율</a:t>
            </a:r>
            <a:r>
              <a:rPr dirty="0"/>
              <a:t> 89.5%라는 </a:t>
            </a:r>
            <a:r>
              <a:rPr dirty="0" err="1"/>
              <a:t>변화를</a:t>
            </a:r>
            <a:r>
              <a:rPr dirty="0"/>
              <a:t> </a:t>
            </a:r>
            <a:r>
              <a:rPr dirty="0" err="1"/>
              <a:t>만들</a:t>
            </a:r>
            <a:r>
              <a:rPr dirty="0"/>
              <a:t> 수 </a:t>
            </a:r>
            <a:r>
              <a:rPr dirty="0" err="1"/>
              <a:t>있었습니다</a:t>
            </a:r>
            <a:r>
              <a:rPr dirty="0"/>
              <a:t>.</a:t>
            </a:r>
          </a:p>
          <a:p>
            <a:r>
              <a:rPr dirty="0" err="1"/>
              <a:t>오늘은</a:t>
            </a:r>
            <a:r>
              <a:rPr dirty="0"/>
              <a:t> 이 </a:t>
            </a:r>
            <a:r>
              <a:rPr dirty="0" err="1"/>
              <a:t>경험을</a:t>
            </a:r>
            <a:r>
              <a:rPr dirty="0"/>
              <a:t> 주5일 </a:t>
            </a:r>
            <a:r>
              <a:rPr dirty="0" err="1"/>
              <a:t>상시</a:t>
            </a:r>
            <a:r>
              <a:rPr dirty="0"/>
              <a:t> </a:t>
            </a:r>
            <a:r>
              <a:rPr dirty="0" err="1"/>
              <a:t>운영으로</a:t>
            </a:r>
            <a:r>
              <a:rPr dirty="0"/>
              <a:t> </a:t>
            </a:r>
            <a:r>
              <a:rPr dirty="0" err="1"/>
              <a:t>이어가고</a:t>
            </a:r>
            <a:r>
              <a:rPr dirty="0"/>
              <a:t> </a:t>
            </a:r>
            <a:r>
              <a:rPr dirty="0" err="1"/>
              <a:t>싶다는</a:t>
            </a:r>
            <a:r>
              <a:rPr dirty="0"/>
              <a:t> </a:t>
            </a:r>
            <a:r>
              <a:rPr dirty="0" err="1"/>
              <a:t>말씀을</a:t>
            </a:r>
            <a:r>
              <a:rPr dirty="0"/>
              <a:t> </a:t>
            </a:r>
            <a:r>
              <a:rPr dirty="0" err="1"/>
              <a:t>드리러</a:t>
            </a:r>
            <a:r>
              <a:rPr dirty="0"/>
              <a:t> </a:t>
            </a:r>
            <a:r>
              <a:rPr dirty="0" err="1"/>
              <a:t>왔습니다</a:t>
            </a:r>
            <a:r>
              <a:rPr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92558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제안서는 제안요청서의 순서에 맞춰 제안 개요부터 기타 항목까지 구성했습니다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오늘은 그중 </a:t>
            </a:r>
            <a:r>
              <a:rPr lang="ko-KR" altLang="en-US" b="1" dirty="0"/>
              <a:t>사업관리 방안</a:t>
            </a:r>
            <a:r>
              <a:rPr lang="ko-KR" altLang="en-US" dirty="0"/>
              <a:t>을 중심으로 말씀드리겠습니다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altLang="en-US" dirty="0"/>
              <a:t>먼저 제안 배경을 간단히 말씀드리겠습니다.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</a:t>
            </a:r>
            <a:r>
              <a:rPr dirty="0" err="1"/>
              <a:t>발표</a:t>
            </a:r>
            <a:r>
              <a:rPr dirty="0"/>
              <a:t> 약 40초]</a:t>
            </a:r>
          </a:p>
          <a:p>
            <a:r>
              <a:rPr dirty="0" err="1"/>
              <a:t>지난</a:t>
            </a:r>
            <a:r>
              <a:rPr dirty="0"/>
              <a:t> 20개월 </a:t>
            </a:r>
            <a:r>
              <a:rPr dirty="0" err="1"/>
              <a:t>동안</a:t>
            </a:r>
            <a:r>
              <a:rPr dirty="0"/>
              <a:t> </a:t>
            </a:r>
            <a:r>
              <a:rPr dirty="0" err="1"/>
              <a:t>상시</a:t>
            </a:r>
            <a:r>
              <a:rPr dirty="0"/>
              <a:t> </a:t>
            </a:r>
            <a:r>
              <a:rPr dirty="0" err="1"/>
              <a:t>인력의</a:t>
            </a:r>
            <a:r>
              <a:rPr dirty="0"/>
              <a:t> T-</a:t>
            </a:r>
            <a:r>
              <a:rPr dirty="0" err="1"/>
              <a:t>NPS는</a:t>
            </a:r>
            <a:r>
              <a:rPr dirty="0"/>
              <a:t> </a:t>
            </a:r>
            <a:r>
              <a:rPr lang="en-US" altLang="ko-KR" dirty="0"/>
              <a:t>90.9</a:t>
            </a:r>
            <a:r>
              <a:rPr dirty="0"/>
              <a:t>에서 </a:t>
            </a:r>
            <a:r>
              <a:rPr lang="en-US" altLang="ko-KR" dirty="0"/>
              <a:t>92.9</a:t>
            </a:r>
            <a:r>
              <a:rPr dirty="0"/>
              <a:t>로, </a:t>
            </a:r>
            <a:r>
              <a:rPr dirty="0" err="1"/>
              <a:t>생산성과</a:t>
            </a:r>
            <a:r>
              <a:rPr dirty="0"/>
              <a:t> IN </a:t>
            </a:r>
            <a:r>
              <a:rPr dirty="0" err="1"/>
              <a:t>생산성도</a:t>
            </a:r>
            <a:r>
              <a:rPr dirty="0"/>
              <a:t> </a:t>
            </a:r>
            <a:r>
              <a:rPr dirty="0" err="1"/>
              <a:t>꾸준히</a:t>
            </a:r>
            <a:r>
              <a:rPr dirty="0"/>
              <a:t> </a:t>
            </a:r>
            <a:r>
              <a:rPr dirty="0" err="1"/>
              <a:t>올랐습니다</a:t>
            </a:r>
            <a:r>
              <a:rPr dirty="0"/>
              <a:t>.</a:t>
            </a:r>
          </a:p>
          <a:p>
            <a:r>
              <a:rPr dirty="0" err="1"/>
              <a:t>아래</a:t>
            </a:r>
            <a:r>
              <a:rPr dirty="0"/>
              <a:t> </a:t>
            </a:r>
            <a:r>
              <a:rPr dirty="0" err="1"/>
              <a:t>그래프는</a:t>
            </a:r>
            <a:r>
              <a:rPr dirty="0"/>
              <a:t> </a:t>
            </a:r>
            <a:r>
              <a:rPr dirty="0" err="1"/>
              <a:t>저희</a:t>
            </a:r>
            <a:r>
              <a:rPr dirty="0"/>
              <a:t> </a:t>
            </a:r>
            <a:r>
              <a:rPr dirty="0" err="1"/>
              <a:t>센터의</a:t>
            </a:r>
            <a:r>
              <a:rPr dirty="0"/>
              <a:t>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인력</a:t>
            </a:r>
            <a:r>
              <a:rPr dirty="0"/>
              <a:t> </a:t>
            </a:r>
            <a:r>
              <a:rPr dirty="0" err="1"/>
              <a:t>흐름입니다</a:t>
            </a:r>
            <a:r>
              <a:rPr dirty="0"/>
              <a:t>. </a:t>
            </a:r>
            <a:r>
              <a:rPr dirty="0" err="1"/>
              <a:t>비수기</a:t>
            </a:r>
            <a:r>
              <a:rPr dirty="0"/>
              <a:t> 12~20명에서 </a:t>
            </a:r>
            <a:r>
              <a:rPr dirty="0" err="1"/>
              <a:t>성수기에는</a:t>
            </a:r>
            <a:r>
              <a:rPr dirty="0"/>
              <a:t> 75명까지, 세 </a:t>
            </a:r>
            <a:r>
              <a:rPr dirty="0" err="1"/>
              <a:t>배가</a:t>
            </a:r>
            <a:r>
              <a:rPr dirty="0"/>
              <a:t> </a:t>
            </a:r>
            <a:r>
              <a:rPr dirty="0" err="1"/>
              <a:t>넘는</a:t>
            </a:r>
            <a:r>
              <a:rPr dirty="0"/>
              <a:t> </a:t>
            </a:r>
            <a:r>
              <a:rPr dirty="0" err="1"/>
              <a:t>인력</a:t>
            </a:r>
            <a:r>
              <a:rPr dirty="0"/>
              <a:t> </a:t>
            </a:r>
            <a:r>
              <a:rPr dirty="0" err="1"/>
              <a:t>변화를</a:t>
            </a:r>
            <a:r>
              <a:rPr dirty="0"/>
              <a:t> </a:t>
            </a:r>
            <a:r>
              <a:rPr dirty="0" err="1"/>
              <a:t>현장에서</a:t>
            </a:r>
            <a:r>
              <a:rPr dirty="0"/>
              <a:t> </a:t>
            </a:r>
            <a:r>
              <a:rPr dirty="0" err="1"/>
              <a:t>직접</a:t>
            </a:r>
            <a:r>
              <a:rPr dirty="0"/>
              <a:t> </a:t>
            </a:r>
            <a:r>
              <a:rPr dirty="0" err="1"/>
              <a:t>겪어</a:t>
            </a:r>
            <a:r>
              <a:rPr dirty="0"/>
              <a:t> </a:t>
            </a:r>
            <a:r>
              <a:rPr dirty="0" err="1"/>
              <a:t>왔습니다</a:t>
            </a:r>
            <a:r>
              <a:rPr dirty="0"/>
              <a:t>.</a:t>
            </a:r>
          </a:p>
          <a:p>
            <a:r>
              <a:rPr dirty="0" err="1"/>
              <a:t>이번</a:t>
            </a:r>
            <a:r>
              <a:rPr dirty="0"/>
              <a:t> </a:t>
            </a:r>
            <a:r>
              <a:rPr dirty="0" err="1"/>
              <a:t>제안의</a:t>
            </a:r>
            <a:r>
              <a:rPr dirty="0"/>
              <a:t> </a:t>
            </a:r>
            <a:r>
              <a:rPr dirty="0" err="1"/>
              <a:t>목적은</a:t>
            </a:r>
            <a:r>
              <a:rPr dirty="0"/>
              <a:t> </a:t>
            </a:r>
            <a:r>
              <a:rPr dirty="0" err="1"/>
              <a:t>이렇게</a:t>
            </a:r>
            <a:r>
              <a:rPr dirty="0"/>
              <a:t> </a:t>
            </a:r>
            <a:r>
              <a:rPr dirty="0" err="1"/>
              <a:t>쌓아</a:t>
            </a:r>
            <a:r>
              <a:rPr dirty="0"/>
              <a:t> 온 </a:t>
            </a:r>
            <a:r>
              <a:rPr dirty="0" err="1"/>
              <a:t>경험을</a:t>
            </a:r>
            <a:r>
              <a:rPr dirty="0"/>
              <a:t> 주5일 </a:t>
            </a:r>
            <a:r>
              <a:rPr dirty="0" err="1"/>
              <a:t>상시</a:t>
            </a:r>
            <a:r>
              <a:rPr lang="ko-KR" altLang="en-US" dirty="0"/>
              <a:t> </a:t>
            </a:r>
            <a:r>
              <a:rPr dirty="0" err="1"/>
              <a:t>운영으로</a:t>
            </a:r>
            <a:r>
              <a:rPr dirty="0"/>
              <a:t> </a:t>
            </a:r>
            <a:r>
              <a:rPr dirty="0" err="1"/>
              <a:t>넓히는</a:t>
            </a:r>
            <a:r>
              <a:rPr dirty="0"/>
              <a:t> </a:t>
            </a:r>
            <a:r>
              <a:rPr dirty="0" err="1"/>
              <a:t>것입니다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</a:t>
            </a:r>
            <a:r>
              <a:rPr dirty="0" err="1"/>
              <a:t>발표</a:t>
            </a:r>
            <a:r>
              <a:rPr dirty="0"/>
              <a:t> 약 40초]</a:t>
            </a:r>
          </a:p>
          <a:p>
            <a:r>
              <a:rPr dirty="0"/>
              <a:t>이 </a:t>
            </a:r>
            <a:r>
              <a:rPr dirty="0" err="1"/>
              <a:t>숫자들</a:t>
            </a:r>
            <a:r>
              <a:rPr dirty="0"/>
              <a:t> </a:t>
            </a:r>
            <a:r>
              <a:rPr dirty="0" err="1"/>
              <a:t>뒤에는</a:t>
            </a:r>
            <a:r>
              <a:rPr dirty="0"/>
              <a:t> 3년의 </a:t>
            </a:r>
            <a:r>
              <a:rPr dirty="0" err="1"/>
              <a:t>시간이</a:t>
            </a:r>
            <a:r>
              <a:rPr dirty="0"/>
              <a:t> </a:t>
            </a:r>
            <a:r>
              <a:rPr dirty="0" err="1"/>
              <a:t>있습니다</a:t>
            </a:r>
            <a:r>
              <a:rPr dirty="0"/>
              <a:t>.</a:t>
            </a:r>
          </a:p>
          <a:p>
            <a:r>
              <a:rPr dirty="0"/>
              <a:t>2024년 </a:t>
            </a:r>
            <a:r>
              <a:rPr dirty="0" err="1"/>
              <a:t>단기</a:t>
            </a:r>
            <a:r>
              <a:rPr dirty="0"/>
              <a:t> </a:t>
            </a:r>
            <a:r>
              <a:rPr dirty="0" err="1"/>
              <a:t>성수기에서</a:t>
            </a:r>
            <a:r>
              <a:rPr dirty="0"/>
              <a:t> </a:t>
            </a:r>
            <a:r>
              <a:rPr dirty="0" err="1"/>
              <a:t>상시</a:t>
            </a:r>
            <a:r>
              <a:rPr dirty="0"/>
              <a:t> </a:t>
            </a:r>
            <a:r>
              <a:rPr dirty="0" err="1"/>
              <a:t>인력이</a:t>
            </a:r>
            <a:r>
              <a:rPr dirty="0"/>
              <a:t> 왜 </a:t>
            </a:r>
            <a:r>
              <a:rPr dirty="0" err="1"/>
              <a:t>필요한지</a:t>
            </a:r>
            <a:r>
              <a:rPr dirty="0"/>
              <a:t> </a:t>
            </a:r>
            <a:r>
              <a:rPr dirty="0" err="1"/>
              <a:t>배웠고</a:t>
            </a:r>
            <a:r>
              <a:rPr dirty="0"/>
              <a:t>, 주4일 </a:t>
            </a:r>
            <a:r>
              <a:rPr dirty="0" err="1"/>
              <a:t>런칭</a:t>
            </a:r>
            <a:r>
              <a:rPr dirty="0"/>
              <a:t> 때 </a:t>
            </a:r>
            <a:r>
              <a:rPr dirty="0" err="1"/>
              <a:t>함께한</a:t>
            </a:r>
            <a:r>
              <a:rPr dirty="0"/>
              <a:t> </a:t>
            </a: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관리자들은</a:t>
            </a:r>
            <a:r>
              <a:rPr dirty="0"/>
              <a:t> </a:t>
            </a:r>
            <a:r>
              <a:rPr dirty="0" err="1"/>
              <a:t>지금도</a:t>
            </a:r>
            <a:r>
              <a:rPr dirty="0"/>
              <a:t> </a:t>
            </a:r>
            <a:r>
              <a:rPr dirty="0" err="1"/>
              <a:t>센터를</a:t>
            </a:r>
            <a:r>
              <a:rPr dirty="0"/>
              <a:t> </a:t>
            </a:r>
            <a:r>
              <a:rPr dirty="0" err="1"/>
              <a:t>지키고</a:t>
            </a:r>
            <a:r>
              <a:rPr dirty="0"/>
              <a:t> </a:t>
            </a:r>
            <a:r>
              <a:rPr dirty="0" err="1"/>
              <a:t>있습니다</a:t>
            </a:r>
            <a:r>
              <a:rPr dirty="0"/>
              <a:t>.</a:t>
            </a:r>
          </a:p>
          <a:p>
            <a:r>
              <a:rPr dirty="0"/>
              <a:t>2025년 </a:t>
            </a:r>
            <a:r>
              <a:rPr dirty="0" err="1"/>
              <a:t>성수기의</a:t>
            </a:r>
            <a:r>
              <a:rPr dirty="0"/>
              <a:t> </a:t>
            </a:r>
            <a:r>
              <a:rPr dirty="0" err="1"/>
              <a:t>시행착오를</a:t>
            </a:r>
            <a:r>
              <a:rPr dirty="0"/>
              <a:t> </a:t>
            </a:r>
            <a:r>
              <a:rPr dirty="0" err="1"/>
              <a:t>거쳐</a:t>
            </a:r>
            <a:r>
              <a:rPr dirty="0"/>
              <a:t> </a:t>
            </a:r>
            <a:r>
              <a:rPr dirty="0" err="1"/>
              <a:t>원인을</a:t>
            </a:r>
            <a:r>
              <a:rPr dirty="0"/>
              <a:t> </a:t>
            </a:r>
            <a:r>
              <a:rPr dirty="0" err="1"/>
              <a:t>찾았고</a:t>
            </a:r>
            <a:r>
              <a:rPr dirty="0"/>
              <a:t>, 2026년 </a:t>
            </a:r>
            <a:r>
              <a:rPr dirty="0" err="1"/>
              <a:t>성수기에서</a:t>
            </a:r>
            <a:r>
              <a:rPr dirty="0"/>
              <a:t> 그 </a:t>
            </a:r>
            <a:r>
              <a:rPr dirty="0" err="1"/>
              <a:t>변화를</a:t>
            </a:r>
            <a:r>
              <a:rPr dirty="0"/>
              <a:t> </a:t>
            </a:r>
            <a:r>
              <a:rPr dirty="0" err="1"/>
              <a:t>확인했습니다</a:t>
            </a:r>
            <a:r>
              <a:rPr dirty="0"/>
              <a:t>.</a:t>
            </a:r>
          </a:p>
          <a:p>
            <a:r>
              <a:rPr dirty="0" err="1"/>
              <a:t>완벽하게</a:t>
            </a:r>
            <a:r>
              <a:rPr dirty="0"/>
              <a:t> </a:t>
            </a:r>
            <a:r>
              <a:rPr dirty="0" err="1"/>
              <a:t>운영해</a:t>
            </a:r>
            <a:r>
              <a:rPr dirty="0"/>
              <a:t> </a:t>
            </a:r>
            <a:r>
              <a:rPr dirty="0" err="1"/>
              <a:t>왔다고</a:t>
            </a:r>
            <a:r>
              <a:rPr dirty="0"/>
              <a:t> </a:t>
            </a:r>
            <a:r>
              <a:rPr dirty="0" err="1"/>
              <a:t>말씀드리기보다는</a:t>
            </a:r>
            <a:r>
              <a:rPr dirty="0"/>
              <a:t>, </a:t>
            </a:r>
            <a:r>
              <a:rPr dirty="0" err="1"/>
              <a:t>문제를</a:t>
            </a:r>
            <a:r>
              <a:rPr dirty="0"/>
              <a:t> </a:t>
            </a:r>
            <a:r>
              <a:rPr dirty="0" err="1"/>
              <a:t>겪으면서</a:t>
            </a:r>
            <a:r>
              <a:rPr dirty="0"/>
              <a:t> </a:t>
            </a:r>
            <a:r>
              <a:rPr dirty="0" err="1"/>
              <a:t>배우고</a:t>
            </a:r>
            <a:r>
              <a:rPr dirty="0"/>
              <a:t> </a:t>
            </a:r>
            <a:r>
              <a:rPr dirty="0" err="1"/>
              <a:t>바꿔</a:t>
            </a:r>
            <a:r>
              <a:rPr dirty="0"/>
              <a:t> 온 </a:t>
            </a:r>
            <a:r>
              <a:rPr dirty="0" err="1"/>
              <a:t>센터라고</a:t>
            </a:r>
            <a:r>
              <a:rPr dirty="0"/>
              <a:t> </a:t>
            </a:r>
            <a:r>
              <a:rPr dirty="0" err="1"/>
              <a:t>말씀드리고</a:t>
            </a:r>
            <a:r>
              <a:rPr dirty="0"/>
              <a:t> </a:t>
            </a:r>
            <a:r>
              <a:rPr dirty="0" err="1"/>
              <a:t>싶습니다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[발표 약 45초]</a:t>
            </a:r>
          </a:p>
          <a:p>
            <a:r>
              <a:t>2025년 성수기는 저희에게 가장 아픈 시간이었습니다.</a:t>
            </a:r>
          </a:p>
          <a:p>
            <a:r>
              <a:t>한시 퇴직률이 22%였고, 투입한 인원 중 끝까지 함께한 비율은 60% 수준이었습니다.</a:t>
            </a:r>
          </a:p>
          <a:p>
            <a:r>
              <a:t>돌아보니 원인은 다섯 가지였습니다. 현장 관리자가 선발에 충분히 참여하지 못했고, 50명 규모의 인원을 한 번에 교육했습니다. 성수기 관리자를 미리 준비하지 못했고, 실전 검증과 근무 일정 소통도 부족했습니다.</a:t>
            </a:r>
          </a:p>
          <a:p>
            <a:r>
              <a:t>저희는 이 다섯 가지를 다음 성수기의 과제로 삼았습니다.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</a:t>
            </a:r>
            <a:r>
              <a:rPr dirty="0" err="1"/>
              <a:t>발표</a:t>
            </a:r>
            <a:r>
              <a:rPr dirty="0"/>
              <a:t> 약 40초]</a:t>
            </a:r>
          </a:p>
          <a:p>
            <a:r>
              <a:rPr dirty="0" err="1"/>
              <a:t>그리고</a:t>
            </a:r>
            <a:r>
              <a:rPr dirty="0"/>
              <a:t> </a:t>
            </a:r>
            <a:r>
              <a:rPr dirty="0" err="1"/>
              <a:t>과제마다</a:t>
            </a:r>
            <a:r>
              <a:rPr dirty="0"/>
              <a:t> </a:t>
            </a:r>
            <a:r>
              <a:rPr dirty="0" err="1"/>
              <a:t>운영</a:t>
            </a:r>
            <a:r>
              <a:rPr dirty="0"/>
              <a:t> </a:t>
            </a:r>
            <a:r>
              <a:rPr dirty="0" err="1"/>
              <a:t>방식을</a:t>
            </a:r>
            <a:r>
              <a:rPr dirty="0"/>
              <a:t> </a:t>
            </a:r>
            <a:r>
              <a:rPr dirty="0" err="1"/>
              <a:t>바꿨습니다</a:t>
            </a:r>
            <a:r>
              <a:rPr dirty="0"/>
              <a:t>.</a:t>
            </a:r>
          </a:p>
          <a:p>
            <a:r>
              <a:rPr dirty="0" err="1"/>
              <a:t>현장</a:t>
            </a:r>
            <a:r>
              <a:rPr dirty="0"/>
              <a:t> </a:t>
            </a:r>
            <a:r>
              <a:rPr dirty="0" err="1"/>
              <a:t>관리자가</a:t>
            </a:r>
            <a:r>
              <a:rPr dirty="0"/>
              <a:t> </a:t>
            </a:r>
            <a:r>
              <a:rPr dirty="0" err="1"/>
              <a:t>직접</a:t>
            </a:r>
            <a:r>
              <a:rPr dirty="0"/>
              <a:t> </a:t>
            </a:r>
            <a:r>
              <a:rPr dirty="0" err="1"/>
              <a:t>면접하고</a:t>
            </a:r>
            <a:r>
              <a:rPr dirty="0"/>
              <a:t> </a:t>
            </a:r>
            <a:r>
              <a:rPr dirty="0" err="1"/>
              <a:t>사전</a:t>
            </a:r>
            <a:r>
              <a:rPr dirty="0"/>
              <a:t> </a:t>
            </a:r>
            <a:r>
              <a:rPr dirty="0" err="1"/>
              <a:t>테스트를</a:t>
            </a:r>
            <a:r>
              <a:rPr dirty="0"/>
              <a:t> </a:t>
            </a:r>
            <a:r>
              <a:rPr dirty="0" err="1"/>
              <a:t>거치게</a:t>
            </a:r>
            <a:r>
              <a:rPr dirty="0"/>
              <a:t> </a:t>
            </a:r>
            <a:r>
              <a:rPr dirty="0" err="1"/>
              <a:t>했고</a:t>
            </a:r>
            <a:r>
              <a:rPr dirty="0"/>
              <a:t>, </a:t>
            </a:r>
            <a:r>
              <a:rPr dirty="0" err="1"/>
              <a:t>교육은</a:t>
            </a:r>
            <a:r>
              <a:rPr dirty="0"/>
              <a:t> 네 </a:t>
            </a:r>
            <a:r>
              <a:rPr dirty="0" err="1"/>
              <a:t>차수로</a:t>
            </a:r>
            <a:r>
              <a:rPr dirty="0"/>
              <a:t> </a:t>
            </a:r>
            <a:r>
              <a:rPr dirty="0" err="1"/>
              <a:t>나누어</a:t>
            </a:r>
            <a:r>
              <a:rPr dirty="0"/>
              <a:t> 한 달 </a:t>
            </a:r>
            <a:r>
              <a:rPr dirty="0" err="1"/>
              <a:t>먼저</a:t>
            </a:r>
            <a:r>
              <a:rPr dirty="0"/>
              <a:t> </a:t>
            </a:r>
            <a:r>
              <a:rPr dirty="0" err="1"/>
              <a:t>시작했습니다</a:t>
            </a:r>
            <a:r>
              <a:rPr dirty="0"/>
              <a:t>.</a:t>
            </a:r>
          </a:p>
          <a:p>
            <a:r>
              <a:rPr dirty="0"/>
              <a:t>그 </a:t>
            </a:r>
            <a:r>
              <a:rPr dirty="0" err="1"/>
              <a:t>결과</a:t>
            </a:r>
            <a:r>
              <a:rPr dirty="0"/>
              <a:t> 2026년 </a:t>
            </a:r>
            <a:r>
              <a:rPr dirty="0" err="1"/>
              <a:t>성수기에는</a:t>
            </a:r>
            <a:r>
              <a:rPr dirty="0"/>
              <a:t> </a:t>
            </a:r>
            <a:r>
              <a:rPr dirty="0" err="1"/>
              <a:t>업무부적응</a:t>
            </a:r>
            <a:r>
              <a:rPr dirty="0"/>
              <a:t> </a:t>
            </a:r>
            <a:r>
              <a:rPr dirty="0" err="1"/>
              <a:t>퇴사가</a:t>
            </a:r>
            <a:r>
              <a:rPr dirty="0"/>
              <a:t> 29건에서 6건으로 </a:t>
            </a:r>
            <a:r>
              <a:rPr dirty="0" err="1"/>
              <a:t>줄었고</a:t>
            </a:r>
            <a:r>
              <a:rPr dirty="0"/>
              <a:t>, </a:t>
            </a:r>
            <a:r>
              <a:rPr dirty="0" err="1"/>
              <a:t>한시</a:t>
            </a:r>
            <a:r>
              <a:rPr dirty="0"/>
              <a:t> T-</a:t>
            </a:r>
            <a:r>
              <a:rPr dirty="0" err="1"/>
              <a:t>NPS는</a:t>
            </a:r>
            <a:r>
              <a:rPr dirty="0"/>
              <a:t> 82.0에서 89.3으로 </a:t>
            </a:r>
            <a:r>
              <a:rPr dirty="0" err="1"/>
              <a:t>올랐습니다</a:t>
            </a:r>
            <a:r>
              <a:rPr dirty="0"/>
              <a:t>.</a:t>
            </a:r>
          </a:p>
          <a:p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센터</a:t>
            </a:r>
            <a:r>
              <a:rPr dirty="0"/>
              <a:t>, </a:t>
            </a:r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성수기에서</a:t>
            </a:r>
            <a:r>
              <a:rPr dirty="0"/>
              <a:t> </a:t>
            </a:r>
            <a:r>
              <a:rPr dirty="0" err="1"/>
              <a:t>방식만</a:t>
            </a:r>
            <a:r>
              <a:rPr dirty="0"/>
              <a:t> </a:t>
            </a:r>
            <a:r>
              <a:rPr dirty="0" err="1"/>
              <a:t>바꿨는데</a:t>
            </a:r>
            <a:r>
              <a:rPr dirty="0"/>
              <a:t> </a:t>
            </a:r>
            <a:r>
              <a:rPr dirty="0" err="1"/>
              <a:t>결과가</a:t>
            </a:r>
            <a:r>
              <a:rPr dirty="0"/>
              <a:t> </a:t>
            </a:r>
            <a:r>
              <a:rPr dirty="0" err="1"/>
              <a:t>달라졌다는</a:t>
            </a:r>
            <a:r>
              <a:rPr dirty="0"/>
              <a:t> 것, </a:t>
            </a:r>
            <a:r>
              <a:rPr dirty="0" err="1"/>
              <a:t>그것이</a:t>
            </a:r>
            <a:r>
              <a:rPr dirty="0"/>
              <a:t> </a:t>
            </a:r>
            <a:r>
              <a:rPr dirty="0" err="1"/>
              <a:t>저희가</a:t>
            </a:r>
            <a:r>
              <a:rPr dirty="0"/>
              <a:t> </a:t>
            </a:r>
            <a:r>
              <a:rPr dirty="0" err="1"/>
              <a:t>얻은</a:t>
            </a:r>
            <a:r>
              <a:rPr dirty="0"/>
              <a:t> </a:t>
            </a:r>
            <a:r>
              <a:rPr dirty="0" err="1"/>
              <a:t>가장</a:t>
            </a:r>
            <a:r>
              <a:rPr dirty="0"/>
              <a:t> 큰 </a:t>
            </a:r>
            <a:r>
              <a:rPr dirty="0" err="1"/>
              <a:t>배움이었습니다</a:t>
            </a:r>
            <a:r>
              <a:rPr dirty="0"/>
              <a:t>.</a:t>
            </a:r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발표 약 </a:t>
            </a:r>
            <a:r>
              <a:rPr lang="en-US" altLang="ko-KR" dirty="0"/>
              <a:t>40</a:t>
            </a:r>
            <a:r>
              <a:rPr lang="ko-KR" altLang="en-US" dirty="0"/>
              <a:t>초</a:t>
            </a:r>
            <a:r>
              <a:rPr lang="en-US" altLang="ko-KR" dirty="0"/>
              <a:t>]</a:t>
            </a:r>
          </a:p>
          <a:p>
            <a:r>
              <a:rPr lang="ko-KR" altLang="en-US" dirty="0"/>
              <a:t>지금 저희가 맡고 있는 주</a:t>
            </a:r>
            <a:r>
              <a:rPr lang="en-US" altLang="ko-KR" dirty="0"/>
              <a:t>4</a:t>
            </a:r>
            <a:r>
              <a:rPr lang="ko-KR" altLang="en-US" dirty="0"/>
              <a:t>일 운영은 토</a:t>
            </a:r>
            <a:r>
              <a:rPr lang="en-US" altLang="ko-KR" dirty="0"/>
              <a:t>·</a:t>
            </a:r>
            <a:r>
              <a:rPr lang="ko-KR" altLang="en-US" dirty="0"/>
              <a:t>일</a:t>
            </a:r>
            <a:r>
              <a:rPr lang="en-US" altLang="ko-KR" dirty="0"/>
              <a:t>·</a:t>
            </a:r>
            <a:r>
              <a:rPr lang="ko-KR" altLang="en-US" dirty="0"/>
              <a:t>월</a:t>
            </a:r>
            <a:r>
              <a:rPr lang="en-US" altLang="ko-KR" dirty="0"/>
              <a:t>·</a:t>
            </a:r>
            <a:r>
              <a:rPr lang="ko-KR" altLang="en-US" dirty="0"/>
              <a:t>화 구조입니다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실제 상담 </a:t>
            </a:r>
            <a:r>
              <a:rPr lang="en-US" altLang="ko-KR" dirty="0"/>
              <a:t>4</a:t>
            </a:r>
            <a:r>
              <a:rPr lang="ko-KR" altLang="en-US" dirty="0"/>
              <a:t>만여 건을 비교해 보면 평일과 주말이 확연히 다릅니다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주말에는 한 사람이 받는 콜이 평일보다 </a:t>
            </a:r>
            <a:r>
              <a:rPr lang="en-US" altLang="ko-KR" dirty="0"/>
              <a:t>30% </a:t>
            </a:r>
            <a:r>
              <a:rPr lang="ko-KR" altLang="en-US" dirty="0"/>
              <a:t>가까이 적고</a:t>
            </a:r>
            <a:r>
              <a:rPr lang="en-US" altLang="ko-KR" dirty="0"/>
              <a:t>, </a:t>
            </a:r>
            <a:r>
              <a:rPr lang="ko-KR" altLang="en-US" dirty="0"/>
              <a:t>저희가 평소 맡지 않는 제품 문의는 </a:t>
            </a:r>
            <a:r>
              <a:rPr lang="en-US" altLang="ko-KR" dirty="0"/>
              <a:t>25%</a:t>
            </a:r>
            <a:r>
              <a:rPr lang="ko-KR" altLang="en-US" dirty="0"/>
              <a:t>에서 </a:t>
            </a:r>
            <a:r>
              <a:rPr lang="en-US" altLang="ko-KR" dirty="0"/>
              <a:t>57%</a:t>
            </a:r>
            <a:r>
              <a:rPr lang="ko-KR" altLang="en-US" dirty="0"/>
              <a:t>로 두 배 넘게 늘어납니다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또 이관이나 접수가 어려워</a:t>
            </a:r>
            <a:r>
              <a:rPr lang="en-US" altLang="ko-KR" dirty="0"/>
              <a:t>, </a:t>
            </a:r>
            <a:r>
              <a:rPr lang="ko-KR" altLang="en-US" dirty="0"/>
              <a:t>설명으로 마무리해야 하는 상담이 많습니다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결국 평일 경험은 월</a:t>
            </a:r>
            <a:r>
              <a:rPr lang="en-US" altLang="ko-KR" dirty="0"/>
              <a:t>·</a:t>
            </a:r>
            <a:r>
              <a:rPr lang="ko-KR" altLang="en-US" dirty="0"/>
              <a:t>화 </a:t>
            </a:r>
            <a:r>
              <a:rPr lang="ko-KR" altLang="en-US" dirty="0" err="1"/>
              <a:t>이틀뿐이라</a:t>
            </a:r>
            <a:r>
              <a:rPr lang="en-US" altLang="ko-KR" dirty="0"/>
              <a:t>, </a:t>
            </a:r>
            <a:r>
              <a:rPr lang="ko-KR" altLang="en-US" dirty="0"/>
              <a:t>같은 업무를 반복해 익힐 시간이 부족한 구조입니다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주</a:t>
            </a:r>
            <a:r>
              <a:rPr lang="en-US" altLang="ko-KR" dirty="0"/>
              <a:t>5</a:t>
            </a:r>
            <a:r>
              <a:rPr lang="ko-KR" altLang="en-US" dirty="0"/>
              <a:t>일이 되면 평일 경험이 이틀에서 닷새로 늘어납니다</a:t>
            </a:r>
            <a:r>
              <a:rPr lang="en-US" altLang="ko-KR" dirty="0"/>
              <a:t>. </a:t>
            </a:r>
            <a:r>
              <a:rPr lang="ko-KR" altLang="en-US" dirty="0"/>
              <a:t>이 반복 경험으로 상시 </a:t>
            </a:r>
            <a:r>
              <a:rPr lang="en-US" altLang="ko-KR" dirty="0"/>
              <a:t>50</a:t>
            </a:r>
            <a:r>
              <a:rPr lang="ko-KR" altLang="en-US" dirty="0"/>
              <a:t>석을 더 단단하게 운영하겠습니다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다만 주</a:t>
            </a:r>
            <a:r>
              <a:rPr lang="en-US" altLang="ko-KR" dirty="0"/>
              <a:t>4</a:t>
            </a:r>
            <a:r>
              <a:rPr lang="ko-KR" altLang="en-US" dirty="0"/>
              <a:t>일은 현행대로 유지하고</a:t>
            </a:r>
            <a:r>
              <a:rPr lang="en-US" altLang="ko-KR" dirty="0"/>
              <a:t>, </a:t>
            </a:r>
            <a:r>
              <a:rPr lang="ko-KR" altLang="en-US" dirty="0"/>
              <a:t>전환은 고객사와 충분히 협의하겠습니다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발표 약 </a:t>
            </a:r>
            <a:r>
              <a:rPr lang="en-US" altLang="ko-KR" dirty="0"/>
              <a:t>30</a:t>
            </a:r>
            <a:r>
              <a:rPr lang="ko-KR" altLang="en-US" dirty="0"/>
              <a:t>초</a:t>
            </a:r>
            <a:r>
              <a:rPr lang="en-US" altLang="ko-KR" dirty="0"/>
              <a:t>]</a:t>
            </a:r>
          </a:p>
          <a:p>
            <a:r>
              <a:rPr lang="ko-KR" altLang="en-US" dirty="0"/>
              <a:t>주</a:t>
            </a:r>
            <a:r>
              <a:rPr lang="en-US" altLang="ko-KR" dirty="0"/>
              <a:t>5</a:t>
            </a:r>
            <a:r>
              <a:rPr lang="ko-KR" altLang="en-US" dirty="0"/>
              <a:t>일 운영의 효과는 결국 상담 품질로 돌아온다고 생각합니다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평일 경험이 쌓이면 상담사가 기준 품질에 도달하는 시간이 짧아지고</a:t>
            </a:r>
            <a:r>
              <a:rPr lang="en-US" altLang="ko-KR" dirty="0"/>
              <a:t>, </a:t>
            </a:r>
            <a:r>
              <a:rPr lang="ko-KR" altLang="en-US" dirty="0"/>
              <a:t>관리자는 매일 곁에서 </a:t>
            </a:r>
            <a:r>
              <a:rPr lang="ko-KR" altLang="en-US" dirty="0" err="1"/>
              <a:t>코칭할</a:t>
            </a:r>
            <a:r>
              <a:rPr lang="ko-KR" altLang="en-US" dirty="0"/>
              <a:t> 수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상시 인력이 성수기 한시 인력의 리더가 되면서</a:t>
            </a:r>
            <a:r>
              <a:rPr lang="en-US" altLang="ko-KR" dirty="0"/>
              <a:t>, </a:t>
            </a:r>
            <a:r>
              <a:rPr lang="ko-KR" altLang="en-US" dirty="0"/>
              <a:t>주말과 성수기도 더 안정적으로 운영할 수 있습니다</a:t>
            </a:r>
            <a:r>
              <a:rPr lang="en-US" altLang="ko-K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[발표 약 40초]</a:t>
            </a:r>
          </a:p>
          <a:p>
            <a:r>
              <a:t>2027년 로드맵입니다.</a:t>
            </a:r>
          </a:p>
          <a:p>
            <a:r>
              <a:t>계약 전부터 인력을 미리 확보해 1분기에 50석을 안정화하고, 2분기에는 한 달 먼저 성수기 교육을 시작하겠습니다.</a:t>
            </a:r>
          </a:p>
          <a:p>
            <a:r>
              <a:t>성수기에는 최대 100명까지 운영하면서 TO를 끝까지 지키고, 4분기에는 우수 인력을 상시로 전환해 다음 해를 준비하겠습니다.</a:t>
            </a:r>
          </a:p>
          <a:p>
            <a:r>
              <a:t>목표 수치는 하이텔레서비스와 협의해 확정하고, 매월 결과로 보고드리겠습니다.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altLang="en-US" dirty="0"/>
              <a:t>다음은 제안사 일반 현황을 간략히 말씀드리겠습니다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KT IS</a:t>
            </a:r>
            <a:r>
              <a:rPr lang="ko-KR" altLang="en-US" dirty="0"/>
              <a:t>는 </a:t>
            </a:r>
            <a:r>
              <a:rPr lang="en-US" altLang="ko-KR" dirty="0"/>
              <a:t>1935</a:t>
            </a:r>
            <a:r>
              <a:rPr lang="ko-KR" altLang="en-US" dirty="0"/>
              <a:t>년 </a:t>
            </a:r>
            <a:r>
              <a:rPr lang="en-US" altLang="ko-KR" dirty="0"/>
              <a:t>114 </a:t>
            </a:r>
            <a:r>
              <a:rPr lang="ko-KR" altLang="en-US" dirty="0"/>
              <a:t>번호안내에서 출발해</a:t>
            </a:r>
            <a:r>
              <a:rPr lang="en-US" altLang="ko-KR" dirty="0"/>
              <a:t>, 2001</a:t>
            </a:r>
            <a:r>
              <a:rPr lang="ko-KR" altLang="en-US" dirty="0"/>
              <a:t>년 설립 이후 </a:t>
            </a:r>
            <a:r>
              <a:rPr lang="en-US" altLang="ko-KR" dirty="0"/>
              <a:t>25</a:t>
            </a:r>
            <a:r>
              <a:rPr lang="ko-KR" altLang="en-US" dirty="0"/>
              <a:t>년 동안 고객센터 운영 한 분야에 집중해 온 </a:t>
            </a:r>
            <a:r>
              <a:rPr lang="en-US" altLang="ko-KR" dirty="0"/>
              <a:t>KT</a:t>
            </a:r>
            <a:r>
              <a:rPr lang="ko-KR" altLang="en-US" dirty="0"/>
              <a:t>그룹 계열 코스피 상장사입니다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현재 공공</a:t>
            </a:r>
            <a:r>
              <a:rPr lang="en-US" altLang="ko-KR" dirty="0"/>
              <a:t>·</a:t>
            </a:r>
            <a:r>
              <a:rPr lang="ko-KR" altLang="en-US" dirty="0"/>
              <a:t>금융</a:t>
            </a:r>
            <a:r>
              <a:rPr lang="en-US" altLang="ko-KR" dirty="0"/>
              <a:t>·</a:t>
            </a:r>
            <a:r>
              <a:rPr lang="ko-KR" altLang="en-US" dirty="0"/>
              <a:t>유통</a:t>
            </a:r>
            <a:r>
              <a:rPr lang="en-US" altLang="ko-KR" dirty="0"/>
              <a:t>·</a:t>
            </a:r>
            <a:r>
              <a:rPr lang="ko-KR" altLang="en-US" dirty="0"/>
              <a:t>의료 분야에서 </a:t>
            </a:r>
            <a:r>
              <a:rPr lang="en-US" altLang="ko-KR" dirty="0"/>
              <a:t>167</a:t>
            </a:r>
            <a:r>
              <a:rPr lang="ko-KR" altLang="en-US" dirty="0"/>
              <a:t>개 센터를 운영하고 있으며</a:t>
            </a:r>
            <a:r>
              <a:rPr lang="en-US" altLang="ko-KR" dirty="0"/>
              <a:t>, 2024</a:t>
            </a:r>
            <a:r>
              <a:rPr lang="ko-KR" altLang="en-US" dirty="0"/>
              <a:t>년부터는 </a:t>
            </a:r>
            <a:r>
              <a:rPr lang="en-US" altLang="ko-KR" dirty="0"/>
              <a:t>LG</a:t>
            </a:r>
            <a:r>
              <a:rPr lang="ko-KR" altLang="en-US" dirty="0"/>
              <a:t>전자 고객센터를 직접 운영하고 있습니다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548439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전체 인원은 </a:t>
            </a:r>
            <a:r>
              <a:rPr lang="en-US" altLang="ko-KR" dirty="0"/>
              <a:t>8,889</a:t>
            </a:r>
            <a:r>
              <a:rPr lang="ko-KR" altLang="en-US" dirty="0"/>
              <a:t>명이며</a:t>
            </a:r>
            <a:r>
              <a:rPr lang="en-US" altLang="ko-KR" dirty="0"/>
              <a:t>, </a:t>
            </a:r>
            <a:r>
              <a:rPr lang="ko-KR" altLang="en-US" dirty="0"/>
              <a:t>이 중 상담 경력 </a:t>
            </a:r>
            <a:r>
              <a:rPr lang="en-US" altLang="ko-KR" dirty="0"/>
              <a:t>5</a:t>
            </a:r>
            <a:r>
              <a:rPr lang="ko-KR" altLang="en-US" dirty="0"/>
              <a:t>년 이상의 전문 인력이 </a:t>
            </a:r>
            <a:r>
              <a:rPr lang="en-US" altLang="ko-KR" dirty="0"/>
              <a:t>3,264</a:t>
            </a:r>
            <a:r>
              <a:rPr lang="ko-KR" altLang="en-US" dirty="0"/>
              <a:t>명입니다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본사 </a:t>
            </a:r>
            <a:r>
              <a:rPr lang="en-US" altLang="ko-KR" dirty="0"/>
              <a:t>160</a:t>
            </a:r>
            <a:r>
              <a:rPr lang="ko-KR" altLang="en-US" dirty="0"/>
              <a:t>명이 채용</a:t>
            </a:r>
            <a:r>
              <a:rPr lang="en-US" altLang="ko-KR" dirty="0"/>
              <a:t>·</a:t>
            </a:r>
            <a:r>
              <a:rPr lang="ko-KR" altLang="en-US" dirty="0"/>
              <a:t>교육</a:t>
            </a:r>
            <a:r>
              <a:rPr lang="en-US" altLang="ko-KR" dirty="0"/>
              <a:t>·</a:t>
            </a:r>
            <a:r>
              <a:rPr lang="ko-KR" altLang="en-US" dirty="0"/>
              <a:t>급여</a:t>
            </a:r>
            <a:r>
              <a:rPr lang="en-US" altLang="ko-KR" dirty="0"/>
              <a:t>·</a:t>
            </a:r>
            <a:r>
              <a:rPr lang="ko-KR" altLang="en-US" dirty="0"/>
              <a:t>정보보안 업무를 전사 차원에서 지원하고</a:t>
            </a:r>
            <a:r>
              <a:rPr lang="en-US" altLang="ko-KR" dirty="0"/>
              <a:t>, </a:t>
            </a:r>
            <a:r>
              <a:rPr lang="ko-KR" altLang="en-US" dirty="0"/>
              <a:t>사내 변호사와 노무사가 법률</a:t>
            </a:r>
            <a:r>
              <a:rPr lang="en-US" altLang="ko-KR" dirty="0"/>
              <a:t>·</a:t>
            </a:r>
            <a:r>
              <a:rPr lang="ko-KR" altLang="en-US" dirty="0"/>
              <a:t>노무 리스크를 함께 관리합니다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현장은 혼자 움직이지 않고</a:t>
            </a:r>
            <a:r>
              <a:rPr lang="en-US" altLang="ko-KR" dirty="0"/>
              <a:t>, </a:t>
            </a:r>
            <a:r>
              <a:rPr lang="ko-KR" altLang="en-US" dirty="0"/>
              <a:t>본사 조직이 뒤에서 함께 받치는 구조로 운영됩니다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041975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안정적인 운영만큼 재무 안정성도 중요하다고 생각합니다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최근 </a:t>
            </a:r>
            <a:r>
              <a:rPr lang="en-US" altLang="ko-KR" dirty="0"/>
              <a:t>3</a:t>
            </a:r>
            <a:r>
              <a:rPr lang="ko-KR" altLang="en-US" dirty="0"/>
              <a:t>년간 매년 </a:t>
            </a:r>
            <a:r>
              <a:rPr lang="en-US" altLang="ko-KR" dirty="0"/>
              <a:t>5</a:t>
            </a:r>
            <a:r>
              <a:rPr lang="ko-KR" altLang="en-US" dirty="0"/>
              <a:t>천억 원대 매출을 유지했고</a:t>
            </a:r>
            <a:r>
              <a:rPr lang="en-US" altLang="ko-KR" dirty="0"/>
              <a:t>, 2025</a:t>
            </a:r>
            <a:r>
              <a:rPr lang="ko-KR" altLang="en-US" dirty="0"/>
              <a:t>년에는 매출 </a:t>
            </a:r>
            <a:r>
              <a:rPr lang="en-US" altLang="ko-KR" dirty="0"/>
              <a:t>5,888</a:t>
            </a:r>
            <a:r>
              <a:rPr lang="ko-KR" altLang="en-US" dirty="0"/>
              <a:t>억 원</a:t>
            </a:r>
            <a:r>
              <a:rPr lang="en-US" altLang="ko-KR" dirty="0"/>
              <a:t>, </a:t>
            </a:r>
            <a:r>
              <a:rPr lang="ko-KR" altLang="en-US" dirty="0"/>
              <a:t>당기순이익 </a:t>
            </a:r>
            <a:r>
              <a:rPr lang="en-US" altLang="ko-KR" dirty="0"/>
              <a:t>364</a:t>
            </a:r>
            <a:r>
              <a:rPr lang="ko-KR" altLang="en-US" dirty="0"/>
              <a:t>억 원을 기록했습니다</a:t>
            </a:r>
            <a:r>
              <a:rPr lang="en-US" altLang="ko-KR" dirty="0"/>
              <a:t>. </a:t>
            </a:r>
            <a:r>
              <a:rPr lang="ko-KR" altLang="en-US" dirty="0"/>
              <a:t>신용평가등급은 </a:t>
            </a:r>
            <a:r>
              <a:rPr lang="en-US" altLang="ko-KR" dirty="0"/>
              <a:t>AA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지금까지 재무 문제로 운영에 차질을 빚은 적이 없으며</a:t>
            </a:r>
            <a:r>
              <a:rPr lang="en-US" altLang="ko-KR" dirty="0"/>
              <a:t>, </a:t>
            </a:r>
            <a:r>
              <a:rPr lang="ko-KR" altLang="en-US" dirty="0"/>
              <a:t>계약 기간 내내 흔들림 없이 운영하겠습니다</a:t>
            </a:r>
            <a:r>
              <a:rPr lang="en-US" altLang="ko-K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413832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현재 운영 중인 </a:t>
            </a:r>
            <a:r>
              <a:rPr lang="en-US" altLang="ko-KR" dirty="0"/>
              <a:t>LG</a:t>
            </a:r>
            <a:r>
              <a:rPr lang="ko-KR" altLang="en-US" dirty="0"/>
              <a:t>전자 고객센터를 비롯해</a:t>
            </a:r>
            <a:r>
              <a:rPr lang="en-US" altLang="ko-KR" dirty="0"/>
              <a:t>, </a:t>
            </a:r>
            <a:r>
              <a:rPr lang="ko-KR" altLang="en-US" dirty="0"/>
              <a:t>국민건강보험 </a:t>
            </a:r>
            <a:r>
              <a:rPr lang="en-US" altLang="ko-KR" dirty="0"/>
              <a:t>341</a:t>
            </a:r>
            <a:r>
              <a:rPr lang="ko-KR" altLang="en-US" dirty="0"/>
              <a:t>석</a:t>
            </a:r>
            <a:r>
              <a:rPr lang="en-US" altLang="ko-KR" dirty="0"/>
              <a:t>, </a:t>
            </a:r>
            <a:r>
              <a:rPr lang="ko-KR" altLang="en-US" dirty="0"/>
              <a:t>세브란스병원 </a:t>
            </a:r>
            <a:r>
              <a:rPr lang="en-US" altLang="ko-KR" dirty="0"/>
              <a:t>286</a:t>
            </a:r>
            <a:r>
              <a:rPr lang="ko-KR" altLang="en-US" dirty="0"/>
              <a:t>석</a:t>
            </a:r>
            <a:r>
              <a:rPr lang="en-US" altLang="ko-KR" dirty="0"/>
              <a:t>, KB</a:t>
            </a:r>
            <a:r>
              <a:rPr lang="ko-KR" altLang="en-US" dirty="0"/>
              <a:t>손해보험 </a:t>
            </a:r>
            <a:r>
              <a:rPr lang="en-US" altLang="ko-KR" dirty="0"/>
              <a:t>193</a:t>
            </a:r>
            <a:r>
              <a:rPr lang="ko-KR" altLang="en-US" dirty="0"/>
              <a:t>석 등 </a:t>
            </a:r>
            <a:r>
              <a:rPr lang="en-US" altLang="ko-KR" dirty="0"/>
              <a:t>100</a:t>
            </a:r>
            <a:r>
              <a:rPr lang="ko-KR" altLang="en-US" dirty="0"/>
              <a:t>석 이상의 대형 센터를 다수 운영해 왔습니다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유통 분야에서도 롯데홈쇼핑</a:t>
            </a:r>
            <a:r>
              <a:rPr lang="en-US" altLang="ko-KR" dirty="0"/>
              <a:t>, </a:t>
            </a:r>
            <a:r>
              <a:rPr lang="ko-KR" altLang="en-US" dirty="0" err="1"/>
              <a:t>롯데글로벌로지스</a:t>
            </a:r>
            <a:r>
              <a:rPr lang="ko-KR" altLang="en-US" dirty="0"/>
              <a:t> 등 </a:t>
            </a:r>
            <a:r>
              <a:rPr lang="en-US" altLang="ko-KR" dirty="0"/>
              <a:t>100</a:t>
            </a:r>
            <a:r>
              <a:rPr lang="ko-KR" altLang="en-US" dirty="0"/>
              <a:t>석 이상 센터를 운영했고</a:t>
            </a:r>
            <a:r>
              <a:rPr lang="en-US" altLang="ko-KR" dirty="0"/>
              <a:t>, </a:t>
            </a:r>
            <a:r>
              <a:rPr lang="ko-KR" altLang="en-US" dirty="0"/>
              <a:t>최근에는 한국방송공사 </a:t>
            </a:r>
            <a:r>
              <a:rPr lang="en-US" altLang="ko-KR" dirty="0"/>
              <a:t>240</a:t>
            </a:r>
            <a:r>
              <a:rPr lang="ko-KR" altLang="en-US" dirty="0"/>
              <a:t>석처럼 짧은 기간 안에 대형 센터를 세워 운영한 경험도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또한 </a:t>
            </a:r>
            <a:r>
              <a:rPr lang="en-US" altLang="ko-KR" dirty="0"/>
              <a:t>KS </a:t>
            </a:r>
            <a:r>
              <a:rPr lang="ko-KR" altLang="en-US" dirty="0"/>
              <a:t>인증 사업장 </a:t>
            </a:r>
            <a:r>
              <a:rPr lang="en-US" altLang="ko-KR" dirty="0"/>
              <a:t>117</a:t>
            </a:r>
            <a:r>
              <a:rPr lang="ko-KR" altLang="en-US" dirty="0"/>
              <a:t>개</a:t>
            </a:r>
            <a:r>
              <a:rPr lang="en-US" altLang="ko-KR" dirty="0"/>
              <a:t>, </a:t>
            </a:r>
            <a:r>
              <a:rPr lang="ko-KR" altLang="en-US" dirty="0"/>
              <a:t>업계 최초 클라우드 서비스 보안인증</a:t>
            </a:r>
            <a:r>
              <a:rPr lang="en-US" altLang="ko-KR" dirty="0"/>
              <a:t>(CSAP) </a:t>
            </a:r>
            <a:r>
              <a:rPr lang="ko-KR" altLang="en-US" dirty="0"/>
              <a:t>획득으로 대외적으로도 운영 역량을 인정받고 있습니다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896131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[발표 약 5초]</a:t>
            </a:r>
          </a:p>
          <a:p>
            <a:r>
              <a:t>이어서 사업관리 방안입니다.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0"/>
            <a:r>
              <a:rPr lang="ko-KR" altLang="en-US" dirty="0"/>
              <a:t>저희가 </a:t>
            </a:r>
            <a:r>
              <a:rPr lang="ko-KR" altLang="en-US" dirty="0" err="1"/>
              <a:t>제안드리는</a:t>
            </a:r>
            <a:r>
              <a:rPr lang="ko-KR" altLang="en-US" dirty="0"/>
              <a:t> </a:t>
            </a:r>
            <a:r>
              <a:rPr lang="en-US" altLang="ko-KR" dirty="0"/>
              <a:t>2027</a:t>
            </a:r>
            <a:r>
              <a:rPr lang="ko-KR" altLang="en-US" dirty="0"/>
              <a:t>년 운영 체계는 </a:t>
            </a:r>
            <a:r>
              <a:rPr lang="ko-KR" altLang="en-US" b="1" dirty="0"/>
              <a:t>주</a:t>
            </a:r>
            <a:r>
              <a:rPr lang="en-US" altLang="ko-KR" b="1" dirty="0"/>
              <a:t>5</a:t>
            </a:r>
            <a:r>
              <a:rPr lang="ko-KR" altLang="en-US" b="1" dirty="0"/>
              <a:t>일 </a:t>
            </a:r>
            <a:r>
              <a:rPr lang="en-US" altLang="ko-KR" b="1" dirty="0"/>
              <a:t>Core </a:t>
            </a:r>
            <a:r>
              <a:rPr lang="ko-KR" altLang="en-US" b="1" dirty="0"/>
              <a:t>조직을 기반으로</a:t>
            </a:r>
            <a:r>
              <a:rPr lang="en-US" altLang="ko-KR" b="1" dirty="0"/>
              <a:t>, </a:t>
            </a:r>
            <a:r>
              <a:rPr lang="ko-KR" altLang="en-US" b="1" dirty="0"/>
              <a:t>성수기에는 최대 </a:t>
            </a:r>
            <a:r>
              <a:rPr lang="en-US" altLang="ko-KR" b="1" dirty="0"/>
              <a:t>100</a:t>
            </a:r>
            <a:r>
              <a:rPr lang="ko-KR" altLang="en-US" b="1" dirty="0"/>
              <a:t>명까지 확장하는 통합 운영체계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핵심은 </a:t>
            </a:r>
            <a:r>
              <a:rPr lang="ko-KR" altLang="en-US" b="1" dirty="0"/>
              <a:t>인력과 노하우가 한곳에 머물지 않고 순환하는 구조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pPr rtl="0"/>
            <a:r>
              <a:rPr lang="ko-KR" altLang="en-US" dirty="0"/>
              <a:t>그 중심이 되는 </a:t>
            </a:r>
            <a:r>
              <a:rPr lang="en-US" altLang="ko-KR" dirty="0"/>
              <a:t>Core </a:t>
            </a:r>
            <a:r>
              <a:rPr lang="ko-KR" altLang="en-US" dirty="0"/>
              <a:t>조직은 </a:t>
            </a:r>
            <a:r>
              <a:rPr lang="en-US" altLang="ko-KR" dirty="0"/>
              <a:t>50</a:t>
            </a:r>
            <a:r>
              <a:rPr lang="ko-KR" altLang="en-US" dirty="0"/>
              <a:t>석입니다</a:t>
            </a:r>
            <a:r>
              <a:rPr lang="en-US" altLang="ko-KR" dirty="0"/>
              <a:t>. 50</a:t>
            </a:r>
            <a:r>
              <a:rPr lang="ko-KR" altLang="en-US" dirty="0"/>
              <a:t>석으로 정한 이유는 두 가지입니다</a:t>
            </a:r>
            <a:r>
              <a:rPr lang="en-US" altLang="ko-KR" dirty="0"/>
              <a:t>.</a:t>
            </a:r>
          </a:p>
          <a:p>
            <a:pPr rtl="0"/>
            <a:r>
              <a:rPr lang="ko-KR" altLang="en-US" dirty="0"/>
              <a:t>첫째는 </a:t>
            </a:r>
            <a:r>
              <a:rPr lang="ko-KR" altLang="en-US" b="1" dirty="0"/>
              <a:t>전담 관리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지금은 강사 한 명이 교육과 품질관리를 함께 맡고 있어</a:t>
            </a:r>
            <a:r>
              <a:rPr lang="en-US" altLang="ko-KR" dirty="0"/>
              <a:t>, </a:t>
            </a:r>
            <a:r>
              <a:rPr lang="ko-KR" altLang="en-US" dirty="0"/>
              <a:t>어느 한쪽에 깊이 집중하기 어려웠습니다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50</a:t>
            </a:r>
            <a:r>
              <a:rPr lang="ko-KR" altLang="en-US" dirty="0"/>
              <a:t>석이 되면 </a:t>
            </a:r>
            <a:r>
              <a:rPr lang="en-US" altLang="ko-KR" dirty="0"/>
              <a:t>QA</a:t>
            </a:r>
            <a:r>
              <a:rPr lang="ko-KR" altLang="en-US" dirty="0"/>
              <a:t>와 강사를 따로 두어 각자의 일에 집중할 수 있고</a:t>
            </a:r>
            <a:r>
              <a:rPr lang="en-US" altLang="ko-KR" dirty="0"/>
              <a:t>, </a:t>
            </a:r>
            <a:r>
              <a:rPr lang="ko-KR" altLang="en-US" dirty="0"/>
              <a:t>파트장 한 명이 열 명씩 가까이에서 챙길 수 있습니다</a:t>
            </a:r>
            <a:r>
              <a:rPr lang="en-US" altLang="ko-KR" dirty="0"/>
              <a:t>.</a:t>
            </a:r>
          </a:p>
          <a:p>
            <a:pPr rtl="0"/>
            <a:r>
              <a:rPr lang="ko-KR" altLang="en-US" dirty="0"/>
              <a:t>둘째는 </a:t>
            </a:r>
            <a:r>
              <a:rPr lang="ko-KR" altLang="en-US" b="1" dirty="0"/>
              <a:t>성수기를 받칠 힘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성수기에 한꺼번에 들어오는 한시 인력을 이끌 숙련된 상시 직원이 충분해야 하고</a:t>
            </a:r>
            <a:r>
              <a:rPr lang="en-US" altLang="ko-KR" dirty="0"/>
              <a:t>, </a:t>
            </a:r>
            <a:r>
              <a:rPr lang="ko-KR" altLang="en-US" dirty="0"/>
              <a:t>그중 우수한 인력을 골라 키울 여력도 있어야 합니다</a:t>
            </a:r>
            <a:r>
              <a:rPr lang="en-US" altLang="ko-KR" dirty="0"/>
              <a:t>.</a:t>
            </a:r>
          </a:p>
          <a:p>
            <a:pPr rtl="0"/>
            <a:r>
              <a:rPr lang="ko-KR" altLang="en-US" dirty="0"/>
              <a:t>그래서 주</a:t>
            </a:r>
            <a:r>
              <a:rPr lang="en-US" altLang="ko-KR" dirty="0"/>
              <a:t>5</a:t>
            </a:r>
            <a:r>
              <a:rPr lang="ko-KR" altLang="en-US" dirty="0"/>
              <a:t>일 상시 직원은 성수기에 한시 인력의 리더가 되어 옆에서 가르치고</a:t>
            </a:r>
            <a:r>
              <a:rPr lang="en-US" altLang="ko-KR" dirty="0"/>
              <a:t>, </a:t>
            </a:r>
            <a:r>
              <a:rPr lang="ko-KR" altLang="en-US" dirty="0"/>
              <a:t>성수기에 실력을 보여 준 우수 인력은 다시 상시 직원으로 남는 </a:t>
            </a:r>
            <a:r>
              <a:rPr lang="ko-KR" altLang="en-US" b="1" dirty="0"/>
              <a:t>선순환 구조</a:t>
            </a:r>
            <a:r>
              <a:rPr lang="ko-KR" altLang="en-US" dirty="0"/>
              <a:t>를 만들겠습니다</a:t>
            </a:r>
            <a:r>
              <a:rPr lang="en-US" altLang="ko-KR" dirty="0"/>
              <a:t>.</a:t>
            </a:r>
            <a:br>
              <a:rPr lang="en-US" altLang="ko-KR" dirty="0"/>
            </a:br>
            <a:endParaRPr lang="en-US" altLang="ko-KR"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altLang="en-US" dirty="0"/>
              <a:t>직원에게 좋은 </a:t>
            </a:r>
            <a:r>
              <a:rPr lang="ko-KR" altLang="en-US" dirty="0" err="1"/>
              <a:t>센터란</a:t>
            </a:r>
            <a:r>
              <a:rPr lang="ko-KR" altLang="en-US" dirty="0"/>
              <a:t> 어떤 곳일까요</a:t>
            </a:r>
            <a:r>
              <a:rPr lang="en-US" altLang="ko-KR" dirty="0"/>
              <a:t>? </a:t>
            </a:r>
            <a:r>
              <a:rPr lang="ko-KR" altLang="en-US" dirty="0"/>
              <a:t>저희는 이렇게 생각했습니다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오기 편하고</a:t>
            </a:r>
            <a:r>
              <a:rPr lang="en-US" altLang="ko-KR" dirty="0"/>
              <a:t>, </a:t>
            </a:r>
            <a:r>
              <a:rPr lang="ko-KR" altLang="en-US" dirty="0"/>
              <a:t>일하기 편하고</a:t>
            </a:r>
            <a:r>
              <a:rPr lang="en-US" altLang="ko-KR" dirty="0"/>
              <a:t>, </a:t>
            </a:r>
            <a:r>
              <a:rPr lang="ko-KR" altLang="en-US" dirty="0"/>
              <a:t>쉬기 편한 곳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저희 센터는 구로디지털단지역에서 걸어서 </a:t>
            </a:r>
            <a:r>
              <a:rPr lang="en-US" altLang="ko-KR" dirty="0"/>
              <a:t>5</a:t>
            </a:r>
            <a:r>
              <a:rPr lang="ko-KR" altLang="en-US" dirty="0"/>
              <a:t>분이면 도착합니다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주변이 큰 업무지구라 일하는 인력이 많이 모이는 곳이어서</a:t>
            </a:r>
            <a:r>
              <a:rPr lang="en-US" altLang="ko-KR" dirty="0"/>
              <a:t>, </a:t>
            </a:r>
            <a:r>
              <a:rPr lang="ko-KR" altLang="en-US" dirty="0"/>
              <a:t>우수한 인력을 확보하기에도 유리한 환경입니다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센터 내부에는 넓은 개인 좌석과 개인 사물함이 있고,</a:t>
            </a:r>
          </a:p>
          <a:p>
            <a:r>
              <a:rPr lang="ko-KR" altLang="en-US" dirty="0"/>
              <a:t>교육은 대형 교육장에서 진행해,</a:t>
            </a:r>
          </a:p>
          <a:p>
            <a:r>
              <a:rPr lang="ko-KR" altLang="en-US" dirty="0"/>
              <a:t>교육을 받는 시간에도 쾌적한 환경을 제공하고 있습니다.</a:t>
            </a:r>
          </a:p>
          <a:p>
            <a:r>
              <a:rPr lang="ko-KR" altLang="en-US" dirty="0"/>
              <a:t>특히 LG전자 제품을 직접 보고 만져 볼 수 있는 공간이 있어서 직원들이 화면 속 설명이 아니라 실제 제품을 눈으로 보고 직접 확인할 수 있도록 했습니다. </a:t>
            </a:r>
          </a:p>
          <a:p>
            <a:r>
              <a:rPr lang="ko-KR" altLang="en-US" dirty="0"/>
              <a:t>한참 콜을 받고 나면 휴게공간에서 안마의자에 앉아 잠시 숨을 돌리기도 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그리고 성수기가 오면 인력이 금방 두세 배로 늘어나죠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그래서 </a:t>
            </a:r>
            <a:r>
              <a:rPr lang="en-US" altLang="ko-KR" dirty="0"/>
              <a:t>LG </a:t>
            </a:r>
            <a:r>
              <a:rPr lang="ko-KR" altLang="en-US" dirty="0"/>
              <a:t>전용 </a:t>
            </a:r>
            <a:r>
              <a:rPr lang="en-US" altLang="ko-KR" dirty="0"/>
              <a:t>150</a:t>
            </a:r>
            <a:r>
              <a:rPr lang="ko-KR" altLang="en-US" dirty="0"/>
              <a:t>석을 마련해 두었고</a:t>
            </a:r>
            <a:r>
              <a:rPr lang="en-US" altLang="ko-KR" dirty="0"/>
              <a:t>, </a:t>
            </a:r>
            <a:r>
              <a:rPr lang="ko-KR" altLang="en-US" dirty="0"/>
              <a:t>필요하면 </a:t>
            </a:r>
            <a:r>
              <a:rPr lang="en-US" altLang="ko-KR" dirty="0"/>
              <a:t>270</a:t>
            </a:r>
            <a:r>
              <a:rPr lang="ko-KR" altLang="en-US" dirty="0"/>
              <a:t>석까지 넓힐 수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인력이 갑자기 늘어나는 순간에도 빠르게 자리를 제공할 수 있도록 미리 준비해 두었습니다</a:t>
            </a:r>
            <a:r>
              <a:rPr lang="en-US" altLang="ko-K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발표 약 </a:t>
            </a:r>
            <a:r>
              <a:rPr lang="en-US" altLang="ko-KR" dirty="0"/>
              <a:t>50</a:t>
            </a:r>
            <a:r>
              <a:rPr lang="ko-KR" altLang="en-US" dirty="0"/>
              <a:t>초</a:t>
            </a:r>
            <a:r>
              <a:rPr lang="en-US" altLang="ko-KR" dirty="0"/>
              <a:t>]</a:t>
            </a:r>
          </a:p>
          <a:p>
            <a:r>
              <a:rPr lang="ko-KR" altLang="en-US" dirty="0"/>
              <a:t>콜 피크는 대부분 미리 알 수 있습니다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한 주의 콜은 월요일에 가장 많이 몰리고</a:t>
            </a:r>
            <a:r>
              <a:rPr lang="en-US" altLang="ko-KR" dirty="0"/>
              <a:t>, </a:t>
            </a:r>
            <a:r>
              <a:rPr lang="ko-KR" altLang="en-US" dirty="0"/>
              <a:t>금요일로 갈수록 줄어듭니다</a:t>
            </a:r>
            <a:r>
              <a:rPr lang="en-US" altLang="ko-KR" dirty="0"/>
              <a:t>. </a:t>
            </a:r>
            <a:r>
              <a:rPr lang="ko-KR" altLang="en-US" dirty="0"/>
              <a:t>저희는 이 </a:t>
            </a:r>
            <a:r>
              <a:rPr lang="ko-KR" altLang="en-US" dirty="0" err="1"/>
              <a:t>요일별</a:t>
            </a:r>
            <a:r>
              <a:rPr lang="ko-KR" altLang="en-US" dirty="0"/>
              <a:t> </a:t>
            </a:r>
            <a:r>
              <a:rPr lang="ko-KR" altLang="en-US" dirty="0" err="1"/>
              <a:t>인입</a:t>
            </a:r>
            <a:r>
              <a:rPr lang="ko-KR" altLang="en-US" dirty="0"/>
              <a:t> 예측에 맞춰 인력 가동 계획을 세웁니다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월요일에는 휴가를 제한하고</a:t>
            </a:r>
            <a:r>
              <a:rPr lang="en-US" altLang="ko-KR" dirty="0"/>
              <a:t> </a:t>
            </a:r>
            <a:r>
              <a:rPr lang="ko-KR" altLang="en-US" dirty="0"/>
              <a:t>화요일까지는 업무에 집중합니다</a:t>
            </a:r>
            <a:r>
              <a:rPr lang="en-US" altLang="ko-KR" dirty="0"/>
              <a:t>. </a:t>
            </a:r>
          </a:p>
          <a:p>
            <a:r>
              <a:rPr lang="ko-KR" altLang="en-US" dirty="0" err="1"/>
              <a:t>인입이</a:t>
            </a:r>
            <a:r>
              <a:rPr lang="ko-KR" altLang="en-US" dirty="0"/>
              <a:t> 줄어드는 수요일부터는 교육과 면담</a:t>
            </a:r>
            <a:r>
              <a:rPr lang="en-US" altLang="ko-KR" dirty="0"/>
              <a:t>, </a:t>
            </a:r>
            <a:r>
              <a:rPr lang="ko-KR" altLang="en-US" dirty="0"/>
              <a:t>휴가를 배치해</a:t>
            </a:r>
            <a:r>
              <a:rPr lang="en-US" altLang="ko-KR" dirty="0"/>
              <a:t>, </a:t>
            </a:r>
            <a:r>
              <a:rPr lang="ko-KR" altLang="en-US" dirty="0"/>
              <a:t>콜이 많은 날에 인력이 빠지지 않도록 관리합니다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그래도 당일 갑자기 콜이 몰리는 날이 있습니다</a:t>
            </a:r>
            <a:r>
              <a:rPr lang="en-US" altLang="ko-KR" dirty="0"/>
              <a:t>. </a:t>
            </a:r>
            <a:r>
              <a:rPr lang="ko-KR" altLang="en-US" dirty="0"/>
              <a:t>이때는 세 단계로 바로 움직이겠습니다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주의 단계에서는 이석과 휴식을 자제하고 긴 통화는 관리자가 넘겨받아</a:t>
            </a:r>
            <a:r>
              <a:rPr lang="en-US" altLang="ko-KR" dirty="0"/>
              <a:t>, </a:t>
            </a:r>
            <a:r>
              <a:rPr lang="ko-KR" altLang="en-US" dirty="0"/>
              <a:t>모두가 자리를 지킵니다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경계 단계에서는 고객사와 협의한 간소화 스크립트로 전환하고 관리자도 직접 콜을 받아 응대 속도를 높입니다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심각 단계에서는 당일 연장근무와 점심시간 단축으로 근무 시간 자체를 늘리고</a:t>
            </a:r>
            <a:r>
              <a:rPr lang="en-US" altLang="ko-KR" dirty="0"/>
              <a:t>, </a:t>
            </a:r>
            <a:r>
              <a:rPr lang="ko-KR" altLang="en-US" dirty="0"/>
              <a:t>고객사와 대응방안을 협의해 나가겠습니다</a:t>
            </a:r>
            <a:r>
              <a:rPr lang="en-US" altLang="ko-K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0"/>
            <a:r>
              <a:rPr lang="ko-KR" altLang="en-US" dirty="0"/>
              <a:t>운영 초기에는 교육 중 이탈과 적응 기간 때문에</a:t>
            </a:r>
            <a:r>
              <a:rPr lang="en-US" altLang="ko-KR" dirty="0"/>
              <a:t>, </a:t>
            </a:r>
            <a:r>
              <a:rPr lang="ko-KR" altLang="en-US" dirty="0"/>
              <a:t>정원만큼만 뽑아서는 센터가 금방 흔들립니다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그래서 주</a:t>
            </a:r>
            <a:r>
              <a:rPr lang="en-US" altLang="ko-KR" dirty="0"/>
              <a:t>5</a:t>
            </a:r>
            <a:r>
              <a:rPr lang="ko-KR" altLang="en-US" dirty="0"/>
              <a:t>일 운영을 시작할 때는 </a:t>
            </a:r>
            <a:r>
              <a:rPr lang="ko-KR" altLang="en-US" b="1" dirty="0"/>
              <a:t>정원 </a:t>
            </a:r>
            <a:r>
              <a:rPr lang="en-US" altLang="ko-KR" b="1" dirty="0"/>
              <a:t>50</a:t>
            </a:r>
            <a:r>
              <a:rPr lang="ko-KR" altLang="en-US" b="1" dirty="0"/>
              <a:t>명보다 </a:t>
            </a:r>
            <a:r>
              <a:rPr lang="en-US" altLang="ko-KR" b="1" dirty="0"/>
              <a:t>20~30% </a:t>
            </a:r>
            <a:r>
              <a:rPr lang="ko-KR" altLang="en-US" b="1" dirty="0"/>
              <a:t>많은 </a:t>
            </a:r>
            <a:r>
              <a:rPr lang="en-US" altLang="ko-KR" b="1" dirty="0"/>
              <a:t>60~65</a:t>
            </a:r>
            <a:r>
              <a:rPr lang="ko-KR" altLang="en-US" b="1" dirty="0"/>
              <a:t>명을 미리 확보</a:t>
            </a:r>
            <a:r>
              <a:rPr lang="ko-KR" altLang="en-US" dirty="0"/>
              <a:t>하겠습니다</a:t>
            </a:r>
            <a:r>
              <a:rPr lang="en-US" altLang="ko-KR" dirty="0"/>
              <a:t>.</a:t>
            </a:r>
          </a:p>
          <a:p>
            <a:pPr rtl="0"/>
            <a:r>
              <a:rPr lang="ko-KR" altLang="en-US" dirty="0"/>
              <a:t>이를 위해 </a:t>
            </a:r>
            <a:r>
              <a:rPr lang="ko-KR" altLang="en-US" b="1" dirty="0"/>
              <a:t>고용승계를 유연하게 수용</a:t>
            </a:r>
            <a:r>
              <a:rPr lang="ko-KR" altLang="en-US" dirty="0"/>
              <a:t>하고</a:t>
            </a:r>
            <a:r>
              <a:rPr lang="en-US" altLang="ko-KR" dirty="0"/>
              <a:t>, </a:t>
            </a:r>
            <a:r>
              <a:rPr lang="ko-KR" altLang="en-US" b="1" dirty="0"/>
              <a:t>정착지원비용과 포상제도를 강화</a:t>
            </a:r>
            <a:r>
              <a:rPr lang="ko-KR" altLang="en-US" dirty="0"/>
              <a:t>해 초기 인력이 빠르게 자리 잡도록 돕겠습니다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필요한 인원만 채우는 운영이 아니라</a:t>
            </a:r>
            <a:r>
              <a:rPr lang="en-US" altLang="ko-KR" dirty="0"/>
              <a:t>, </a:t>
            </a:r>
            <a:r>
              <a:rPr lang="ko-KR" altLang="en-US" dirty="0"/>
              <a:t>런칭 첫날부터 흔들리지 않는 센터를 만들겠습니다</a:t>
            </a:r>
            <a:r>
              <a:rPr lang="en-US" altLang="ko-KR" dirty="0"/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0"/>
            <a:r>
              <a:rPr lang="ko-KR" altLang="en-US" dirty="0"/>
              <a:t>앞서 말씀드린 고용승계, 저희에게는 처음 해 보는 일이 아닙니다. KT IS는 여러 센터에서 고용승계를 진행해 왔고, 승계 성공률 95%, 투입 후 인원 유지율 92%라는 결과를 만들어 왔습니다. 금융·보험·유통·모빌리티 등 업종이 달라도 기존 인력이 그대로 남아 센터를 이어 갔습니다.</a:t>
            </a:r>
            <a:br>
              <a:rPr lang="en-US" altLang="ko-KR" dirty="0"/>
            </a:br>
            <a:br>
              <a:rPr lang="en-US" altLang="ko-KR" dirty="0"/>
            </a:br>
            <a:endParaRPr lang="en-US" altLang="ko-KR" dirty="0"/>
          </a:p>
          <a:p>
            <a:pPr rtl="0"/>
            <a:r>
              <a:rPr lang="ko-KR" altLang="en-US" dirty="0"/>
              <a:t>그 경험에서 배운 것은</a:t>
            </a:r>
            <a:r>
              <a:rPr lang="en-US" altLang="ko-KR" dirty="0"/>
              <a:t>, </a:t>
            </a:r>
            <a:r>
              <a:rPr lang="ko-KR" altLang="en-US" b="1" dirty="0"/>
              <a:t>운영사가 바뀔 때 직원들이 가장 걱정하는 것은 내 처우와 근무 환경이 어떻게 </a:t>
            </a:r>
            <a:r>
              <a:rPr lang="ko-KR" altLang="en-US" b="1" dirty="0" err="1"/>
              <a:t>달라지느냐</a:t>
            </a:r>
            <a:r>
              <a:rPr lang="ko-KR" altLang="en-US" dirty="0" err="1"/>
              <a:t>라는</a:t>
            </a:r>
            <a:r>
              <a:rPr lang="ko-KR" altLang="en-US" dirty="0"/>
              <a:t> 점입니다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그래서 기존 경력은 그대로 인정하고</a:t>
            </a:r>
            <a:r>
              <a:rPr lang="en-US" altLang="ko-KR" dirty="0"/>
              <a:t>, </a:t>
            </a:r>
            <a:r>
              <a:rPr lang="ko-KR" altLang="en-US" dirty="0"/>
              <a:t>급여와 복리후생은 기존 처우를 고려해 연계하며</a:t>
            </a:r>
            <a:r>
              <a:rPr lang="en-US" altLang="ko-KR" dirty="0"/>
              <a:t>, </a:t>
            </a:r>
            <a:r>
              <a:rPr lang="ko-KR" altLang="en-US" dirty="0"/>
              <a:t>한 분 한 분과 개별 상담으로 궁금한 점을 먼저 풀어 드립니다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핵심 인력은 미리 만나 이야기를 나누고</a:t>
            </a:r>
            <a:r>
              <a:rPr lang="en-US" altLang="ko-KR" dirty="0"/>
              <a:t>, </a:t>
            </a:r>
            <a:r>
              <a:rPr lang="ko-KR" altLang="en-US" dirty="0"/>
              <a:t>관리자도 사전에 배치해 한 팀으로 일할 수 있도록 준비하겠습니다.</a:t>
            </a:r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altLang="en-US" dirty="0"/>
              <a:t>성수기에는 갑자기 콜이 몰리는 날도 있고</a:t>
            </a:r>
            <a:r>
              <a:rPr lang="en-US" altLang="ko-KR" dirty="0"/>
              <a:t>, </a:t>
            </a:r>
            <a:r>
              <a:rPr lang="ko-KR" altLang="en-US" dirty="0"/>
              <a:t>미리 증가가 예상되는 날도 있습니다</a:t>
            </a:r>
            <a:r>
              <a:rPr lang="en-US" altLang="ko-KR" dirty="0"/>
              <a:t>. </a:t>
            </a:r>
            <a:r>
              <a:rPr lang="ko-KR" altLang="en-US" dirty="0"/>
              <a:t>이런 순간에 저희는 </a:t>
            </a:r>
            <a:r>
              <a:rPr lang="ko-KR" altLang="en-US" dirty="0" err="1"/>
              <a:t>하이텔레서비스와</a:t>
            </a:r>
            <a:r>
              <a:rPr lang="ko-KR" altLang="en-US" dirty="0"/>
              <a:t> 한 팀이라는 마음으로</a:t>
            </a:r>
            <a:r>
              <a:rPr lang="en-US" altLang="ko-KR" dirty="0"/>
              <a:t>, </a:t>
            </a:r>
            <a:r>
              <a:rPr lang="ko-KR" altLang="en-US" dirty="0"/>
              <a:t>연장근무에 먼저 나서 함께 대응해 왔습니다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이렇게 할 수 있었던 이유는 세 가지입니다</a:t>
            </a:r>
            <a:r>
              <a:rPr lang="en-US" altLang="ko-KR" dirty="0"/>
              <a:t>. </a:t>
            </a:r>
            <a:r>
              <a:rPr lang="ko-KR" altLang="en-US" dirty="0"/>
              <a:t>먼저 채용 단계부터 성수기 연장근무 가능성을 충분히 </a:t>
            </a:r>
            <a:r>
              <a:rPr lang="ko-KR" altLang="en-US" dirty="0" err="1"/>
              <a:t>설명드리고</a:t>
            </a:r>
            <a:r>
              <a:rPr lang="en-US" altLang="ko-KR" dirty="0"/>
              <a:t>, </a:t>
            </a:r>
            <a:r>
              <a:rPr lang="ko-KR" altLang="en-US" dirty="0"/>
              <a:t>이를 이해한 분들을 선발했습니다</a:t>
            </a:r>
            <a:r>
              <a:rPr lang="en-US" altLang="ko-KR" dirty="0"/>
              <a:t>. </a:t>
            </a:r>
            <a:r>
              <a:rPr lang="ko-KR" altLang="en-US" dirty="0"/>
              <a:t>그리고 연장근무를 하면 추가 수당과 </a:t>
            </a:r>
            <a:r>
              <a:rPr lang="ko-KR" altLang="en-US" dirty="0" err="1"/>
              <a:t>석식 또는</a:t>
            </a:r>
            <a:r>
              <a:rPr lang="ko-KR" altLang="en-US" dirty="0"/>
              <a:t> 간식을 제공해</a:t>
            </a:r>
            <a:r>
              <a:rPr lang="en-US" altLang="ko-KR" dirty="0"/>
              <a:t>, </a:t>
            </a:r>
          </a:p>
          <a:p>
            <a:r>
              <a:rPr lang="ko-KR" altLang="en-US" dirty="0"/>
              <a:t>직원들이 부담을 느끼지 않도록 했습니다. 컨디션을 살펴 근무를 미리 편성하는 것도 함께 챙겼습니다. 그 결과 올해 성수기, 계획했던 연장근무 인원 대비 107.6%, 요청보다 40명 많은 인원이 참여했습니다. 계획이 18명이던 7월 9일에는 31명이 함께 남았습니다. 앞으로도 콜이 몰리는 순간마다 가장 먼저 움직이는 파트너가 되겠습니다.</a:t>
            </a:r>
            <a:br>
              <a:rPr lang="en-US" altLang="ko-KR" dirty="0"/>
            </a:br>
            <a:br>
              <a:rPr lang="en-US" altLang="ko-KR" dirty="0"/>
            </a:br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altLang="ko-KR" dirty="0"/>
              <a:t>2027</a:t>
            </a:r>
            <a:r>
              <a:rPr lang="ko-KR" altLang="en-US" dirty="0"/>
              <a:t>년 조직은 지금 운영 중인 조직을 바탕으로</a:t>
            </a:r>
            <a:r>
              <a:rPr lang="en-US" altLang="ko-KR" dirty="0"/>
              <a:t>, </a:t>
            </a:r>
            <a:r>
              <a:rPr lang="ko-KR" altLang="en-US" dirty="0"/>
              <a:t>성수기까지 자연스럽게 이어지도록 설계했습니다</a:t>
            </a:r>
            <a:r>
              <a:rPr lang="en-US" altLang="ko-KR" dirty="0"/>
              <a:t>.</a:t>
            </a:r>
          </a:p>
          <a:p>
            <a:pPr rtl="0"/>
            <a:r>
              <a:rPr lang="ko-KR" altLang="en-US" dirty="0"/>
              <a:t>가장 크게 달라지는 점은 </a:t>
            </a:r>
            <a:r>
              <a:rPr lang="ko-KR" altLang="en-US" b="1" dirty="0"/>
              <a:t>운영과 품질을 나눈 것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지금은 매니저 한 명이 운영과 품질을 함께 보고 있지만</a:t>
            </a:r>
            <a:r>
              <a:rPr lang="en-US" altLang="ko-KR" dirty="0"/>
              <a:t>, 2027</a:t>
            </a:r>
            <a:r>
              <a:rPr lang="ko-KR" altLang="en-US" dirty="0"/>
              <a:t>년에는 </a:t>
            </a:r>
            <a:r>
              <a:rPr lang="ko-KR" altLang="en-US" b="1" dirty="0"/>
              <a:t>품질매니저를 따로 두어 품질 관리에만 집중</a:t>
            </a:r>
            <a:r>
              <a:rPr lang="ko-KR" altLang="en-US" dirty="0"/>
              <a:t>하게 하겠습니다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여기에 </a:t>
            </a:r>
            <a:r>
              <a:rPr lang="ko-KR" altLang="en-US" b="1" dirty="0"/>
              <a:t>통계 분석을 맡는 </a:t>
            </a:r>
            <a:r>
              <a:rPr lang="en-US" altLang="ko-KR" b="1" dirty="0"/>
              <a:t>DA</a:t>
            </a:r>
            <a:r>
              <a:rPr lang="ko-KR" altLang="en-US" dirty="0"/>
              <a:t>를 새로 배치해</a:t>
            </a:r>
            <a:r>
              <a:rPr lang="en-US" altLang="ko-KR" dirty="0"/>
              <a:t>, </a:t>
            </a:r>
            <a:r>
              <a:rPr lang="ko-KR" altLang="en-US" dirty="0"/>
              <a:t>실적과 상담 데이터를 스스로 진단하고 분석해 개선 과제를 찾아내는 조직을 만들겠습니다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고객사가 요청하기 전에</a:t>
            </a:r>
            <a:r>
              <a:rPr lang="en-US" altLang="ko-KR" dirty="0"/>
              <a:t>, </a:t>
            </a:r>
            <a:r>
              <a:rPr lang="ko-KR" altLang="en-US" dirty="0"/>
              <a:t>저희가 먼저 문제를 찾고 먼저 고치는 센터가 되기 위한 구성입니다</a:t>
            </a:r>
            <a:r>
              <a:rPr lang="en-US" altLang="ko-KR" dirty="0"/>
              <a:t>.</a:t>
            </a:r>
          </a:p>
          <a:p>
            <a:pPr rtl="0"/>
            <a:r>
              <a:rPr lang="ko-KR" altLang="en-US" dirty="0"/>
              <a:t>성수기에는 이 품질 조직이 그대로 한시 인력 쪽으로 힘을 옮깁니다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품질매니저와 </a:t>
            </a:r>
            <a:r>
              <a:rPr lang="en-US" altLang="ko-KR" dirty="0"/>
              <a:t>DA, </a:t>
            </a:r>
            <a:r>
              <a:rPr lang="ko-KR" altLang="en-US" dirty="0"/>
              <a:t>강사와 </a:t>
            </a:r>
            <a:r>
              <a:rPr lang="en-US" altLang="ko-KR" dirty="0"/>
              <a:t>QA</a:t>
            </a:r>
            <a:r>
              <a:rPr lang="ko-KR" altLang="en-US" dirty="0"/>
              <a:t>가 </a:t>
            </a:r>
            <a:r>
              <a:rPr lang="ko-KR" altLang="en-US" b="1" dirty="0"/>
              <a:t>한시 파트에 전담 배치되어</a:t>
            </a:r>
            <a:r>
              <a:rPr lang="ko-KR" altLang="en-US" dirty="0"/>
              <a:t> 처음 들어온 인력을 집중적으로 관리하고</a:t>
            </a:r>
            <a:br>
              <a:rPr lang="en-US" altLang="ko-KR" dirty="0"/>
            </a:br>
            <a:r>
              <a:rPr lang="ko-KR" altLang="en-US" dirty="0"/>
              <a:t>한시 인력이 가장 흔들리기 쉬운 초기에 가장 많은 관리를 받을 수 있도록 하겠습니다</a:t>
            </a:r>
            <a:r>
              <a:rPr lang="en-US" altLang="ko-KR" dirty="0"/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6479083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0"/>
            <a:r>
              <a:rPr lang="en-US" altLang="ko-KR" dirty="0"/>
              <a:t>2027</a:t>
            </a:r>
            <a:r>
              <a:rPr lang="ko-KR" altLang="en-US" dirty="0"/>
              <a:t>년 운영은 지금 </a:t>
            </a:r>
            <a:r>
              <a:rPr lang="en-US" altLang="ko-KR" dirty="0"/>
              <a:t>LG </a:t>
            </a:r>
            <a:r>
              <a:rPr lang="ko-KR" altLang="en-US" dirty="0"/>
              <a:t>업무를 함께하고 있는 관리자들이 맡습니다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런칭 때부터 센터를 지켜 온 품질매니저와 파트장</a:t>
            </a:r>
            <a:r>
              <a:rPr lang="en-US" altLang="ko-KR" dirty="0"/>
              <a:t>, </a:t>
            </a:r>
            <a:r>
              <a:rPr lang="ko-KR" altLang="en-US" dirty="0"/>
              <a:t>상담사에서 </a:t>
            </a:r>
            <a:r>
              <a:rPr lang="en-US" altLang="ko-KR" dirty="0"/>
              <a:t>QA</a:t>
            </a:r>
            <a:r>
              <a:rPr lang="ko-KR" altLang="en-US" dirty="0"/>
              <a:t>로 성장한 강사</a:t>
            </a:r>
            <a:r>
              <a:rPr lang="en-US" altLang="ko-KR" dirty="0"/>
              <a:t>, </a:t>
            </a:r>
            <a:r>
              <a:rPr lang="ko-KR" altLang="en-US" dirty="0"/>
              <a:t>그리고 센터를 객관적으로 진단해 온 </a:t>
            </a:r>
            <a:r>
              <a:rPr lang="ko-KR" altLang="en-US" dirty="0" err="1"/>
              <a:t>총괄매니저입니다</a:t>
            </a:r>
            <a:r>
              <a:rPr lang="en-US" altLang="ko-KR" dirty="0"/>
              <a:t>.</a:t>
            </a:r>
          </a:p>
          <a:p>
            <a:pPr rtl="0"/>
            <a:r>
              <a:rPr lang="ko-KR" altLang="en-US" dirty="0"/>
              <a:t>선임 기준은 네 가지입니다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파트를 운영하며 인력을 지켜 낸 </a:t>
            </a:r>
            <a:r>
              <a:rPr lang="ko-KR" altLang="en-US" b="1" dirty="0"/>
              <a:t>조직관리</a:t>
            </a:r>
            <a:r>
              <a:rPr lang="en-US" altLang="ko-KR" dirty="0"/>
              <a:t>, </a:t>
            </a:r>
            <a:r>
              <a:rPr lang="ko-KR" altLang="en-US" dirty="0"/>
              <a:t>고객사 보고와 직원 면담에서 보여 준 </a:t>
            </a:r>
            <a:r>
              <a:rPr lang="ko-KR" altLang="en-US" b="1" dirty="0"/>
              <a:t>소통</a:t>
            </a:r>
            <a:r>
              <a:rPr lang="en-US" altLang="ko-KR" dirty="0"/>
              <a:t>, LG </a:t>
            </a:r>
            <a:r>
              <a:rPr lang="ko-KR" altLang="en-US" dirty="0"/>
              <a:t>업무를 직접 해 온 </a:t>
            </a:r>
            <a:r>
              <a:rPr lang="ko-KR" altLang="en-US" b="1" dirty="0"/>
              <a:t>현장 경험</a:t>
            </a:r>
            <a:r>
              <a:rPr lang="en-US" altLang="ko-KR" dirty="0"/>
              <a:t>, </a:t>
            </a:r>
            <a:r>
              <a:rPr lang="ko-KR" altLang="en-US" dirty="0"/>
              <a:t>그리고 내부에서 한 단계씩 올라온 </a:t>
            </a:r>
            <a:r>
              <a:rPr lang="ko-KR" altLang="en-US" b="1" dirty="0"/>
              <a:t>성장 이력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pPr rtl="0"/>
            <a:r>
              <a:rPr lang="ko-KR" altLang="en-US" dirty="0"/>
              <a:t>새로 뽑아 익히는 관리자가 아니라</a:t>
            </a:r>
            <a:r>
              <a:rPr lang="en-US" altLang="ko-KR" dirty="0"/>
              <a:t>, </a:t>
            </a:r>
            <a:r>
              <a:rPr lang="ko-KR" altLang="en-US" dirty="0"/>
              <a:t>이미 </a:t>
            </a:r>
            <a:r>
              <a:rPr lang="en-US" altLang="ko-KR" dirty="0"/>
              <a:t>LG </a:t>
            </a:r>
            <a:r>
              <a:rPr lang="ko-KR" altLang="en-US" dirty="0"/>
              <a:t>현장을 아는 사람들이 첫날부터 운영하겠습니다</a:t>
            </a:r>
            <a:r>
              <a:rPr lang="en-US" altLang="ko-K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altLang="en-US" sz="1200" b="0" i="0" kern="1200" dirty="0">
                <a:effectLst/>
              </a:rPr>
              <a:t>채용에 있어서는 자체 전담 채용팀을 보유하고 있어</a:t>
            </a:r>
            <a:endParaRPr lang="en-US" altLang="ko-KR" sz="1200" b="0" i="0" kern="1200" dirty="0">
              <a:effectLst/>
            </a:endParaRPr>
          </a:p>
          <a:p>
            <a:r>
              <a:rPr lang="en-US" altLang="ko-KR" dirty="0"/>
              <a:t>LG </a:t>
            </a:r>
            <a:r>
              <a:rPr lang="ko-KR" altLang="en-US" dirty="0"/>
              <a:t>센터 전담 담당자가 가전</a:t>
            </a:r>
            <a:r>
              <a:rPr lang="en-US" altLang="ko-KR" dirty="0"/>
              <a:t>·AS </a:t>
            </a:r>
            <a:r>
              <a:rPr lang="ko-KR" altLang="en-US" dirty="0"/>
              <a:t>상담 경력자와 성수기 경험자 </a:t>
            </a:r>
            <a:r>
              <a:rPr lang="en-US" altLang="ko-KR" dirty="0"/>
              <a:t>Pool</a:t>
            </a:r>
            <a:r>
              <a:rPr lang="ko-KR" altLang="en-US" dirty="0"/>
              <a:t>을 중심으로</a:t>
            </a:r>
            <a:r>
              <a:rPr lang="en-US" altLang="ko-KR" dirty="0"/>
              <a:t>, LG</a:t>
            </a:r>
            <a:r>
              <a:rPr lang="ko-KR" altLang="en-US" dirty="0"/>
              <a:t>전자에 맞는 우수한 인력을 빠르게 수급하고 있습니다.</a:t>
            </a:r>
            <a:endParaRPr lang="en-US" altLang="ko-KR" dirty="0"/>
          </a:p>
          <a:p>
            <a:pPr rtl="0"/>
            <a:r>
              <a:rPr lang="ko-KR" altLang="en-US" dirty="0"/>
              <a:t>이렇게 모인 지원자는 바로 교육에 들어가지 않습니다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현장 관리자가 직접 면접하고</a:t>
            </a:r>
            <a:r>
              <a:rPr lang="en-US" altLang="ko-KR" dirty="0"/>
              <a:t>, </a:t>
            </a:r>
            <a:r>
              <a:rPr lang="ko-KR" altLang="en-US" b="1" dirty="0"/>
              <a:t>사전 </a:t>
            </a:r>
            <a:r>
              <a:rPr lang="en-US" altLang="ko-KR" b="1" dirty="0"/>
              <a:t>CS </a:t>
            </a:r>
            <a:r>
              <a:rPr lang="ko-KR" altLang="en-US" b="1" dirty="0"/>
              <a:t>테스트로 한 번 더 검증된 인력만</a:t>
            </a:r>
            <a:r>
              <a:rPr lang="ko-KR" altLang="en-US" dirty="0"/>
              <a:t> 교육에 투입합니다</a:t>
            </a:r>
            <a:r>
              <a:rPr lang="en-US" altLang="ko-KR" dirty="0"/>
              <a:t>.</a:t>
            </a:r>
          </a:p>
          <a:p>
            <a:pPr rtl="0"/>
            <a:r>
              <a:rPr lang="en-US" altLang="ko-KR" dirty="0"/>
              <a:t>2027</a:t>
            </a:r>
            <a:r>
              <a:rPr lang="ko-KR" altLang="en-US" dirty="0"/>
              <a:t>년 성수기도 이 방식으로 미리 준비하겠습니다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2</a:t>
            </a:r>
            <a:r>
              <a:rPr lang="ko-KR" altLang="en-US" dirty="0"/>
              <a:t>월에 </a:t>
            </a:r>
            <a:r>
              <a:rPr lang="ko-KR" altLang="en-US" b="1" dirty="0"/>
              <a:t>고객사와 협의해</a:t>
            </a:r>
            <a:r>
              <a:rPr lang="ko-KR" altLang="en-US" dirty="0"/>
              <a:t> </a:t>
            </a:r>
            <a:r>
              <a:rPr lang="en-US" altLang="ko-KR" dirty="0"/>
              <a:t>TO</a:t>
            </a:r>
            <a:r>
              <a:rPr lang="ko-KR" altLang="en-US" dirty="0"/>
              <a:t>를 정하고</a:t>
            </a:r>
            <a:r>
              <a:rPr lang="en-US" altLang="ko-KR" dirty="0"/>
              <a:t>, 3</a:t>
            </a:r>
            <a:r>
              <a:rPr lang="ko-KR" altLang="en-US" dirty="0"/>
              <a:t>월 채용 공고</a:t>
            </a:r>
            <a:r>
              <a:rPr lang="en-US" altLang="ko-KR" dirty="0"/>
              <a:t>, 4~5</a:t>
            </a:r>
            <a:r>
              <a:rPr lang="ko-KR" altLang="en-US" dirty="0"/>
              <a:t>월 </a:t>
            </a:r>
            <a:r>
              <a:rPr lang="ko-KR" altLang="en-US" dirty="0" err="1"/>
              <a:t>차수별</a:t>
            </a:r>
            <a:r>
              <a:rPr lang="ko-KR" altLang="en-US" dirty="0"/>
              <a:t> 선발과 선교육을 거쳐 </a:t>
            </a:r>
            <a:r>
              <a:rPr lang="en-US" altLang="ko-KR" dirty="0"/>
              <a:t>5~6</a:t>
            </a:r>
            <a:r>
              <a:rPr lang="ko-KR" altLang="en-US" dirty="0"/>
              <a:t>월에 순차 투입합니다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그리고 </a:t>
            </a:r>
            <a:r>
              <a:rPr lang="en-US" altLang="ko-KR" dirty="0"/>
              <a:t>8</a:t>
            </a:r>
            <a:r>
              <a:rPr lang="ko-KR" altLang="en-US" dirty="0"/>
              <a:t>월 말 성수기가 끝나면 우수 인력을 상시로 전환하겠습니다</a:t>
            </a:r>
            <a:r>
              <a:rPr lang="en-US" altLang="ko-KR" dirty="0"/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</a:t>
            </a:r>
            <a:r>
              <a:rPr dirty="0" err="1"/>
              <a:t>발표</a:t>
            </a:r>
            <a:r>
              <a:rPr dirty="0"/>
              <a:t> 약 25초]</a:t>
            </a:r>
          </a:p>
          <a:p>
            <a:r>
              <a:rPr dirty="0" err="1"/>
              <a:t>교육에</a:t>
            </a:r>
            <a:r>
              <a:rPr dirty="0"/>
              <a:t> </a:t>
            </a:r>
            <a:r>
              <a:rPr dirty="0" err="1"/>
              <a:t>들어오기</a:t>
            </a:r>
            <a:r>
              <a:rPr dirty="0"/>
              <a:t> </a:t>
            </a:r>
            <a:r>
              <a:rPr dirty="0" err="1"/>
              <a:t>전에</a:t>
            </a:r>
            <a:r>
              <a:rPr dirty="0"/>
              <a:t> </a:t>
            </a:r>
            <a:r>
              <a:rPr dirty="0" err="1"/>
              <a:t>관리자와</a:t>
            </a:r>
            <a:r>
              <a:rPr dirty="0"/>
              <a:t> </a:t>
            </a:r>
            <a:r>
              <a:rPr dirty="0" err="1"/>
              <a:t>지원자가</a:t>
            </a:r>
            <a:r>
              <a:rPr dirty="0"/>
              <a:t> 1대1로 </a:t>
            </a:r>
            <a:r>
              <a:rPr dirty="0" err="1"/>
              <a:t>실전</a:t>
            </a:r>
            <a:r>
              <a:rPr dirty="0"/>
              <a:t> </a:t>
            </a:r>
            <a:r>
              <a:rPr dirty="0" err="1"/>
              <a:t>스크립트를</a:t>
            </a:r>
            <a:r>
              <a:rPr dirty="0"/>
              <a:t> </a:t>
            </a:r>
            <a:r>
              <a:rPr dirty="0" err="1"/>
              <a:t>진행합니다</a:t>
            </a:r>
            <a:r>
              <a:rPr dirty="0"/>
              <a:t>.</a:t>
            </a:r>
          </a:p>
          <a:p>
            <a:pPr rtl="0"/>
            <a:r>
              <a:rPr lang="ko-KR" altLang="en-US" dirty="0"/>
              <a:t>인사부터 문의 파악</a:t>
            </a:r>
            <a:r>
              <a:rPr lang="en-US" altLang="ko-KR" dirty="0"/>
              <a:t>, </a:t>
            </a:r>
            <a:r>
              <a:rPr lang="ko-KR" altLang="en-US" dirty="0"/>
              <a:t>공감</a:t>
            </a:r>
            <a:r>
              <a:rPr lang="en-US" altLang="ko-KR" dirty="0"/>
              <a:t>, </a:t>
            </a:r>
            <a:r>
              <a:rPr lang="ko-KR" altLang="en-US" dirty="0"/>
              <a:t>설명</a:t>
            </a:r>
            <a:r>
              <a:rPr lang="en-US" altLang="ko-KR" dirty="0"/>
              <a:t>, </a:t>
            </a:r>
            <a:r>
              <a:rPr lang="ko-KR" altLang="en-US" dirty="0"/>
              <a:t>상담 마무리까지 여덟 가지 영역을 </a:t>
            </a:r>
            <a:r>
              <a:rPr lang="en-US" altLang="ko-KR" dirty="0"/>
              <a:t>100</a:t>
            </a:r>
            <a:r>
              <a:rPr lang="ko-KR" altLang="en-US" dirty="0"/>
              <a:t>점 만점으로 평가하고</a:t>
            </a:r>
            <a:r>
              <a:rPr lang="en-US" altLang="ko-KR" dirty="0"/>
              <a:t>, </a:t>
            </a:r>
            <a:r>
              <a:rPr lang="ko-KR" altLang="en-US" dirty="0" err="1"/>
              <a:t>그중에서도</a:t>
            </a:r>
            <a:r>
              <a:rPr lang="ko-KR" altLang="en-US" dirty="0"/>
              <a:t> 고객 눈높이에 맞춘 </a:t>
            </a:r>
            <a:r>
              <a:rPr lang="ko-KR" altLang="en-US" b="1" dirty="0"/>
              <a:t>설명력</a:t>
            </a:r>
            <a:r>
              <a:rPr lang="ko-KR" altLang="en-US" dirty="0"/>
              <a:t>에 가장 큰 비중을 둡니다</a:t>
            </a:r>
            <a:r>
              <a:rPr lang="en-US" altLang="ko-KR" dirty="0"/>
              <a:t>.</a:t>
            </a:r>
          </a:p>
          <a:p>
            <a:pPr rtl="0"/>
            <a:r>
              <a:rPr lang="en-US" altLang="ko-KR" dirty="0"/>
              <a:t>90</a:t>
            </a:r>
            <a:r>
              <a:rPr lang="ko-KR" altLang="en-US" dirty="0"/>
              <a:t>점 이상이면 바로 입과하고</a:t>
            </a:r>
            <a:r>
              <a:rPr lang="en-US" altLang="ko-KR" dirty="0"/>
              <a:t>, 80</a:t>
            </a:r>
            <a:r>
              <a:rPr lang="ko-KR" altLang="en-US" dirty="0" err="1"/>
              <a:t>점대는</a:t>
            </a:r>
            <a:r>
              <a:rPr lang="ko-KR" altLang="en-US" dirty="0"/>
              <a:t> 부족한 항목을 정해 보완하면서 </a:t>
            </a:r>
            <a:r>
              <a:rPr lang="ko-KR" altLang="en-US" dirty="0" err="1"/>
              <a:t>입과합니다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79</a:t>
            </a:r>
            <a:r>
              <a:rPr lang="ko-KR" altLang="en-US" dirty="0"/>
              <a:t>점 이하라면 보완교육을 받은 뒤 다시 평가합니다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교육을 받았는지가 아니라</a:t>
            </a:r>
            <a:r>
              <a:rPr lang="en-US" altLang="ko-KR" dirty="0"/>
              <a:t>, </a:t>
            </a:r>
            <a:r>
              <a:rPr lang="ko-KR" altLang="en-US" b="1" dirty="0"/>
              <a:t>실제로 상담할 수 있는지</a:t>
            </a:r>
            <a:r>
              <a:rPr lang="ko-KR" altLang="en-US" dirty="0"/>
              <a:t>를 먼저 확인하는 과정입니다</a:t>
            </a:r>
            <a:r>
              <a:rPr lang="en-US" altLang="ko-K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0"/>
            <a:r>
              <a:rPr lang="ko-KR" altLang="en-US" dirty="0"/>
              <a:t>이렇게 바꾼 채용은 </a:t>
            </a:r>
            <a:r>
              <a:rPr lang="en-US" altLang="ko-KR" dirty="0"/>
              <a:t>2026</a:t>
            </a:r>
            <a:r>
              <a:rPr lang="ko-KR" altLang="en-US" dirty="0"/>
              <a:t>년 성수기에 다음과 같은 결과로 이어졌습니다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정원은 </a:t>
            </a:r>
            <a:r>
              <a:rPr lang="en-US" altLang="ko-KR" dirty="0"/>
              <a:t>35</a:t>
            </a:r>
            <a:r>
              <a:rPr lang="ko-KR" altLang="en-US" dirty="0"/>
              <a:t>명이었지만</a:t>
            </a:r>
            <a:r>
              <a:rPr lang="en-US" altLang="ko-KR" dirty="0"/>
              <a:t>, </a:t>
            </a:r>
            <a:r>
              <a:rPr lang="ko-KR" altLang="en-US" dirty="0"/>
              <a:t>저희는 그 두 배에 가까운 </a:t>
            </a:r>
            <a:r>
              <a:rPr lang="en-US" altLang="ko-KR" b="1" dirty="0"/>
              <a:t>68</a:t>
            </a:r>
            <a:r>
              <a:rPr lang="ko-KR" altLang="en-US" b="1" dirty="0"/>
              <a:t>명을 교육</a:t>
            </a:r>
            <a:r>
              <a:rPr lang="ko-KR" altLang="en-US" dirty="0"/>
              <a:t>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한 달 먼저 교육을 시작하고</a:t>
            </a:r>
            <a:r>
              <a:rPr lang="en-US" altLang="ko-KR" dirty="0"/>
              <a:t>, </a:t>
            </a:r>
            <a:r>
              <a:rPr lang="ko-KR" altLang="en-US" dirty="0"/>
              <a:t>한 번에 몰아 뽑지 않고 네 차수로 나눠 소규모로 가르쳤습니다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그리고 그중 검증된 </a:t>
            </a:r>
            <a:r>
              <a:rPr lang="en-US" altLang="ko-KR" dirty="0"/>
              <a:t>38</a:t>
            </a:r>
            <a:r>
              <a:rPr lang="ko-KR" altLang="en-US" dirty="0"/>
              <a:t>명을 정원보다 조금 넉넉하게 현장에 투입했습니다</a:t>
            </a:r>
            <a:r>
              <a:rPr lang="en-US" altLang="ko-KR" dirty="0"/>
              <a:t>.</a:t>
            </a:r>
          </a:p>
          <a:p>
            <a:pPr rtl="0"/>
            <a:r>
              <a:rPr lang="ko-KR" altLang="en-US" dirty="0"/>
              <a:t>그 결과 현장에 투입한 인원의 </a:t>
            </a:r>
            <a:r>
              <a:rPr lang="en-US" altLang="ko-KR" b="1" dirty="0"/>
              <a:t>89.5%</a:t>
            </a:r>
            <a:r>
              <a:rPr lang="ko-KR" altLang="en-US" b="1" dirty="0"/>
              <a:t>가 성수기가 끝날 때까지 함께</a:t>
            </a:r>
            <a:r>
              <a:rPr lang="ko-KR" altLang="en-US" dirty="0"/>
              <a:t>했습니다</a:t>
            </a:r>
            <a:r>
              <a:rPr lang="en-US" altLang="ko-KR" dirty="0"/>
              <a:t>. 2025</a:t>
            </a:r>
            <a:r>
              <a:rPr lang="ko-KR" altLang="en-US" dirty="0"/>
              <a:t>년의 </a:t>
            </a:r>
            <a:r>
              <a:rPr lang="en-US" altLang="ko-KR" dirty="0"/>
              <a:t>60.3%</a:t>
            </a:r>
            <a:r>
              <a:rPr lang="ko-KR" altLang="en-US" dirty="0"/>
              <a:t>와 비교하면 큰 변화입니다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많이 뽑는 것보다 잘 맞는 사람을 골라 충분히 준비시키는 것</a:t>
            </a:r>
            <a:r>
              <a:rPr lang="en-US" altLang="ko-KR" dirty="0"/>
              <a:t>, </a:t>
            </a:r>
            <a:r>
              <a:rPr lang="ko-KR" altLang="en-US" dirty="0"/>
              <a:t>그것이 저희가 찾은 답이었습니다</a:t>
            </a:r>
            <a:r>
              <a:rPr lang="en-US" altLang="ko-K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0"/>
            <a:r>
              <a:rPr lang="ko-KR" altLang="en-US" dirty="0"/>
              <a:t>좋은 인력을 뽑는 것만큼 중요한 것은</a:t>
            </a:r>
            <a:r>
              <a:rPr lang="en-US" altLang="ko-KR" dirty="0"/>
              <a:t>, </a:t>
            </a:r>
            <a:r>
              <a:rPr lang="ko-KR" altLang="en-US" dirty="0"/>
              <a:t>그 인력이 </a:t>
            </a:r>
            <a:r>
              <a:rPr lang="ko-KR" altLang="en-US" b="1" dirty="0"/>
              <a:t>즐겁게 오래 일하도록 만드는 것</a:t>
            </a:r>
            <a:r>
              <a:rPr lang="ko-KR" altLang="en-US" dirty="0"/>
              <a:t>이었습니다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그래서 현장에서는 다양한 프로모션으로 동기를 북돋아 왔습니다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칭찬을 받으면 가전 카드를 뽑고</a:t>
            </a:r>
            <a:r>
              <a:rPr lang="en-US" altLang="ko-KR" dirty="0"/>
              <a:t>, </a:t>
            </a:r>
            <a:r>
              <a:rPr lang="ko-KR" altLang="en-US" dirty="0"/>
              <a:t>목표를 채우며 빙고를 완성하고</a:t>
            </a:r>
            <a:r>
              <a:rPr lang="en-US" altLang="ko-KR" dirty="0"/>
              <a:t>, </a:t>
            </a:r>
            <a:r>
              <a:rPr lang="ko-KR" altLang="en-US" dirty="0"/>
              <a:t>칭찬 사례는 현수막과 전광판에 걸어 함께 축하했습니다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재미로만 끝나지 않도록</a:t>
            </a:r>
            <a:r>
              <a:rPr lang="en-US" altLang="ko-KR" dirty="0"/>
              <a:t>, </a:t>
            </a:r>
            <a:r>
              <a:rPr lang="ko-KR" altLang="en-US" dirty="0"/>
              <a:t>모든 이벤트를 </a:t>
            </a:r>
            <a:r>
              <a:rPr lang="en-US" altLang="ko-KR" b="1" dirty="0"/>
              <a:t>T-NPS</a:t>
            </a:r>
            <a:r>
              <a:rPr lang="ko-KR" altLang="en-US" b="1" dirty="0"/>
              <a:t>와 생산성</a:t>
            </a:r>
            <a:r>
              <a:rPr lang="en-US" altLang="ko-KR" b="1" dirty="0"/>
              <a:t>, </a:t>
            </a:r>
            <a:r>
              <a:rPr lang="ko-KR" altLang="en-US" b="1" dirty="0"/>
              <a:t>업무 숙지 같은 실제 지표와 연결</a:t>
            </a:r>
            <a:r>
              <a:rPr lang="ko-KR" altLang="en-US" dirty="0"/>
              <a:t>해 운영했습니다</a:t>
            </a:r>
            <a:r>
              <a:rPr lang="en-US" altLang="ko-K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0"/>
            <a:r>
              <a:rPr lang="ko-KR" altLang="en-US" dirty="0"/>
              <a:t>결국 저희가 </a:t>
            </a:r>
            <a:r>
              <a:rPr lang="en-US" altLang="ko-KR" dirty="0"/>
              <a:t>LG</a:t>
            </a:r>
            <a:r>
              <a:rPr lang="ko-KR" altLang="en-US" dirty="0"/>
              <a:t>전자 고객센터를 운영하며 가장 중요하게 생각하는 것은 </a:t>
            </a:r>
            <a:r>
              <a:rPr lang="ko-KR" altLang="en-US" b="1" dirty="0"/>
              <a:t>인력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상담의 품질도</a:t>
            </a:r>
            <a:r>
              <a:rPr lang="en-US" altLang="ko-KR" dirty="0"/>
              <a:t>, </a:t>
            </a:r>
            <a:r>
              <a:rPr lang="ko-KR" altLang="en-US" dirty="0"/>
              <a:t>고객의 만족도 결국 사람에게서 나오기 때문입니다</a:t>
            </a:r>
            <a:r>
              <a:rPr lang="en-US" altLang="ko-KR" dirty="0"/>
              <a:t>.</a:t>
            </a:r>
          </a:p>
          <a:p>
            <a:pPr rtl="0"/>
            <a:r>
              <a:rPr lang="ko-KR" altLang="en-US" dirty="0"/>
              <a:t>그래서 </a:t>
            </a:r>
            <a:r>
              <a:rPr lang="en-US" altLang="ko-KR" dirty="0"/>
              <a:t>2026</a:t>
            </a:r>
            <a:r>
              <a:rPr lang="ko-KR" altLang="en-US" dirty="0"/>
              <a:t>년 성수기에는 이 숫자를 지키는 데 집중했습니다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정원 </a:t>
            </a:r>
            <a:r>
              <a:rPr lang="en-US" altLang="ko-KR" dirty="0"/>
              <a:t>35</a:t>
            </a:r>
            <a:r>
              <a:rPr lang="ko-KR" altLang="en-US" dirty="0"/>
              <a:t>명</a:t>
            </a:r>
            <a:r>
              <a:rPr lang="en-US" altLang="ko-KR" dirty="0"/>
              <a:t>. </a:t>
            </a:r>
            <a:r>
              <a:rPr lang="ko-KR" altLang="en-US" dirty="0"/>
              <a:t>성수기가 끝나는 날</a:t>
            </a:r>
            <a:r>
              <a:rPr lang="en-US" altLang="ko-KR" dirty="0"/>
              <a:t>, </a:t>
            </a:r>
            <a:r>
              <a:rPr lang="en-US" altLang="ko-KR" b="1" dirty="0"/>
              <a:t>34</a:t>
            </a:r>
            <a:r>
              <a:rPr lang="ko-KR" altLang="en-US" b="1" dirty="0"/>
              <a:t>명이 함께 남아 있었습니다</a:t>
            </a:r>
            <a:r>
              <a:rPr lang="en-US" altLang="ko-KR" b="1" dirty="0"/>
              <a:t>.</a:t>
            </a:r>
            <a:br>
              <a:rPr lang="ko-KR" altLang="en-US" dirty="0"/>
            </a:br>
            <a:r>
              <a:rPr lang="ko-KR" altLang="en-US" dirty="0"/>
              <a:t>그리고 그중 </a:t>
            </a:r>
            <a:r>
              <a:rPr lang="en-US" altLang="ko-KR" b="1" dirty="0"/>
              <a:t>6</a:t>
            </a:r>
            <a:r>
              <a:rPr lang="ko-KR" altLang="en-US" b="1" dirty="0"/>
              <a:t>명</a:t>
            </a:r>
            <a:r>
              <a:rPr lang="ko-KR" altLang="en-US" dirty="0"/>
              <a:t>은 성수기 인력에서 </a:t>
            </a:r>
            <a:r>
              <a:rPr lang="ko-KR" altLang="en-US" b="1" dirty="0"/>
              <a:t>상시 직원</a:t>
            </a:r>
            <a:r>
              <a:rPr lang="ko-KR" altLang="en-US" dirty="0"/>
              <a:t>이 되었습니다</a:t>
            </a:r>
            <a:r>
              <a:rPr lang="en-US" altLang="ko-KR" dirty="0"/>
              <a:t>.</a:t>
            </a:r>
          </a:p>
          <a:p>
            <a:pPr rtl="0"/>
            <a:r>
              <a:rPr lang="ko-KR" altLang="en-US" dirty="0"/>
              <a:t>한 해 </a:t>
            </a:r>
            <a:r>
              <a:rPr lang="ko-KR" altLang="en-US" dirty="0" err="1"/>
              <a:t>퇴직률은</a:t>
            </a:r>
            <a:r>
              <a:rPr lang="ko-KR" altLang="en-US" dirty="0"/>
              <a:t> </a:t>
            </a:r>
            <a:r>
              <a:rPr lang="en-US" altLang="ko-KR" b="1" dirty="0"/>
              <a:t>11.8%</a:t>
            </a:r>
            <a:r>
              <a:rPr lang="ko-KR" altLang="en-US" b="1" dirty="0"/>
              <a:t>에서 </a:t>
            </a:r>
            <a:r>
              <a:rPr lang="en-US" altLang="ko-KR" b="1" dirty="0"/>
              <a:t>6.0%</a:t>
            </a:r>
            <a:r>
              <a:rPr lang="ko-KR" altLang="en-US" b="1" dirty="0"/>
              <a:t>로</a:t>
            </a:r>
            <a:r>
              <a:rPr lang="en-US" altLang="ko-KR" b="1" dirty="0"/>
              <a:t>.</a:t>
            </a:r>
            <a:br>
              <a:rPr lang="ko-KR" altLang="en-US" dirty="0"/>
            </a:br>
            <a:r>
              <a:rPr lang="ko-KR" altLang="en-US" dirty="0"/>
              <a:t>업무가 맞지 않아 떠나던 직원은 </a:t>
            </a:r>
            <a:r>
              <a:rPr lang="en-US" altLang="ko-KR" b="1" dirty="0"/>
              <a:t>29</a:t>
            </a:r>
            <a:r>
              <a:rPr lang="ko-KR" altLang="en-US" b="1" dirty="0"/>
              <a:t>명에서 </a:t>
            </a:r>
            <a:r>
              <a:rPr lang="en-US" altLang="ko-KR" b="1" dirty="0"/>
              <a:t>6</a:t>
            </a:r>
            <a:r>
              <a:rPr lang="ko-KR" altLang="en-US" b="1" dirty="0"/>
              <a:t>명으로</a:t>
            </a:r>
            <a:r>
              <a:rPr lang="ko-KR" altLang="en-US" dirty="0"/>
              <a:t> 줄었습니다</a:t>
            </a:r>
            <a:r>
              <a:rPr lang="en-US" altLang="ko-KR" dirty="0"/>
              <a:t>.</a:t>
            </a:r>
          </a:p>
          <a:p>
            <a:pPr rtl="0"/>
            <a:r>
              <a:rPr lang="ko-KR" altLang="en-US" dirty="0"/>
              <a:t>저희가 </a:t>
            </a:r>
            <a:r>
              <a:rPr lang="ko-KR" altLang="en-US" dirty="0" err="1"/>
              <a:t>잘해서라기보다</a:t>
            </a:r>
            <a:r>
              <a:rPr lang="en-US" altLang="ko-KR" dirty="0"/>
              <a:t>, </a:t>
            </a:r>
            <a:r>
              <a:rPr lang="ko-KR" altLang="en-US" dirty="0"/>
              <a:t>직원들이 저희를 믿고 끝까지 남아 준 결과라고 생각합니다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그 믿음을 </a:t>
            </a:r>
            <a:r>
              <a:rPr lang="en-US" altLang="ko-KR" dirty="0"/>
              <a:t>2027</a:t>
            </a:r>
            <a:r>
              <a:rPr lang="ko-KR" altLang="en-US" dirty="0"/>
              <a:t>년에도 이어 가겠습니다</a:t>
            </a:r>
            <a:r>
              <a:rPr lang="en-US" altLang="ko-K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0"/>
            <a:r>
              <a:rPr lang="ko-KR" altLang="en-US" dirty="0"/>
              <a:t>품질은 센터 평균이 아니라 </a:t>
            </a:r>
            <a:r>
              <a:rPr lang="ko-KR" altLang="en-US" b="1" dirty="0"/>
              <a:t>상담사 한 사람 한 사람</a:t>
            </a:r>
            <a:r>
              <a:rPr lang="ko-KR" altLang="en-US" dirty="0"/>
              <a:t>을 보겠습니다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상담품질은 </a:t>
            </a:r>
            <a:r>
              <a:rPr lang="en-US" altLang="ko-KR" dirty="0"/>
              <a:t>QA</a:t>
            </a:r>
            <a:r>
              <a:rPr lang="ko-KR" altLang="en-US" dirty="0"/>
              <a:t>가 녹취를 분석해 개인별로 </a:t>
            </a:r>
            <a:r>
              <a:rPr lang="ko-KR" altLang="en-US" dirty="0" err="1"/>
              <a:t>코칭하고</a:t>
            </a:r>
            <a:r>
              <a:rPr lang="en-US" altLang="ko-KR" dirty="0"/>
              <a:t>, </a:t>
            </a:r>
            <a:r>
              <a:rPr lang="ko-KR" altLang="en-US" dirty="0"/>
              <a:t>자주 묻는 문의와 어려운 문의는 </a:t>
            </a:r>
            <a:r>
              <a:rPr lang="en-US" altLang="ko-KR" dirty="0"/>
              <a:t>SOP</a:t>
            </a:r>
            <a:r>
              <a:rPr lang="ko-KR" altLang="en-US" dirty="0"/>
              <a:t>로 정리해 누구나 같은 답을 할 수 있게 하겠습니다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생산성은 처리시간</a:t>
            </a:r>
            <a:r>
              <a:rPr lang="en-US" altLang="ko-KR" dirty="0"/>
              <a:t>, </a:t>
            </a:r>
            <a:r>
              <a:rPr lang="ko-KR" altLang="en-US" dirty="0"/>
              <a:t>이석</a:t>
            </a:r>
            <a:r>
              <a:rPr lang="en-US" altLang="ko-KR" dirty="0"/>
              <a:t>, </a:t>
            </a:r>
            <a:r>
              <a:rPr lang="ko-KR" altLang="en-US" dirty="0"/>
              <a:t>후처리까지 개인별로 나눠 보고</a:t>
            </a:r>
            <a:r>
              <a:rPr lang="en-US" altLang="ko-KR" dirty="0"/>
              <a:t>, </a:t>
            </a:r>
            <a:r>
              <a:rPr lang="ko-KR" altLang="en-US" dirty="0"/>
              <a:t>근속과 역량에 맞는 목표를 따로 정하겠습니다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설명처리는 직접 설명을 먼저 시도하고</a:t>
            </a:r>
            <a:r>
              <a:rPr lang="en-US" altLang="ko-KR" dirty="0"/>
              <a:t>, </a:t>
            </a:r>
            <a:r>
              <a:rPr lang="ko-KR" altLang="en-US" dirty="0"/>
              <a:t>해결이 안 될 때만 넘기는 원칙을 지키겠습니다</a:t>
            </a:r>
            <a:r>
              <a:rPr lang="en-US" altLang="ko-KR" dirty="0"/>
              <a:t>.</a:t>
            </a:r>
          </a:p>
          <a:p>
            <a:pPr rtl="0"/>
            <a:r>
              <a:rPr lang="ko-KR" altLang="en-US" dirty="0"/>
              <a:t>그리고 품질과 생산성 두 축으로 직원을 나눠</a:t>
            </a:r>
            <a:r>
              <a:rPr lang="en-US" altLang="ko-KR" dirty="0"/>
              <a:t>, </a:t>
            </a:r>
            <a:r>
              <a:rPr lang="ko-KR" altLang="en-US" dirty="0"/>
              <a:t>둘 다 좋은 직원은 포상하고</a:t>
            </a:r>
            <a:r>
              <a:rPr lang="en-US" altLang="ko-KR" dirty="0"/>
              <a:t>, </a:t>
            </a:r>
            <a:r>
              <a:rPr lang="ko-KR" altLang="en-US" dirty="0"/>
              <a:t>둘 다 부족한 직원은 </a:t>
            </a:r>
            <a:r>
              <a:rPr lang="en-US" altLang="ko-KR" dirty="0"/>
              <a:t>1</a:t>
            </a:r>
            <a:r>
              <a:rPr lang="ko-KR" altLang="en-US" dirty="0"/>
              <a:t>대</a:t>
            </a:r>
            <a:r>
              <a:rPr lang="en-US" altLang="ko-KR" dirty="0"/>
              <a:t>1</a:t>
            </a:r>
            <a:r>
              <a:rPr lang="ko-KR" altLang="en-US" dirty="0"/>
              <a:t>로 집중 관리하겠습니다</a:t>
            </a:r>
            <a:r>
              <a:rPr lang="en-US" altLang="ko-K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0"/>
            <a:r>
              <a:rPr lang="en-US" altLang="ko-KR" dirty="0"/>
              <a:t>하이텔레서비스의 품질체계는 이미 높은 수준입니다. T-NPS 고객 평가, 외부 모니터링, Q봇 지식검색, SLA 평가까지 기준이 잘 갖춰져 있습니다.</a:t>
            </a:r>
            <a:br>
              <a:rPr lang="en-US" altLang="ko-KR" dirty="0"/>
            </a:br>
            <a:endParaRPr lang="en-US" altLang="ko-KR" dirty="0"/>
          </a:p>
          <a:p>
            <a:pPr rtl="0"/>
            <a:r>
              <a:rPr lang="ko-KR" altLang="en-US" dirty="0"/>
              <a:t>저희는 그 위에 운영 관리 관점에서 더할 수 있는 것을 하고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총괄매니저가 센터를 진단해 정한 과제들로</a:t>
            </a:r>
            <a:r>
              <a:rPr lang="en-US" altLang="ko-KR" dirty="0"/>
              <a:t>, </a:t>
            </a:r>
            <a:r>
              <a:rPr lang="ko-KR" altLang="en-US" dirty="0"/>
              <a:t>저점 사례에서 약점 하나를 골라 매주 </a:t>
            </a:r>
            <a:r>
              <a:rPr lang="ko-KR" altLang="en-US" dirty="0" err="1"/>
              <a:t>코칭하는</a:t>
            </a:r>
            <a:r>
              <a:rPr lang="ko-KR" altLang="en-US" dirty="0"/>
              <a:t> </a:t>
            </a:r>
            <a:r>
              <a:rPr lang="en-US" altLang="ko-KR" b="1" dirty="0"/>
              <a:t>1</a:t>
            </a:r>
            <a:r>
              <a:rPr lang="ko-KR" altLang="en-US" b="1" dirty="0"/>
              <a:t>인 </a:t>
            </a:r>
            <a:r>
              <a:rPr lang="en-US" altLang="ko-KR" b="1" dirty="0"/>
              <a:t>1</a:t>
            </a:r>
            <a:r>
              <a:rPr lang="ko-KR" altLang="en-US" b="1" dirty="0"/>
              <a:t>개선과제</a:t>
            </a:r>
            <a:r>
              <a:rPr lang="en-US" altLang="ko-KR" dirty="0"/>
              <a:t>, Q</a:t>
            </a:r>
            <a:r>
              <a:rPr lang="ko-KR" altLang="en-US" dirty="0"/>
              <a:t>봇 숙지도 평가를 통해 관리하고 있으며</a:t>
            </a:r>
            <a:br>
              <a:rPr lang="en-US" altLang="ko-KR" dirty="0"/>
            </a:br>
            <a:r>
              <a:rPr lang="ko-KR" altLang="en-US" dirty="0"/>
              <a:t>여기에 </a:t>
            </a:r>
            <a:r>
              <a:rPr lang="en-US" altLang="ko-KR" dirty="0"/>
              <a:t>KT IS</a:t>
            </a:r>
            <a:r>
              <a:rPr lang="ko-KR" altLang="en-US" dirty="0"/>
              <a:t> 고객센터의 </a:t>
            </a:r>
            <a:r>
              <a:rPr lang="en-US" altLang="ko-KR" dirty="0"/>
              <a:t>10</a:t>
            </a:r>
            <a:r>
              <a:rPr lang="ko-KR" altLang="en-US" dirty="0"/>
              <a:t>년 넘게 쌓아 온 </a:t>
            </a:r>
            <a:r>
              <a:rPr lang="en-US" altLang="ko-KR" dirty="0"/>
              <a:t>KSQI </a:t>
            </a:r>
            <a:r>
              <a:rPr lang="ko-KR" altLang="en-US" dirty="0"/>
              <a:t>운영 경험도 함께 더하겠습니다</a:t>
            </a:r>
            <a:endParaRPr lang="en-US" altLang="ko-KR" dirty="0"/>
          </a:p>
          <a:p>
            <a:pPr rtl="0"/>
            <a:r>
              <a:rPr lang="ko-KR" altLang="en-US" dirty="0"/>
              <a:t>그리고 고객의 목소리에 더 귀 기울이겠습니다</a:t>
            </a:r>
            <a:r>
              <a:rPr lang="en-US" altLang="ko-KR" dirty="0"/>
              <a:t>. T-NPS </a:t>
            </a:r>
            <a:r>
              <a:rPr lang="ko-KR" altLang="en-US" dirty="0"/>
              <a:t>저점과 </a:t>
            </a:r>
            <a:r>
              <a:rPr lang="en-US" altLang="ko-KR" dirty="0"/>
              <a:t>VOC </a:t>
            </a:r>
            <a:r>
              <a:rPr lang="ko-KR" altLang="en-US" dirty="0"/>
              <a:t>사례를 분석해 고객의 소리를 정리해 </a:t>
            </a:r>
            <a:r>
              <a:rPr lang="ko-KR" altLang="en-US" dirty="0" err="1"/>
              <a:t>보고드리고</a:t>
            </a:r>
            <a:r>
              <a:rPr lang="en-US" altLang="ko-KR" dirty="0"/>
              <a:t>, </a:t>
            </a:r>
            <a:r>
              <a:rPr lang="ko-KR" altLang="en-US" dirty="0" err="1"/>
              <a:t>하이텔레서비스와</a:t>
            </a:r>
            <a:r>
              <a:rPr lang="ko-KR" altLang="en-US" dirty="0"/>
              <a:t> 함께 개선안을 만들어 고객 만족도를 높여 가겠습니다</a:t>
            </a:r>
            <a:r>
              <a:rPr lang="en-US" altLang="ko-K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0"/>
            <a:r>
              <a:rPr lang="ko-KR" altLang="en-US" dirty="0"/>
              <a:t>같은 방식으로 모든 인력을 관리하지는 않습니다</a:t>
            </a:r>
            <a:r>
              <a:rPr lang="en-US" altLang="ko-KR" dirty="0"/>
              <a:t>. </a:t>
            </a:r>
            <a:r>
              <a:rPr lang="ko-KR" altLang="en-US" dirty="0"/>
              <a:t>상시와 한시는 관리 방법이 달라야 합니다</a:t>
            </a:r>
            <a:r>
              <a:rPr lang="en-US" altLang="ko-KR" dirty="0"/>
              <a:t>.</a:t>
            </a:r>
          </a:p>
          <a:p>
            <a:pPr rtl="0"/>
            <a:r>
              <a:rPr lang="ko-KR" altLang="en-US" dirty="0"/>
              <a:t>상시 인력은 </a:t>
            </a:r>
            <a:r>
              <a:rPr lang="ko-KR" altLang="en-US" b="1" dirty="0"/>
              <a:t>제품 설명과 완결 상담</a:t>
            </a:r>
            <a:r>
              <a:rPr lang="ko-KR" altLang="en-US" dirty="0"/>
              <a:t>을 목표로 합니다</a:t>
            </a:r>
            <a:r>
              <a:rPr lang="en-US" altLang="ko-KR" dirty="0"/>
              <a:t>. </a:t>
            </a:r>
            <a:r>
              <a:rPr lang="ko-KR" altLang="en-US" dirty="0"/>
              <a:t>냉장고</a:t>
            </a:r>
            <a:r>
              <a:rPr lang="en-US" altLang="ko-KR" dirty="0"/>
              <a:t>·</a:t>
            </a:r>
            <a:r>
              <a:rPr lang="ko-KR" altLang="en-US" dirty="0"/>
              <a:t>세탁기</a:t>
            </a:r>
            <a:r>
              <a:rPr lang="en-US" altLang="ko-KR" dirty="0"/>
              <a:t>·</a:t>
            </a:r>
            <a:r>
              <a:rPr lang="ko-KR" altLang="en-US" dirty="0"/>
              <a:t>에어컨 </a:t>
            </a:r>
            <a:r>
              <a:rPr lang="ko-KR" altLang="en-US" dirty="0" err="1"/>
              <a:t>증상별</a:t>
            </a:r>
            <a:r>
              <a:rPr lang="ko-KR" altLang="en-US" dirty="0"/>
              <a:t> 심화 교육을 하고</a:t>
            </a:r>
            <a:r>
              <a:rPr lang="en-US" altLang="ko-KR" dirty="0"/>
              <a:t>, </a:t>
            </a:r>
            <a:r>
              <a:rPr lang="ko-KR" altLang="en-US" dirty="0"/>
              <a:t>매월 개인 코칭과 분기 역량 평가로 깊이를 더해 갑니다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한시 인력은 짧은 기간 안에 </a:t>
            </a:r>
            <a:r>
              <a:rPr lang="ko-KR" altLang="en-US" b="1" dirty="0"/>
              <a:t>기본 응대와 정확한 </a:t>
            </a:r>
            <a:r>
              <a:rPr lang="en-US" altLang="ko-KR" b="1" dirty="0"/>
              <a:t>AS </a:t>
            </a:r>
            <a:r>
              <a:rPr lang="ko-KR" altLang="en-US" b="1" dirty="0"/>
              <a:t>접수</a:t>
            </a:r>
            <a:r>
              <a:rPr lang="ko-KR" altLang="en-US" dirty="0"/>
              <a:t>를 익히는 것이 목표입니다</a:t>
            </a:r>
            <a:r>
              <a:rPr lang="en-US" altLang="ko-KR" dirty="0"/>
              <a:t>. </a:t>
            </a:r>
            <a:r>
              <a:rPr lang="ko-KR" altLang="en-US" dirty="0"/>
              <a:t>다빈도 문의는 </a:t>
            </a:r>
            <a:r>
              <a:rPr lang="en-US" altLang="ko-KR" dirty="0"/>
              <a:t>Q</a:t>
            </a:r>
            <a:r>
              <a:rPr lang="ko-KR" altLang="en-US" dirty="0"/>
              <a:t>봇으로 확인하는 방법을 집중해서 가르치고</a:t>
            </a:r>
            <a:r>
              <a:rPr lang="en-US" altLang="ko-KR" dirty="0"/>
              <a:t>, </a:t>
            </a:r>
            <a:r>
              <a:rPr lang="ko-KR" altLang="en-US" dirty="0"/>
              <a:t>매일 마무리 점검과 주 단위 </a:t>
            </a:r>
            <a:r>
              <a:rPr lang="en-US" altLang="ko-KR" dirty="0"/>
              <a:t>QA</a:t>
            </a:r>
            <a:r>
              <a:rPr lang="ko-KR" altLang="en-US" dirty="0"/>
              <a:t>로 빠르게 기준선에 올립니다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그 결과 한시 인력의 </a:t>
            </a:r>
            <a:r>
              <a:rPr lang="en-US" altLang="ko-KR" dirty="0"/>
              <a:t>T-NPS</a:t>
            </a:r>
            <a:r>
              <a:rPr lang="ko-KR" altLang="en-US" dirty="0"/>
              <a:t>는 </a:t>
            </a:r>
            <a:r>
              <a:rPr lang="en-US" altLang="ko-KR" dirty="0"/>
              <a:t>82.0</a:t>
            </a:r>
            <a:r>
              <a:rPr lang="ko-KR" altLang="en-US" dirty="0"/>
              <a:t>에서 </a:t>
            </a:r>
            <a:r>
              <a:rPr lang="en-US" altLang="ko-KR" dirty="0"/>
              <a:t>89.3</a:t>
            </a:r>
            <a:r>
              <a:rPr lang="ko-KR" altLang="en-US" dirty="0"/>
              <a:t>으로</a:t>
            </a:r>
            <a:r>
              <a:rPr lang="en-US" altLang="ko-KR" dirty="0"/>
              <a:t>, </a:t>
            </a:r>
            <a:r>
              <a:rPr lang="ko-KR" altLang="en-US" dirty="0" err="1"/>
              <a:t>완결상담률은</a:t>
            </a:r>
            <a:r>
              <a:rPr lang="ko-KR" altLang="en-US" dirty="0"/>
              <a:t> </a:t>
            </a:r>
            <a:r>
              <a:rPr lang="en-US" altLang="ko-KR" dirty="0"/>
              <a:t>74.1%</a:t>
            </a:r>
            <a:r>
              <a:rPr lang="ko-KR" altLang="en-US" dirty="0"/>
              <a:t>에서 </a:t>
            </a:r>
            <a:r>
              <a:rPr lang="en-US" altLang="ko-KR" dirty="0"/>
              <a:t>83.0%</a:t>
            </a:r>
            <a:r>
              <a:rPr lang="ko-KR" altLang="en-US" dirty="0"/>
              <a:t>로 올랐습니다</a:t>
            </a:r>
            <a:r>
              <a:rPr lang="en-US" altLang="ko-KR" dirty="0"/>
              <a:t>.</a:t>
            </a:r>
          </a:p>
          <a:p>
            <a:pPr rtl="0"/>
            <a:r>
              <a:rPr lang="ko-KR" altLang="en-US" dirty="0"/>
              <a:t>다만 두 인력 모두에게 통하는 답은 같았습니다</a:t>
            </a:r>
            <a:r>
              <a:rPr lang="en-US" altLang="ko-KR" dirty="0"/>
              <a:t>. </a:t>
            </a:r>
            <a:r>
              <a:rPr lang="ko-KR" altLang="en-US" b="1" dirty="0"/>
              <a:t>실습 중심 교육과 투입 후 </a:t>
            </a:r>
            <a:r>
              <a:rPr lang="ko-KR" altLang="en-US" b="1" dirty="0" err="1"/>
              <a:t>보수교육</a:t>
            </a:r>
            <a:r>
              <a:rPr lang="ko-KR" altLang="en-US" dirty="0" err="1"/>
              <a:t>입니다</a:t>
            </a:r>
            <a:r>
              <a:rPr lang="en-US" altLang="ko-K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0"/>
            <a:r>
              <a:rPr lang="ko-KR" altLang="en-US" dirty="0"/>
              <a:t>그래서 교육은 실습으로 시작합니다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입과 전 사전 </a:t>
            </a:r>
            <a:r>
              <a:rPr lang="en-US" altLang="ko-KR" dirty="0"/>
              <a:t>CS </a:t>
            </a:r>
            <a:r>
              <a:rPr lang="ko-KR" altLang="en-US" dirty="0"/>
              <a:t>테스트를 거친 인력이 </a:t>
            </a:r>
            <a:r>
              <a:rPr lang="en-US" altLang="ko-KR" dirty="0"/>
              <a:t>3</a:t>
            </a:r>
            <a:r>
              <a:rPr lang="ko-KR" altLang="en-US" dirty="0"/>
              <a:t>주</a:t>
            </a:r>
            <a:r>
              <a:rPr lang="en-US" altLang="ko-KR" dirty="0"/>
              <a:t>, 120</a:t>
            </a:r>
            <a:r>
              <a:rPr lang="ko-KR" altLang="en-US" dirty="0"/>
              <a:t>시간의 입문 교육을 받는데</a:t>
            </a:r>
            <a:r>
              <a:rPr lang="en-US" altLang="ko-KR" dirty="0"/>
              <a:t>, </a:t>
            </a:r>
            <a:r>
              <a:rPr lang="ko-KR" altLang="en-US" dirty="0"/>
              <a:t>그중 </a:t>
            </a:r>
            <a:r>
              <a:rPr lang="en-US" altLang="ko-KR" b="1" dirty="0"/>
              <a:t>33</a:t>
            </a:r>
            <a:r>
              <a:rPr lang="ko-KR" altLang="en-US" b="1" dirty="0"/>
              <a:t>시간을 실제 고객 응대 실습과 콜 청취</a:t>
            </a:r>
            <a:r>
              <a:rPr lang="ko-KR" altLang="en-US" dirty="0"/>
              <a:t>에 씁니다</a:t>
            </a:r>
            <a:r>
              <a:rPr lang="en-US" altLang="ko-KR" dirty="0"/>
              <a:t>. </a:t>
            </a:r>
            <a:r>
              <a:rPr lang="ko-KR" altLang="en-US" dirty="0"/>
              <a:t>교육 전 과정에서 </a:t>
            </a:r>
            <a:r>
              <a:rPr lang="en-US" altLang="ko-KR" dirty="0"/>
              <a:t>Q</a:t>
            </a:r>
            <a:r>
              <a:rPr lang="ko-KR" altLang="en-US" dirty="0"/>
              <a:t>봇도 직접 써 보며 익힙니다</a:t>
            </a:r>
            <a:r>
              <a:rPr lang="en-US" altLang="ko-KR" dirty="0"/>
              <a:t>.</a:t>
            </a:r>
          </a:p>
          <a:p>
            <a:pPr rtl="0"/>
            <a:r>
              <a:rPr lang="ko-KR" altLang="en-US" dirty="0"/>
              <a:t>현장에 투입된 뒤에도 교육은 멈추지 않습니다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성수기 석 달 동안 </a:t>
            </a:r>
            <a:r>
              <a:rPr lang="en-US" altLang="ko-KR" b="1" dirty="0"/>
              <a:t>22</a:t>
            </a:r>
            <a:r>
              <a:rPr lang="ko-KR" altLang="en-US" b="1" dirty="0"/>
              <a:t>번</a:t>
            </a:r>
            <a:r>
              <a:rPr lang="en-US" altLang="ko-KR" b="1" dirty="0"/>
              <a:t>, 66.5</a:t>
            </a:r>
            <a:r>
              <a:rPr lang="ko-KR" altLang="en-US" b="1" dirty="0"/>
              <a:t>시간의 보수교육</a:t>
            </a:r>
            <a:r>
              <a:rPr lang="ko-KR" altLang="en-US" dirty="0"/>
              <a:t>을 이어 갔고</a:t>
            </a:r>
            <a:r>
              <a:rPr lang="en-US" altLang="ko-KR" dirty="0"/>
              <a:t>, </a:t>
            </a:r>
            <a:r>
              <a:rPr lang="ko-KR" altLang="en-US" dirty="0"/>
              <a:t>에어컨 문의가 몰리는 시기에는 </a:t>
            </a:r>
            <a:r>
              <a:rPr lang="en-US" altLang="ko-KR" dirty="0"/>
              <a:t>"</a:t>
            </a:r>
            <a:r>
              <a:rPr lang="ko-KR" altLang="en-US" dirty="0"/>
              <a:t>이것만은 방어하자</a:t>
            </a:r>
            <a:r>
              <a:rPr lang="en-US" altLang="ko-KR" dirty="0"/>
              <a:t>"</a:t>
            </a:r>
            <a:r>
              <a:rPr lang="ko-KR" altLang="en-US" dirty="0"/>
              <a:t>는 집중 교육도 진행했습니다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성수기가 끝난 뒤에는 상시로 전환할 직원에게 </a:t>
            </a:r>
            <a:r>
              <a:rPr lang="en-US" altLang="ko-KR" dirty="0"/>
              <a:t>29</a:t>
            </a:r>
            <a:r>
              <a:rPr lang="ko-KR" altLang="en-US" dirty="0"/>
              <a:t>시간의 전환 교육을 따로 했습니다</a:t>
            </a:r>
            <a:r>
              <a:rPr lang="en-US" altLang="ko-KR" dirty="0"/>
              <a:t>.</a:t>
            </a:r>
          </a:p>
          <a:p>
            <a:pPr rtl="0"/>
            <a:r>
              <a:rPr lang="ko-KR" altLang="en-US" dirty="0"/>
              <a:t>교육의 답은 결국 </a:t>
            </a:r>
            <a:r>
              <a:rPr lang="ko-KR" altLang="en-US" b="1" dirty="0"/>
              <a:t>실전</a:t>
            </a:r>
            <a:r>
              <a:rPr lang="en-US" altLang="ko-KR" b="1" dirty="0"/>
              <a:t>, </a:t>
            </a:r>
            <a:r>
              <a:rPr lang="ko-KR" altLang="en-US" b="1" dirty="0"/>
              <a:t>그리고 </a:t>
            </a:r>
            <a:r>
              <a:rPr lang="ko-KR" altLang="en-US" b="1" dirty="0" err="1"/>
              <a:t>꾸준함</a:t>
            </a:r>
            <a:r>
              <a:rPr lang="ko-KR" altLang="en-US" dirty="0" err="1"/>
              <a:t>이라고</a:t>
            </a:r>
            <a:r>
              <a:rPr lang="ko-KR" altLang="en-US" dirty="0"/>
              <a:t> 생각합니다</a:t>
            </a:r>
            <a:r>
              <a:rPr lang="en-US" altLang="ko-K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0"/>
            <a:r>
              <a:rPr lang="ko-KR" altLang="en-US" dirty="0"/>
              <a:t>관리자의 역량은 교육과 현장 경험이 함께 있어야 자랍니다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먼저 모든 관리자는 </a:t>
            </a:r>
            <a:r>
              <a:rPr lang="ko-KR" altLang="en-US" b="1" dirty="0"/>
              <a:t>본사 관리자 공통과정을 연 </a:t>
            </a:r>
            <a:r>
              <a:rPr lang="en-US" altLang="ko-KR" b="1" dirty="0"/>
              <a:t>2</a:t>
            </a:r>
            <a:r>
              <a:rPr lang="ko-KR" altLang="en-US" b="1" dirty="0"/>
              <a:t>회</a:t>
            </a:r>
            <a:r>
              <a:rPr lang="ko-KR" altLang="en-US" dirty="0"/>
              <a:t> 이수하고</a:t>
            </a:r>
            <a:r>
              <a:rPr lang="en-US" altLang="ko-KR" dirty="0"/>
              <a:t>, </a:t>
            </a:r>
            <a:r>
              <a:rPr lang="ko-KR" altLang="en-US" dirty="0"/>
              <a:t>직책에 맞는 과정을 따로 받습니다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QA</a:t>
            </a:r>
            <a:r>
              <a:rPr lang="ko-KR" altLang="en-US" dirty="0"/>
              <a:t>와 강사는 평가 기준을 서로 맞추는 귀맞춤과 코칭 기법을</a:t>
            </a:r>
            <a:r>
              <a:rPr lang="en-US" altLang="ko-KR" dirty="0"/>
              <a:t>, </a:t>
            </a:r>
            <a:r>
              <a:rPr lang="ko-KR" altLang="en-US" dirty="0"/>
              <a:t>파트장은 통계 분석과 조직관리를</a:t>
            </a:r>
            <a:r>
              <a:rPr lang="en-US" altLang="ko-KR" dirty="0"/>
              <a:t>, </a:t>
            </a:r>
            <a:r>
              <a:rPr lang="ko-KR" altLang="en-US" dirty="0"/>
              <a:t>매니저 이상은 실적 분석과 운영 전략을 배웁니다</a:t>
            </a:r>
            <a:r>
              <a:rPr lang="en-US" altLang="ko-KR" dirty="0"/>
              <a:t>.</a:t>
            </a:r>
          </a:p>
          <a:p>
            <a:pPr rtl="0"/>
            <a:r>
              <a:rPr lang="ko-KR" altLang="en-US" dirty="0"/>
              <a:t>교육은 듣는 것으로 끝나지 않게</a:t>
            </a:r>
            <a:r>
              <a:rPr lang="en-US" altLang="ko-KR" dirty="0"/>
              <a:t>, </a:t>
            </a:r>
            <a:r>
              <a:rPr lang="ko-KR" altLang="en-US" dirty="0"/>
              <a:t>관리자별 </a:t>
            </a:r>
            <a:r>
              <a:rPr lang="ko-KR" altLang="en-US" b="1" dirty="0"/>
              <a:t>필수 이수 시간과 교육 이력을 시스템으로 관리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그리고 매월 운영리뷰에서 관리자별 개선 과제를 함께 점검하며</a:t>
            </a:r>
            <a:r>
              <a:rPr lang="en-US" altLang="ko-KR" dirty="0"/>
              <a:t>, </a:t>
            </a:r>
            <a:r>
              <a:rPr lang="ko-KR" altLang="en-US" dirty="0"/>
              <a:t>배운 것을 바로 현장에 적용하고 있습니다</a:t>
            </a:r>
            <a:r>
              <a:rPr lang="en-US" altLang="ko-K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0"/>
            <a:r>
              <a:rPr lang="ko-KR" altLang="en-US" dirty="0"/>
              <a:t>본사 교육과 함께</a:t>
            </a:r>
            <a:r>
              <a:rPr lang="en-US" altLang="ko-KR" dirty="0"/>
              <a:t>, </a:t>
            </a:r>
            <a:r>
              <a:rPr lang="ko-KR" altLang="en-US" dirty="0"/>
              <a:t>현장에서는 </a:t>
            </a:r>
            <a:r>
              <a:rPr lang="ko-KR" altLang="en-US" b="1" dirty="0"/>
              <a:t>다음 관리자를 단계별로 키우고</a:t>
            </a:r>
            <a:r>
              <a:rPr lang="ko-KR" altLang="en-US" dirty="0"/>
              <a:t> 있습니다</a:t>
            </a:r>
            <a:r>
              <a:rPr lang="en-US" altLang="ko-KR" dirty="0"/>
              <a:t>.</a:t>
            </a:r>
          </a:p>
          <a:p>
            <a:pPr rtl="0"/>
            <a:r>
              <a:rPr lang="ko-KR" altLang="en-US" dirty="0"/>
              <a:t>실적과 근태</a:t>
            </a:r>
            <a:r>
              <a:rPr lang="en-US" altLang="ko-KR" dirty="0"/>
              <a:t>, </a:t>
            </a:r>
            <a:r>
              <a:rPr lang="ko-KR" altLang="en-US" dirty="0"/>
              <a:t>리더십을 보고 후보를 고르면</a:t>
            </a:r>
            <a:r>
              <a:rPr lang="en-US" altLang="ko-KR" dirty="0"/>
              <a:t>, </a:t>
            </a:r>
            <a:r>
              <a:rPr lang="ko-KR" altLang="en-US" dirty="0"/>
              <a:t>먼저 선임 상담사나 성수기 리더 역할을 맡깁니다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 err="1"/>
              <a:t>그다음</a:t>
            </a:r>
            <a:r>
              <a:rPr lang="ko-KR" altLang="en-US" dirty="0"/>
              <a:t> 파트장 업무를 일부 대신하고 신입 직원을 </a:t>
            </a:r>
            <a:r>
              <a:rPr lang="ko-KR" altLang="en-US" dirty="0" err="1"/>
              <a:t>코칭하면서</a:t>
            </a:r>
            <a:r>
              <a:rPr lang="ko-KR" altLang="en-US" dirty="0"/>
              <a:t> 관리 업무를 직접 해 보고</a:t>
            </a:r>
            <a:r>
              <a:rPr lang="en-US" altLang="ko-KR" dirty="0"/>
              <a:t>, </a:t>
            </a:r>
            <a:r>
              <a:rPr lang="ko-KR" altLang="en-US" dirty="0"/>
              <a:t>본사 관리자 과정을 거쳐 공석이 생기면 내부에서 선임합니다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이 과정에서 현직 파트장과 </a:t>
            </a:r>
            <a:r>
              <a:rPr lang="en-US" altLang="ko-KR" dirty="0"/>
              <a:t>QA</a:t>
            </a:r>
            <a:r>
              <a:rPr lang="ko-KR" altLang="en-US" dirty="0"/>
              <a:t>가 </a:t>
            </a:r>
            <a:r>
              <a:rPr lang="en-US" altLang="ko-KR" b="1" dirty="0"/>
              <a:t>1</a:t>
            </a:r>
            <a:r>
              <a:rPr lang="ko-KR" altLang="en-US" b="1" dirty="0"/>
              <a:t>대</a:t>
            </a:r>
            <a:r>
              <a:rPr lang="en-US" altLang="ko-KR" b="1" dirty="0"/>
              <a:t>1 </a:t>
            </a:r>
            <a:r>
              <a:rPr lang="ko-KR" altLang="en-US" b="1" dirty="0"/>
              <a:t>멘토</a:t>
            </a:r>
            <a:r>
              <a:rPr lang="ko-KR" altLang="en-US" dirty="0"/>
              <a:t>로 붙고</a:t>
            </a:r>
            <a:r>
              <a:rPr lang="en-US" altLang="ko-KR" dirty="0"/>
              <a:t>, </a:t>
            </a:r>
            <a:r>
              <a:rPr lang="ko-KR" altLang="en-US" dirty="0"/>
              <a:t>매월 육성 면담으로 강점과 보완할 점을 함께 정리합니다</a:t>
            </a:r>
            <a:r>
              <a:rPr lang="en-US" altLang="ko-KR" dirty="0"/>
              <a:t>.</a:t>
            </a:r>
          </a:p>
          <a:p>
            <a:pPr rtl="0"/>
            <a:r>
              <a:rPr lang="ko-KR" altLang="en-US" dirty="0"/>
              <a:t>실제로 </a:t>
            </a:r>
            <a:r>
              <a:rPr lang="en-US" altLang="ko-KR" dirty="0"/>
              <a:t>2025</a:t>
            </a:r>
            <a:r>
              <a:rPr lang="ko-KR" altLang="en-US" dirty="0"/>
              <a:t>년 성수기에 </a:t>
            </a:r>
            <a:r>
              <a:rPr lang="ko-KR" altLang="en-US" dirty="0" err="1"/>
              <a:t>임시파트장을</a:t>
            </a:r>
            <a:r>
              <a:rPr lang="ko-KR" altLang="en-US" dirty="0"/>
              <a:t> 맡았던 직원은 지금 주</a:t>
            </a:r>
            <a:r>
              <a:rPr lang="en-US" altLang="ko-KR" dirty="0"/>
              <a:t>4</a:t>
            </a:r>
            <a:r>
              <a:rPr lang="ko-KR" altLang="en-US" dirty="0"/>
              <a:t>일 운영에서 선임 역할을 하고 있고</a:t>
            </a:r>
            <a:r>
              <a:rPr lang="en-US" altLang="ko-KR" dirty="0"/>
              <a:t>, 2026</a:t>
            </a:r>
            <a:r>
              <a:rPr lang="ko-KR" altLang="en-US" dirty="0"/>
              <a:t>년 성수기 임시</a:t>
            </a:r>
            <a:r>
              <a:rPr lang="en-US" altLang="ko-KR" dirty="0"/>
              <a:t>QA</a:t>
            </a:r>
            <a:r>
              <a:rPr lang="ko-KR" altLang="en-US" dirty="0"/>
              <a:t>를 맡았던 직원도 같은 길을 걷고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이렇게 준비하고 있는 예비관리자가 </a:t>
            </a:r>
            <a:r>
              <a:rPr lang="ko-KR" altLang="en-US" b="1" dirty="0"/>
              <a:t>다섯 명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pPr rtl="0"/>
            <a:r>
              <a:rPr lang="ko-KR" altLang="en-US" dirty="0"/>
              <a:t>지금까지 관리자 공석 세 번을 모두 내부에서 채울 수 있었던 것도 이 방식 덕분이었습니다</a:t>
            </a:r>
            <a:r>
              <a:rPr lang="en-US" altLang="ko-KR" dirty="0"/>
              <a:t>. </a:t>
            </a:r>
            <a:r>
              <a:rPr lang="ko-KR" altLang="en-US" dirty="0"/>
              <a:t>앞으로도 관리자는 안에서 키우겠습니다</a:t>
            </a:r>
            <a:r>
              <a:rPr lang="en-US" altLang="ko-K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ko-KR" altLang="en-US" dirty="0"/>
              <a:t>다음은 시스템과 정보보안입니다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고객센터에서 다루는 개인정보는 무엇보다 중요한 자산이라고 생각합니다</a:t>
            </a:r>
            <a:r>
              <a:rPr lang="en-US" altLang="ko-KR" dirty="0"/>
              <a:t>. </a:t>
            </a:r>
            <a:r>
              <a:rPr lang="ko-KR" altLang="en-US" dirty="0"/>
              <a:t>그래서 정보보안 준수와 상담사 휴먼 에러 방지를 위해 매월 정보보안 교육과 점검을 시행하고 있고</a:t>
            </a:r>
            <a:r>
              <a:rPr lang="en-US" altLang="ko-KR" dirty="0"/>
              <a:t>, </a:t>
            </a:r>
            <a:r>
              <a:rPr lang="ko-KR" altLang="en-US" dirty="0"/>
              <a:t>상담 전 본인 확인 절차를 철저히 지키도록 관리하고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장비 장애가 발생하면 비상 보고 체계에 따라 즉시 보고하고</a:t>
            </a:r>
            <a:r>
              <a:rPr lang="en-US" altLang="ko-KR" dirty="0"/>
              <a:t>, </a:t>
            </a:r>
            <a:r>
              <a:rPr lang="ko-KR" altLang="en-US" dirty="0"/>
              <a:t>핵심 장비는 전문가와 관리자가 곧바로 투입됩니다</a:t>
            </a:r>
            <a:r>
              <a:rPr lang="en-US" altLang="ko-KR" dirty="0"/>
              <a:t>. </a:t>
            </a:r>
            <a:r>
              <a:rPr lang="ko-KR" altLang="en-US" dirty="0"/>
              <a:t>또한 </a:t>
            </a:r>
            <a:r>
              <a:rPr lang="en-US" altLang="ko-KR" dirty="0"/>
              <a:t>ASP </a:t>
            </a:r>
            <a:r>
              <a:rPr lang="ko-KR" altLang="en-US" dirty="0"/>
              <a:t>운영 </a:t>
            </a:r>
            <a:r>
              <a:rPr lang="en-US" altLang="ko-KR" dirty="0"/>
              <a:t>15</a:t>
            </a:r>
            <a:r>
              <a:rPr lang="ko-KR" altLang="en-US" dirty="0"/>
              <a:t>년 경력의 전담 담당자를 두어</a:t>
            </a:r>
            <a:r>
              <a:rPr lang="en-US" altLang="ko-KR" dirty="0"/>
              <a:t>, </a:t>
            </a:r>
            <a:r>
              <a:rPr lang="ko-KR" altLang="en-US" dirty="0"/>
              <a:t>이슈가 생기면 빠르게 현장에 투입해 관리하고 있습니다</a:t>
            </a:r>
            <a:r>
              <a:rPr lang="en-US" altLang="ko-K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7767743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altLang="en-US" dirty="0"/>
              <a:t>이러한 관리는 체계적인 보안관리 프로세스 위에서 이루어집니다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사전 서약부터 계정 점검</a:t>
            </a:r>
            <a:r>
              <a:rPr lang="en-US" altLang="ko-KR" dirty="0"/>
              <a:t>, </a:t>
            </a:r>
            <a:r>
              <a:rPr lang="ko-KR" altLang="en-US" dirty="0"/>
              <a:t>보안 교육</a:t>
            </a:r>
            <a:r>
              <a:rPr lang="en-US" altLang="ko-KR" dirty="0"/>
              <a:t>, </a:t>
            </a:r>
            <a:r>
              <a:rPr lang="ko-KR" altLang="en-US" dirty="0"/>
              <a:t>센터와 본사의 보안 점검</a:t>
            </a:r>
            <a:r>
              <a:rPr lang="en-US" altLang="ko-KR" dirty="0"/>
              <a:t>, </a:t>
            </a:r>
            <a:r>
              <a:rPr lang="ko-KR" altLang="en-US" dirty="0"/>
              <a:t>사고 사례 분석까지 단계별로 관리하고 있으며</a:t>
            </a:r>
            <a:endParaRPr lang="en-US" altLang="ko-KR" dirty="0"/>
          </a:p>
          <a:p>
            <a:r>
              <a:rPr lang="en-US" altLang="ko-KR" dirty="0"/>
              <a:t>LG</a:t>
            </a:r>
            <a:r>
              <a:rPr lang="ko-KR" altLang="en-US" dirty="0"/>
              <a:t>전자의 보안 정책에 더해 </a:t>
            </a:r>
            <a:r>
              <a:rPr lang="en-US" altLang="ko-KR" dirty="0"/>
              <a:t>KT IS </a:t>
            </a:r>
            <a:r>
              <a:rPr lang="ko-KR" altLang="en-US" dirty="0"/>
              <a:t>자체적으로 매월 정보보안 체크리스트와 월별</a:t>
            </a:r>
            <a:r>
              <a:rPr lang="en-US" altLang="ko-KR" dirty="0"/>
              <a:t>·</a:t>
            </a:r>
            <a:r>
              <a:rPr lang="ko-KR" altLang="en-US" dirty="0"/>
              <a:t>분기별 점검을 운영하고 있습니다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저희 운영 과정에서 발생한 문제는 </a:t>
            </a:r>
            <a:r>
              <a:rPr lang="en-US" altLang="ko-KR" dirty="0"/>
              <a:t>100% </a:t>
            </a:r>
            <a:r>
              <a:rPr lang="ko-KR" altLang="en-US" dirty="0"/>
              <a:t>책임지고 운영하겠습니다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이 모든 과정은 </a:t>
            </a:r>
            <a:r>
              <a:rPr lang="en-US" altLang="ko-KR" dirty="0"/>
              <a:t>ISMS-P </a:t>
            </a:r>
            <a:r>
              <a:rPr lang="ko-KR" altLang="en-US" dirty="0"/>
              <a:t>심사위원 자격을 보유한 정보보안 관리 책임자 아래에서 체계적으로 관리되며</a:t>
            </a:r>
            <a:r>
              <a:rPr lang="en-US" altLang="ko-KR" dirty="0"/>
              <a:t>, </a:t>
            </a:r>
            <a:r>
              <a:rPr lang="ko-KR" altLang="en-US" dirty="0"/>
              <a:t>저희가 운영하는 콜센터 역시 </a:t>
            </a:r>
            <a:r>
              <a:rPr lang="en-US" altLang="ko-KR" dirty="0"/>
              <a:t>ISMS-P </a:t>
            </a:r>
            <a:r>
              <a:rPr lang="ko-KR" altLang="en-US" dirty="0"/>
              <a:t>인증을 획득했습니다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이어서 </a:t>
            </a:r>
            <a:r>
              <a:rPr lang="ko-KR" altLang="en-US" dirty="0" err="1"/>
              <a:t>안전보건입니다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KT IS</a:t>
            </a:r>
            <a:r>
              <a:rPr lang="ko-KR" altLang="en-US" dirty="0"/>
              <a:t>는 산업안전보건 관리체계를 이미 갖추고 운영하고 있습니다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20</a:t>
            </a:r>
            <a:r>
              <a:rPr lang="ko-KR" altLang="en-US" dirty="0"/>
              <a:t>년 경력의 전사 안전 총괄이 규정과 교육</a:t>
            </a:r>
            <a:r>
              <a:rPr lang="en-US" altLang="ko-KR" dirty="0"/>
              <a:t>, </a:t>
            </a:r>
            <a:r>
              <a:rPr lang="ko-KR" altLang="en-US" dirty="0"/>
              <a:t>위험성 평가</a:t>
            </a:r>
            <a:r>
              <a:rPr lang="en-US" altLang="ko-KR" dirty="0"/>
              <a:t>, </a:t>
            </a:r>
            <a:r>
              <a:rPr lang="ko-KR" altLang="en-US" dirty="0"/>
              <a:t>순회 점검을 직접 맡아 관리하고 있으며</a:t>
            </a:r>
            <a:endParaRPr lang="en-US" altLang="ko-KR" dirty="0"/>
          </a:p>
          <a:p>
            <a:r>
              <a:rPr lang="ko-KR" altLang="en-US" dirty="0"/>
              <a:t>산업안전보건법에 따라 </a:t>
            </a:r>
            <a:r>
              <a:rPr lang="ko-KR" altLang="en-US" dirty="0" err="1"/>
              <a:t>고객응대근로자를</a:t>
            </a:r>
            <a:r>
              <a:rPr lang="ko-KR" altLang="en-US" dirty="0"/>
              <a:t> 보호하는 체계를 운영하고 있습니다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9549098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altLang="en-US" dirty="0"/>
              <a:t>또한 민간위탁 노동자 근로조건 보호 가이드라인은 본사 변호사와 노무사로 구성된 </a:t>
            </a:r>
            <a:r>
              <a:rPr lang="en-US" altLang="ko-KR" dirty="0"/>
              <a:t>TF</a:t>
            </a:r>
            <a:r>
              <a:rPr lang="ko-KR" altLang="en-US" dirty="0"/>
              <a:t>가 정기적으로 점검합니다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노무 문제가 생기면 </a:t>
            </a:r>
            <a:r>
              <a:rPr lang="ko-KR" altLang="en-US" dirty="0" err="1"/>
              <a:t>하이텔레서비스와</a:t>
            </a:r>
            <a:r>
              <a:rPr lang="ko-KR" altLang="en-US" dirty="0"/>
              <a:t> 본사에 즉시 보고하고</a:t>
            </a:r>
            <a:r>
              <a:rPr lang="en-US" altLang="ko-KR" dirty="0"/>
              <a:t>, </a:t>
            </a:r>
            <a:r>
              <a:rPr lang="ko-KR" altLang="en-US" dirty="0"/>
              <a:t>노무관리위원회가 현장에서 바로 조치합니다</a:t>
            </a:r>
            <a:r>
              <a:rPr lang="en-US" altLang="ko-KR" dirty="0"/>
              <a:t>. </a:t>
            </a:r>
            <a:r>
              <a:rPr lang="ko-KR" altLang="en-US" dirty="0" err="1"/>
              <a:t>노란봉투법과</a:t>
            </a:r>
            <a:r>
              <a:rPr lang="ko-KR" altLang="en-US" dirty="0"/>
              <a:t> 관련해서도 사내 노무 대응 </a:t>
            </a:r>
            <a:r>
              <a:rPr lang="en-US" altLang="ko-KR" dirty="0"/>
              <a:t>TF </a:t>
            </a:r>
            <a:r>
              <a:rPr lang="ko-KR" altLang="en-US" dirty="0"/>
              <a:t>구성 준비를 이미 마쳤습니다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altLang="en-US" dirty="0"/>
              <a:t>저희는 노무 문제의 근본 원인이 소통의 부재에 있다고 생각합니다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그래서 노무 관리는 문제가 커지기 전에 막는 데 집중합니다</a:t>
            </a:r>
            <a:r>
              <a:rPr lang="en-US" altLang="ko-KR" dirty="0"/>
              <a:t>. </a:t>
            </a:r>
            <a:r>
              <a:rPr lang="ko-KR" altLang="en-US" dirty="0"/>
              <a:t>온라인 게시판과 센터 건의함으로 직원 의견을 상시 듣고</a:t>
            </a:r>
            <a:r>
              <a:rPr lang="en-US" altLang="ko-KR" dirty="0"/>
              <a:t>, </a:t>
            </a:r>
            <a:r>
              <a:rPr lang="ko-KR" altLang="en-US" dirty="0"/>
              <a:t>만족도 조사 결과를 바탕으로 개선 활동을 이어 가고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또한 직장 내 괴롭힘</a:t>
            </a:r>
            <a:r>
              <a:rPr lang="en-US" altLang="ko-KR" dirty="0"/>
              <a:t>, </a:t>
            </a:r>
            <a:r>
              <a:rPr lang="ko-KR" altLang="en-US" dirty="0"/>
              <a:t>각종 노무 이슈</a:t>
            </a:r>
            <a:r>
              <a:rPr lang="en-US" altLang="ko-KR" dirty="0"/>
              <a:t>, </a:t>
            </a:r>
            <a:r>
              <a:rPr lang="ko-KR" altLang="en-US" dirty="0"/>
              <a:t>집단행동 세 가지 상황은 사전 방지부터 징후 대응</a:t>
            </a:r>
            <a:r>
              <a:rPr lang="en-US" altLang="ko-KR" dirty="0"/>
              <a:t>, </a:t>
            </a:r>
            <a:r>
              <a:rPr lang="ko-KR" altLang="en-US" dirty="0"/>
              <a:t>사후 대응까지 단계별 대응 방법을 정해 두었습니다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altLang="en-US" dirty="0"/>
              <a:t>이렇게 법을 지키고 현장의 목소리를 먼저 들어온 결과</a:t>
            </a:r>
            <a:r>
              <a:rPr lang="en-US" altLang="ko-KR" dirty="0"/>
              <a:t>, </a:t>
            </a:r>
            <a:r>
              <a:rPr lang="ko-KR" altLang="en-US" dirty="0" err="1"/>
              <a:t>한국산업안전보건공단</a:t>
            </a:r>
            <a:r>
              <a:rPr lang="ko-KR" altLang="en-US" dirty="0"/>
              <a:t> 감정노동자 실태점검에서 최고등급인 </a:t>
            </a:r>
            <a:r>
              <a:rPr lang="en-US" altLang="ko-KR" dirty="0"/>
              <a:t>'</a:t>
            </a:r>
            <a:r>
              <a:rPr lang="ko-KR" altLang="en-US" dirty="0"/>
              <a:t>우수</a:t>
            </a:r>
            <a:r>
              <a:rPr lang="en-US" altLang="ko-KR" dirty="0"/>
              <a:t>'</a:t>
            </a:r>
            <a:r>
              <a:rPr lang="ko-KR" altLang="en-US" dirty="0"/>
              <a:t>를 받았습니다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상담사가 안심하고 일하는 환경이 결국 상담 품질로 이어진다고 생각합니다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이어서 긴급상황 대응 전략입니다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[발표 약 35초]</a:t>
            </a:r>
          </a:p>
          <a:p>
            <a:r>
              <a:t>긴급 상황에는 콜 이슈와 노무 이슈 모두 같은 보고 체계로 대응합니다.</a:t>
            </a:r>
          </a:p>
          <a:p>
            <a:r>
              <a:t>10분 안에 먼저 알리고, 30분 안에 대응을 시작하며, 재발 방지까지 마무리하겠습니다.</a:t>
            </a:r>
          </a:p>
          <a:p>
            <a:r>
              <a:t>노무 이슈는 관계 법령을 지키며 대화를 우선하고, 업무 연속성은 고객사와 함께 협의하겠습니다.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[발표 약 5초]</a:t>
            </a:r>
          </a:p>
          <a:p>
            <a:r>
              <a:t>이어서 KT IS만의 차별화 제안입니다.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</a:t>
            </a:r>
            <a:r>
              <a:rPr dirty="0" err="1"/>
              <a:t>발표</a:t>
            </a:r>
            <a:r>
              <a:rPr dirty="0"/>
              <a:t> 약 40초]</a:t>
            </a:r>
          </a:p>
          <a:p>
            <a:r>
              <a:rPr dirty="0"/>
              <a:t>한 </a:t>
            </a:r>
            <a:r>
              <a:rPr dirty="0" err="1"/>
              <a:t>장으로</a:t>
            </a:r>
            <a:r>
              <a:rPr dirty="0"/>
              <a:t> </a:t>
            </a:r>
            <a:r>
              <a:rPr dirty="0" err="1"/>
              <a:t>정리하면</a:t>
            </a:r>
            <a:r>
              <a:rPr dirty="0"/>
              <a:t> </a:t>
            </a:r>
            <a:r>
              <a:rPr dirty="0" err="1"/>
              <a:t>이렇습니다</a:t>
            </a:r>
            <a:r>
              <a:rPr dirty="0"/>
              <a:t>.</a:t>
            </a:r>
          </a:p>
          <a:p>
            <a:pPr rtl="0"/>
            <a:r>
              <a:rPr lang="ko-KR" altLang="en-US" dirty="0"/>
              <a:t>저희는 </a:t>
            </a:r>
            <a:r>
              <a:rPr lang="ko-KR" altLang="en-US" b="1" dirty="0"/>
              <a:t>시행착오를 개선으로 바꾸며 해마다 성장해 왔습니다</a:t>
            </a:r>
            <a:r>
              <a:rPr lang="en-US" altLang="ko-KR" b="1" dirty="0"/>
              <a:t>.</a:t>
            </a:r>
            <a:br>
              <a:rPr lang="ko-KR" altLang="en-US" dirty="0"/>
            </a:br>
            <a:r>
              <a:rPr lang="en-US" altLang="ko-KR" dirty="0"/>
              <a:t>2025</a:t>
            </a:r>
            <a:r>
              <a:rPr lang="ko-KR" altLang="en-US" dirty="0"/>
              <a:t>년의 아쉬움을 그냥 넘기지 않고 채용과 교육</a:t>
            </a:r>
            <a:r>
              <a:rPr lang="en-US" altLang="ko-KR" dirty="0"/>
              <a:t>, </a:t>
            </a:r>
            <a:r>
              <a:rPr lang="ko-KR" altLang="en-US" dirty="0"/>
              <a:t>관리 방식을 하나씩 바꿨고</a:t>
            </a:r>
            <a:r>
              <a:rPr lang="en-US" altLang="ko-KR" dirty="0"/>
              <a:t>, </a:t>
            </a:r>
            <a:r>
              <a:rPr lang="ko-KR" altLang="en-US" dirty="0"/>
              <a:t>상시 </a:t>
            </a:r>
            <a:r>
              <a:rPr lang="en-US" altLang="ko-KR" dirty="0"/>
              <a:t>T-NPS</a:t>
            </a:r>
            <a:r>
              <a:rPr lang="ko-KR" altLang="en-US" dirty="0"/>
              <a:t>는 </a:t>
            </a:r>
            <a:r>
              <a:rPr lang="en-US" altLang="ko-KR" dirty="0"/>
              <a:t>2024</a:t>
            </a:r>
            <a:r>
              <a:rPr lang="ko-KR" altLang="en-US" dirty="0"/>
              <a:t>년 </a:t>
            </a:r>
            <a:r>
              <a:rPr lang="en-US" altLang="ko-KR" dirty="0"/>
              <a:t>88.1</a:t>
            </a:r>
            <a:r>
              <a:rPr lang="ko-KR" altLang="en-US" dirty="0"/>
              <a:t>에서 </a:t>
            </a:r>
            <a:r>
              <a:rPr lang="en-US" altLang="ko-KR" dirty="0"/>
              <a:t>2026</a:t>
            </a:r>
            <a:r>
              <a:rPr lang="ko-KR" altLang="en-US" dirty="0"/>
              <a:t>년 </a:t>
            </a:r>
            <a:r>
              <a:rPr lang="en-US" altLang="ko-KR" dirty="0"/>
              <a:t>92.9</a:t>
            </a:r>
            <a:r>
              <a:rPr lang="ko-KR" altLang="en-US" dirty="0"/>
              <a:t>까지 꾸준히 올랐습니다</a:t>
            </a:r>
            <a:r>
              <a:rPr lang="en-US" altLang="ko-KR" dirty="0"/>
              <a:t>.</a:t>
            </a:r>
          </a:p>
          <a:p>
            <a:pPr rtl="0"/>
            <a:r>
              <a:rPr lang="ko-KR" altLang="en-US" dirty="0"/>
              <a:t>그리고 </a:t>
            </a:r>
            <a:r>
              <a:rPr lang="ko-KR" altLang="en-US" b="1" dirty="0"/>
              <a:t>함께하는 사람들을 끝까지 지키려고 노력했습니다</a:t>
            </a:r>
            <a:r>
              <a:rPr lang="en-US" altLang="ko-KR" b="1" dirty="0"/>
              <a:t>.</a:t>
            </a:r>
            <a:br>
              <a:rPr lang="ko-KR" altLang="en-US" dirty="0"/>
            </a:br>
            <a:r>
              <a:rPr lang="ko-KR" altLang="en-US" dirty="0"/>
              <a:t>선발부터 정착까지 방식을 바꾼 뒤</a:t>
            </a:r>
            <a:r>
              <a:rPr lang="en-US" altLang="ko-KR" dirty="0"/>
              <a:t>, </a:t>
            </a:r>
            <a:r>
              <a:rPr lang="ko-KR" altLang="en-US" dirty="0"/>
              <a:t>성수기 한시 </a:t>
            </a:r>
            <a:r>
              <a:rPr lang="ko-KR" altLang="en-US" dirty="0" err="1"/>
              <a:t>퇴직률은</a:t>
            </a:r>
            <a:r>
              <a:rPr lang="ko-KR" altLang="en-US" dirty="0"/>
              <a:t> </a:t>
            </a:r>
            <a:r>
              <a:rPr lang="en-US" altLang="ko-KR" dirty="0"/>
              <a:t>22.0%</a:t>
            </a:r>
            <a:r>
              <a:rPr lang="ko-KR" altLang="en-US" dirty="0"/>
              <a:t>에서 </a:t>
            </a:r>
            <a:r>
              <a:rPr lang="en-US" altLang="ko-KR" dirty="0"/>
              <a:t>4.7%</a:t>
            </a:r>
            <a:r>
              <a:rPr lang="ko-KR" altLang="en-US" dirty="0"/>
              <a:t>로 낮아졌습니다</a:t>
            </a:r>
            <a:r>
              <a:rPr lang="en-US" altLang="ko-KR" dirty="0"/>
              <a:t>.</a:t>
            </a:r>
          </a:p>
          <a:p>
            <a:pPr rtl="0"/>
            <a:r>
              <a:rPr lang="ko-KR" altLang="en-US" b="1" dirty="0"/>
              <a:t>확대에 필요한 관리자도 이미 준비되어 있습니다</a:t>
            </a:r>
            <a:r>
              <a:rPr lang="en-US" altLang="ko-KR" b="1" dirty="0"/>
              <a:t>.</a:t>
            </a:r>
            <a:br>
              <a:rPr lang="ko-KR" altLang="en-US" dirty="0"/>
            </a:br>
            <a:r>
              <a:rPr lang="ko-KR" altLang="en-US" dirty="0"/>
              <a:t>지금 </a:t>
            </a:r>
            <a:r>
              <a:rPr lang="en-US" altLang="ko-KR" dirty="0"/>
              <a:t>LG </a:t>
            </a:r>
            <a:r>
              <a:rPr lang="ko-KR" altLang="en-US" dirty="0"/>
              <a:t>업무를 맡고 있는 관리자 다섯 명과</a:t>
            </a:r>
            <a:r>
              <a:rPr lang="en-US" altLang="ko-KR" dirty="0"/>
              <a:t>, </a:t>
            </a:r>
            <a:r>
              <a:rPr lang="ko-KR" altLang="en-US" dirty="0"/>
              <a:t>현장에서 키우고 있는 예비관리자 다섯 명이 주</a:t>
            </a:r>
            <a:r>
              <a:rPr lang="en-US" altLang="ko-KR" dirty="0"/>
              <a:t>5</a:t>
            </a:r>
            <a:r>
              <a:rPr lang="ko-KR" altLang="en-US" dirty="0"/>
              <a:t>일 운영 첫날부터 함께합니다</a:t>
            </a:r>
            <a:r>
              <a:rPr lang="en-US" altLang="ko-KR" dirty="0"/>
              <a:t>.</a:t>
            </a:r>
          </a:p>
          <a:p>
            <a:pPr rtl="0"/>
            <a:r>
              <a:rPr lang="ko-KR" altLang="en-US" dirty="0"/>
              <a:t>그리고 </a:t>
            </a:r>
            <a:r>
              <a:rPr lang="ko-KR" altLang="en-US" b="1" dirty="0"/>
              <a:t>운영 초기에는 더 많이 뽑고 더 오래 함께하도록 먼저 투자하겠습니다</a:t>
            </a:r>
            <a:r>
              <a:rPr lang="en-US" altLang="ko-KR" b="1" dirty="0"/>
              <a:t>.</a:t>
            </a:r>
            <a:br>
              <a:rPr lang="ko-KR" altLang="en-US" dirty="0"/>
            </a:br>
            <a:r>
              <a:rPr lang="ko-KR" altLang="en-US" dirty="0"/>
              <a:t>정원보다 </a:t>
            </a:r>
            <a:r>
              <a:rPr lang="en-US" altLang="ko-KR" dirty="0"/>
              <a:t>20~30% </a:t>
            </a:r>
            <a:r>
              <a:rPr lang="ko-KR" altLang="en-US" dirty="0"/>
              <a:t>많은 인력을 미리 확보하고</a:t>
            </a:r>
            <a:r>
              <a:rPr lang="en-US" altLang="ko-KR" dirty="0"/>
              <a:t>, </a:t>
            </a:r>
            <a:r>
              <a:rPr lang="ko-KR" altLang="en-US" dirty="0"/>
              <a:t>정착지원과 포상으로 초기 안정화를 앞당기겠습니다</a:t>
            </a:r>
            <a:r>
              <a:rPr lang="en-US" altLang="ko-K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0"/>
            <a:r>
              <a:rPr lang="en-US" altLang="ko-KR" dirty="0"/>
              <a:t>2024</a:t>
            </a:r>
            <a:r>
              <a:rPr lang="ko-KR" altLang="en-US" dirty="0"/>
              <a:t>년 런칭 이후 저희 센터는 처음부터 잘하지는 못했습니다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하지만 매번 부족했던 점을 찾아 고쳤고</a:t>
            </a:r>
            <a:r>
              <a:rPr lang="en-US" altLang="ko-KR" dirty="0"/>
              <a:t>, </a:t>
            </a:r>
            <a:r>
              <a:rPr lang="ko-KR" altLang="en-US" dirty="0"/>
              <a:t>그렇게 바꾼 것들이 다음 해의 결과가 되었습니다</a:t>
            </a:r>
            <a:r>
              <a:rPr lang="en-US" altLang="ko-KR" dirty="0"/>
              <a:t>.</a:t>
            </a:r>
          </a:p>
          <a:p>
            <a:pPr rtl="0"/>
            <a:r>
              <a:rPr lang="ko-KR" altLang="en-US" dirty="0"/>
              <a:t>이 그래프가 보여 주는 것은 한 번의 성과가 아니라</a:t>
            </a:r>
            <a:r>
              <a:rPr lang="en-US" altLang="ko-KR" dirty="0"/>
              <a:t>, </a:t>
            </a:r>
            <a:r>
              <a:rPr lang="ko-KR" altLang="en-US" b="1" dirty="0"/>
              <a:t>해마다 배우고 나아지는 조직</a:t>
            </a:r>
            <a:r>
              <a:rPr lang="ko-KR" altLang="en-US" dirty="0"/>
              <a:t>이라는 점입니다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2027</a:t>
            </a:r>
            <a:r>
              <a:rPr lang="ko-KR" altLang="en-US" dirty="0"/>
              <a:t>년에도 저희는 멈추지 않고</a:t>
            </a:r>
            <a:r>
              <a:rPr lang="en-US" altLang="ko-KR" dirty="0"/>
              <a:t>, </a:t>
            </a:r>
            <a:r>
              <a:rPr lang="ko-KR" altLang="en-US" dirty="0"/>
              <a:t>한 해 더 성장한 모습으로 </a:t>
            </a:r>
            <a:r>
              <a:rPr lang="en-US" altLang="ko-KR" dirty="0"/>
              <a:t>LG</a:t>
            </a:r>
            <a:r>
              <a:rPr lang="ko-KR" altLang="en-US" dirty="0"/>
              <a:t>전자 고객센터를 지키겠습니다</a:t>
            </a:r>
            <a:r>
              <a:rPr lang="en-US" altLang="ko-K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altLang="en-US" dirty="0"/>
              <a:t>마지막으로</a:t>
            </a:r>
            <a:r>
              <a:rPr lang="en-US" altLang="ko-KR" dirty="0"/>
              <a:t>, </a:t>
            </a:r>
            <a:r>
              <a:rPr lang="ko-KR" altLang="en-US" dirty="0"/>
              <a:t>운영과는 별도로 </a:t>
            </a:r>
            <a:r>
              <a:rPr lang="en-US" altLang="ko-KR" dirty="0"/>
              <a:t>KT IS</a:t>
            </a:r>
            <a:r>
              <a:rPr lang="ko-KR" altLang="en-US" dirty="0"/>
              <a:t>가 더 드릴 수 있는 지원 두 가지를 말씀드리겠습니다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첫 번째는 </a:t>
            </a:r>
            <a:r>
              <a:rPr lang="ko-KR" altLang="en-US" b="1" dirty="0"/>
              <a:t>본사 차원의 전문 품질 컨설팅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저희 센터 스스로를 더 냉정하게 들여다보기 위해</a:t>
            </a:r>
            <a:r>
              <a:rPr lang="en-US" altLang="ko-KR" dirty="0"/>
              <a:t>, </a:t>
            </a:r>
            <a:r>
              <a:rPr lang="ko-KR" altLang="en-US" dirty="0"/>
              <a:t>매년 한 번 </a:t>
            </a:r>
            <a:r>
              <a:rPr lang="en-US" altLang="ko-KR" dirty="0"/>
              <a:t>KT IS </a:t>
            </a:r>
            <a:r>
              <a:rPr lang="ko-KR" altLang="en-US" dirty="0"/>
              <a:t>본사의 전문 컨설팅 인력이 저희 센터의 상담 품질을 진단하겠습니다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오른쪽 리포트처럼 </a:t>
            </a:r>
            <a:r>
              <a:rPr lang="en-US" altLang="ko-KR" dirty="0"/>
              <a:t>KS-CQI </a:t>
            </a:r>
            <a:r>
              <a:rPr lang="ko-KR" altLang="en-US" dirty="0"/>
              <a:t>기준으로 신뢰성</a:t>
            </a:r>
            <a:r>
              <a:rPr lang="en-US" altLang="ko-KR" dirty="0"/>
              <a:t>, </a:t>
            </a:r>
            <a:r>
              <a:rPr lang="ko-KR" altLang="en-US" dirty="0"/>
              <a:t>친밀성</a:t>
            </a:r>
            <a:r>
              <a:rPr lang="en-US" altLang="ko-KR" dirty="0"/>
              <a:t>, </a:t>
            </a:r>
            <a:r>
              <a:rPr lang="ko-KR" altLang="en-US" dirty="0"/>
              <a:t>신속성</a:t>
            </a:r>
            <a:r>
              <a:rPr lang="en-US" altLang="ko-KR" dirty="0"/>
              <a:t>, </a:t>
            </a:r>
            <a:r>
              <a:rPr lang="ko-KR" altLang="en-US" dirty="0"/>
              <a:t>적극성을 나눠 보고</a:t>
            </a:r>
            <a:r>
              <a:rPr lang="en-US" altLang="ko-KR" dirty="0"/>
              <a:t>, </a:t>
            </a:r>
            <a:r>
              <a:rPr lang="ko-KR" altLang="en-US" dirty="0"/>
              <a:t>근속 기간별</a:t>
            </a:r>
            <a:r>
              <a:rPr lang="en-US" altLang="ko-KR" dirty="0"/>
              <a:t>, </a:t>
            </a:r>
            <a:r>
              <a:rPr lang="ko-KR" altLang="en-US" dirty="0"/>
              <a:t>세부 항목별로 저희의 강점과 약점을 찾아냅니다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그렇게 도출한 개선 과제는 표현 교육</a:t>
            </a:r>
            <a:r>
              <a:rPr lang="en-US" altLang="ko-KR" dirty="0"/>
              <a:t>, </a:t>
            </a:r>
            <a:r>
              <a:rPr lang="ko-KR" altLang="en-US" dirty="0"/>
              <a:t>상담 환경 정비처럼 바로 실행하고</a:t>
            </a:r>
            <a:r>
              <a:rPr lang="en-US" altLang="ko-KR" dirty="0"/>
              <a:t>, </a:t>
            </a:r>
            <a:r>
              <a:rPr lang="ko-KR" altLang="en-US" dirty="0"/>
              <a:t>다음 진단에서 얼마나 나아졌는지 다시 확인하겠습니다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이렇게 진단하고 고치는 과정을 해마다 반복하며</a:t>
            </a:r>
            <a:r>
              <a:rPr lang="en-US" altLang="ko-KR" dirty="0"/>
              <a:t>, </a:t>
            </a:r>
            <a:r>
              <a:rPr lang="ko-KR" altLang="en-US" dirty="0"/>
              <a:t>저희 센터의 품질을 한 단계씩 높여 가겠습니다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altLang="en-US" dirty="0"/>
              <a:t>두 번째는 AICC 컨설팅과 벤치마킹입니다. KT그룹은 AI 솔루션과 AI 전문 인력을 함께 갖추고 AICC를 직접 운영해 왔습니다. AI가 학습할 지식을 정리하고, STT와 상담 분석으로 품질을 관리하는 경험도 쌓아 왔습니다. 이 경험을 바탕으로, 하이텔레서비스가 상담 AI를 고도화할 때 AICC를 운영 중인 KT 센터를 직접 둘러볼 수 있는 벤치마킹 기회를 마련하겠습니다. 서로의 경험을 나누며 함께 성장하는 파트너가 되겠습니다.</a:t>
            </a:r>
            <a:br>
              <a:rPr lang="en-US" altLang="ko-KR" dirty="0"/>
            </a:br>
            <a:br>
              <a:rPr lang="en-US" altLang="ko-KR" dirty="0"/>
            </a:br>
            <a:br>
              <a:rPr lang="en-US" altLang="ko-KR" dirty="0"/>
            </a:b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[발표 약 30초]</a:t>
            </a:r>
          </a:p>
          <a:p>
            <a:r>
              <a:t>하이텔레서비스 대표님께서 '우리의 가장 큰 경쟁력은 사람'이라고 말씀하셨습니다.</a:t>
            </a:r>
          </a:p>
          <a:p>
            <a:r>
              <a:t>지난 3년 동안 저희도 현장에서 같은 것을 배웠습니다.</a:t>
            </a:r>
          </a:p>
          <a:p>
            <a:r>
              <a:t>앞으로도 사람을 지키고 키우는 운영으로, LG전자 고객과의 첫 만남을 함께 지키겠습니다.</a:t>
            </a:r>
          </a:p>
          <a:p>
            <a:r>
              <a:t>경청해 주셔서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15">
            <a:extLst>
              <a:ext uri="{FF2B5EF4-FFF2-40B4-BE49-F238E27FC236}">
                <a16:creationId xmlns:a16="http://schemas.microsoft.com/office/drawing/2014/main" id="{7DC709C5-D5FD-4723-9C34-9FF7337DFB5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/>
        </p:blipFill>
        <p:spPr>
          <a:xfrm>
            <a:off x="8312432" y="167579"/>
            <a:ext cx="1593568" cy="472083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18B789BF-0D5A-4510-B7BD-71BF806DB77F}"/>
              </a:ext>
            </a:extLst>
          </p:cNvPr>
          <p:cNvSpPr>
            <a:spLocks noGrp="1"/>
          </p:cNvSpPr>
          <p:nvPr userDrawn="1"/>
        </p:nvSpPr>
        <p:spPr>
          <a:xfrm>
            <a:off x="557212" y="1527921"/>
            <a:ext cx="4333875" cy="285750"/>
          </a:xfrm>
          <a:prstGeom prst="rect">
            <a:avLst/>
          </a:prstGeom>
          <a:noFill/>
          <a:ln w="0">
            <a:noFill/>
          </a:ln>
        </p:spPr>
        <p:txBody>
          <a:bodyPr lIns="74295" rIns="74295">
            <a:noAutofit/>
          </a:bodyPr>
          <a:lstStyle/>
          <a:p>
            <a:pPr algn="l">
              <a:buNone/>
              <a:defRPr sz="1000" b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defRPr>
            </a:pPr>
            <a:r>
              <a:rPr sz="1000" b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㈜하이텔레서비스 2027년 사업자 선정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2322840-B21B-4CA9-A7E4-A689229156E2}"/>
              </a:ext>
            </a:extLst>
          </p:cNvPr>
          <p:cNvSpPr>
            <a:spLocks noGrp="1"/>
          </p:cNvSpPr>
          <p:nvPr userDrawn="1"/>
        </p:nvSpPr>
        <p:spPr>
          <a:xfrm>
            <a:off x="557212" y="1890652"/>
            <a:ext cx="4953000" cy="1428750"/>
          </a:xfrm>
          <a:prstGeom prst="rect">
            <a:avLst/>
          </a:prstGeom>
          <a:noFill/>
          <a:ln w="0">
            <a:noFill/>
          </a:ln>
        </p:spPr>
        <p:txBody>
          <a:bodyPr lIns="74295" rIns="74295">
            <a:noAutofit/>
          </a:bodyPr>
          <a:lstStyle/>
          <a:p>
            <a:pPr algn="l">
              <a:buNone/>
              <a:defRPr sz="2900" b="0">
                <a:solidFill>
                  <a:srgbClr val="0F131F"/>
                </a:solidFill>
                <a:latin typeface="페이퍼로지 8 ExtraBold"/>
                <a:ea typeface="페이퍼로지 8 ExtraBold"/>
                <a:cs typeface="페이퍼로지 8 ExtraBold"/>
              </a:defRPr>
            </a:pPr>
            <a:r>
              <a:rPr sz="2900" b="0">
                <a:solidFill>
                  <a:srgbClr val="0F131F"/>
                </a:solidFill>
                <a:latin typeface="페이퍼로지 8 ExtraBold"/>
                <a:ea typeface="페이퍼로지 8 ExtraBold"/>
                <a:cs typeface="페이퍼로지 8 ExtraBold"/>
              </a:rPr>
              <a:t>LG전자 고객센터</a:t>
            </a:r>
          </a:p>
          <a:p>
            <a:pPr algn="l">
              <a:buNone/>
              <a:defRPr sz="2900" b="0">
                <a:solidFill>
                  <a:srgbClr val="0F131F"/>
                </a:solidFill>
                <a:latin typeface="페이퍼로지 8 ExtraBold"/>
                <a:ea typeface="페이퍼로지 8 ExtraBold"/>
                <a:cs typeface="페이퍼로지 8 ExtraBold"/>
              </a:defRPr>
            </a:pPr>
            <a:r>
              <a:rPr sz="2900" b="0">
                <a:solidFill>
                  <a:srgbClr val="0F131F"/>
                </a:solidFill>
                <a:latin typeface="페이퍼로지 8 ExtraBold"/>
                <a:ea typeface="페이퍼로지 8 ExtraBold"/>
                <a:cs typeface="페이퍼로지 8 ExtraBold"/>
              </a:rPr>
              <a:t>위탁운영 제안</a:t>
            </a: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CA645C63-1EEE-4A2F-841F-2FA7A7480271}"/>
              </a:ext>
            </a:extLst>
          </p:cNvPr>
          <p:cNvSpPr/>
          <p:nvPr userDrawn="1"/>
        </p:nvSpPr>
        <p:spPr>
          <a:xfrm>
            <a:off x="660400" y="3156594"/>
            <a:ext cx="4782741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72"/>
              </a:lnSpc>
              <a:buNone/>
            </a:pPr>
            <a:r>
              <a:rPr lang="en-US" sz="14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신뢰와 감동을 주는 고객 커뮤니케이션의 중심</a:t>
            </a: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1E943B7B-8312-4BCC-AD0A-18DA02949440}"/>
              </a:ext>
            </a:extLst>
          </p:cNvPr>
          <p:cNvSpPr/>
          <p:nvPr userDrawn="1"/>
        </p:nvSpPr>
        <p:spPr>
          <a:xfrm>
            <a:off x="660400" y="4852569"/>
            <a:ext cx="42926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ko-KR" altLang="en-US" sz="1100">
                <a:latin typeface="페이퍼로지 5 Medium"/>
                <a:ea typeface="페이퍼로지 5 Medium"/>
                <a:cs typeface="페이퍼로지 5 Medium"/>
              </a:rPr>
              <a:t>2026. 10.   제안사 ㈜케이티아이에스</a:t>
            </a:r>
            <a:endParaRPr lang="ko-KR" altLang="en-US" sz="1100" dirty="0"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8" name="Shape 15">
            <a:extLst>
              <a:ext uri="{FF2B5EF4-FFF2-40B4-BE49-F238E27FC236}">
                <a16:creationId xmlns:a16="http://schemas.microsoft.com/office/drawing/2014/main" id="{7FFC2042-FAD6-4663-BD5D-C448699676AF}"/>
              </a:ext>
            </a:extLst>
          </p:cNvPr>
          <p:cNvSpPr/>
          <p:nvPr userDrawn="1"/>
        </p:nvSpPr>
        <p:spPr>
          <a:xfrm>
            <a:off x="660400" y="5277325"/>
            <a:ext cx="3889212" cy="0"/>
          </a:xfrm>
          <a:prstGeom prst="line">
            <a:avLst/>
          </a:prstGeom>
          <a:noFill/>
          <a:ln w="6350">
            <a:solidFill>
              <a:srgbClr val="3D3F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15">
            <a:extLst>
              <a:ext uri="{FF2B5EF4-FFF2-40B4-BE49-F238E27FC236}">
                <a16:creationId xmlns:a16="http://schemas.microsoft.com/office/drawing/2014/main" id="{D866B6BB-572C-4CA1-90A6-0855CCEFEDFE}"/>
              </a:ext>
            </a:extLst>
          </p:cNvPr>
          <p:cNvSpPr/>
          <p:nvPr userDrawn="1"/>
        </p:nvSpPr>
        <p:spPr>
          <a:xfrm>
            <a:off x="660400" y="4621082"/>
            <a:ext cx="3889212" cy="0"/>
          </a:xfrm>
          <a:prstGeom prst="line">
            <a:avLst/>
          </a:prstGeom>
          <a:noFill/>
          <a:ln w="6350">
            <a:solidFill>
              <a:srgbClr val="3D3F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Picture 29" descr="image.png">
            <a:extLst>
              <a:ext uri="{FF2B5EF4-FFF2-40B4-BE49-F238E27FC236}">
                <a16:creationId xmlns:a16="http://schemas.microsoft.com/office/drawing/2014/main" id="{6EA8D2EC-3BFE-4C81-8AAF-7328A397A73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776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0" descr="분홍과 보라빛 물결 선 위에 연결된 노드가 놓인 고객 커뮤니케이션 추상 이미지">
            <a:extLst>
              <a:ext uri="{FF2B5EF4-FFF2-40B4-BE49-F238E27FC236}">
                <a16:creationId xmlns:a16="http://schemas.microsoft.com/office/drawing/2014/main" id="{0D058CE4-A9DB-4610-9C0D-072948EFED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0000" b="10000"/>
          <a:stretch/>
        </p:blipFill>
        <p:spPr>
          <a:xfrm>
            <a:off x="2921000" y="9427"/>
            <a:ext cx="6985000" cy="6858000"/>
          </a:xfrm>
          <a:prstGeom prst="rect">
            <a:avLst/>
          </a:prstGeom>
        </p:spPr>
      </p:pic>
      <p:sp>
        <p:nvSpPr>
          <p:cNvPr id="13" name="Shape 0">
            <a:extLst>
              <a:ext uri="{FF2B5EF4-FFF2-40B4-BE49-F238E27FC236}">
                <a16:creationId xmlns:a16="http://schemas.microsoft.com/office/drawing/2014/main" id="{8B52BA13-CEE0-47B2-A412-9E0786AC6C9C}"/>
              </a:ext>
            </a:extLst>
          </p:cNvPr>
          <p:cNvSpPr/>
          <p:nvPr userDrawn="1"/>
        </p:nvSpPr>
        <p:spPr>
          <a:xfrm>
            <a:off x="2921000" y="-31750"/>
            <a:ext cx="2667000" cy="685800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FCFAFA">
                  <a:alpha val="0"/>
                </a:srgbClr>
              </a:gs>
            </a:gsLst>
            <a:lin ang="0" scaled="0"/>
          </a:gradFill>
          <a:ln/>
        </p:spPr>
      </p:sp>
      <p:pic>
        <p:nvPicPr>
          <p:cNvPr id="3" name="그림 15">
            <a:extLst>
              <a:ext uri="{FF2B5EF4-FFF2-40B4-BE49-F238E27FC236}">
                <a16:creationId xmlns:a16="http://schemas.microsoft.com/office/drawing/2014/main" id="{1674F057-2AEF-4F07-9B5B-D027A6E4429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/>
        </p:blipFill>
        <p:spPr>
          <a:xfrm>
            <a:off x="8312432" y="167579"/>
            <a:ext cx="1593568" cy="472083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21578219-508B-4DFF-A4CE-EEB672139013}"/>
              </a:ext>
            </a:extLst>
          </p:cNvPr>
          <p:cNvSpPr>
            <a:spLocks noGrp="1"/>
          </p:cNvSpPr>
          <p:nvPr userDrawn="1"/>
        </p:nvSpPr>
        <p:spPr>
          <a:xfrm>
            <a:off x="557212" y="1527921"/>
            <a:ext cx="4333875" cy="285750"/>
          </a:xfrm>
          <a:prstGeom prst="rect">
            <a:avLst/>
          </a:prstGeom>
          <a:noFill/>
          <a:ln w="0">
            <a:noFill/>
          </a:ln>
        </p:spPr>
        <p:txBody>
          <a:bodyPr lIns="74295" rIns="74295">
            <a:noAutofit/>
          </a:bodyPr>
          <a:lstStyle/>
          <a:p>
            <a:pPr algn="l">
              <a:buNone/>
              <a:defRPr sz="1000" b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defRPr>
            </a:pPr>
            <a:r>
              <a:rPr sz="1000" b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㈜하이텔레서비스 2027년 사업자 선정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F70B507-FF9E-4111-BB93-C737682E2DF2}"/>
              </a:ext>
            </a:extLst>
          </p:cNvPr>
          <p:cNvSpPr>
            <a:spLocks noGrp="1"/>
          </p:cNvSpPr>
          <p:nvPr userDrawn="1"/>
        </p:nvSpPr>
        <p:spPr>
          <a:xfrm>
            <a:off x="557212" y="1890652"/>
            <a:ext cx="4953000" cy="1428750"/>
          </a:xfrm>
          <a:prstGeom prst="rect">
            <a:avLst/>
          </a:prstGeom>
          <a:noFill/>
          <a:ln w="0">
            <a:noFill/>
          </a:ln>
        </p:spPr>
        <p:txBody>
          <a:bodyPr lIns="74295" rIns="74295">
            <a:noAutofit/>
          </a:bodyPr>
          <a:lstStyle/>
          <a:p>
            <a:pPr algn="l">
              <a:buNone/>
              <a:defRPr sz="2900" b="0">
                <a:solidFill>
                  <a:srgbClr val="0F131F"/>
                </a:solidFill>
                <a:latin typeface="페이퍼로지 8 ExtraBold"/>
                <a:ea typeface="페이퍼로지 8 ExtraBold"/>
                <a:cs typeface="페이퍼로지 8 ExtraBold"/>
              </a:defRPr>
            </a:pPr>
            <a:r>
              <a:rPr sz="2900" b="0">
                <a:solidFill>
                  <a:srgbClr val="0F131F"/>
                </a:solidFill>
                <a:latin typeface="페이퍼로지 8 ExtraBold"/>
                <a:ea typeface="페이퍼로지 8 ExtraBold"/>
                <a:cs typeface="페이퍼로지 8 ExtraBold"/>
              </a:rPr>
              <a:t>LG전자 고객센터</a:t>
            </a:r>
          </a:p>
          <a:p>
            <a:pPr algn="l">
              <a:buNone/>
              <a:defRPr sz="2900" b="0">
                <a:solidFill>
                  <a:srgbClr val="0F131F"/>
                </a:solidFill>
                <a:latin typeface="페이퍼로지 8 ExtraBold"/>
                <a:ea typeface="페이퍼로지 8 ExtraBold"/>
                <a:cs typeface="페이퍼로지 8 ExtraBold"/>
              </a:defRPr>
            </a:pPr>
            <a:r>
              <a:rPr sz="2900" b="0">
                <a:solidFill>
                  <a:srgbClr val="0F131F"/>
                </a:solidFill>
                <a:latin typeface="페이퍼로지 8 ExtraBold"/>
                <a:ea typeface="페이퍼로지 8 ExtraBold"/>
                <a:cs typeface="페이퍼로지 8 ExtraBold"/>
              </a:rPr>
              <a:t>위탁운영 제안</a:t>
            </a: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C24A4B9F-A9E4-4E15-B490-0DB9A587D8AD}"/>
              </a:ext>
            </a:extLst>
          </p:cNvPr>
          <p:cNvSpPr/>
          <p:nvPr userDrawn="1"/>
        </p:nvSpPr>
        <p:spPr>
          <a:xfrm>
            <a:off x="660400" y="3156594"/>
            <a:ext cx="4782741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72"/>
              </a:lnSpc>
              <a:buNone/>
            </a:pPr>
            <a:r>
              <a:rPr lang="en-US" sz="14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신뢰와 감동을 주는 고객 커뮤니케이션의 중심</a:t>
            </a: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64EC260E-0410-4C94-83AB-57786D95B4B1}"/>
              </a:ext>
            </a:extLst>
          </p:cNvPr>
          <p:cNvSpPr/>
          <p:nvPr userDrawn="1"/>
        </p:nvSpPr>
        <p:spPr>
          <a:xfrm>
            <a:off x="660400" y="4852569"/>
            <a:ext cx="42926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ko-KR" altLang="en-US" sz="1100">
                <a:latin typeface="페이퍼로지 5 Medium"/>
                <a:ea typeface="페이퍼로지 5 Medium"/>
                <a:cs typeface="페이퍼로지 5 Medium"/>
              </a:rPr>
              <a:t>2026. 10.   제안사 ㈜케이티아이에스</a:t>
            </a:r>
            <a:endParaRPr lang="ko-KR" altLang="en-US" sz="1100" dirty="0"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8" name="Shape 15">
            <a:extLst>
              <a:ext uri="{FF2B5EF4-FFF2-40B4-BE49-F238E27FC236}">
                <a16:creationId xmlns:a16="http://schemas.microsoft.com/office/drawing/2014/main" id="{799E0A16-A8D1-4580-B7DD-2BEDC9D06698}"/>
              </a:ext>
            </a:extLst>
          </p:cNvPr>
          <p:cNvSpPr/>
          <p:nvPr userDrawn="1"/>
        </p:nvSpPr>
        <p:spPr>
          <a:xfrm>
            <a:off x="660400" y="5277325"/>
            <a:ext cx="3889212" cy="0"/>
          </a:xfrm>
          <a:prstGeom prst="line">
            <a:avLst/>
          </a:prstGeom>
          <a:noFill/>
          <a:ln w="6350">
            <a:solidFill>
              <a:srgbClr val="3D3F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15">
            <a:extLst>
              <a:ext uri="{FF2B5EF4-FFF2-40B4-BE49-F238E27FC236}">
                <a16:creationId xmlns:a16="http://schemas.microsoft.com/office/drawing/2014/main" id="{0BA3857C-41AC-4C8F-9B80-80BEA7B33ACC}"/>
              </a:ext>
            </a:extLst>
          </p:cNvPr>
          <p:cNvSpPr/>
          <p:nvPr userDrawn="1"/>
        </p:nvSpPr>
        <p:spPr>
          <a:xfrm>
            <a:off x="660400" y="4621082"/>
            <a:ext cx="3889212" cy="0"/>
          </a:xfrm>
          <a:prstGeom prst="line">
            <a:avLst/>
          </a:prstGeom>
          <a:noFill/>
          <a:ln w="6350">
            <a:solidFill>
              <a:srgbClr val="3D3F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0">
            <a:extLst>
              <a:ext uri="{FF2B5EF4-FFF2-40B4-BE49-F238E27FC236}">
                <a16:creationId xmlns:a16="http://schemas.microsoft.com/office/drawing/2014/main" id="{9881973B-D260-4881-BA89-B6CAFC994537}"/>
              </a:ext>
            </a:extLst>
          </p:cNvPr>
          <p:cNvSpPr/>
          <p:nvPr userDrawn="1"/>
        </p:nvSpPr>
        <p:spPr>
          <a:xfrm>
            <a:off x="0" y="0"/>
            <a:ext cx="9906000" cy="63500"/>
          </a:xfrm>
          <a:prstGeom prst="rect">
            <a:avLst/>
          </a:prstGeom>
          <a:gradFill rotWithShape="1">
            <a:gsLst>
              <a:gs pos="0">
                <a:srgbClr val="E30C60"/>
              </a:gs>
              <a:gs pos="100000">
                <a:srgbClr val="F7C6D6"/>
              </a:gs>
            </a:gsLst>
            <a:lin ang="0" scaled="0"/>
          </a:gra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39">
            <a:extLst>
              <a:ext uri="{FF2B5EF4-FFF2-40B4-BE49-F238E27FC236}">
                <a16:creationId xmlns:a16="http://schemas.microsoft.com/office/drawing/2014/main" id="{442AA2E6-A41D-4CAB-BCD9-FC0DCE06AD1E}"/>
              </a:ext>
            </a:extLst>
          </p:cNvPr>
          <p:cNvSpPr/>
          <p:nvPr userDrawn="1"/>
        </p:nvSpPr>
        <p:spPr>
          <a:xfrm>
            <a:off x="0" y="6794500"/>
            <a:ext cx="9906000" cy="63500"/>
          </a:xfrm>
          <a:prstGeom prst="rect">
            <a:avLst/>
          </a:prstGeom>
          <a:gradFill rotWithShape="1">
            <a:gsLst>
              <a:gs pos="0">
                <a:srgbClr val="E30C60"/>
              </a:gs>
              <a:gs pos="100000">
                <a:srgbClr val="F7C6D6"/>
              </a:gs>
            </a:gsLst>
            <a:lin ang="0" scaled="0"/>
          </a:gradFill>
          <a:ln/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9925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5B5ADF7A-F3B3-4F4E-95E5-222A9E1737EB}"/>
              </a:ext>
            </a:extLst>
          </p:cNvPr>
          <p:cNvSpPr/>
          <p:nvPr userDrawn="1"/>
        </p:nvSpPr>
        <p:spPr>
          <a:xfrm>
            <a:off x="0" y="0"/>
            <a:ext cx="9906000" cy="63500"/>
          </a:xfrm>
          <a:prstGeom prst="rect">
            <a:avLst/>
          </a:prstGeom>
          <a:gradFill rotWithShape="1">
            <a:gsLst>
              <a:gs pos="0">
                <a:srgbClr val="E30C60"/>
              </a:gs>
              <a:gs pos="100000">
                <a:srgbClr val="F7C6D6"/>
              </a:gs>
            </a:gsLst>
            <a:lin ang="0" scaled="0"/>
          </a:gra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9">
            <a:extLst>
              <a:ext uri="{FF2B5EF4-FFF2-40B4-BE49-F238E27FC236}">
                <a16:creationId xmlns:a16="http://schemas.microsoft.com/office/drawing/2014/main" id="{3E35E04E-5498-453F-BE81-AD2CBBC5ADBF}"/>
              </a:ext>
            </a:extLst>
          </p:cNvPr>
          <p:cNvSpPr/>
          <p:nvPr userDrawn="1"/>
        </p:nvSpPr>
        <p:spPr>
          <a:xfrm>
            <a:off x="0" y="6794500"/>
            <a:ext cx="9906000" cy="63500"/>
          </a:xfrm>
          <a:prstGeom prst="rect">
            <a:avLst/>
          </a:prstGeom>
          <a:gradFill rotWithShape="1">
            <a:gsLst>
              <a:gs pos="0">
                <a:srgbClr val="E30C60"/>
              </a:gs>
              <a:gs pos="100000">
                <a:srgbClr val="F7C6D6"/>
              </a:gs>
            </a:gsLst>
            <a:lin ang="0" scaled="0"/>
          </a:gra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1" descr="하이텔레서비스 로고">
            <a:extLst>
              <a:ext uri="{FF2B5EF4-FFF2-40B4-BE49-F238E27FC236}">
                <a16:creationId xmlns:a16="http://schemas.microsoft.com/office/drawing/2014/main" id="{EE8691E0-12AA-4F27-9F03-9B6C9568BB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-310" b="-310"/>
          <a:stretch/>
        </p:blipFill>
        <p:spPr>
          <a:xfrm>
            <a:off x="8762641" y="198536"/>
            <a:ext cx="1073150" cy="319881"/>
          </a:xfrm>
          <a:prstGeom prst="rect">
            <a:avLst/>
          </a:prstGeom>
        </p:spPr>
      </p:pic>
      <p:pic>
        <p:nvPicPr>
          <p:cNvPr id="7" name="Picture 29" descr="image.png">
            <a:extLst>
              <a:ext uri="{FF2B5EF4-FFF2-40B4-BE49-F238E27FC236}">
                <a16:creationId xmlns:a16="http://schemas.microsoft.com/office/drawing/2014/main" id="{574524FD-A135-4DA8-AA70-9CFC37DDF78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85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악수하는 두 사람의 손과 도시 풍경">
            <a:extLst>
              <a:ext uri="{FF2B5EF4-FFF2-40B4-BE49-F238E27FC236}">
                <a16:creationId xmlns:a16="http://schemas.microsoft.com/office/drawing/2014/main" id="{C60529DD-A033-43BA-9172-68F88AF33F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9375" r="9375"/>
          <a:stretch/>
        </p:blipFill>
        <p:spPr>
          <a:xfrm>
            <a:off x="0" y="0"/>
            <a:ext cx="4540250" cy="6858000"/>
          </a:xfrm>
          <a:prstGeom prst="rect">
            <a:avLst/>
          </a:prstGeom>
        </p:spPr>
      </p:pic>
      <p:sp>
        <p:nvSpPr>
          <p:cNvPr id="15" name="Text 2">
            <a:extLst>
              <a:ext uri="{FF2B5EF4-FFF2-40B4-BE49-F238E27FC236}">
                <a16:creationId xmlns:a16="http://schemas.microsoft.com/office/drawing/2014/main" id="{56DF8642-5619-40F7-87E9-5D5AC95794E8}"/>
              </a:ext>
            </a:extLst>
          </p:cNvPr>
          <p:cNvSpPr/>
          <p:nvPr userDrawn="1"/>
        </p:nvSpPr>
        <p:spPr>
          <a:xfrm>
            <a:off x="5200650" y="1503759"/>
            <a:ext cx="416629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9"/>
              </a:lnSpc>
              <a:buNone/>
            </a:pPr>
            <a:r>
              <a:rPr lang="en-US" sz="1100" b="0" kern="0" spc="200" dirty="0">
                <a:solidFill>
                  <a:srgbClr val="E60059"/>
                </a:solidFill>
                <a:latin typeface="페이퍼로지 8 ExtraBold"/>
                <a:ea typeface="페이퍼로지 8 ExtraBold"/>
                <a:cs typeface="페이퍼로지 8 ExtraBold"/>
              </a:rPr>
              <a:t>CHAPTER</a:t>
            </a:r>
            <a:endParaRPr lang="en-US" sz="1100" dirty="0">
              <a:solidFill>
                <a:srgbClr val="E60059"/>
              </a:solidFill>
              <a:latin typeface="+mn-ea"/>
            </a:endParaRPr>
          </a:p>
        </p:txBody>
      </p:sp>
      <p:pic>
        <p:nvPicPr>
          <p:cNvPr id="16" name="Image 1" descr="하이텔레서비스 로고">
            <a:extLst>
              <a:ext uri="{FF2B5EF4-FFF2-40B4-BE49-F238E27FC236}">
                <a16:creationId xmlns:a16="http://schemas.microsoft.com/office/drawing/2014/main" id="{9B527885-FCD3-4C22-A11B-BC71B4FB65E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-310" b="-310"/>
          <a:stretch/>
        </p:blipFill>
        <p:spPr>
          <a:xfrm>
            <a:off x="8762641" y="198536"/>
            <a:ext cx="1073150" cy="319881"/>
          </a:xfrm>
          <a:prstGeom prst="rect">
            <a:avLst/>
          </a:prstGeom>
        </p:spPr>
      </p:pic>
      <p:sp>
        <p:nvSpPr>
          <p:cNvPr id="6" name="Shape 0">
            <a:extLst>
              <a:ext uri="{FF2B5EF4-FFF2-40B4-BE49-F238E27FC236}">
                <a16:creationId xmlns:a16="http://schemas.microsoft.com/office/drawing/2014/main" id="{5D98D3DC-CBAC-4CB9-918B-1A5F006A0804}"/>
              </a:ext>
            </a:extLst>
          </p:cNvPr>
          <p:cNvSpPr/>
          <p:nvPr userDrawn="1"/>
        </p:nvSpPr>
        <p:spPr>
          <a:xfrm>
            <a:off x="0" y="0"/>
            <a:ext cx="9906000" cy="63500"/>
          </a:xfrm>
          <a:prstGeom prst="rect">
            <a:avLst/>
          </a:prstGeom>
          <a:gradFill rotWithShape="1">
            <a:gsLst>
              <a:gs pos="0">
                <a:srgbClr val="E30C60"/>
              </a:gs>
              <a:gs pos="100000">
                <a:srgbClr val="F7C6D6"/>
              </a:gs>
            </a:gsLst>
            <a:lin ang="0" scaled="0"/>
          </a:gra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Picture 29" descr="image.png">
            <a:extLst>
              <a:ext uri="{FF2B5EF4-FFF2-40B4-BE49-F238E27FC236}">
                <a16:creationId xmlns:a16="http://schemas.microsoft.com/office/drawing/2014/main" id="{34C6CBA0-7942-4F80-87E5-E1254628056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767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E3112F7A-8E8D-4E54-8023-BAD7871043D5}"/>
              </a:ext>
            </a:extLst>
          </p:cNvPr>
          <p:cNvSpPr/>
          <p:nvPr userDrawn="1"/>
        </p:nvSpPr>
        <p:spPr>
          <a:xfrm>
            <a:off x="355997" y="238027"/>
            <a:ext cx="9201745" cy="1314548"/>
          </a:xfrm>
          <a:prstGeom prst="roundRect">
            <a:avLst/>
          </a:prstGeom>
          <a:solidFill>
            <a:srgbClr val="E30C60">
              <a:alpha val="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lang="ko-KR" altLang="en-US"/>
          </a:p>
        </p:txBody>
      </p:sp>
      <p:sp>
        <p:nvSpPr>
          <p:cNvPr id="6" name="Shape 0">
            <a:extLst>
              <a:ext uri="{FF2B5EF4-FFF2-40B4-BE49-F238E27FC236}">
                <a16:creationId xmlns:a16="http://schemas.microsoft.com/office/drawing/2014/main" id="{960069FB-862F-42CD-BE20-09CF414124FF}"/>
              </a:ext>
            </a:extLst>
          </p:cNvPr>
          <p:cNvSpPr/>
          <p:nvPr userDrawn="1"/>
        </p:nvSpPr>
        <p:spPr>
          <a:xfrm>
            <a:off x="0" y="0"/>
            <a:ext cx="9906000" cy="63500"/>
          </a:xfrm>
          <a:prstGeom prst="rect">
            <a:avLst/>
          </a:prstGeom>
          <a:gradFill rotWithShape="1">
            <a:gsLst>
              <a:gs pos="0">
                <a:srgbClr val="E30C60"/>
              </a:gs>
              <a:gs pos="100000">
                <a:srgbClr val="F7C6D6"/>
              </a:gs>
            </a:gsLst>
            <a:lin ang="0" scaled="0"/>
          </a:gra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9">
            <a:extLst>
              <a:ext uri="{FF2B5EF4-FFF2-40B4-BE49-F238E27FC236}">
                <a16:creationId xmlns:a16="http://schemas.microsoft.com/office/drawing/2014/main" id="{4C0CD1C4-1F9B-4822-9CC7-BA22A15DA8DA}"/>
              </a:ext>
            </a:extLst>
          </p:cNvPr>
          <p:cNvSpPr/>
          <p:nvPr userDrawn="1"/>
        </p:nvSpPr>
        <p:spPr>
          <a:xfrm>
            <a:off x="0" y="6794500"/>
            <a:ext cx="9906000" cy="63500"/>
          </a:xfrm>
          <a:prstGeom prst="rect">
            <a:avLst/>
          </a:prstGeom>
          <a:gradFill rotWithShape="1">
            <a:gsLst>
              <a:gs pos="0">
                <a:srgbClr val="E30C60"/>
              </a:gs>
              <a:gs pos="100000">
                <a:srgbClr val="F7C6D6"/>
              </a:gs>
            </a:gsLst>
            <a:lin ang="0" scaled="0"/>
          </a:gra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하이텔레서비스 로고">
            <a:extLst>
              <a:ext uri="{FF2B5EF4-FFF2-40B4-BE49-F238E27FC236}">
                <a16:creationId xmlns:a16="http://schemas.microsoft.com/office/drawing/2014/main" id="{77905AE5-10D1-4D3B-8612-D3C0BE363D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-310" b="-310"/>
          <a:stretch/>
        </p:blipFill>
        <p:spPr>
          <a:xfrm>
            <a:off x="8762641" y="198536"/>
            <a:ext cx="1073150" cy="319881"/>
          </a:xfrm>
          <a:prstGeom prst="rect">
            <a:avLst/>
          </a:prstGeom>
        </p:spPr>
      </p:pic>
      <p:pic>
        <p:nvPicPr>
          <p:cNvPr id="9" name="Picture 29" descr="image.png">
            <a:extLst>
              <a:ext uri="{FF2B5EF4-FFF2-40B4-BE49-F238E27FC236}">
                <a16:creationId xmlns:a16="http://schemas.microsoft.com/office/drawing/2014/main" id="{FCB09D9E-CCB6-4B04-818F-DCB96800B7D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734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1" descr="하이텔레서비스 로고">
            <a:extLst>
              <a:ext uri="{FF2B5EF4-FFF2-40B4-BE49-F238E27FC236}">
                <a16:creationId xmlns:a16="http://schemas.microsoft.com/office/drawing/2014/main" id="{43A359D6-5453-4F5E-AFDF-BBD23C2C5B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-310" b="-310"/>
          <a:stretch/>
        </p:blipFill>
        <p:spPr>
          <a:xfrm>
            <a:off x="8762641" y="198536"/>
            <a:ext cx="1073150" cy="319881"/>
          </a:xfrm>
          <a:prstGeom prst="rect">
            <a:avLst/>
          </a:prstGeom>
        </p:spPr>
      </p:pic>
      <p:pic>
        <p:nvPicPr>
          <p:cNvPr id="7" name="Picture 29" descr="image.png">
            <a:extLst>
              <a:ext uri="{FF2B5EF4-FFF2-40B4-BE49-F238E27FC236}">
                <a16:creationId xmlns:a16="http://schemas.microsoft.com/office/drawing/2014/main" id="{787D4EBB-13F3-4303-9EAC-CE9C1D3A6F3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873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083A27CD-893A-4943-883C-023CC23650F9}"/>
              </a:ext>
            </a:extLst>
          </p:cNvPr>
          <p:cNvSpPr/>
          <p:nvPr userDrawn="1"/>
        </p:nvSpPr>
        <p:spPr>
          <a:xfrm>
            <a:off x="0" y="0"/>
            <a:ext cx="9906000" cy="63500"/>
          </a:xfrm>
          <a:prstGeom prst="rect">
            <a:avLst/>
          </a:prstGeom>
          <a:gradFill rotWithShape="1">
            <a:gsLst>
              <a:gs pos="0">
                <a:srgbClr val="E30C60"/>
              </a:gs>
              <a:gs pos="100000">
                <a:srgbClr val="F7C6D6"/>
              </a:gs>
            </a:gsLst>
            <a:lin ang="0" scaled="0"/>
          </a:gra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83E9D1A6-F067-4F91-A39F-389E2B8EDBD0}"/>
              </a:ext>
            </a:extLst>
          </p:cNvPr>
          <p:cNvSpPr/>
          <p:nvPr userDrawn="1"/>
        </p:nvSpPr>
        <p:spPr>
          <a:xfrm>
            <a:off x="660400" y="406400"/>
            <a:ext cx="51594" cy="952500"/>
          </a:xfrm>
          <a:prstGeom prst="roundRect">
            <a:avLst>
              <a:gd name="adj" fmla="val 50000"/>
            </a:avLst>
          </a:prstGeom>
          <a:solidFill>
            <a:srgbClr val="E30C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39">
            <a:extLst>
              <a:ext uri="{FF2B5EF4-FFF2-40B4-BE49-F238E27FC236}">
                <a16:creationId xmlns:a16="http://schemas.microsoft.com/office/drawing/2014/main" id="{710DDBBE-4E48-4656-9562-1A82207C3B7E}"/>
              </a:ext>
            </a:extLst>
          </p:cNvPr>
          <p:cNvSpPr/>
          <p:nvPr userDrawn="1"/>
        </p:nvSpPr>
        <p:spPr>
          <a:xfrm>
            <a:off x="0" y="6794500"/>
            <a:ext cx="9906000" cy="63500"/>
          </a:xfrm>
          <a:prstGeom prst="rect">
            <a:avLst/>
          </a:prstGeom>
          <a:gradFill rotWithShape="1">
            <a:gsLst>
              <a:gs pos="0">
                <a:srgbClr val="E30C60"/>
              </a:gs>
              <a:gs pos="100000">
                <a:srgbClr val="F7C6D6"/>
              </a:gs>
            </a:gsLst>
            <a:lin ang="0" scaled="0"/>
          </a:gra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7023E52-43E2-462D-A1A6-4E01C287CD25}"/>
              </a:ext>
            </a:extLst>
          </p:cNvPr>
          <p:cNvSpPr/>
          <p:nvPr userDrawn="1"/>
        </p:nvSpPr>
        <p:spPr>
          <a:xfrm>
            <a:off x="846138" y="381000"/>
            <a:ext cx="1000919" cy="254000"/>
          </a:xfrm>
          <a:prstGeom prst="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01 제안개요</a:t>
            </a:r>
          </a:p>
        </p:txBody>
      </p:sp>
      <p:pic>
        <p:nvPicPr>
          <p:cNvPr id="6" name="Image 1" descr="하이텔레서비스 로고">
            <a:extLst>
              <a:ext uri="{FF2B5EF4-FFF2-40B4-BE49-F238E27FC236}">
                <a16:creationId xmlns:a16="http://schemas.microsoft.com/office/drawing/2014/main" id="{43A359D6-5453-4F5E-AFDF-BBD23C2C5B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-310" b="-310"/>
          <a:stretch/>
        </p:blipFill>
        <p:spPr>
          <a:xfrm>
            <a:off x="8762641" y="198536"/>
            <a:ext cx="1073150" cy="319881"/>
          </a:xfrm>
          <a:prstGeom prst="rect">
            <a:avLst/>
          </a:prstGeom>
        </p:spPr>
      </p:pic>
      <p:pic>
        <p:nvPicPr>
          <p:cNvPr id="7" name="Picture 29" descr="image.png">
            <a:extLst>
              <a:ext uri="{FF2B5EF4-FFF2-40B4-BE49-F238E27FC236}">
                <a16:creationId xmlns:a16="http://schemas.microsoft.com/office/drawing/2014/main" id="{787D4EBB-13F3-4303-9EAC-CE9C1D3A6F3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763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083A27CD-893A-4943-883C-023CC23650F9}"/>
              </a:ext>
            </a:extLst>
          </p:cNvPr>
          <p:cNvSpPr/>
          <p:nvPr userDrawn="1"/>
        </p:nvSpPr>
        <p:spPr>
          <a:xfrm>
            <a:off x="0" y="0"/>
            <a:ext cx="9906000" cy="63500"/>
          </a:xfrm>
          <a:prstGeom prst="rect">
            <a:avLst/>
          </a:prstGeom>
          <a:gradFill rotWithShape="1">
            <a:gsLst>
              <a:gs pos="0">
                <a:srgbClr val="E30C60"/>
              </a:gs>
              <a:gs pos="100000">
                <a:srgbClr val="F7C6D6"/>
              </a:gs>
            </a:gsLst>
            <a:lin ang="0" scaled="0"/>
          </a:gra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83E9D1A6-F067-4F91-A39F-389E2B8EDBD0}"/>
              </a:ext>
            </a:extLst>
          </p:cNvPr>
          <p:cNvSpPr/>
          <p:nvPr userDrawn="1"/>
        </p:nvSpPr>
        <p:spPr>
          <a:xfrm>
            <a:off x="660400" y="406400"/>
            <a:ext cx="51594" cy="952500"/>
          </a:xfrm>
          <a:prstGeom prst="roundRect">
            <a:avLst>
              <a:gd name="adj" fmla="val 50000"/>
            </a:avLst>
          </a:prstGeom>
          <a:solidFill>
            <a:srgbClr val="E30C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39">
            <a:extLst>
              <a:ext uri="{FF2B5EF4-FFF2-40B4-BE49-F238E27FC236}">
                <a16:creationId xmlns:a16="http://schemas.microsoft.com/office/drawing/2014/main" id="{710DDBBE-4E48-4656-9562-1A82207C3B7E}"/>
              </a:ext>
            </a:extLst>
          </p:cNvPr>
          <p:cNvSpPr/>
          <p:nvPr userDrawn="1"/>
        </p:nvSpPr>
        <p:spPr>
          <a:xfrm>
            <a:off x="0" y="6794500"/>
            <a:ext cx="9906000" cy="63500"/>
          </a:xfrm>
          <a:prstGeom prst="rect">
            <a:avLst/>
          </a:prstGeom>
          <a:gradFill rotWithShape="1">
            <a:gsLst>
              <a:gs pos="0">
                <a:srgbClr val="E30C60"/>
              </a:gs>
              <a:gs pos="100000">
                <a:srgbClr val="F7C6D6"/>
              </a:gs>
            </a:gsLst>
            <a:lin ang="0" scaled="0"/>
          </a:gra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92A16BA-A551-4518-8431-F369DC8A7BCD}"/>
              </a:ext>
            </a:extLst>
          </p:cNvPr>
          <p:cNvSpPr/>
          <p:nvPr userDrawn="1"/>
        </p:nvSpPr>
        <p:spPr>
          <a:xfrm>
            <a:off x="846138" y="381000"/>
            <a:ext cx="1000919" cy="254000"/>
          </a:xfrm>
          <a:prstGeom prst="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</a:t>
            </a:r>
            <a:r>
              <a:rPr lang="en-US" altLang="ko-KR" sz="9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2</a:t>
            </a:r>
            <a:r>
              <a:rPr lang="ko-KR" sz="9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 제안</a:t>
            </a:r>
            <a:r>
              <a:rPr lang="ko-KR" altLang="en-US" sz="9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사 일반</a:t>
            </a:r>
            <a:endParaRPr lang="ko-KR" sz="900" b="0" dirty="0">
              <a:solidFill>
                <a:srgbClr val="FFFFFF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pic>
        <p:nvPicPr>
          <p:cNvPr id="6" name="Image 1" descr="하이텔레서비스 로고">
            <a:extLst>
              <a:ext uri="{FF2B5EF4-FFF2-40B4-BE49-F238E27FC236}">
                <a16:creationId xmlns:a16="http://schemas.microsoft.com/office/drawing/2014/main" id="{F0A12B85-A626-4F6E-8496-2D6DC1EF2C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-310" b="-310"/>
          <a:stretch/>
        </p:blipFill>
        <p:spPr>
          <a:xfrm>
            <a:off x="8762641" y="198536"/>
            <a:ext cx="1073150" cy="319881"/>
          </a:xfrm>
          <a:prstGeom prst="rect">
            <a:avLst/>
          </a:prstGeom>
        </p:spPr>
      </p:pic>
      <p:pic>
        <p:nvPicPr>
          <p:cNvPr id="7" name="Picture 29" descr="image.png">
            <a:extLst>
              <a:ext uri="{FF2B5EF4-FFF2-40B4-BE49-F238E27FC236}">
                <a16:creationId xmlns:a16="http://schemas.microsoft.com/office/drawing/2014/main" id="{67E0BB07-ACF6-4522-AFF5-7CFF573AE6E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15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083A27CD-893A-4943-883C-023CC23650F9}"/>
              </a:ext>
            </a:extLst>
          </p:cNvPr>
          <p:cNvSpPr/>
          <p:nvPr userDrawn="1"/>
        </p:nvSpPr>
        <p:spPr>
          <a:xfrm>
            <a:off x="0" y="0"/>
            <a:ext cx="9906000" cy="63500"/>
          </a:xfrm>
          <a:prstGeom prst="rect">
            <a:avLst/>
          </a:prstGeom>
          <a:gradFill rotWithShape="1">
            <a:gsLst>
              <a:gs pos="0">
                <a:srgbClr val="E30C60"/>
              </a:gs>
              <a:gs pos="100000">
                <a:srgbClr val="F7C6D6"/>
              </a:gs>
            </a:gsLst>
            <a:lin ang="0" scaled="0"/>
          </a:gra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83E9D1A6-F067-4F91-A39F-389E2B8EDBD0}"/>
              </a:ext>
            </a:extLst>
          </p:cNvPr>
          <p:cNvSpPr/>
          <p:nvPr userDrawn="1"/>
        </p:nvSpPr>
        <p:spPr>
          <a:xfrm>
            <a:off x="660400" y="406400"/>
            <a:ext cx="51594" cy="952500"/>
          </a:xfrm>
          <a:prstGeom prst="roundRect">
            <a:avLst>
              <a:gd name="adj" fmla="val 50000"/>
            </a:avLst>
          </a:prstGeom>
          <a:solidFill>
            <a:srgbClr val="E30C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39">
            <a:extLst>
              <a:ext uri="{FF2B5EF4-FFF2-40B4-BE49-F238E27FC236}">
                <a16:creationId xmlns:a16="http://schemas.microsoft.com/office/drawing/2014/main" id="{710DDBBE-4E48-4656-9562-1A82207C3B7E}"/>
              </a:ext>
            </a:extLst>
          </p:cNvPr>
          <p:cNvSpPr/>
          <p:nvPr userDrawn="1"/>
        </p:nvSpPr>
        <p:spPr>
          <a:xfrm>
            <a:off x="0" y="6794500"/>
            <a:ext cx="9906000" cy="63500"/>
          </a:xfrm>
          <a:prstGeom prst="rect">
            <a:avLst/>
          </a:prstGeom>
          <a:gradFill rotWithShape="1">
            <a:gsLst>
              <a:gs pos="0">
                <a:srgbClr val="E30C60"/>
              </a:gs>
              <a:gs pos="100000">
                <a:srgbClr val="F7C6D6"/>
              </a:gs>
            </a:gsLst>
            <a:lin ang="0" scaled="0"/>
          </a:gra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92A16BA-A551-4518-8431-F369DC8A7BCD}"/>
              </a:ext>
            </a:extLst>
          </p:cNvPr>
          <p:cNvSpPr/>
          <p:nvPr userDrawn="1"/>
        </p:nvSpPr>
        <p:spPr>
          <a:xfrm>
            <a:off x="846138" y="381000"/>
            <a:ext cx="1000919" cy="254000"/>
          </a:xfrm>
          <a:prstGeom prst="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</a:t>
            </a:r>
            <a:r>
              <a:rPr lang="en-US" altLang="ko-KR" sz="9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3</a:t>
            </a:r>
            <a:r>
              <a:rPr lang="ko-KR" sz="9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  <a:r>
              <a:rPr lang="ko-KR" altLang="en-US" sz="9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사업관리</a:t>
            </a:r>
            <a:endParaRPr lang="ko-KR" sz="900" b="0" dirty="0">
              <a:solidFill>
                <a:srgbClr val="FFFFFF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pic>
        <p:nvPicPr>
          <p:cNvPr id="6" name="Image 1" descr="하이텔레서비스 로고">
            <a:extLst>
              <a:ext uri="{FF2B5EF4-FFF2-40B4-BE49-F238E27FC236}">
                <a16:creationId xmlns:a16="http://schemas.microsoft.com/office/drawing/2014/main" id="{10376408-B174-409D-8231-D063E9AA77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-310" b="-310"/>
          <a:stretch/>
        </p:blipFill>
        <p:spPr>
          <a:xfrm>
            <a:off x="8762641" y="198536"/>
            <a:ext cx="1073150" cy="319881"/>
          </a:xfrm>
          <a:prstGeom prst="rect">
            <a:avLst/>
          </a:prstGeom>
        </p:spPr>
      </p:pic>
      <p:pic>
        <p:nvPicPr>
          <p:cNvPr id="7" name="Picture 29" descr="image.png">
            <a:extLst>
              <a:ext uri="{FF2B5EF4-FFF2-40B4-BE49-F238E27FC236}">
                <a16:creationId xmlns:a16="http://schemas.microsoft.com/office/drawing/2014/main" id="{A97FC879-24C5-4E09-8337-8A3A9DFAFFF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215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083A27CD-893A-4943-883C-023CC23650F9}"/>
              </a:ext>
            </a:extLst>
          </p:cNvPr>
          <p:cNvSpPr/>
          <p:nvPr userDrawn="1"/>
        </p:nvSpPr>
        <p:spPr>
          <a:xfrm>
            <a:off x="0" y="0"/>
            <a:ext cx="9906000" cy="63500"/>
          </a:xfrm>
          <a:prstGeom prst="rect">
            <a:avLst/>
          </a:prstGeom>
          <a:gradFill rotWithShape="1">
            <a:gsLst>
              <a:gs pos="0">
                <a:srgbClr val="E30C60"/>
              </a:gs>
              <a:gs pos="100000">
                <a:srgbClr val="F7C6D6"/>
              </a:gs>
            </a:gsLst>
            <a:lin ang="0" scaled="0"/>
          </a:gra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83E9D1A6-F067-4F91-A39F-389E2B8EDBD0}"/>
              </a:ext>
            </a:extLst>
          </p:cNvPr>
          <p:cNvSpPr/>
          <p:nvPr userDrawn="1"/>
        </p:nvSpPr>
        <p:spPr>
          <a:xfrm>
            <a:off x="660400" y="406400"/>
            <a:ext cx="51594" cy="952500"/>
          </a:xfrm>
          <a:prstGeom prst="roundRect">
            <a:avLst>
              <a:gd name="adj" fmla="val 50000"/>
            </a:avLst>
          </a:prstGeom>
          <a:solidFill>
            <a:srgbClr val="E30C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39">
            <a:extLst>
              <a:ext uri="{FF2B5EF4-FFF2-40B4-BE49-F238E27FC236}">
                <a16:creationId xmlns:a16="http://schemas.microsoft.com/office/drawing/2014/main" id="{710DDBBE-4E48-4656-9562-1A82207C3B7E}"/>
              </a:ext>
            </a:extLst>
          </p:cNvPr>
          <p:cNvSpPr/>
          <p:nvPr userDrawn="1"/>
        </p:nvSpPr>
        <p:spPr>
          <a:xfrm>
            <a:off x="0" y="6794500"/>
            <a:ext cx="9906000" cy="63500"/>
          </a:xfrm>
          <a:prstGeom prst="rect">
            <a:avLst/>
          </a:prstGeom>
          <a:gradFill rotWithShape="1">
            <a:gsLst>
              <a:gs pos="0">
                <a:srgbClr val="E30C60"/>
              </a:gs>
              <a:gs pos="100000">
                <a:srgbClr val="F7C6D6"/>
              </a:gs>
            </a:gsLst>
            <a:lin ang="0" scaled="0"/>
          </a:gra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92A16BA-A551-4518-8431-F369DC8A7BCD}"/>
              </a:ext>
            </a:extLst>
          </p:cNvPr>
          <p:cNvSpPr/>
          <p:nvPr userDrawn="1"/>
        </p:nvSpPr>
        <p:spPr>
          <a:xfrm>
            <a:off x="846138" y="381000"/>
            <a:ext cx="1000919" cy="254000"/>
          </a:xfrm>
          <a:prstGeom prst="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</a:t>
            </a:r>
            <a:r>
              <a:rPr lang="en-US" altLang="ko-KR" sz="9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4</a:t>
            </a:r>
            <a:r>
              <a:rPr lang="ko-KR" sz="9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  <a:r>
              <a:rPr lang="ko-KR" altLang="en-US" sz="9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기타</a:t>
            </a:r>
            <a:endParaRPr lang="ko-KR" sz="900" b="0" dirty="0">
              <a:solidFill>
                <a:srgbClr val="FFFFFF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pic>
        <p:nvPicPr>
          <p:cNvPr id="6" name="Image 1" descr="하이텔레서비스 로고">
            <a:extLst>
              <a:ext uri="{FF2B5EF4-FFF2-40B4-BE49-F238E27FC236}">
                <a16:creationId xmlns:a16="http://schemas.microsoft.com/office/drawing/2014/main" id="{10376408-B174-409D-8231-D063E9AA77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-310" b="-310"/>
          <a:stretch/>
        </p:blipFill>
        <p:spPr>
          <a:xfrm>
            <a:off x="8762641" y="198536"/>
            <a:ext cx="1073150" cy="319881"/>
          </a:xfrm>
          <a:prstGeom prst="rect">
            <a:avLst/>
          </a:prstGeom>
        </p:spPr>
      </p:pic>
      <p:pic>
        <p:nvPicPr>
          <p:cNvPr id="7" name="Picture 29" descr="image.png">
            <a:extLst>
              <a:ext uri="{FF2B5EF4-FFF2-40B4-BE49-F238E27FC236}">
                <a16:creationId xmlns:a16="http://schemas.microsoft.com/office/drawing/2014/main" id="{A97FC879-24C5-4E09-8337-8A3A9DFAFFF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857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CD48F5BC-7FCE-4A99-9BBC-668ABB99C895}"/>
              </a:ext>
            </a:extLst>
          </p:cNvPr>
          <p:cNvSpPr/>
          <p:nvPr userDrawn="1"/>
        </p:nvSpPr>
        <p:spPr>
          <a:xfrm>
            <a:off x="0" y="0"/>
            <a:ext cx="9906000" cy="1651000"/>
          </a:xfrm>
          <a:prstGeom prst="rect">
            <a:avLst/>
          </a:prstGeom>
          <a:gradFill rotWithShape="1">
            <a:gsLst>
              <a:gs pos="0">
                <a:srgbClr val="E30C60"/>
              </a:gs>
              <a:gs pos="100000">
                <a:srgbClr val="A50034"/>
              </a:gs>
            </a:gsLst>
            <a:lin ang="1500000" scaled="0"/>
          </a:gradFill>
          <a:ln/>
        </p:spPr>
        <p:txBody>
          <a:bodyPr lIns="74295" rIns="74295"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E694FCA-6B1A-4402-9DC0-2B5545172922}"/>
              </a:ext>
            </a:extLst>
          </p:cNvPr>
          <p:cNvSpPr/>
          <p:nvPr userDrawn="1"/>
        </p:nvSpPr>
        <p:spPr>
          <a:xfrm>
            <a:off x="0" y="0"/>
            <a:ext cx="9906000" cy="63500"/>
          </a:xfrm>
          <a:prstGeom prst="rect">
            <a:avLst/>
          </a:prstGeom>
          <a:gradFill rotWithShape="1">
            <a:gsLst>
              <a:gs pos="0">
                <a:srgbClr val="7A0028"/>
              </a:gs>
              <a:gs pos="100000">
                <a:srgbClr val="E30C60"/>
              </a:gs>
            </a:gsLst>
            <a:lin ang="0" scaled="0"/>
          </a:gra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F94C3C7-79EF-48BE-BCA8-7AF79F5D2093}"/>
              </a:ext>
            </a:extLst>
          </p:cNvPr>
          <p:cNvSpPr/>
          <p:nvPr userDrawn="1"/>
        </p:nvSpPr>
        <p:spPr>
          <a:xfrm>
            <a:off x="660400" y="330200"/>
            <a:ext cx="958918" cy="289520"/>
          </a:xfrm>
          <a:custGeom>
            <a:avLst/>
            <a:gdLst/>
            <a:ahLst/>
            <a:cxnLst/>
            <a:rect l="l" t="t" r="r" b="b"/>
            <a:pathLst>
              <a:path w="1180207" h="289520">
                <a:moveTo>
                  <a:pt x="144760" y="0"/>
                </a:moveTo>
                <a:lnTo>
                  <a:pt x="1035447" y="0"/>
                </a:lnTo>
                <a:arcTo wR="144760" hR="144760" stAng="16200000" swAng="5400000"/>
                <a:lnTo>
                  <a:pt x="1180207" y="144760"/>
                </a:lnTo>
                <a:arcTo wR="144760" hR="144760" stAng="0" swAng="5400000"/>
                <a:lnTo>
                  <a:pt x="144760" y="289520"/>
                </a:lnTo>
                <a:arcTo wR="144760" hR="144760" stAng="5400000" swAng="5400000"/>
                <a:lnTo>
                  <a:pt x="0" y="144760"/>
                </a:lnTo>
                <a:arcTo wR="144760" hR="144760" stAng="10800000" swAng="5400000"/>
                <a:close/>
              </a:path>
            </a:pathLst>
          </a:custGeom>
          <a:solidFill>
            <a:srgbClr val="FFFFF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1000" b="0" kern="0" spc="10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KEY POINT</a:t>
            </a:r>
            <a:endParaRPr lang="en-US" sz="1000" dirty="0"/>
          </a:p>
        </p:txBody>
      </p:sp>
      <p:sp>
        <p:nvSpPr>
          <p:cNvPr id="9" name="Shape 48">
            <a:extLst>
              <a:ext uri="{FF2B5EF4-FFF2-40B4-BE49-F238E27FC236}">
                <a16:creationId xmlns:a16="http://schemas.microsoft.com/office/drawing/2014/main" id="{F302744E-48EA-4F0D-B0C0-0CC90FE26FEF}"/>
              </a:ext>
            </a:extLst>
          </p:cNvPr>
          <p:cNvSpPr/>
          <p:nvPr userDrawn="1"/>
        </p:nvSpPr>
        <p:spPr>
          <a:xfrm>
            <a:off x="0" y="6794500"/>
            <a:ext cx="9906000" cy="63500"/>
          </a:xfrm>
          <a:prstGeom prst="rect">
            <a:avLst/>
          </a:prstGeom>
          <a:gradFill rotWithShape="1">
            <a:gsLst>
              <a:gs pos="0">
                <a:srgbClr val="E30C60"/>
              </a:gs>
              <a:gs pos="100000">
                <a:srgbClr val="F7C6D6"/>
              </a:gs>
            </a:gsLst>
            <a:lin ang="0" scaled="0"/>
          </a:gra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42D34CFF-BB97-416F-AD0C-1F8A84C22AAB}"/>
              </a:ext>
            </a:extLst>
          </p:cNvPr>
          <p:cNvSpPr/>
          <p:nvPr userDrawn="1"/>
        </p:nvSpPr>
        <p:spPr>
          <a:xfrm>
            <a:off x="6620510" y="63500"/>
            <a:ext cx="2975928" cy="1930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r">
              <a:lnSpc>
                <a:spcPts val="12188"/>
              </a:lnSpc>
              <a:buNone/>
            </a:pPr>
            <a:r>
              <a:rPr lang="en-US" sz="8300" b="0" kern="0" spc="-600">
                <a:solidFill>
                  <a:srgbClr val="FFFFFF">
                    <a:alpha val="10000"/>
                  </a:srgbClr>
                </a:solidFill>
                <a:latin typeface="페이퍼로지 8 ExtraBold"/>
                <a:ea typeface="페이퍼로지 8 ExtraBold"/>
                <a:cs typeface="페이퍼로지 8 ExtraBold"/>
              </a:rPr>
              <a:t>point</a:t>
            </a:r>
            <a:endParaRPr lang="en-US" sz="12200" dirty="0"/>
          </a:p>
        </p:txBody>
      </p:sp>
      <p:pic>
        <p:nvPicPr>
          <p:cNvPr id="7" name="Image 1" descr="하이텔레서비스 로고">
            <a:extLst>
              <a:ext uri="{FF2B5EF4-FFF2-40B4-BE49-F238E27FC236}">
                <a16:creationId xmlns:a16="http://schemas.microsoft.com/office/drawing/2014/main" id="{F537153C-E714-4AE2-BD10-7E77108B48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-310" b="-310"/>
          <a:stretch/>
        </p:blipFill>
        <p:spPr>
          <a:xfrm>
            <a:off x="8762641" y="198536"/>
            <a:ext cx="1073150" cy="319881"/>
          </a:xfrm>
          <a:prstGeom prst="rect">
            <a:avLst/>
          </a:prstGeom>
        </p:spPr>
      </p:pic>
      <p:pic>
        <p:nvPicPr>
          <p:cNvPr id="8" name="Picture 29" descr="image.png">
            <a:extLst>
              <a:ext uri="{FF2B5EF4-FFF2-40B4-BE49-F238E27FC236}">
                <a16:creationId xmlns:a16="http://schemas.microsoft.com/office/drawing/2014/main" id="{E4C9F591-EF24-4695-9EBA-12B317CD22E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197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0" r:id="rId2"/>
    <p:sldLayoutId id="2147483651" r:id="rId3"/>
    <p:sldLayoutId id="2147483652" r:id="rId4"/>
    <p:sldLayoutId id="2147483653" r:id="rId5"/>
    <p:sldLayoutId id="2147483662" r:id="rId6"/>
    <p:sldLayoutId id="2147483655" r:id="rId7"/>
    <p:sldLayoutId id="2147483656" r:id="rId8"/>
    <p:sldLayoutId id="2147483657" r:id="rId9"/>
    <p:sldLayoutId id="2147483661" r:id="rId10"/>
    <p:sldLayoutId id="2147483654" r:id="rId11"/>
  </p:sldLayoutIdLst>
  <p:txStyles>
    <p:titleStyle>
      <a:lvl1pPr algn="l">
        <a:lnSpc>
          <a:spcPct val="90000"/>
        </a:lnSpc>
        <a:spcBef>
          <a:spcPts val="0"/>
        </a:spcBef>
        <a:buNone/>
        <a:defRPr sz="36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812"/>
        </a:spcBef>
        <a:buChar char="•"/>
        <a:defRPr sz="23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406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406"/>
        </a:spcBef>
        <a:buChar char="•"/>
        <a:defRPr sz="16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406"/>
        </a:spcBef>
        <a:buChar char="•"/>
        <a:defRPr sz="15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406"/>
        </a:spcBef>
        <a:buChar char="•"/>
        <a:defRPr sz="15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406"/>
        </a:spcBef>
        <a:buChar char="•"/>
        <a:defRPr sz="15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406"/>
        </a:spcBef>
        <a:buChar char="•"/>
        <a:defRPr sz="15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406"/>
        </a:spcBef>
        <a:buChar char="•"/>
        <a:defRPr sz="15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406"/>
        </a:spcBef>
        <a:buChar char="•"/>
        <a:defRPr sz="15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5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5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5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5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5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5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5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5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5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7.png"/><Relationship Id="rId5" Type="http://schemas.openxmlformats.org/officeDocument/2006/relationships/image" Target="../media/image6.jp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8.jp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chart" Target="../charts/chart3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Relationship Id="rId9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7" Type="http://schemas.openxmlformats.org/officeDocument/2006/relationships/chart" Target="../charts/chart7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6.xml"/><Relationship Id="rId5" Type="http://schemas.openxmlformats.org/officeDocument/2006/relationships/chart" Target="../charts/chart5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8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jpg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18" Type="http://schemas.openxmlformats.org/officeDocument/2006/relationships/image" Target="../media/image34.png"/><Relationship Id="rId3" Type="http://schemas.openxmlformats.org/officeDocument/2006/relationships/image" Target="../media/image2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17" Type="http://schemas.openxmlformats.org/officeDocument/2006/relationships/image" Target="../media/image33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4" Type="http://schemas.openxmlformats.org/officeDocument/2006/relationships/image" Target="../media/image4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2.png"/><Relationship Id="rId3" Type="http://schemas.openxmlformats.org/officeDocument/2006/relationships/notesSlide" Target="../notesSlides/notesSlide18.xml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2" Type="http://schemas.openxmlformats.org/officeDocument/2006/relationships/slideLayout" Target="../slideLayouts/slideLayout9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9.jpg"/><Relationship Id="rId18" Type="http://schemas.openxmlformats.org/officeDocument/2006/relationships/image" Target="../media/image54.jpg"/><Relationship Id="rId3" Type="http://schemas.openxmlformats.org/officeDocument/2006/relationships/image" Target="../media/image41.png"/><Relationship Id="rId7" Type="http://schemas.openxmlformats.org/officeDocument/2006/relationships/image" Target="../media/image47.png"/><Relationship Id="rId12" Type="http://schemas.openxmlformats.org/officeDocument/2006/relationships/image" Target="../media/image2.png"/><Relationship Id="rId17" Type="http://schemas.openxmlformats.org/officeDocument/2006/relationships/image" Target="../media/image53.jp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52.jp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6.png"/><Relationship Id="rId11" Type="http://schemas.openxmlformats.org/officeDocument/2006/relationships/image" Target="../media/image48.png"/><Relationship Id="rId5" Type="http://schemas.openxmlformats.org/officeDocument/2006/relationships/image" Target="../media/image45.png"/><Relationship Id="rId15" Type="http://schemas.openxmlformats.org/officeDocument/2006/relationships/image" Target="../media/image51.jpg"/><Relationship Id="rId10" Type="http://schemas.openxmlformats.org/officeDocument/2006/relationships/image" Target="../media/image39.png"/><Relationship Id="rId4" Type="http://schemas.openxmlformats.org/officeDocument/2006/relationships/image" Target="../media/image44.png"/><Relationship Id="rId9" Type="http://schemas.openxmlformats.org/officeDocument/2006/relationships/image" Target="../media/image40.png"/><Relationship Id="rId14" Type="http://schemas.openxmlformats.org/officeDocument/2006/relationships/image" Target="../media/image50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40.png"/><Relationship Id="rId18" Type="http://schemas.openxmlformats.org/officeDocument/2006/relationships/image" Target="../media/image2.png"/><Relationship Id="rId3" Type="http://schemas.openxmlformats.org/officeDocument/2006/relationships/image" Target="../media/image55.png"/><Relationship Id="rId7" Type="http://schemas.openxmlformats.org/officeDocument/2006/relationships/image" Target="../media/image43.png"/><Relationship Id="rId12" Type="http://schemas.openxmlformats.org/officeDocument/2006/relationships/image" Target="../media/image63.png"/><Relationship Id="rId17" Type="http://schemas.openxmlformats.org/officeDocument/2006/relationships/image" Target="../media/image65.png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64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8.png"/><Relationship Id="rId11" Type="http://schemas.openxmlformats.org/officeDocument/2006/relationships/image" Target="../media/image62.png"/><Relationship Id="rId5" Type="http://schemas.openxmlformats.org/officeDocument/2006/relationships/image" Target="../media/image57.png"/><Relationship Id="rId15" Type="http://schemas.openxmlformats.org/officeDocument/2006/relationships/image" Target="../media/image39.png"/><Relationship Id="rId10" Type="http://schemas.openxmlformats.org/officeDocument/2006/relationships/image" Target="../media/image61.png"/><Relationship Id="rId4" Type="http://schemas.openxmlformats.org/officeDocument/2006/relationships/image" Target="../media/image56.png"/><Relationship Id="rId9" Type="http://schemas.openxmlformats.org/officeDocument/2006/relationships/image" Target="../media/image60.png"/><Relationship Id="rId14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76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12" Type="http://schemas.openxmlformats.org/officeDocument/2006/relationships/image" Target="../media/image75.png"/><Relationship Id="rId2" Type="http://schemas.openxmlformats.org/officeDocument/2006/relationships/notesSlide" Target="../notesSlides/notesSlide2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69.png"/><Relationship Id="rId11" Type="http://schemas.openxmlformats.org/officeDocument/2006/relationships/image" Target="../media/image74.png"/><Relationship Id="rId5" Type="http://schemas.openxmlformats.org/officeDocument/2006/relationships/image" Target="../media/image68.png"/><Relationship Id="rId15" Type="http://schemas.openxmlformats.org/officeDocument/2006/relationships/image" Target="../media/image78.png"/><Relationship Id="rId10" Type="http://schemas.openxmlformats.org/officeDocument/2006/relationships/image" Target="../media/image73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Relationship Id="rId14" Type="http://schemas.openxmlformats.org/officeDocument/2006/relationships/image" Target="../media/image7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Relationship Id="rId5" Type="http://schemas.openxmlformats.org/officeDocument/2006/relationships/chart" Target="../charts/chart8.xml"/><Relationship Id="rId4" Type="http://schemas.openxmlformats.org/officeDocument/2006/relationships/image" Target="../media/image7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80.png"/><Relationship Id="rId7" Type="http://schemas.openxmlformats.org/officeDocument/2006/relationships/image" Target="../media/image8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35.png"/><Relationship Id="rId7" Type="http://schemas.openxmlformats.org/officeDocument/2006/relationships/image" Target="../media/image8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0.png"/><Relationship Id="rId11" Type="http://schemas.openxmlformats.org/officeDocument/2006/relationships/image" Target="../media/image2.png"/><Relationship Id="rId5" Type="http://schemas.openxmlformats.org/officeDocument/2006/relationships/image" Target="../media/image37.png"/><Relationship Id="rId10" Type="http://schemas.openxmlformats.org/officeDocument/2006/relationships/image" Target="../media/image89.png"/><Relationship Id="rId4" Type="http://schemas.openxmlformats.org/officeDocument/2006/relationships/image" Target="../media/image85.png"/><Relationship Id="rId9" Type="http://schemas.openxmlformats.org/officeDocument/2006/relationships/image" Target="../media/image8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3" Type="http://schemas.openxmlformats.org/officeDocument/2006/relationships/image" Target="../media/image94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97.png"/><Relationship Id="rId11" Type="http://schemas.openxmlformats.org/officeDocument/2006/relationships/image" Target="../media/image2.png"/><Relationship Id="rId5" Type="http://schemas.openxmlformats.org/officeDocument/2006/relationships/image" Target="../media/image96.png"/><Relationship Id="rId10" Type="http://schemas.openxmlformats.org/officeDocument/2006/relationships/image" Target="../media/image56.png"/><Relationship Id="rId4" Type="http://schemas.openxmlformats.org/officeDocument/2006/relationships/image" Target="../media/image95.png"/><Relationship Id="rId9" Type="http://schemas.openxmlformats.org/officeDocument/2006/relationships/image" Target="../media/image3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.png"/><Relationship Id="rId4" Type="http://schemas.openxmlformats.org/officeDocument/2006/relationships/chart" Target="../charts/chart1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3" Type="http://schemas.openxmlformats.org/officeDocument/2006/relationships/image" Target="../media/image2.png"/><Relationship Id="rId7" Type="http://schemas.openxmlformats.org/officeDocument/2006/relationships/image" Target="../media/image10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9.xml"/><Relationship Id="rId6" Type="http://schemas.microsoft.com/office/2007/relationships/hdphoto" Target="../media/hdphoto1.wdp"/><Relationship Id="rId11" Type="http://schemas.microsoft.com/office/2007/relationships/hdphoto" Target="../media/hdphoto2.wdp"/><Relationship Id="rId5" Type="http://schemas.openxmlformats.org/officeDocument/2006/relationships/image" Target="../media/image100.png"/><Relationship Id="rId10" Type="http://schemas.openxmlformats.org/officeDocument/2006/relationships/image" Target="../media/image104.png"/><Relationship Id="rId4" Type="http://schemas.openxmlformats.org/officeDocument/2006/relationships/image" Target="../media/image99.png"/><Relationship Id="rId9" Type="http://schemas.openxmlformats.org/officeDocument/2006/relationships/image" Target="../media/image103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3" Type="http://schemas.openxmlformats.org/officeDocument/2006/relationships/image" Target="../media/image2.png"/><Relationship Id="rId7" Type="http://schemas.openxmlformats.org/officeDocument/2006/relationships/image" Target="../media/image10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06.png"/><Relationship Id="rId5" Type="http://schemas.openxmlformats.org/officeDocument/2006/relationships/chart" Target="../charts/chart12.xml"/><Relationship Id="rId4" Type="http://schemas.openxmlformats.org/officeDocument/2006/relationships/image" Target="../media/image105.png"/><Relationship Id="rId9" Type="http://schemas.microsoft.com/office/2007/relationships/hdphoto" Target="../media/hdphoto3.wdp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13" Type="http://schemas.microsoft.com/office/2007/relationships/hdphoto" Target="../media/hdphoto7.wdp"/><Relationship Id="rId18" Type="http://schemas.openxmlformats.org/officeDocument/2006/relationships/image" Target="../media/image118.png"/><Relationship Id="rId3" Type="http://schemas.openxmlformats.org/officeDocument/2006/relationships/image" Target="../media/image2.png"/><Relationship Id="rId7" Type="http://schemas.microsoft.com/office/2007/relationships/hdphoto" Target="../media/hdphoto4.wdp"/><Relationship Id="rId12" Type="http://schemas.openxmlformats.org/officeDocument/2006/relationships/image" Target="../media/image114.png"/><Relationship Id="rId17" Type="http://schemas.openxmlformats.org/officeDocument/2006/relationships/image" Target="../media/image117.png"/><Relationship Id="rId2" Type="http://schemas.openxmlformats.org/officeDocument/2006/relationships/notesSlide" Target="../notesSlides/notesSlide39.xml"/><Relationship Id="rId16" Type="http://schemas.openxmlformats.org/officeDocument/2006/relationships/image" Target="../media/image116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11.png"/><Relationship Id="rId11" Type="http://schemas.microsoft.com/office/2007/relationships/hdphoto" Target="../media/hdphoto6.wdp"/><Relationship Id="rId5" Type="http://schemas.openxmlformats.org/officeDocument/2006/relationships/image" Target="../media/image110.png"/><Relationship Id="rId15" Type="http://schemas.microsoft.com/office/2007/relationships/hdphoto" Target="../media/hdphoto8.wdp"/><Relationship Id="rId10" Type="http://schemas.openxmlformats.org/officeDocument/2006/relationships/image" Target="../media/image113.png"/><Relationship Id="rId19" Type="http://schemas.openxmlformats.org/officeDocument/2006/relationships/image" Target="../media/image119.png"/><Relationship Id="rId4" Type="http://schemas.openxmlformats.org/officeDocument/2006/relationships/image" Target="../media/image109.png"/><Relationship Id="rId9" Type="http://schemas.microsoft.com/office/2007/relationships/hdphoto" Target="../media/hdphoto5.wdp"/><Relationship Id="rId14" Type="http://schemas.openxmlformats.org/officeDocument/2006/relationships/image" Target="../media/image115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png"/><Relationship Id="rId3" Type="http://schemas.openxmlformats.org/officeDocument/2006/relationships/image" Target="../media/image2.png"/><Relationship Id="rId7" Type="http://schemas.openxmlformats.org/officeDocument/2006/relationships/image" Target="../media/image12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22.png"/><Relationship Id="rId5" Type="http://schemas.openxmlformats.org/officeDocument/2006/relationships/image" Target="../media/image121.png"/><Relationship Id="rId4" Type="http://schemas.openxmlformats.org/officeDocument/2006/relationships/image" Target="../media/image120.png"/><Relationship Id="rId9" Type="http://schemas.openxmlformats.org/officeDocument/2006/relationships/image" Target="../media/image12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27.png"/><Relationship Id="rId4" Type="http://schemas.openxmlformats.org/officeDocument/2006/relationships/image" Target="../media/image12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9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2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5.png"/><Relationship Id="rId5" Type="http://schemas.openxmlformats.org/officeDocument/2006/relationships/image" Target="../media/image39.png"/><Relationship Id="rId4" Type="http://schemas.openxmlformats.org/officeDocument/2006/relationships/image" Target="../media/image128.png"/></Relationships>
</file>

<file path=ppt/slides/_rels/slide46.xml.rels><?xml version="1.0" encoding="UTF-8" standalone="yes"?>
<Relationships xmlns="http://schemas.openxmlformats.org/package/2006/relationships"><Relationship Id="rId8" Type="http://schemas.microsoft.com/office/2007/relationships/hdphoto" Target="../media/hdphoto9.wdp"/><Relationship Id="rId3" Type="http://schemas.openxmlformats.org/officeDocument/2006/relationships/image" Target="../media/image2.png"/><Relationship Id="rId7" Type="http://schemas.openxmlformats.org/officeDocument/2006/relationships/image" Target="../media/image13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0.xml"/><Relationship Id="rId6" Type="http://schemas.openxmlformats.org/officeDocument/2006/relationships/chart" Target="../charts/chart15.xml"/><Relationship Id="rId5" Type="http://schemas.openxmlformats.org/officeDocument/2006/relationships/chart" Target="../charts/chart14.xml"/><Relationship Id="rId4" Type="http://schemas.openxmlformats.org/officeDocument/2006/relationships/chart" Target="../charts/chart1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chart" Target="../charts/chart19.xm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0.xml"/><Relationship Id="rId6" Type="http://schemas.openxmlformats.org/officeDocument/2006/relationships/chart" Target="../charts/chart18.xml"/><Relationship Id="rId5" Type="http://schemas.openxmlformats.org/officeDocument/2006/relationships/chart" Target="../charts/chart17.xml"/><Relationship Id="rId4" Type="http://schemas.openxmlformats.org/officeDocument/2006/relationships/chart" Target="../charts/chart1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28.png"/><Relationship Id="rId5" Type="http://schemas.openxmlformats.org/officeDocument/2006/relationships/image" Target="../media/image132.png"/><Relationship Id="rId4" Type="http://schemas.openxmlformats.org/officeDocument/2006/relationships/image" Target="../media/image131.jp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jp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6" y="1565776"/>
            <a:ext cx="9914712" cy="4878164"/>
          </a:xfrm>
          <a:prstGeom prst="rect">
            <a:avLst/>
          </a:prstGeom>
        </p:spPr>
      </p:pic>
      <p:pic>
        <p:nvPicPr>
          <p:cNvPr id="9" name="cover_motion">
            <a:hlinkClick r:id="" action="ppaction://media"/>
            <a:extLst>
              <a:ext uri="{FF2B5EF4-FFF2-40B4-BE49-F238E27FC236}">
                <a16:creationId xmlns:a16="http://schemas.microsoft.com/office/drawing/2014/main" id="{0D104A14-0E02-487E-B37B-AC81311EB7B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0" y="1565775"/>
            <a:ext cx="9921690" cy="4878164"/>
          </a:xfrm>
          <a:prstGeom prst="rect">
            <a:avLst/>
          </a:prstGeom>
        </p:spPr>
      </p:pic>
      <p:pic>
        <p:nvPicPr>
          <p:cNvPr id="2" name="그림 15">
            <a:extLst>
              <a:ext uri="{FF2B5EF4-FFF2-40B4-BE49-F238E27FC236}">
                <a16:creationId xmlns:a16="http://schemas.microsoft.com/office/drawing/2014/main" id="{7DC709C5-D5FD-4723-9C34-9FF7337DFB57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/>
        </p:blipFill>
        <p:spPr>
          <a:xfrm>
            <a:off x="8312432" y="134528"/>
            <a:ext cx="1593568" cy="472083"/>
          </a:xfrm>
          <a:prstGeom prst="rect">
            <a:avLst/>
          </a:prstGeom>
        </p:spPr>
      </p:pic>
      <p:sp>
        <p:nvSpPr>
          <p:cNvPr id="8" name="직사각형 3">
            <a:extLst>
              <a:ext uri="{FF2B5EF4-FFF2-40B4-BE49-F238E27FC236}">
                <a16:creationId xmlns:a16="http://schemas.microsoft.com/office/drawing/2014/main" id="{18B789BF-0D5A-4510-B7BD-71BF806DB77F}"/>
              </a:ext>
            </a:extLst>
          </p:cNvPr>
          <p:cNvSpPr>
            <a:spLocks noGrp="1"/>
          </p:cNvSpPr>
          <p:nvPr userDrawn="1"/>
        </p:nvSpPr>
        <p:spPr>
          <a:xfrm>
            <a:off x="503715" y="332038"/>
            <a:ext cx="4333875" cy="285750"/>
          </a:xfrm>
          <a:prstGeom prst="rect">
            <a:avLst/>
          </a:prstGeom>
          <a:noFill/>
          <a:ln w="0">
            <a:noFill/>
          </a:ln>
        </p:spPr>
        <p:txBody>
          <a:bodyPr lIns="74295" rIns="74295">
            <a:noAutofit/>
          </a:bodyPr>
          <a:lstStyle/>
          <a:p>
            <a:pPr algn="l">
              <a:buNone/>
              <a:defRPr sz="1000" b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defRPr>
            </a:pPr>
            <a:r>
              <a:rPr sz="1000" b="0" dirty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㈜</a:t>
            </a:r>
            <a:r>
              <a:rPr sz="1000" b="0" dirty="0" err="1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하이텔레서비스</a:t>
            </a:r>
            <a:r>
              <a:rPr sz="1000" b="0" dirty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 2027년 </a:t>
            </a:r>
            <a:r>
              <a:rPr sz="1000" b="0" dirty="0" err="1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사업자</a:t>
            </a:r>
            <a:r>
              <a:rPr sz="1000" b="0" dirty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  <a:r>
              <a:rPr sz="1000" b="0" dirty="0" err="1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선정</a:t>
            </a:r>
            <a:endParaRPr sz="1000" b="0" dirty="0">
              <a:solidFill>
                <a:srgbClr val="A50034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2322840-B21B-4CA9-A7E4-A689229156E2}"/>
              </a:ext>
            </a:extLst>
          </p:cNvPr>
          <p:cNvSpPr>
            <a:spLocks noGrp="1"/>
          </p:cNvSpPr>
          <p:nvPr userDrawn="1"/>
        </p:nvSpPr>
        <p:spPr>
          <a:xfrm>
            <a:off x="481680" y="612357"/>
            <a:ext cx="5830983" cy="638202"/>
          </a:xfrm>
          <a:prstGeom prst="rect">
            <a:avLst/>
          </a:prstGeom>
          <a:noFill/>
          <a:ln w="0">
            <a:noFill/>
          </a:ln>
        </p:spPr>
        <p:txBody>
          <a:bodyPr lIns="74295" rIns="74295">
            <a:noAutofit/>
          </a:bodyPr>
          <a:lstStyle/>
          <a:p>
            <a:pPr algn="l">
              <a:buNone/>
              <a:defRPr sz="2900" b="0">
                <a:solidFill>
                  <a:srgbClr val="0F131F"/>
                </a:solidFill>
                <a:latin typeface="페이퍼로지 8 ExtraBold"/>
                <a:ea typeface="페이퍼로지 8 ExtraBold"/>
                <a:cs typeface="페이퍼로지 8 ExtraBold"/>
              </a:defRPr>
            </a:pPr>
            <a:r>
              <a:rPr sz="2900" b="0" dirty="0" err="1">
                <a:solidFill>
                  <a:srgbClr val="0F131F"/>
                </a:solidFill>
                <a:latin typeface="페이퍼로지 8 ExtraBold"/>
                <a:ea typeface="페이퍼로지 8 ExtraBold"/>
                <a:cs typeface="페이퍼로지 8 ExtraBold"/>
              </a:rPr>
              <a:t>LG전자</a:t>
            </a:r>
            <a:r>
              <a:rPr sz="2900" b="0" dirty="0">
                <a:solidFill>
                  <a:srgbClr val="0F131F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  <a:r>
              <a:rPr sz="2900" b="0" dirty="0" err="1">
                <a:solidFill>
                  <a:srgbClr val="0F131F"/>
                </a:solidFill>
                <a:latin typeface="페이퍼로지 8 ExtraBold"/>
                <a:ea typeface="페이퍼로지 8 ExtraBold"/>
                <a:cs typeface="페이퍼로지 8 ExtraBold"/>
              </a:rPr>
              <a:t>고객센터</a:t>
            </a:r>
            <a:r>
              <a:rPr lang="en-US" altLang="ko-KR" sz="2900" dirty="0">
                <a:solidFill>
                  <a:srgbClr val="0F131F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  <a:r>
              <a:rPr sz="2900" b="0" dirty="0" err="1">
                <a:solidFill>
                  <a:srgbClr val="0F131F"/>
                </a:solidFill>
                <a:latin typeface="페이퍼로지 8 ExtraBold"/>
                <a:ea typeface="페이퍼로지 8 ExtraBold"/>
                <a:cs typeface="페이퍼로지 8 ExtraBold"/>
              </a:rPr>
              <a:t>위탁운영</a:t>
            </a:r>
            <a:r>
              <a:rPr sz="2900" b="0" dirty="0">
                <a:solidFill>
                  <a:srgbClr val="0F131F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  <a:r>
              <a:rPr sz="2900" b="0" dirty="0" err="1">
                <a:solidFill>
                  <a:srgbClr val="0F131F"/>
                </a:solidFill>
                <a:latin typeface="페이퍼로지 8 ExtraBold"/>
                <a:ea typeface="페이퍼로지 8 ExtraBold"/>
                <a:cs typeface="페이퍼로지 8 ExtraBold"/>
              </a:rPr>
              <a:t>제안</a:t>
            </a:r>
            <a:endParaRPr sz="2900" b="0" dirty="0">
              <a:solidFill>
                <a:srgbClr val="0F131F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CA645C63-1EEE-4A2F-841F-2FA7A7480271}"/>
              </a:ext>
            </a:extLst>
          </p:cNvPr>
          <p:cNvSpPr/>
          <p:nvPr userDrawn="1"/>
        </p:nvSpPr>
        <p:spPr>
          <a:xfrm>
            <a:off x="-6" y="4588820"/>
            <a:ext cx="9906000" cy="3329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072"/>
              </a:lnSpc>
              <a:buNone/>
            </a:pPr>
            <a:r>
              <a:rPr lang="en-US" sz="1800" b="0" dirty="0">
                <a:solidFill>
                  <a:schemeClr val="bg1"/>
                </a:solidFill>
                <a:latin typeface="페이퍼로지 8 ExtraBold"/>
                <a:ea typeface="페이퍼로지 8 ExtraBold"/>
                <a:cs typeface="페이퍼로지 8 ExtraBold"/>
              </a:rPr>
              <a:t>신뢰와 감동을 주는 고객 커뮤니케이션의 중심</a:t>
            </a: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1E943B7B-8312-4BCC-AD0A-18DA02949440}"/>
              </a:ext>
            </a:extLst>
          </p:cNvPr>
          <p:cNvSpPr/>
          <p:nvPr userDrawn="1"/>
        </p:nvSpPr>
        <p:spPr>
          <a:xfrm>
            <a:off x="583890" y="1163689"/>
            <a:ext cx="3227943" cy="186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ko-KR" altLang="en-US" sz="1000" dirty="0">
                <a:latin typeface="페이퍼로지 5 Medium"/>
                <a:ea typeface="페이퍼로지 5 Medium"/>
                <a:cs typeface="페이퍼로지 5 Medium"/>
              </a:rPr>
              <a:t>2026. 10.  제안사 ㈜</a:t>
            </a:r>
            <a:r>
              <a:rPr lang="ko-KR" altLang="en-US" sz="1000" dirty="0" err="1">
                <a:latin typeface="페이퍼로지 5 Medium"/>
                <a:ea typeface="페이퍼로지 5 Medium"/>
                <a:cs typeface="페이퍼로지 5 Medium"/>
              </a:rPr>
              <a:t>케이티아이에스</a:t>
            </a:r>
            <a:endParaRPr lang="ko-KR" altLang="en-US" sz="1000" dirty="0">
              <a:latin typeface="페이퍼로지 5 Medium"/>
              <a:ea typeface="페이퍼로지 5 Medium"/>
              <a:cs typeface="페이퍼로지 5 Medium"/>
            </a:endParaRPr>
          </a:p>
        </p:txBody>
      </p:sp>
      <p:pic>
        <p:nvPicPr>
          <p:cNvPr id="13" name="Picture 29" descr="image.png">
            <a:extLst>
              <a:ext uri="{FF2B5EF4-FFF2-40B4-BE49-F238E27FC236}">
                <a16:creationId xmlns:a16="http://schemas.microsoft.com/office/drawing/2014/main" id="{6EA8D2EC-3BFE-4C81-8AAF-7328A397A730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  <p:sp>
        <p:nvSpPr>
          <p:cNvPr id="10" name="click_cover">
            <a:extLst>
              <a:ext uri="{FF2B5EF4-FFF2-40B4-BE49-F238E27FC236}">
                <a16:creationId xmlns:a16="http://schemas.microsoft.com/office/drawing/2014/main" id="{D69A6EE3-1C0E-4542-B41F-EDE64306CE07}"/>
              </a:ext>
            </a:extLst>
          </p:cNvPr>
          <p:cNvSpPr/>
          <p:nvPr/>
        </p:nvSpPr>
        <p:spPr>
          <a:xfrm>
            <a:off x="0" y="1565775"/>
            <a:ext cx="9921690" cy="4878164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next_click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5B81ED9-DD31-4BDA-BAAF-ECC528955D8F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613456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0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그림 35">
            <a:extLst>
              <a:ext uri="{FF2B5EF4-FFF2-40B4-BE49-F238E27FC236}">
                <a16:creationId xmlns:a16="http://schemas.microsoft.com/office/drawing/2014/main" id="{28D0F201-7DFC-46E0-8DC4-85D2C125B8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45" name="직사각형 44">
            <a:extLst>
              <a:ext uri="{FF2B5EF4-FFF2-40B4-BE49-F238E27FC236}">
                <a16:creationId xmlns:a16="http://schemas.microsoft.com/office/drawing/2014/main" id="{F3F9FD37-2ECB-4DDD-99CE-F0A8F131E3B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906000" cy="6858000"/>
          </a:xfrm>
          <a:prstGeom prst="rect">
            <a:avLst/>
          </a:prstGeom>
          <a:gradFill>
            <a:gsLst>
              <a:gs pos="0">
                <a:srgbClr val="16040A">
                  <a:alpha val="97000"/>
                </a:srgbClr>
              </a:gs>
              <a:gs pos="23000">
                <a:srgbClr val="24040E">
                  <a:alpha val="90000"/>
                </a:srgbClr>
              </a:gs>
              <a:gs pos="56000">
                <a:srgbClr val="4F061C">
                  <a:alpha val="62000"/>
                </a:srgbClr>
              </a:gs>
              <a:gs pos="90000">
                <a:srgbClr val="A50034">
                  <a:alpha val="61000"/>
                </a:srgbClr>
              </a:gs>
            </a:gsLst>
            <a:lin ang="0"/>
          </a:gradFill>
          <a:ln w="0">
            <a:noFill/>
          </a:ln>
        </p:spPr>
        <p:txBody>
          <a:bodyPr lIns="74295" rIns="74295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46138" y="651435"/>
            <a:ext cx="8461375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000" b="0" dirty="0">
                <a:solidFill>
                  <a:schemeClr val="bg1"/>
                </a:solidFill>
                <a:latin typeface="페이퍼로지 8 ExtraBold"/>
                <a:ea typeface="페이퍼로지 8 ExtraBold"/>
                <a:cs typeface="페이퍼로지 8 ExtraBold"/>
              </a:rPr>
              <a:t>3년간 이미 검증된 </a:t>
            </a:r>
            <a:r>
              <a:rPr lang="ko-KR" sz="2000" b="0" dirty="0" err="1">
                <a:solidFill>
                  <a:schemeClr val="bg1"/>
                </a:solidFill>
                <a:latin typeface="페이퍼로지 8 ExtraBold"/>
                <a:ea typeface="페이퍼로지 8 ExtraBold"/>
                <a:cs typeface="페이퍼로지 8 ExtraBold"/>
              </a:rPr>
              <a:t>운영사</a:t>
            </a:r>
            <a:r>
              <a:rPr lang="ko-KR" sz="2000" b="0" dirty="0">
                <a:solidFill>
                  <a:schemeClr val="bg1"/>
                </a:solidFill>
                <a:latin typeface="페이퍼로지 8 ExtraBold"/>
                <a:ea typeface="페이퍼로지 8 ExtraBold"/>
                <a:cs typeface="페이퍼로지 8 ExtraBold"/>
              </a:rPr>
              <a:t>, KT </a:t>
            </a:r>
            <a:r>
              <a:rPr lang="ko-KR" sz="2000" b="0" dirty="0" err="1">
                <a:solidFill>
                  <a:schemeClr val="bg1"/>
                </a:solidFill>
                <a:latin typeface="페이퍼로지 8 ExtraBold"/>
                <a:ea typeface="페이퍼로지 8 ExtraBold"/>
                <a:cs typeface="페이퍼로지 8 ExtraBold"/>
              </a:rPr>
              <a:t>IS가</a:t>
            </a:r>
            <a:r>
              <a:rPr lang="ko-KR" sz="2000" b="0" dirty="0">
                <a:solidFill>
                  <a:schemeClr val="bg1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  <a:r>
              <a:rPr lang="ko-KR" sz="20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주5일 상시 운영의 핵심 파트너</a:t>
            </a:r>
            <a:r>
              <a:rPr lang="ko-KR" sz="2000" b="0" dirty="0">
                <a:solidFill>
                  <a:schemeClr val="bg1"/>
                </a:solidFill>
                <a:latin typeface="페이퍼로지 8 ExtraBold"/>
                <a:ea typeface="페이퍼로지 8 ExtraBold"/>
                <a:cs typeface="페이퍼로지 8 ExtraBold"/>
              </a:rPr>
              <a:t>가 되겠습니다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0400" y="1422400"/>
            <a:ext cx="2166938" cy="4826000"/>
          </a:xfrm>
          <a:prstGeom prst="roundRect">
            <a:avLst>
              <a:gd name="adj" fmla="val 5000"/>
            </a:avLst>
          </a:prstGeom>
          <a:solidFill>
            <a:srgbClr val="0F131F"/>
          </a:solidFill>
          <a:ln/>
        </p:spPr>
        <p:txBody>
          <a:bodyPr lIns="74295" rIns="74295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7695" y="1600200"/>
            <a:ext cx="1871446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ko-KR" sz="900" b="0" dirty="0">
                <a:solidFill>
                  <a:srgbClr val="FF6B9A"/>
                </a:solidFill>
                <a:latin typeface="페이퍼로지 8 ExtraBold"/>
                <a:ea typeface="페이퍼로지 8 ExtraBold"/>
                <a:cs typeface="페이퍼로지 8 ExtraBold"/>
              </a:rPr>
              <a:t>WHY KT IS</a:t>
            </a:r>
          </a:p>
        </p:txBody>
      </p:sp>
      <p:sp>
        <p:nvSpPr>
          <p:cNvPr id="8" name="Rectangle 7"/>
          <p:cNvSpPr/>
          <p:nvPr/>
        </p:nvSpPr>
        <p:spPr>
          <a:xfrm>
            <a:off x="837695" y="1819275"/>
            <a:ext cx="1871446" cy="1219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ko-KR" sz="1800" b="0" dirty="0" err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LG전자</a:t>
            </a:r>
            <a:r>
              <a:rPr lang="ko-KR" sz="18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 업무를</a:t>
            </a:r>
          </a:p>
          <a:p>
            <a:pPr algn="l">
              <a:lnSpc>
                <a:spcPct val="130000"/>
              </a:lnSpc>
            </a:pPr>
            <a:r>
              <a:rPr lang="ko-KR" sz="1800" b="0" dirty="0">
                <a:solidFill>
                  <a:srgbClr val="FF6B9A"/>
                </a:solidFill>
                <a:latin typeface="페이퍼로지 8 ExtraBold"/>
                <a:ea typeface="페이퍼로지 8 ExtraBold"/>
                <a:cs typeface="페이퍼로지 8 ExtraBold"/>
              </a:rPr>
              <a:t>3년간 직접</a:t>
            </a:r>
          </a:p>
          <a:p>
            <a:pPr algn="l">
              <a:lnSpc>
                <a:spcPct val="130000"/>
              </a:lnSpc>
            </a:pPr>
            <a:r>
              <a:rPr lang="ko-KR" sz="18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수행한 </a:t>
            </a:r>
            <a:r>
              <a:rPr lang="ko-KR" altLang="en-US" sz="18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운영 경험</a:t>
            </a:r>
            <a:endParaRPr lang="ko-KR" sz="1800" b="0" dirty="0">
              <a:solidFill>
                <a:srgbClr val="FFFFFF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37695" y="3403600"/>
            <a:ext cx="1871446" cy="558800"/>
          </a:xfrm>
          <a:prstGeom prst="roundRect">
            <a:avLst>
              <a:gd name="adj" fmla="val 15000"/>
            </a:avLst>
          </a:prstGeom>
          <a:solidFill>
            <a:srgbClr val="1E2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3825" tIns="76200" rIns="123825" bIns="76200" rtlCol="0" anchor="ctr"/>
          <a:lstStyle/>
          <a:p>
            <a:pPr algn="l">
              <a:lnSpc>
                <a:spcPct val="110000"/>
              </a:lnSpc>
            </a:pPr>
            <a:r>
              <a:rPr lang="ko-KR" sz="1200" b="0" dirty="0">
                <a:solidFill>
                  <a:srgbClr val="FF6B9A"/>
                </a:solidFill>
                <a:latin typeface="페이퍼로지 8 ExtraBold"/>
                <a:ea typeface="페이퍼로지 8 ExtraBold"/>
                <a:cs typeface="페이퍼로지 8 ExtraBold"/>
              </a:rPr>
              <a:t>①  </a:t>
            </a:r>
            <a:r>
              <a:rPr lang="ko-KR" sz="1200" b="0" dirty="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3년 직접 수행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7695" y="4064000"/>
            <a:ext cx="1871446" cy="558800"/>
          </a:xfrm>
          <a:prstGeom prst="roundRect">
            <a:avLst>
              <a:gd name="adj" fmla="val 15000"/>
            </a:avLst>
          </a:prstGeom>
          <a:solidFill>
            <a:srgbClr val="1E2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3825" tIns="76200" rIns="123825" bIns="76200" rtlCol="0" anchor="ctr"/>
          <a:lstStyle/>
          <a:p>
            <a:pPr algn="l">
              <a:lnSpc>
                <a:spcPct val="110000"/>
              </a:lnSpc>
            </a:pPr>
            <a:r>
              <a:rPr lang="ko-KR" sz="1200" b="0" dirty="0">
                <a:solidFill>
                  <a:srgbClr val="FF6B9A"/>
                </a:solidFill>
                <a:latin typeface="페이퍼로지 8 ExtraBold"/>
                <a:ea typeface="페이퍼로지 8 ExtraBold"/>
                <a:cs typeface="페이퍼로지 8 ExtraBold"/>
              </a:rPr>
              <a:t>②  </a:t>
            </a:r>
            <a:r>
              <a:rPr lang="ko-KR" sz="1200" b="0" dirty="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주4일</a:t>
            </a:r>
            <a:r>
              <a:rPr lang="ko-KR" altLang="en-US" sz="1200" b="0" dirty="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제</a:t>
            </a:r>
            <a:r>
              <a:rPr lang="en-US" altLang="ko-KR" sz="1200" b="0" dirty="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(</a:t>
            </a:r>
            <a:r>
              <a:rPr lang="ko-KR" altLang="en-US" sz="1200" b="0" dirty="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토</a:t>
            </a:r>
            <a:r>
              <a:rPr lang="en-US" altLang="ko-KR" sz="1200" b="0" dirty="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,</a:t>
            </a:r>
            <a:r>
              <a:rPr lang="ko-KR" altLang="en-US" sz="1200" b="0" dirty="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일</a:t>
            </a:r>
            <a:r>
              <a:rPr lang="en-US" altLang="ko-KR" sz="1200" b="0" dirty="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,</a:t>
            </a:r>
            <a:r>
              <a:rPr lang="ko-KR" altLang="en-US" sz="1200" b="0" dirty="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월</a:t>
            </a:r>
            <a:r>
              <a:rPr lang="en-US" altLang="ko-KR" sz="1200" b="0" dirty="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,</a:t>
            </a:r>
            <a:r>
              <a:rPr lang="ko-KR" altLang="en-US" sz="1200" b="0" dirty="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화</a:t>
            </a:r>
            <a:r>
              <a:rPr lang="en-US" altLang="ko-KR" sz="1200" b="0" dirty="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)</a:t>
            </a:r>
            <a:endParaRPr lang="ko-KR" sz="1200" b="0" dirty="0">
              <a:solidFill>
                <a:srgbClr val="FFFFFF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37695" y="4724400"/>
            <a:ext cx="1871446" cy="558800"/>
          </a:xfrm>
          <a:prstGeom prst="roundRect">
            <a:avLst>
              <a:gd name="adj" fmla="val 15000"/>
            </a:avLst>
          </a:prstGeom>
          <a:solidFill>
            <a:srgbClr val="1E2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3825" tIns="76200" rIns="123825" bIns="76200" rtlCol="0" anchor="ctr"/>
          <a:lstStyle/>
          <a:p>
            <a:pPr>
              <a:lnSpc>
                <a:spcPct val="110000"/>
              </a:lnSpc>
            </a:pPr>
            <a:r>
              <a:rPr lang="ko-KR" altLang="ko-KR" sz="1200" b="0" dirty="0">
                <a:solidFill>
                  <a:srgbClr val="FF6B9A"/>
                </a:solidFill>
                <a:latin typeface="페이퍼로지 8 ExtraBold"/>
                <a:ea typeface="페이퍼로지 8 ExtraBold"/>
                <a:cs typeface="페이퍼로지 8 ExtraBold"/>
              </a:rPr>
              <a:t>③ </a:t>
            </a:r>
            <a:r>
              <a:rPr lang="ko-KR" altLang="ko-KR" sz="1200" dirty="0">
                <a:solidFill>
                  <a:srgbClr val="FFFFFF"/>
                </a:solidFill>
                <a:cs typeface="페이퍼로지 5 Medium"/>
              </a:rPr>
              <a:t>성수기 </a:t>
            </a:r>
            <a:r>
              <a:rPr lang="ko-KR" altLang="en-US" sz="1200" dirty="0">
                <a:solidFill>
                  <a:srgbClr val="FFFFFF"/>
                </a:solidFill>
                <a:cs typeface="페이퍼로지 5 Medium"/>
              </a:rPr>
              <a:t>운영</a:t>
            </a:r>
            <a:r>
              <a:rPr lang="en-US" altLang="ko-KR" sz="1200" dirty="0">
                <a:solidFill>
                  <a:srgbClr val="FFFFFF"/>
                </a:solidFill>
                <a:cs typeface="페이퍼로지 5 Medium"/>
              </a:rPr>
              <a:t>(3</a:t>
            </a:r>
            <a:r>
              <a:rPr lang="ko-KR" altLang="en-US" sz="1200" dirty="0">
                <a:solidFill>
                  <a:srgbClr val="FFFFFF"/>
                </a:solidFill>
                <a:cs typeface="페이퍼로지 5 Medium"/>
              </a:rPr>
              <a:t>년 운영</a:t>
            </a:r>
            <a:r>
              <a:rPr lang="en-US" altLang="ko-KR" sz="1200" dirty="0">
                <a:solidFill>
                  <a:srgbClr val="FFFFFF"/>
                </a:solidFill>
                <a:cs typeface="페이퍼로지 5 Medium"/>
              </a:rPr>
              <a:t>)</a:t>
            </a:r>
            <a:endParaRPr lang="ko-KR" sz="1200" b="0" dirty="0">
              <a:solidFill>
                <a:srgbClr val="FFFFFF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37695" y="5384800"/>
            <a:ext cx="1871446" cy="558800"/>
          </a:xfrm>
          <a:prstGeom prst="roundRect">
            <a:avLst>
              <a:gd name="adj" fmla="val 15000"/>
            </a:avLst>
          </a:prstGeom>
          <a:solidFill>
            <a:srgbClr val="1E2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3825" tIns="76200" rIns="123825" bIns="76200" rtlCol="0" anchor="ctr"/>
          <a:lstStyle/>
          <a:p>
            <a:pPr>
              <a:lnSpc>
                <a:spcPct val="110000"/>
              </a:lnSpc>
            </a:pPr>
            <a:r>
              <a:rPr lang="ko-KR" sz="1200" b="0" dirty="0">
                <a:solidFill>
                  <a:srgbClr val="FF6B9A"/>
                </a:solidFill>
                <a:latin typeface="페이퍼로지 8 ExtraBold"/>
                <a:ea typeface="페이퍼로지 8 ExtraBold"/>
                <a:cs typeface="페이퍼로지 8 ExtraBold"/>
              </a:rPr>
              <a:t>④ </a:t>
            </a:r>
            <a:r>
              <a:rPr lang="ko-KR" altLang="ko-KR" sz="1200" dirty="0">
                <a:solidFill>
                  <a:srgbClr val="FF6B9A"/>
                </a:solidFill>
                <a:latin typeface="페이퍼로지 8 ExtraBold"/>
                <a:ea typeface="페이퍼로지 8 ExtraBold"/>
              </a:rPr>
              <a:t>KPI </a:t>
            </a:r>
            <a:r>
              <a:rPr lang="ko-KR" altLang="ko-KR" sz="1200" dirty="0" err="1">
                <a:solidFill>
                  <a:srgbClr val="FF6B9A"/>
                </a:solidFill>
                <a:latin typeface="페이퍼로지 8 ExtraBold"/>
                <a:ea typeface="페이퍼로지 8 ExtraBold"/>
              </a:rPr>
              <a:t>우상향</a:t>
            </a:r>
            <a:r>
              <a:rPr lang="ko-KR" altLang="ko-KR" sz="1200" dirty="0">
                <a:solidFill>
                  <a:srgbClr val="FF6B9A"/>
                </a:solidFill>
                <a:latin typeface="페이퍼로지 8 ExtraBold"/>
                <a:ea typeface="페이퍼로지 8 ExtraBold"/>
              </a:rPr>
              <a:t> ·인력 안정</a:t>
            </a:r>
            <a:endParaRPr lang="ko-KR" altLang="en-US" sz="1200" dirty="0">
              <a:solidFill>
                <a:srgbClr val="FF6B9A"/>
              </a:solidFill>
              <a:latin typeface="페이퍼로지 8 ExtraBold"/>
              <a:ea typeface="페이퍼로지 8 ExtraBold"/>
            </a:endParaRPr>
          </a:p>
        </p:txBody>
      </p:sp>
      <p:sp>
        <p:nvSpPr>
          <p:cNvPr id="13" name="Pentagon 12"/>
          <p:cNvSpPr/>
          <p:nvPr/>
        </p:nvSpPr>
        <p:spPr>
          <a:xfrm>
            <a:off x="2945534" y="1422400"/>
            <a:ext cx="2166938" cy="736600"/>
          </a:xfrm>
          <a:prstGeom prst="homePlate">
            <a:avLst>
              <a:gd name="adj" fmla="val 40625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6375" tIns="127000" rIns="206375" bIns="127000" rtlCol="0" anchor="ctr"/>
          <a:lstStyle/>
          <a:p>
            <a:pPr algn="l">
              <a:lnSpc>
                <a:spcPct val="110000"/>
              </a:lnSpc>
            </a:pPr>
            <a:r>
              <a:rPr lang="ko-KR" sz="9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PAST  </a:t>
            </a:r>
            <a:r>
              <a:rPr lang="ko-KR" sz="900" b="0" dirty="0">
                <a:solidFill>
                  <a:srgbClr val="6A7180"/>
                </a:solidFill>
                <a:latin typeface="페이퍼로지 8 ExtraBold"/>
                <a:ea typeface="페이퍼로지 8 ExtraBold"/>
                <a:cs typeface="페이퍼로지 8 ExtraBold"/>
              </a:rPr>
              <a:t>2024~2025</a:t>
            </a:r>
          </a:p>
          <a:p>
            <a:pPr algn="l">
              <a:lnSpc>
                <a:spcPct val="110000"/>
              </a:lnSpc>
            </a:pPr>
            <a:r>
              <a:rPr lang="ko-KR" altLang="en-US" sz="2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경험 축적</a:t>
            </a:r>
            <a:endParaRPr lang="ko-KR" sz="2000" b="0" dirty="0">
              <a:solidFill>
                <a:srgbClr val="10151F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945534" y="2286000"/>
            <a:ext cx="2048741" cy="3962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15" name="Chevron 14"/>
          <p:cNvSpPr/>
          <p:nvPr/>
        </p:nvSpPr>
        <p:spPr>
          <a:xfrm>
            <a:off x="5073072" y="1422400"/>
            <a:ext cx="2166938" cy="736600"/>
          </a:xfrm>
          <a:prstGeom prst="chevron">
            <a:avLst>
              <a:gd name="adj" fmla="val 40625"/>
            </a:avLst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09562" tIns="0" rIns="309562" bIns="0" rtlCol="0" anchor="ctr"/>
          <a:lstStyle/>
          <a:p>
            <a:pPr algn="l">
              <a:lnSpc>
                <a:spcPct val="100000"/>
              </a:lnSpc>
            </a:pPr>
            <a:r>
              <a:rPr lang="ko-KR" sz="9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NOW  </a:t>
            </a:r>
            <a:r>
              <a:rPr lang="ko-KR" sz="900" b="0" dirty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2026</a:t>
            </a:r>
          </a:p>
          <a:p>
            <a:pPr algn="l">
              <a:lnSpc>
                <a:spcPct val="100000"/>
              </a:lnSpc>
            </a:pPr>
            <a:r>
              <a:rPr lang="ko-KR" altLang="en-US" sz="200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성과 입증</a:t>
            </a:r>
            <a:endParaRPr lang="ko-KR" sz="2000" b="0" dirty="0">
              <a:solidFill>
                <a:srgbClr val="10151F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073072" y="2286000"/>
            <a:ext cx="2048741" cy="3962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17" name="Chevron 16"/>
          <p:cNvSpPr/>
          <p:nvPr/>
        </p:nvSpPr>
        <p:spPr>
          <a:xfrm>
            <a:off x="7200611" y="1422400"/>
            <a:ext cx="2166938" cy="736600"/>
          </a:xfrm>
          <a:prstGeom prst="chevron">
            <a:avLst>
              <a:gd name="adj" fmla="val 40625"/>
            </a:avLst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09562" tIns="0" rIns="309562" bIns="0" rtlCol="0" anchor="ctr"/>
          <a:lstStyle/>
          <a:p>
            <a:pPr algn="l">
              <a:lnSpc>
                <a:spcPct val="100000"/>
              </a:lnSpc>
            </a:pPr>
            <a:r>
              <a:rPr lang="ko-KR" sz="900" b="0" dirty="0">
                <a:solidFill>
                  <a:srgbClr val="FFD6E3"/>
                </a:solidFill>
                <a:latin typeface="페이퍼로지 8 ExtraBold"/>
                <a:ea typeface="페이퍼로지 8 ExtraBold"/>
                <a:cs typeface="페이퍼로지 8 ExtraBold"/>
              </a:rPr>
              <a:t>NEXT  </a:t>
            </a:r>
            <a:r>
              <a:rPr lang="ko-KR" sz="900" b="0" dirty="0">
                <a:solidFill>
                  <a:srgbClr val="FFE3EC"/>
                </a:solidFill>
                <a:latin typeface="페이퍼로지 8 ExtraBold"/>
                <a:ea typeface="페이퍼로지 8 ExtraBold"/>
                <a:cs typeface="페이퍼로지 8 ExtraBold"/>
              </a:rPr>
              <a:t>2027~</a:t>
            </a:r>
          </a:p>
          <a:p>
            <a:pPr algn="l">
              <a:lnSpc>
                <a:spcPct val="100000"/>
              </a:lnSpc>
            </a:pPr>
            <a:r>
              <a:rPr lang="ko-KR" altLang="en-US" sz="20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확대 적용</a:t>
            </a:r>
            <a:endParaRPr lang="ko-KR" sz="2000" b="0" dirty="0">
              <a:solidFill>
                <a:srgbClr val="FFFFFF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200611" y="2286000"/>
            <a:ext cx="2048741" cy="3962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0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083429" y="2413000"/>
            <a:ext cx="1772948" cy="482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lang="ko-KR" sz="100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202</a:t>
            </a:r>
            <a:r>
              <a:rPr lang="en-US" altLang="ko-KR" sz="100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4</a:t>
            </a:r>
            <a:r>
              <a:rPr lang="ko-KR" altLang="en-US" sz="100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년</a:t>
            </a:r>
            <a:r>
              <a:rPr lang="ko-KR" sz="100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 성수기 </a:t>
            </a:r>
            <a:r>
              <a:rPr lang="en-US" altLang="ko-KR" sz="100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55</a:t>
            </a:r>
            <a:r>
              <a:rPr lang="ko-KR" sz="100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명</a:t>
            </a:r>
            <a:r>
              <a:rPr lang="en-US" altLang="ko-KR" sz="100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lang="en-US" altLang="ko-KR" sz="100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2025</a:t>
            </a:r>
            <a:r>
              <a:rPr lang="ko-KR" altLang="en-US" sz="100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년 성수기 </a:t>
            </a:r>
            <a:r>
              <a:rPr lang="en-US" altLang="ko-KR" sz="100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60</a:t>
            </a:r>
            <a:r>
              <a:rPr lang="ko-KR" altLang="en-US" sz="100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명</a:t>
            </a:r>
            <a:endParaRPr lang="en-US" altLang="ko-KR" sz="1000" dirty="0">
              <a:solidFill>
                <a:srgbClr val="10151F"/>
              </a:solidFill>
              <a:latin typeface="페이퍼로지 8 ExtraBold"/>
              <a:ea typeface="페이퍼로지 8 ExtraBold"/>
              <a:cs typeface="페이퍼로지 8 ExtraBold"/>
            </a:endParaRPr>
          </a:p>
          <a:p>
            <a:pPr algn="l">
              <a:lnSpc>
                <a:spcPct val="100000"/>
              </a:lnSpc>
            </a:pPr>
            <a:r>
              <a:rPr lang="en-US" altLang="ko-KR" sz="100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2026</a:t>
            </a:r>
            <a:r>
              <a:rPr lang="ko-KR" altLang="en-US" sz="100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년 성수기 </a:t>
            </a:r>
            <a:r>
              <a:rPr lang="en-US" altLang="ko-KR" sz="100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35</a:t>
            </a:r>
            <a:r>
              <a:rPr lang="ko-KR" altLang="en-US" sz="100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명 </a:t>
            </a:r>
            <a:endParaRPr lang="ko-KR" sz="1000" dirty="0">
              <a:solidFill>
                <a:srgbClr val="10151F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3004632" y="2641600"/>
          <a:ext cx="1930544" cy="139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1" name="Rectangle 20"/>
          <p:cNvSpPr/>
          <p:nvPr/>
        </p:nvSpPr>
        <p:spPr>
          <a:xfrm>
            <a:off x="3083429" y="4165600"/>
            <a:ext cx="787977" cy="55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400" b="0" dirty="0">
                <a:solidFill>
                  <a:srgbClr val="9AA0AA"/>
                </a:solidFill>
                <a:latin typeface="페이퍼로지 8 ExtraBold"/>
                <a:ea typeface="페이퍼로지 8 ExtraBold"/>
                <a:cs typeface="페이퍼로지 8 ExtraBold"/>
              </a:rPr>
              <a:t>22.0%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91106" y="4165600"/>
            <a:ext cx="1063769" cy="55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alt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  </a:t>
            </a: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한시 </a:t>
            </a:r>
            <a:r>
              <a:rPr lang="ko-KR" sz="900" b="0" dirty="0" err="1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퇴직률</a:t>
            </a:r>
            <a:endParaRPr lang="en-US" altLang="ko-KR" sz="900" b="0" dirty="0">
              <a:solidFill>
                <a:srgbClr val="6A7180"/>
              </a:solidFill>
              <a:latin typeface="페이퍼로지 5 Medium"/>
              <a:ea typeface="페이퍼로지 5 Medium"/>
              <a:cs typeface="페이퍼로지 5 Medium"/>
            </a:endParaRPr>
          </a:p>
          <a:p>
            <a:pPr algn="l">
              <a:lnSpc>
                <a:spcPct val="120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 (2025 성수기)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83429" y="4826000"/>
            <a:ext cx="787977" cy="55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400" b="0" dirty="0">
                <a:solidFill>
                  <a:srgbClr val="9AA0AA"/>
                </a:solidFill>
                <a:latin typeface="페이퍼로지 8 ExtraBold"/>
                <a:ea typeface="페이퍼로지 8 ExtraBold"/>
                <a:cs typeface="페이퍼로지 8 ExtraBold"/>
              </a:rPr>
              <a:t>60.3%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91106" y="4826000"/>
            <a:ext cx="1063769" cy="55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alt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  </a:t>
            </a: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투입 대비 </a:t>
            </a:r>
            <a:r>
              <a:rPr lang="ko-KR" sz="900" b="0" dirty="0" err="1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유지율</a:t>
            </a:r>
            <a:endParaRPr lang="ko-KR" sz="900" b="0" dirty="0">
              <a:solidFill>
                <a:srgbClr val="6A7180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083429" y="5486400"/>
            <a:ext cx="787977" cy="55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400" b="0" dirty="0" err="1">
                <a:solidFill>
                  <a:srgbClr val="9AA0AA"/>
                </a:solidFill>
                <a:latin typeface="페이퍼로지 8 ExtraBold"/>
                <a:ea typeface="페이퍼로지 8 ExtraBold"/>
                <a:cs typeface="페이퍼로지 8 ExtraBold"/>
              </a:rPr>
              <a:t>D</a:t>
            </a:r>
            <a:endParaRPr lang="ko-KR" sz="1400" b="0" dirty="0">
              <a:solidFill>
                <a:srgbClr val="9AA0AA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891106" y="5486400"/>
            <a:ext cx="1063769" cy="55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alt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  </a:t>
            </a: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SLA 누적 등급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10969" y="2413000"/>
            <a:ext cx="1772948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ko-KR" sz="1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상시 T-NPS 평균 추이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>
            <p:extLst/>
          </p:nvPr>
        </p:nvGraphicFramePr>
        <p:xfrm>
          <a:off x="5132171" y="2641600"/>
          <a:ext cx="1930544" cy="139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9" name="Rectangle 28"/>
          <p:cNvSpPr/>
          <p:nvPr/>
        </p:nvSpPr>
        <p:spPr>
          <a:xfrm>
            <a:off x="5174025" y="4165600"/>
            <a:ext cx="787977" cy="55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5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4.7%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57457" y="4156364"/>
            <a:ext cx="1127412" cy="55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한시 </a:t>
            </a:r>
            <a:r>
              <a:rPr lang="ko-KR" sz="9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퇴직률</a:t>
            </a:r>
            <a:endParaRPr lang="en-US" altLang="ko-KR" sz="900" dirty="0">
              <a:solidFill>
                <a:srgbClr val="10151F"/>
              </a:solidFill>
              <a:latin typeface="페이퍼로지 5 Medium"/>
              <a:ea typeface="페이퍼로지 5 Medium"/>
              <a:cs typeface="페이퍼로지 5 Medium"/>
            </a:endParaRPr>
          </a:p>
          <a:p>
            <a:pPr algn="l">
              <a:lnSpc>
                <a:spcPct val="12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(</a:t>
            </a:r>
            <a:r>
              <a:rPr lang="en-US" alt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2025</a:t>
            </a:r>
            <a:r>
              <a:rPr lang="ko-KR" altLang="en-US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년 대비 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-17.3%)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74025" y="4826000"/>
            <a:ext cx="787977" cy="55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5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89.5%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62651" y="4826000"/>
            <a:ext cx="1063769" cy="55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투입 대비 유지율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38507" y="2413000"/>
            <a:ext cx="1772948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ko-KR" sz="1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주5일 상시 운영 규모 (석)</a:t>
            </a:r>
          </a:p>
        </p:txBody>
      </p:sp>
      <p:graphicFrame>
        <p:nvGraphicFramePr>
          <p:cNvPr id="36" name="Chart 35"/>
          <p:cNvGraphicFramePr>
            <a:graphicFrameLocks noGrp="1"/>
          </p:cNvGraphicFramePr>
          <p:nvPr>
            <p:extLst/>
          </p:nvPr>
        </p:nvGraphicFramePr>
        <p:xfrm>
          <a:off x="7259709" y="2641600"/>
          <a:ext cx="1930544" cy="139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37" name="Rectangle 36"/>
          <p:cNvSpPr/>
          <p:nvPr/>
        </p:nvSpPr>
        <p:spPr>
          <a:xfrm>
            <a:off x="7338507" y="4165600"/>
            <a:ext cx="787977" cy="55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4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1</a:t>
            </a:r>
            <a:r>
              <a:rPr lang="en-US" altLang="ko-KR" sz="14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2</a:t>
            </a:r>
            <a:r>
              <a:rPr lang="ko-KR" sz="14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0%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46184" y="4165600"/>
            <a:ext cx="1063769" cy="55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초기 인력 선</a:t>
            </a:r>
            <a:r>
              <a:rPr lang="en-US" alt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확보 </a:t>
            </a:r>
            <a:endParaRPr lang="en-US" altLang="ko-KR" sz="900" b="0" dirty="0">
              <a:solidFill>
                <a:srgbClr val="10151F"/>
              </a:solidFill>
              <a:latin typeface="페이퍼로지 5 Medium"/>
              <a:ea typeface="페이퍼로지 5 Medium"/>
              <a:cs typeface="페이퍼로지 5 Medium"/>
            </a:endParaRPr>
          </a:p>
          <a:p>
            <a:pPr algn="l">
              <a:lnSpc>
                <a:spcPct val="12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(정원 대비)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38507" y="4826000"/>
            <a:ext cx="787977" cy="55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altLang="ko-KR" sz="14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2</a:t>
            </a:r>
            <a:r>
              <a:rPr lang="ko-KR" sz="14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46184" y="4826000"/>
            <a:ext cx="1063769" cy="55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성수기 탄력 운영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38507" y="5486400"/>
            <a:ext cx="787977" cy="55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4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+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46184" y="5486400"/>
            <a:ext cx="1063769" cy="55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LG 품질체계 + </a:t>
            </a:r>
            <a:endParaRPr lang="en-US" altLang="ko-KR" sz="900" b="0" dirty="0">
              <a:solidFill>
                <a:srgbClr val="10151F"/>
              </a:solidFill>
              <a:latin typeface="페이퍼로지 5 Medium"/>
              <a:ea typeface="페이퍼로지 5 Medium"/>
              <a:cs typeface="페이퍼로지 5 Medium"/>
            </a:endParaRPr>
          </a:p>
          <a:p>
            <a:pPr algn="l">
              <a:lnSpc>
                <a:spcPct val="12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KT IS </a:t>
            </a:r>
            <a:r>
              <a:rPr lang="ko-KR" altLang="en-US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관리 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노하우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40250" y="64770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fld id="{B6F15528-21DE-4FAA-801E-634DDDAF4B2B}" type="slidenum"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2</a:t>
            </a:fld>
            <a:r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 / 51</a:t>
            </a:r>
            <a:endParaRPr lang="ko-KR" sz="600" b="0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DABF1621-29D8-460C-8018-B2DC76312291}"/>
              </a:ext>
            </a:extLst>
          </p:cNvPr>
          <p:cNvSpPr>
            <a:spLocks noGrp="1"/>
          </p:cNvSpPr>
          <p:nvPr/>
        </p:nvSpPr>
        <p:spPr>
          <a:xfrm>
            <a:off x="739197" y="1035050"/>
            <a:ext cx="8667750" cy="285750"/>
          </a:xfrm>
          <a:prstGeom prst="rect">
            <a:avLst/>
          </a:prstGeom>
          <a:noFill/>
          <a:ln w="0">
            <a:noFill/>
          </a:ln>
        </p:spPr>
        <p:txBody>
          <a:bodyPr lIns="74295" rIns="74295">
            <a:noAutofit/>
          </a:bodyPr>
          <a:lstStyle/>
          <a:p>
            <a:pPr>
              <a:defRPr sz="1000" b="0">
                <a:solidFill>
                  <a:srgbClr val="E7D9DE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lang="ko-KR" altLang="ko-KR" sz="1200" dirty="0">
                <a:solidFill>
                  <a:srgbClr val="E7D9DE"/>
                </a:solidFill>
                <a:latin typeface="페이퍼로지 5 Medium"/>
                <a:ea typeface="페이퍼로지 5 Medium"/>
                <a:cs typeface="페이퍼로지 5 Medium"/>
              </a:rPr>
              <a:t>지난 3년 동안 겪고 바꾸며 배운 것을 바탕으로, 주5일 상시 운영을 끝까지 책임지겠습니다.</a:t>
            </a:r>
          </a:p>
        </p:txBody>
      </p:sp>
      <p:pic>
        <p:nvPicPr>
          <p:cNvPr id="48" name="그림 47">
            <a:extLst>
              <a:ext uri="{FF2B5EF4-FFF2-40B4-BE49-F238E27FC236}">
                <a16:creationId xmlns:a16="http://schemas.microsoft.com/office/drawing/2014/main" id="{F0427454-97F8-47CA-A2FD-77570619A9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23751">
            <a:off x="5364975" y="2554627"/>
            <a:ext cx="1464935" cy="1189235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  <p:pic>
        <p:nvPicPr>
          <p:cNvPr id="50" name="Image 1" descr="하이텔레서비스 로고">
            <a:extLst>
              <a:ext uri="{FF2B5EF4-FFF2-40B4-BE49-F238E27FC236}">
                <a16:creationId xmlns:a16="http://schemas.microsoft.com/office/drawing/2014/main" id="{8D2C56F5-3D49-4E05-BDF4-12CAEC1F86B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-310" b="-310"/>
          <a:stretch/>
        </p:blipFill>
        <p:spPr>
          <a:xfrm>
            <a:off x="8762641" y="198536"/>
            <a:ext cx="1073150" cy="319881"/>
          </a:xfrm>
          <a:prstGeom prst="rect">
            <a:avLst/>
          </a:prstGeom>
        </p:spPr>
      </p:pic>
      <p:sp>
        <p:nvSpPr>
          <p:cNvPr id="54" name="Rectangle 32">
            <a:extLst>
              <a:ext uri="{FF2B5EF4-FFF2-40B4-BE49-F238E27FC236}">
                <a16:creationId xmlns:a16="http://schemas.microsoft.com/office/drawing/2014/main" id="{901BB2E0-51C9-40CC-8401-22A2D622B418}"/>
              </a:ext>
            </a:extLst>
          </p:cNvPr>
          <p:cNvSpPr/>
          <p:nvPr/>
        </p:nvSpPr>
        <p:spPr>
          <a:xfrm>
            <a:off x="5174025" y="5486400"/>
            <a:ext cx="787977" cy="55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5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92.9</a:t>
            </a:r>
          </a:p>
        </p:txBody>
      </p:sp>
      <p:sp>
        <p:nvSpPr>
          <p:cNvPr id="55" name="Rectangle 33">
            <a:extLst>
              <a:ext uri="{FF2B5EF4-FFF2-40B4-BE49-F238E27FC236}">
                <a16:creationId xmlns:a16="http://schemas.microsoft.com/office/drawing/2014/main" id="{E830EB05-2AB5-4AA1-9C0D-C0A97E228855}"/>
              </a:ext>
            </a:extLst>
          </p:cNvPr>
          <p:cNvSpPr/>
          <p:nvPr/>
        </p:nvSpPr>
        <p:spPr>
          <a:xfrm>
            <a:off x="5962651" y="5486400"/>
            <a:ext cx="1063769" cy="55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상시 T-NPS</a:t>
            </a:r>
          </a:p>
          <a:p>
            <a:pPr algn="l">
              <a:lnSpc>
                <a:spcPct val="12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2026 누적(1~8월)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 1">
            <a:extLst>
              <a:ext uri="{FF2B5EF4-FFF2-40B4-BE49-F238E27FC236}">
                <a16:creationId xmlns:a16="http://schemas.microsoft.com/office/drawing/2014/main" id="{F023614B-143D-4218-BB3E-75750B41A83C}"/>
              </a:ext>
            </a:extLst>
          </p:cNvPr>
          <p:cNvSpPr/>
          <p:nvPr/>
        </p:nvSpPr>
        <p:spPr>
          <a:xfrm>
            <a:off x="660400" y="330200"/>
            <a:ext cx="425132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00" b="0" kern="0" spc="10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CONTENTS</a:t>
            </a:r>
            <a:endParaRPr lang="en-US" sz="900" dirty="0"/>
          </a:p>
        </p:txBody>
      </p:sp>
      <p:sp>
        <p:nvSpPr>
          <p:cNvPr id="56" name="Text 2">
            <a:extLst>
              <a:ext uri="{FF2B5EF4-FFF2-40B4-BE49-F238E27FC236}">
                <a16:creationId xmlns:a16="http://schemas.microsoft.com/office/drawing/2014/main" id="{19B29B65-B907-4547-A137-45F73B7D100D}"/>
              </a:ext>
            </a:extLst>
          </p:cNvPr>
          <p:cNvSpPr/>
          <p:nvPr/>
        </p:nvSpPr>
        <p:spPr>
          <a:xfrm>
            <a:off x="660400" y="533400"/>
            <a:ext cx="5314156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16"/>
              </a:lnSpc>
              <a:buNone/>
            </a:pPr>
            <a:r>
              <a:rPr lang="en-US" sz="2000" b="0" kern="0" spc="-5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제안서 목차</a:t>
            </a:r>
            <a:endParaRPr lang="en-US" sz="2000" dirty="0"/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B22EAF86-1318-4713-872E-94F0FDDE796D}"/>
              </a:ext>
            </a:extLst>
          </p:cNvPr>
          <p:cNvSpPr/>
          <p:nvPr/>
        </p:nvSpPr>
        <p:spPr>
          <a:xfrm>
            <a:off x="5525691" y="685800"/>
            <a:ext cx="371990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365"/>
              </a:lnSpc>
              <a:buNone/>
            </a:pPr>
            <a:r>
              <a:rPr lang="en-US" sz="100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4개 장 · 총 49페이지</a:t>
            </a:r>
            <a:endParaRPr lang="en-US" sz="1000" dirty="0"/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4987797F-F8DD-487A-BB48-7573828566FB}"/>
              </a:ext>
            </a:extLst>
          </p:cNvPr>
          <p:cNvSpPr/>
          <p:nvPr/>
        </p:nvSpPr>
        <p:spPr>
          <a:xfrm>
            <a:off x="662980" y="1252751"/>
            <a:ext cx="8580041" cy="689570"/>
          </a:xfrm>
          <a:prstGeom prst="roundRect">
            <a:avLst>
              <a:gd name="adj" fmla="val 12432"/>
            </a:avLst>
          </a:prstGeom>
          <a:solidFill>
            <a:schemeClr val="bg1"/>
          </a:solidFill>
          <a:ln w="6350">
            <a:solidFill>
              <a:srgbClr val="E6E8EC"/>
            </a:solidFill>
            <a:prstDash val="solid"/>
          </a:ln>
        </p:spPr>
        <p:txBody>
          <a:bodyPr lIns="74295" rIns="74295"/>
          <a:lstStyle/>
          <a:p>
            <a:endParaRPr/>
          </a:p>
        </p:txBody>
      </p:sp>
      <p:sp>
        <p:nvSpPr>
          <p:cNvPr id="59" name="Shape 5">
            <a:extLst>
              <a:ext uri="{FF2B5EF4-FFF2-40B4-BE49-F238E27FC236}">
                <a16:creationId xmlns:a16="http://schemas.microsoft.com/office/drawing/2014/main" id="{02CDE133-D210-4F9E-8349-2BB89248635E}"/>
              </a:ext>
            </a:extLst>
          </p:cNvPr>
          <p:cNvSpPr/>
          <p:nvPr/>
        </p:nvSpPr>
        <p:spPr>
          <a:xfrm>
            <a:off x="665559" y="1255926"/>
            <a:ext cx="2270125" cy="683220"/>
          </a:xfrm>
          <a:custGeom>
            <a:avLst/>
            <a:gdLst/>
            <a:ahLst/>
            <a:cxnLst/>
            <a:rect l="l" t="t" r="r" b="b"/>
            <a:pathLst>
              <a:path w="2794000" h="683220">
                <a:moveTo>
                  <a:pt x="0" y="82550"/>
                </a:moveTo>
                <a:arcTo wR="82550" hR="82550" stAng="10800000" swAng="5400000"/>
                <a:lnTo>
                  <a:pt x="2794000" y="0"/>
                </a:lnTo>
                <a:lnTo>
                  <a:pt x="2794000" y="683220"/>
                </a:lnTo>
                <a:lnTo>
                  <a:pt x="82550" y="683220"/>
                </a:lnTo>
                <a:arcTo wR="82550" hR="82550" stAng="5400000" swAng="5400000"/>
                <a:close/>
              </a:path>
            </a:pathLst>
          </a:custGeom>
          <a:solidFill>
            <a:srgbClr val="F4F5F7"/>
          </a:solidFill>
          <a:ln/>
        </p:spPr>
        <p:txBody>
          <a:bodyPr lIns="74295" rIns="74295"/>
          <a:lstStyle/>
          <a:p>
            <a:endParaRPr/>
          </a:p>
        </p:txBody>
      </p:sp>
      <p:sp>
        <p:nvSpPr>
          <p:cNvPr id="60" name="Text 6">
            <a:extLst>
              <a:ext uri="{FF2B5EF4-FFF2-40B4-BE49-F238E27FC236}">
                <a16:creationId xmlns:a16="http://schemas.microsoft.com/office/drawing/2014/main" id="{5F331529-3C80-45F3-8402-71BC6702CCC1}"/>
              </a:ext>
            </a:extLst>
          </p:cNvPr>
          <p:cNvSpPr/>
          <p:nvPr/>
        </p:nvSpPr>
        <p:spPr>
          <a:xfrm>
            <a:off x="810022" y="1419736"/>
            <a:ext cx="366799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275"/>
              </a:lnSpc>
              <a:buNone/>
            </a:pPr>
            <a:r>
              <a:rPr lang="en-US" sz="2300" b="0" kern="0" spc="-10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  <a:endParaRPr lang="en-US" sz="2300" dirty="0"/>
          </a:p>
        </p:txBody>
      </p:sp>
      <p:sp>
        <p:nvSpPr>
          <p:cNvPr id="61" name="Text 7">
            <a:extLst>
              <a:ext uri="{FF2B5EF4-FFF2-40B4-BE49-F238E27FC236}">
                <a16:creationId xmlns:a16="http://schemas.microsoft.com/office/drawing/2014/main" id="{1558C53F-3F8B-44FC-81F6-3387E6D55FB3}"/>
              </a:ext>
            </a:extLst>
          </p:cNvPr>
          <p:cNvSpPr/>
          <p:nvPr/>
        </p:nvSpPr>
        <p:spPr>
          <a:xfrm>
            <a:off x="1259371" y="1357526"/>
            <a:ext cx="1222288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5"/>
              </a:lnSpc>
              <a:buNone/>
            </a:pPr>
            <a:r>
              <a:rPr lang="en-US" sz="13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제안 개요</a:t>
            </a:r>
            <a:endParaRPr lang="en-US" sz="1300" dirty="0"/>
          </a:p>
        </p:txBody>
      </p:sp>
      <p:sp>
        <p:nvSpPr>
          <p:cNvPr id="62" name="Text 8">
            <a:extLst>
              <a:ext uri="{FF2B5EF4-FFF2-40B4-BE49-F238E27FC236}">
                <a16:creationId xmlns:a16="http://schemas.microsoft.com/office/drawing/2014/main" id="{334998F7-5C73-44FB-AE03-EFF32EA54865}"/>
              </a:ext>
            </a:extLst>
          </p:cNvPr>
          <p:cNvSpPr/>
          <p:nvPr/>
        </p:nvSpPr>
        <p:spPr>
          <a:xfrm>
            <a:off x="1259371" y="1624226"/>
            <a:ext cx="12222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0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p.05–11</a:t>
            </a:r>
            <a:endParaRPr lang="en-US" sz="1000" dirty="0"/>
          </a:p>
        </p:txBody>
      </p:sp>
      <p:pic>
        <p:nvPicPr>
          <p:cNvPr id="63" name="Image 0" descr="Lightbulb">
            <a:extLst>
              <a:ext uri="{FF2B5EF4-FFF2-40B4-BE49-F238E27FC236}">
                <a16:creationId xmlns:a16="http://schemas.microsoft.com/office/drawing/2014/main" id="{062D1898-2ACE-488A-A16F-C6085F2E19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64210" y="1484030"/>
            <a:ext cx="227012" cy="227012"/>
          </a:xfrm>
          <a:prstGeom prst="rect">
            <a:avLst/>
          </a:prstGeom>
        </p:spPr>
      </p:pic>
      <p:sp>
        <p:nvSpPr>
          <p:cNvPr id="64" name="Text 9">
            <a:extLst>
              <a:ext uri="{FF2B5EF4-FFF2-40B4-BE49-F238E27FC236}">
                <a16:creationId xmlns:a16="http://schemas.microsoft.com/office/drawing/2014/main" id="{3FF9DC3D-0825-482E-84B3-EDA15B06FB7E}"/>
              </a:ext>
            </a:extLst>
          </p:cNvPr>
          <p:cNvSpPr/>
          <p:nvPr/>
        </p:nvSpPr>
        <p:spPr>
          <a:xfrm>
            <a:off x="3100784" y="1490380"/>
            <a:ext cx="2332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1-1</a:t>
            </a:r>
            <a:endParaRPr lang="en-US" sz="1000" dirty="0"/>
          </a:p>
        </p:txBody>
      </p:sp>
      <p:sp>
        <p:nvSpPr>
          <p:cNvPr id="65" name="Text 10">
            <a:extLst>
              <a:ext uri="{FF2B5EF4-FFF2-40B4-BE49-F238E27FC236}">
                <a16:creationId xmlns:a16="http://schemas.microsoft.com/office/drawing/2014/main" id="{B54BA274-3B98-4E6E-9084-173A397F5BBB}"/>
              </a:ext>
            </a:extLst>
          </p:cNvPr>
          <p:cNvSpPr/>
          <p:nvPr/>
        </p:nvSpPr>
        <p:spPr>
          <a:xfrm>
            <a:off x="3344323" y="1490380"/>
            <a:ext cx="2210606" cy="239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72"/>
              </a:lnSpc>
              <a:buNone/>
            </a:pPr>
            <a:r>
              <a:rPr lang="en-US" sz="1000" dirty="0">
                <a:solidFill>
                  <a:srgbClr val="2B313C"/>
                </a:solidFill>
                <a:latin typeface="페이퍼로지 5 Medium"/>
                <a:ea typeface="페이퍼로지 5 Medium"/>
                <a:cs typeface="페이퍼로지 5 Medium"/>
              </a:rPr>
              <a:t>제안 배경 및 목적, 범위</a:t>
            </a:r>
            <a:endParaRPr lang="en-US" sz="1000" dirty="0"/>
          </a:p>
        </p:txBody>
      </p:sp>
      <p:sp>
        <p:nvSpPr>
          <p:cNvPr id="66" name="Text 11">
            <a:extLst>
              <a:ext uri="{FF2B5EF4-FFF2-40B4-BE49-F238E27FC236}">
                <a16:creationId xmlns:a16="http://schemas.microsoft.com/office/drawing/2014/main" id="{5D78589E-A164-4FB7-9104-1F83F7430FD7}"/>
              </a:ext>
            </a:extLst>
          </p:cNvPr>
          <p:cNvSpPr/>
          <p:nvPr/>
        </p:nvSpPr>
        <p:spPr>
          <a:xfrm>
            <a:off x="5490543" y="1490380"/>
            <a:ext cx="2332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1-2</a:t>
            </a:r>
            <a:endParaRPr lang="en-US" sz="1000" dirty="0"/>
          </a:p>
        </p:txBody>
      </p:sp>
      <p:sp>
        <p:nvSpPr>
          <p:cNvPr id="67" name="Text 12">
            <a:extLst>
              <a:ext uri="{FF2B5EF4-FFF2-40B4-BE49-F238E27FC236}">
                <a16:creationId xmlns:a16="http://schemas.microsoft.com/office/drawing/2014/main" id="{110DC424-8C7C-4ECD-A994-437557ABAF9D}"/>
              </a:ext>
            </a:extLst>
          </p:cNvPr>
          <p:cNvSpPr/>
          <p:nvPr/>
        </p:nvSpPr>
        <p:spPr>
          <a:xfrm>
            <a:off x="5734081" y="1490380"/>
            <a:ext cx="3441497" cy="239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72"/>
              </a:lnSpc>
              <a:buNone/>
            </a:pPr>
            <a:r>
              <a:rPr lang="en-US" sz="1000" dirty="0">
                <a:solidFill>
                  <a:srgbClr val="2B313C"/>
                </a:solidFill>
                <a:latin typeface="페이퍼로지 5 Medium"/>
                <a:ea typeface="페이퍼로지 5 Medium"/>
                <a:cs typeface="페이퍼로지 5 Medium"/>
              </a:rPr>
              <a:t>비전, 추진 전략 및 목표 달성을 위한 장기 계획</a:t>
            </a:r>
            <a:endParaRPr lang="en-US" sz="1000" dirty="0"/>
          </a:p>
        </p:txBody>
      </p:sp>
      <p:sp>
        <p:nvSpPr>
          <p:cNvPr id="68" name="Shape 13">
            <a:extLst>
              <a:ext uri="{FF2B5EF4-FFF2-40B4-BE49-F238E27FC236}">
                <a16:creationId xmlns:a16="http://schemas.microsoft.com/office/drawing/2014/main" id="{3DFE6B28-1345-40D5-A439-8858FD26F95B}"/>
              </a:ext>
            </a:extLst>
          </p:cNvPr>
          <p:cNvSpPr/>
          <p:nvPr/>
        </p:nvSpPr>
        <p:spPr>
          <a:xfrm>
            <a:off x="662980" y="2024871"/>
            <a:ext cx="8580041" cy="689570"/>
          </a:xfrm>
          <a:prstGeom prst="roundRect">
            <a:avLst>
              <a:gd name="adj" fmla="val 12432"/>
            </a:avLst>
          </a:prstGeom>
          <a:solidFill>
            <a:srgbClr val="FFFFFF"/>
          </a:solidFill>
          <a:ln w="6350">
            <a:solidFill>
              <a:srgbClr val="E6E8EC"/>
            </a:solidFill>
            <a:prstDash val="solid"/>
          </a:ln>
        </p:spPr>
        <p:txBody>
          <a:bodyPr lIns="74295" rIns="74295"/>
          <a:lstStyle/>
          <a:p>
            <a:endParaRPr/>
          </a:p>
        </p:txBody>
      </p:sp>
      <p:sp>
        <p:nvSpPr>
          <p:cNvPr id="69" name="Shape 14">
            <a:extLst>
              <a:ext uri="{FF2B5EF4-FFF2-40B4-BE49-F238E27FC236}">
                <a16:creationId xmlns:a16="http://schemas.microsoft.com/office/drawing/2014/main" id="{0C07A529-9EC8-4A14-9FF9-8907C4423AD1}"/>
              </a:ext>
            </a:extLst>
          </p:cNvPr>
          <p:cNvSpPr/>
          <p:nvPr/>
        </p:nvSpPr>
        <p:spPr>
          <a:xfrm>
            <a:off x="665559" y="2028046"/>
            <a:ext cx="2270125" cy="683220"/>
          </a:xfrm>
          <a:custGeom>
            <a:avLst/>
            <a:gdLst/>
            <a:ahLst/>
            <a:cxnLst/>
            <a:rect l="l" t="t" r="r" b="b"/>
            <a:pathLst>
              <a:path w="2794000" h="683220">
                <a:moveTo>
                  <a:pt x="0" y="82550"/>
                </a:moveTo>
                <a:arcTo wR="82550" hR="82550" stAng="10800000" swAng="5400000"/>
                <a:lnTo>
                  <a:pt x="2794000" y="0"/>
                </a:lnTo>
                <a:lnTo>
                  <a:pt x="2794000" y="683220"/>
                </a:lnTo>
                <a:lnTo>
                  <a:pt x="82550" y="683220"/>
                </a:lnTo>
                <a:arcTo wR="82550" hR="82550" stAng="5400000" swAng="5400000"/>
                <a:close/>
              </a:path>
            </a:pathLst>
          </a:custGeom>
          <a:solidFill>
            <a:srgbClr val="F4F5F7"/>
          </a:solidFill>
          <a:ln/>
        </p:spPr>
        <p:txBody>
          <a:bodyPr lIns="74295" rIns="74295"/>
          <a:lstStyle/>
          <a:p>
            <a:endParaRPr/>
          </a:p>
        </p:txBody>
      </p:sp>
      <p:sp>
        <p:nvSpPr>
          <p:cNvPr id="70" name="Text 15">
            <a:extLst>
              <a:ext uri="{FF2B5EF4-FFF2-40B4-BE49-F238E27FC236}">
                <a16:creationId xmlns:a16="http://schemas.microsoft.com/office/drawing/2014/main" id="{A1B6AE4C-3A14-4924-B71A-24D24C9A6FF7}"/>
              </a:ext>
            </a:extLst>
          </p:cNvPr>
          <p:cNvSpPr/>
          <p:nvPr/>
        </p:nvSpPr>
        <p:spPr>
          <a:xfrm>
            <a:off x="810022" y="2191856"/>
            <a:ext cx="366799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275"/>
              </a:lnSpc>
              <a:buNone/>
            </a:pPr>
            <a:r>
              <a:rPr lang="en-US" sz="2300" b="0" kern="0" spc="-10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  <a:endParaRPr lang="en-US" sz="2300" dirty="0"/>
          </a:p>
        </p:txBody>
      </p:sp>
      <p:sp>
        <p:nvSpPr>
          <p:cNvPr id="71" name="Text 16">
            <a:extLst>
              <a:ext uri="{FF2B5EF4-FFF2-40B4-BE49-F238E27FC236}">
                <a16:creationId xmlns:a16="http://schemas.microsoft.com/office/drawing/2014/main" id="{F126B483-E77E-4072-A931-56440807A3D1}"/>
              </a:ext>
            </a:extLst>
          </p:cNvPr>
          <p:cNvSpPr/>
          <p:nvPr/>
        </p:nvSpPr>
        <p:spPr>
          <a:xfrm>
            <a:off x="1259371" y="2129646"/>
            <a:ext cx="1222288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5"/>
              </a:lnSpc>
              <a:buNone/>
            </a:pPr>
            <a:r>
              <a:rPr lang="en-US" sz="13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제안사 일반</a:t>
            </a:r>
            <a:endParaRPr lang="en-US" sz="1300" dirty="0"/>
          </a:p>
        </p:txBody>
      </p:sp>
      <p:sp>
        <p:nvSpPr>
          <p:cNvPr id="72" name="Text 17">
            <a:extLst>
              <a:ext uri="{FF2B5EF4-FFF2-40B4-BE49-F238E27FC236}">
                <a16:creationId xmlns:a16="http://schemas.microsoft.com/office/drawing/2014/main" id="{A18AF08D-BE49-4920-BABB-A5FEAFD120E1}"/>
              </a:ext>
            </a:extLst>
          </p:cNvPr>
          <p:cNvSpPr/>
          <p:nvPr/>
        </p:nvSpPr>
        <p:spPr>
          <a:xfrm>
            <a:off x="1259371" y="2396346"/>
            <a:ext cx="12222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0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p.13–16</a:t>
            </a:r>
            <a:endParaRPr lang="en-US" sz="1000" dirty="0"/>
          </a:p>
        </p:txBody>
      </p:sp>
      <p:pic>
        <p:nvPicPr>
          <p:cNvPr id="73" name="Image 1" descr="Users">
            <a:extLst>
              <a:ext uri="{FF2B5EF4-FFF2-40B4-BE49-F238E27FC236}">
                <a16:creationId xmlns:a16="http://schemas.microsoft.com/office/drawing/2014/main" id="{F747CADE-E5FB-47DF-9D3D-C057AFEA280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564210" y="2256150"/>
            <a:ext cx="227012" cy="227012"/>
          </a:xfrm>
          <a:prstGeom prst="rect">
            <a:avLst/>
          </a:prstGeom>
        </p:spPr>
      </p:pic>
      <p:sp>
        <p:nvSpPr>
          <p:cNvPr id="74" name="Text 18">
            <a:extLst>
              <a:ext uri="{FF2B5EF4-FFF2-40B4-BE49-F238E27FC236}">
                <a16:creationId xmlns:a16="http://schemas.microsoft.com/office/drawing/2014/main" id="{29F6DDE6-4B59-45A3-A903-897209B4ED41}"/>
              </a:ext>
            </a:extLst>
          </p:cNvPr>
          <p:cNvSpPr/>
          <p:nvPr/>
        </p:nvSpPr>
        <p:spPr>
          <a:xfrm>
            <a:off x="3100784" y="2155146"/>
            <a:ext cx="2332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2-1</a:t>
            </a:r>
            <a:endParaRPr lang="en-US" sz="1000" dirty="0"/>
          </a:p>
        </p:txBody>
      </p:sp>
      <p:sp>
        <p:nvSpPr>
          <p:cNvPr id="75" name="Text 19">
            <a:extLst>
              <a:ext uri="{FF2B5EF4-FFF2-40B4-BE49-F238E27FC236}">
                <a16:creationId xmlns:a16="http://schemas.microsoft.com/office/drawing/2014/main" id="{2D1E8B94-0769-4533-AB8E-A4D8AC7AFEE0}"/>
              </a:ext>
            </a:extLst>
          </p:cNvPr>
          <p:cNvSpPr/>
          <p:nvPr/>
        </p:nvSpPr>
        <p:spPr>
          <a:xfrm>
            <a:off x="3344323" y="2155146"/>
            <a:ext cx="1800420" cy="239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72"/>
              </a:lnSpc>
              <a:buNone/>
            </a:pPr>
            <a:r>
              <a:rPr lang="en-US" sz="1000" dirty="0">
                <a:solidFill>
                  <a:srgbClr val="2B313C"/>
                </a:solidFill>
                <a:latin typeface="페이퍼로지 5 Medium"/>
                <a:ea typeface="페이퍼로지 5 Medium"/>
                <a:cs typeface="페이퍼로지 5 Medium"/>
              </a:rPr>
              <a:t>일반 현황 및 주요 연혁</a:t>
            </a:r>
            <a:endParaRPr lang="en-US" sz="1000" dirty="0"/>
          </a:p>
        </p:txBody>
      </p:sp>
      <p:sp>
        <p:nvSpPr>
          <p:cNvPr id="76" name="Text 20">
            <a:extLst>
              <a:ext uri="{FF2B5EF4-FFF2-40B4-BE49-F238E27FC236}">
                <a16:creationId xmlns:a16="http://schemas.microsoft.com/office/drawing/2014/main" id="{5E5A89BB-DB4E-4B99-A4D0-132C33B1B471}"/>
              </a:ext>
            </a:extLst>
          </p:cNvPr>
          <p:cNvSpPr/>
          <p:nvPr/>
        </p:nvSpPr>
        <p:spPr>
          <a:xfrm>
            <a:off x="5092303" y="2155146"/>
            <a:ext cx="2332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2-2</a:t>
            </a:r>
            <a:endParaRPr lang="en-US" sz="1000" dirty="0"/>
          </a:p>
        </p:txBody>
      </p:sp>
      <p:sp>
        <p:nvSpPr>
          <p:cNvPr id="77" name="Text 21">
            <a:extLst>
              <a:ext uri="{FF2B5EF4-FFF2-40B4-BE49-F238E27FC236}">
                <a16:creationId xmlns:a16="http://schemas.microsoft.com/office/drawing/2014/main" id="{2AD2F258-FE90-4C44-9F03-CB6C2ABA085F}"/>
              </a:ext>
            </a:extLst>
          </p:cNvPr>
          <p:cNvSpPr/>
          <p:nvPr/>
        </p:nvSpPr>
        <p:spPr>
          <a:xfrm>
            <a:off x="5335842" y="2155146"/>
            <a:ext cx="1800420" cy="239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72"/>
              </a:lnSpc>
              <a:buNone/>
            </a:pPr>
            <a:r>
              <a:rPr lang="en-US" sz="1000" dirty="0">
                <a:solidFill>
                  <a:srgbClr val="2B313C"/>
                </a:solidFill>
                <a:latin typeface="페이퍼로지 5 Medium"/>
                <a:ea typeface="페이퍼로지 5 Medium"/>
                <a:cs typeface="페이퍼로지 5 Medium"/>
              </a:rPr>
              <a:t>조직 및 인원 현황</a:t>
            </a:r>
            <a:endParaRPr lang="en-US" sz="1000" dirty="0"/>
          </a:p>
        </p:txBody>
      </p:sp>
      <p:sp>
        <p:nvSpPr>
          <p:cNvPr id="78" name="Text 22">
            <a:extLst>
              <a:ext uri="{FF2B5EF4-FFF2-40B4-BE49-F238E27FC236}">
                <a16:creationId xmlns:a16="http://schemas.microsoft.com/office/drawing/2014/main" id="{2EDF28DE-C124-4D32-B41E-280A00B3428A}"/>
              </a:ext>
            </a:extLst>
          </p:cNvPr>
          <p:cNvSpPr/>
          <p:nvPr/>
        </p:nvSpPr>
        <p:spPr>
          <a:xfrm>
            <a:off x="7083822" y="2155146"/>
            <a:ext cx="2332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2-3</a:t>
            </a:r>
            <a:endParaRPr lang="en-US" sz="1000" dirty="0"/>
          </a:p>
        </p:txBody>
      </p:sp>
      <p:sp>
        <p:nvSpPr>
          <p:cNvPr id="79" name="Text 23">
            <a:extLst>
              <a:ext uri="{FF2B5EF4-FFF2-40B4-BE49-F238E27FC236}">
                <a16:creationId xmlns:a16="http://schemas.microsoft.com/office/drawing/2014/main" id="{B40AF92A-1BF3-4F98-9709-0E8F7D55C890}"/>
              </a:ext>
            </a:extLst>
          </p:cNvPr>
          <p:cNvSpPr/>
          <p:nvPr/>
        </p:nvSpPr>
        <p:spPr>
          <a:xfrm>
            <a:off x="7327361" y="2155146"/>
            <a:ext cx="1800420" cy="239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72"/>
              </a:lnSpc>
              <a:buNone/>
            </a:pPr>
            <a:r>
              <a:rPr lang="en-US" sz="1000" dirty="0">
                <a:solidFill>
                  <a:srgbClr val="2B313C"/>
                </a:solidFill>
                <a:latin typeface="페이퍼로지 5 Medium"/>
                <a:ea typeface="페이퍼로지 5 Medium"/>
                <a:cs typeface="페이퍼로지 5 Medium"/>
              </a:rPr>
              <a:t>재무 현황</a:t>
            </a:r>
            <a:endParaRPr lang="en-US" sz="1000" dirty="0"/>
          </a:p>
        </p:txBody>
      </p:sp>
      <p:sp>
        <p:nvSpPr>
          <p:cNvPr id="80" name="Text 24">
            <a:extLst>
              <a:ext uri="{FF2B5EF4-FFF2-40B4-BE49-F238E27FC236}">
                <a16:creationId xmlns:a16="http://schemas.microsoft.com/office/drawing/2014/main" id="{897E31B7-D3C0-4EBC-8264-E71C270F2A51}"/>
              </a:ext>
            </a:extLst>
          </p:cNvPr>
          <p:cNvSpPr/>
          <p:nvPr/>
        </p:nvSpPr>
        <p:spPr>
          <a:xfrm>
            <a:off x="3100784" y="2369756"/>
            <a:ext cx="2332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2-4</a:t>
            </a:r>
            <a:endParaRPr lang="en-US" sz="1000" dirty="0"/>
          </a:p>
        </p:txBody>
      </p:sp>
      <p:sp>
        <p:nvSpPr>
          <p:cNvPr id="81" name="Text 25">
            <a:extLst>
              <a:ext uri="{FF2B5EF4-FFF2-40B4-BE49-F238E27FC236}">
                <a16:creationId xmlns:a16="http://schemas.microsoft.com/office/drawing/2014/main" id="{49AD8348-500B-495A-9D15-E3AFEC1C6810}"/>
              </a:ext>
            </a:extLst>
          </p:cNvPr>
          <p:cNvSpPr/>
          <p:nvPr/>
        </p:nvSpPr>
        <p:spPr>
          <a:xfrm>
            <a:off x="3344323" y="2369756"/>
            <a:ext cx="1800420" cy="239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72"/>
              </a:lnSpc>
              <a:buNone/>
            </a:pPr>
            <a:r>
              <a:rPr lang="en-US" sz="1000" dirty="0">
                <a:solidFill>
                  <a:srgbClr val="2B313C"/>
                </a:solidFill>
                <a:latin typeface="페이퍼로지 5 Medium"/>
                <a:ea typeface="페이퍼로지 5 Medium"/>
                <a:cs typeface="페이퍼로지 5 Medium"/>
              </a:rPr>
              <a:t>사업 현황</a:t>
            </a:r>
            <a:endParaRPr lang="en-US" sz="1000" dirty="0"/>
          </a:p>
        </p:txBody>
      </p:sp>
      <p:sp>
        <p:nvSpPr>
          <p:cNvPr id="82" name="Text 26">
            <a:extLst>
              <a:ext uri="{FF2B5EF4-FFF2-40B4-BE49-F238E27FC236}">
                <a16:creationId xmlns:a16="http://schemas.microsoft.com/office/drawing/2014/main" id="{3621D196-B367-49C7-B03F-5404255046CC}"/>
              </a:ext>
            </a:extLst>
          </p:cNvPr>
          <p:cNvSpPr/>
          <p:nvPr/>
        </p:nvSpPr>
        <p:spPr>
          <a:xfrm>
            <a:off x="5092303" y="2369756"/>
            <a:ext cx="2332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2-5</a:t>
            </a:r>
            <a:endParaRPr lang="en-US" sz="1000" dirty="0"/>
          </a:p>
        </p:txBody>
      </p:sp>
      <p:sp>
        <p:nvSpPr>
          <p:cNvPr id="83" name="Text 27">
            <a:extLst>
              <a:ext uri="{FF2B5EF4-FFF2-40B4-BE49-F238E27FC236}">
                <a16:creationId xmlns:a16="http://schemas.microsoft.com/office/drawing/2014/main" id="{5429D87D-DF26-48DE-BE4C-8AA61746B2DB}"/>
              </a:ext>
            </a:extLst>
          </p:cNvPr>
          <p:cNvSpPr/>
          <p:nvPr/>
        </p:nvSpPr>
        <p:spPr>
          <a:xfrm>
            <a:off x="5335842" y="2369756"/>
            <a:ext cx="1800420" cy="239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72"/>
              </a:lnSpc>
              <a:buNone/>
            </a:pPr>
            <a:r>
              <a:rPr lang="en-US" sz="1000" dirty="0">
                <a:solidFill>
                  <a:srgbClr val="2B313C"/>
                </a:solidFill>
                <a:latin typeface="페이퍼로지 5 Medium"/>
                <a:ea typeface="페이퍼로지 5 Medium"/>
                <a:cs typeface="페이퍼로지 5 Medium"/>
              </a:rPr>
              <a:t>유사 사업 수행 실적</a:t>
            </a:r>
            <a:endParaRPr lang="en-US" sz="1000" dirty="0"/>
          </a:p>
        </p:txBody>
      </p:sp>
      <p:sp>
        <p:nvSpPr>
          <p:cNvPr id="84" name="Shape 28">
            <a:extLst>
              <a:ext uri="{FF2B5EF4-FFF2-40B4-BE49-F238E27FC236}">
                <a16:creationId xmlns:a16="http://schemas.microsoft.com/office/drawing/2014/main" id="{B3E0D233-4D34-40A4-BFE9-D9AD8614E051}"/>
              </a:ext>
            </a:extLst>
          </p:cNvPr>
          <p:cNvSpPr/>
          <p:nvPr/>
        </p:nvSpPr>
        <p:spPr>
          <a:xfrm>
            <a:off x="662980" y="2796992"/>
            <a:ext cx="8580041" cy="2516386"/>
          </a:xfrm>
          <a:prstGeom prst="roundRect">
            <a:avLst>
              <a:gd name="adj" fmla="val 3407"/>
            </a:avLst>
          </a:prstGeom>
          <a:solidFill>
            <a:srgbClr val="FDF2F6"/>
          </a:solidFill>
          <a:ln w="6350">
            <a:solidFill>
              <a:srgbClr val="F3B8CC"/>
            </a:solidFill>
            <a:prstDash val="solid"/>
          </a:ln>
        </p:spPr>
        <p:txBody>
          <a:bodyPr lIns="74295" rIns="74295"/>
          <a:lstStyle/>
          <a:p>
            <a:endParaRPr/>
          </a:p>
        </p:txBody>
      </p:sp>
      <p:sp>
        <p:nvSpPr>
          <p:cNvPr id="85" name="Shape 29">
            <a:extLst>
              <a:ext uri="{FF2B5EF4-FFF2-40B4-BE49-F238E27FC236}">
                <a16:creationId xmlns:a16="http://schemas.microsoft.com/office/drawing/2014/main" id="{AFC0C347-6D38-46D0-9DF5-CE703DD14BDE}"/>
              </a:ext>
            </a:extLst>
          </p:cNvPr>
          <p:cNvSpPr/>
          <p:nvPr/>
        </p:nvSpPr>
        <p:spPr>
          <a:xfrm>
            <a:off x="665559" y="2800167"/>
            <a:ext cx="2270125" cy="2510036"/>
          </a:xfrm>
          <a:custGeom>
            <a:avLst/>
            <a:gdLst/>
            <a:ahLst/>
            <a:cxnLst/>
            <a:rect l="l" t="t" r="r" b="b"/>
            <a:pathLst>
              <a:path w="2794000" h="2510036">
                <a:moveTo>
                  <a:pt x="0" y="82550"/>
                </a:moveTo>
                <a:arcTo wR="82550" hR="82550" stAng="10800000" swAng="5400000"/>
                <a:lnTo>
                  <a:pt x="2794000" y="0"/>
                </a:lnTo>
                <a:lnTo>
                  <a:pt x="2794000" y="2510036"/>
                </a:lnTo>
                <a:lnTo>
                  <a:pt x="82550" y="2510036"/>
                </a:lnTo>
                <a:arcTo wR="82550" hR="82550" stAng="5400000" swAng="5400000"/>
                <a:close/>
              </a:path>
            </a:pathLst>
          </a:custGeom>
          <a:solidFill>
            <a:srgbClr val="E30C60"/>
          </a:solidFill>
          <a:ln/>
        </p:spPr>
        <p:txBody>
          <a:bodyPr lIns="74295" rIns="74295"/>
          <a:lstStyle/>
          <a:p>
            <a:endParaRPr/>
          </a:p>
        </p:txBody>
      </p:sp>
      <p:sp>
        <p:nvSpPr>
          <p:cNvPr id="86" name="Text 30">
            <a:extLst>
              <a:ext uri="{FF2B5EF4-FFF2-40B4-BE49-F238E27FC236}">
                <a16:creationId xmlns:a16="http://schemas.microsoft.com/office/drawing/2014/main" id="{E7164209-28A7-4DFC-8102-45C67614BA89}"/>
              </a:ext>
            </a:extLst>
          </p:cNvPr>
          <p:cNvSpPr/>
          <p:nvPr/>
        </p:nvSpPr>
        <p:spPr>
          <a:xfrm>
            <a:off x="810022" y="3877385"/>
            <a:ext cx="366799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275"/>
              </a:lnSpc>
              <a:buNone/>
            </a:pPr>
            <a:r>
              <a:rPr lang="en-US" sz="2300" b="0" kern="0" spc="-10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  <a:endParaRPr lang="en-US" sz="2300" dirty="0"/>
          </a:p>
        </p:txBody>
      </p:sp>
      <p:sp>
        <p:nvSpPr>
          <p:cNvPr id="87" name="Text 31">
            <a:extLst>
              <a:ext uri="{FF2B5EF4-FFF2-40B4-BE49-F238E27FC236}">
                <a16:creationId xmlns:a16="http://schemas.microsoft.com/office/drawing/2014/main" id="{AA0187F5-C167-466B-A6BE-0F259F7CA0A0}"/>
              </a:ext>
            </a:extLst>
          </p:cNvPr>
          <p:cNvSpPr/>
          <p:nvPr/>
        </p:nvSpPr>
        <p:spPr>
          <a:xfrm>
            <a:off x="1259371" y="3815174"/>
            <a:ext cx="1222288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5"/>
              </a:lnSpc>
              <a:buNone/>
            </a:pPr>
            <a:r>
              <a:rPr lang="en-US" sz="13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사업관리 방안</a:t>
            </a:r>
            <a:endParaRPr lang="en-US" sz="1300" dirty="0"/>
          </a:p>
        </p:txBody>
      </p:sp>
      <p:sp>
        <p:nvSpPr>
          <p:cNvPr id="88" name="Text 32">
            <a:extLst>
              <a:ext uri="{FF2B5EF4-FFF2-40B4-BE49-F238E27FC236}">
                <a16:creationId xmlns:a16="http://schemas.microsoft.com/office/drawing/2014/main" id="{812CA906-312B-4D2F-B263-BFCCA6249248}"/>
              </a:ext>
            </a:extLst>
          </p:cNvPr>
          <p:cNvSpPr/>
          <p:nvPr/>
        </p:nvSpPr>
        <p:spPr>
          <a:xfrm>
            <a:off x="1259371" y="4081874"/>
            <a:ext cx="12222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00" dirty="0">
                <a:solidFill>
                  <a:srgbClr val="FFD3E1"/>
                </a:solidFill>
                <a:latin typeface="페이퍼로지 5 Medium"/>
                <a:ea typeface="페이퍼로지 5 Medium"/>
                <a:cs typeface="페이퍼로지 5 Medium"/>
              </a:rPr>
              <a:t>p.18–43</a:t>
            </a:r>
            <a:endParaRPr lang="en-US" sz="1000" dirty="0"/>
          </a:p>
        </p:txBody>
      </p:sp>
      <p:pic>
        <p:nvPicPr>
          <p:cNvPr id="89" name="Image 2" descr="Settings">
            <a:extLst>
              <a:ext uri="{FF2B5EF4-FFF2-40B4-BE49-F238E27FC236}">
                <a16:creationId xmlns:a16="http://schemas.microsoft.com/office/drawing/2014/main" id="{CF050FF5-347F-482C-B242-21D89055E09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564210" y="3941679"/>
            <a:ext cx="227012" cy="227012"/>
          </a:xfrm>
          <a:prstGeom prst="rect">
            <a:avLst/>
          </a:prstGeom>
        </p:spPr>
      </p:pic>
      <p:sp>
        <p:nvSpPr>
          <p:cNvPr id="90" name="Text 33">
            <a:extLst>
              <a:ext uri="{FF2B5EF4-FFF2-40B4-BE49-F238E27FC236}">
                <a16:creationId xmlns:a16="http://schemas.microsoft.com/office/drawing/2014/main" id="{B151433D-C8D2-45C5-B14A-D6BF858ED8ED}"/>
              </a:ext>
            </a:extLst>
          </p:cNvPr>
          <p:cNvSpPr/>
          <p:nvPr/>
        </p:nvSpPr>
        <p:spPr>
          <a:xfrm>
            <a:off x="3100784" y="2914467"/>
            <a:ext cx="615379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9"/>
              </a:lnSpc>
              <a:buNone/>
            </a:pPr>
            <a:r>
              <a:rPr lang="en-US" sz="11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3-1  업무 수행 및 운영 전략</a:t>
            </a:r>
            <a:endParaRPr lang="en-US" sz="1100" dirty="0">
              <a:solidFill>
                <a:srgbClr val="E30C60"/>
              </a:solidFill>
            </a:endParaRPr>
          </a:p>
        </p:txBody>
      </p:sp>
      <p:sp>
        <p:nvSpPr>
          <p:cNvPr id="91" name="Text 34">
            <a:extLst>
              <a:ext uri="{FF2B5EF4-FFF2-40B4-BE49-F238E27FC236}">
                <a16:creationId xmlns:a16="http://schemas.microsoft.com/office/drawing/2014/main" id="{28A6610E-ED1A-43F5-ACD5-DE6D18C22217}"/>
              </a:ext>
            </a:extLst>
          </p:cNvPr>
          <p:cNvSpPr/>
          <p:nvPr/>
        </p:nvSpPr>
        <p:spPr>
          <a:xfrm>
            <a:off x="3100784" y="3221747"/>
            <a:ext cx="165100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①</a:t>
            </a:r>
            <a:endParaRPr lang="en-US" sz="1000" dirty="0"/>
          </a:p>
        </p:txBody>
      </p:sp>
      <p:sp>
        <p:nvSpPr>
          <p:cNvPr id="92" name="Text 35">
            <a:extLst>
              <a:ext uri="{FF2B5EF4-FFF2-40B4-BE49-F238E27FC236}">
                <a16:creationId xmlns:a16="http://schemas.microsoft.com/office/drawing/2014/main" id="{BE41FCF4-69A0-4D91-9BA2-76ADD24F8A1F}"/>
              </a:ext>
            </a:extLst>
          </p:cNvPr>
          <p:cNvSpPr/>
          <p:nvPr/>
        </p:nvSpPr>
        <p:spPr>
          <a:xfrm>
            <a:off x="3276203" y="3221747"/>
            <a:ext cx="2896216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8"/>
              </a:lnSpc>
              <a:buNone/>
            </a:pPr>
            <a:r>
              <a:rPr lang="en-US" sz="1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운영 전략 수립 및 구체적 제시</a:t>
            </a:r>
            <a:endParaRPr lang="en-US" sz="1000" dirty="0"/>
          </a:p>
        </p:txBody>
      </p:sp>
      <p:sp>
        <p:nvSpPr>
          <p:cNvPr id="93" name="Text 36">
            <a:extLst>
              <a:ext uri="{FF2B5EF4-FFF2-40B4-BE49-F238E27FC236}">
                <a16:creationId xmlns:a16="http://schemas.microsoft.com/office/drawing/2014/main" id="{4DDCAC6C-A857-4276-A511-FB762BD8C0B3}"/>
              </a:ext>
            </a:extLst>
          </p:cNvPr>
          <p:cNvSpPr/>
          <p:nvPr/>
        </p:nvSpPr>
        <p:spPr>
          <a:xfrm>
            <a:off x="3276203" y="3419788"/>
            <a:ext cx="2896216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8"/>
              </a:lnSpc>
              <a:buNone/>
            </a:pPr>
            <a:r>
              <a:rPr lang="en-US" sz="100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운영 장소 · 최소/최대 운용인원 · Call Peak 대응</a:t>
            </a:r>
            <a:endParaRPr lang="en-US" sz="1000" dirty="0"/>
          </a:p>
        </p:txBody>
      </p:sp>
      <p:sp>
        <p:nvSpPr>
          <p:cNvPr id="94" name="Text 37">
            <a:extLst>
              <a:ext uri="{FF2B5EF4-FFF2-40B4-BE49-F238E27FC236}">
                <a16:creationId xmlns:a16="http://schemas.microsoft.com/office/drawing/2014/main" id="{D79D4D84-958F-41B6-A467-5F2CA1CCBAD7}"/>
              </a:ext>
            </a:extLst>
          </p:cNvPr>
          <p:cNvSpPr/>
          <p:nvPr/>
        </p:nvSpPr>
        <p:spPr>
          <a:xfrm>
            <a:off x="6088062" y="3221747"/>
            <a:ext cx="165100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②</a:t>
            </a:r>
            <a:endParaRPr lang="en-US" sz="1000" dirty="0"/>
          </a:p>
        </p:txBody>
      </p:sp>
      <p:sp>
        <p:nvSpPr>
          <p:cNvPr id="95" name="Text 38">
            <a:extLst>
              <a:ext uri="{FF2B5EF4-FFF2-40B4-BE49-F238E27FC236}">
                <a16:creationId xmlns:a16="http://schemas.microsoft.com/office/drawing/2014/main" id="{113C5987-1E0D-4AC2-8B93-99FB5C290B5F}"/>
              </a:ext>
            </a:extLst>
          </p:cNvPr>
          <p:cNvSpPr/>
          <p:nvPr/>
        </p:nvSpPr>
        <p:spPr>
          <a:xfrm>
            <a:off x="6263481" y="3221747"/>
            <a:ext cx="2896216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8"/>
              </a:lnSpc>
              <a:buNone/>
            </a:pPr>
            <a:r>
              <a:rPr lang="en-US" sz="1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LG전자 고객센터 상담 조직도 및 인력구성</a:t>
            </a:r>
            <a:endParaRPr lang="en-US" sz="1000" dirty="0"/>
          </a:p>
        </p:txBody>
      </p:sp>
      <p:sp>
        <p:nvSpPr>
          <p:cNvPr id="96" name="Text 39">
            <a:extLst>
              <a:ext uri="{FF2B5EF4-FFF2-40B4-BE49-F238E27FC236}">
                <a16:creationId xmlns:a16="http://schemas.microsoft.com/office/drawing/2014/main" id="{0EB248B7-3B1B-4CAC-BBF0-CF5BF9547DC1}"/>
              </a:ext>
            </a:extLst>
          </p:cNvPr>
          <p:cNvSpPr/>
          <p:nvPr/>
        </p:nvSpPr>
        <p:spPr>
          <a:xfrm>
            <a:off x="6263481" y="3419788"/>
            <a:ext cx="2896216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8"/>
              </a:lnSpc>
              <a:buNone/>
            </a:pPr>
            <a:r>
              <a:rPr lang="en-US" sz="100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상시 · 한시 · 파트타임</a:t>
            </a:r>
            <a:endParaRPr lang="en-US" sz="1000" dirty="0"/>
          </a:p>
        </p:txBody>
      </p:sp>
      <p:sp>
        <p:nvSpPr>
          <p:cNvPr id="97" name="Text 40">
            <a:extLst>
              <a:ext uri="{FF2B5EF4-FFF2-40B4-BE49-F238E27FC236}">
                <a16:creationId xmlns:a16="http://schemas.microsoft.com/office/drawing/2014/main" id="{1974A850-82DE-4243-87C0-A0702468631B}"/>
              </a:ext>
            </a:extLst>
          </p:cNvPr>
          <p:cNvSpPr/>
          <p:nvPr/>
        </p:nvSpPr>
        <p:spPr>
          <a:xfrm>
            <a:off x="3100784" y="3617828"/>
            <a:ext cx="165100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③</a:t>
            </a:r>
            <a:endParaRPr lang="en-US" sz="1000" dirty="0"/>
          </a:p>
        </p:txBody>
      </p:sp>
      <p:sp>
        <p:nvSpPr>
          <p:cNvPr id="98" name="Text 41">
            <a:extLst>
              <a:ext uri="{FF2B5EF4-FFF2-40B4-BE49-F238E27FC236}">
                <a16:creationId xmlns:a16="http://schemas.microsoft.com/office/drawing/2014/main" id="{291D9BE4-B968-48A0-A62D-68B6B03E0105}"/>
              </a:ext>
            </a:extLst>
          </p:cNvPr>
          <p:cNvSpPr/>
          <p:nvPr/>
        </p:nvSpPr>
        <p:spPr>
          <a:xfrm>
            <a:off x="3276203" y="3617828"/>
            <a:ext cx="2896216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8"/>
              </a:lnSpc>
              <a:buNone/>
            </a:pPr>
            <a:r>
              <a:rPr lang="en-US" sz="1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상담사의 원활한 수급 방안</a:t>
            </a:r>
            <a:endParaRPr lang="en-US" sz="1000" dirty="0"/>
          </a:p>
        </p:txBody>
      </p:sp>
      <p:sp>
        <p:nvSpPr>
          <p:cNvPr id="99" name="Text 42">
            <a:extLst>
              <a:ext uri="{FF2B5EF4-FFF2-40B4-BE49-F238E27FC236}">
                <a16:creationId xmlns:a16="http://schemas.microsoft.com/office/drawing/2014/main" id="{37BB0FFE-FA2E-42C9-9B3D-F62B8A3C0A20}"/>
              </a:ext>
            </a:extLst>
          </p:cNvPr>
          <p:cNvSpPr/>
          <p:nvPr/>
        </p:nvSpPr>
        <p:spPr>
          <a:xfrm>
            <a:off x="3276203" y="3815869"/>
            <a:ext cx="2896216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8"/>
              </a:lnSpc>
              <a:buNone/>
            </a:pPr>
            <a:r>
              <a:rPr lang="en-US" sz="100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고용승계 · 채용 차별화 · 우수 상담인력 유지</a:t>
            </a:r>
            <a:endParaRPr lang="en-US" sz="1000" dirty="0"/>
          </a:p>
        </p:txBody>
      </p:sp>
      <p:sp>
        <p:nvSpPr>
          <p:cNvPr id="100" name="Text 43">
            <a:extLst>
              <a:ext uri="{FF2B5EF4-FFF2-40B4-BE49-F238E27FC236}">
                <a16:creationId xmlns:a16="http://schemas.microsoft.com/office/drawing/2014/main" id="{C979166E-82B1-4F01-8107-28DCC08D1CC4}"/>
              </a:ext>
            </a:extLst>
          </p:cNvPr>
          <p:cNvSpPr/>
          <p:nvPr/>
        </p:nvSpPr>
        <p:spPr>
          <a:xfrm>
            <a:off x="6088062" y="3617828"/>
            <a:ext cx="165100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④</a:t>
            </a:r>
            <a:endParaRPr lang="en-US" sz="1000" dirty="0"/>
          </a:p>
        </p:txBody>
      </p:sp>
      <p:sp>
        <p:nvSpPr>
          <p:cNvPr id="101" name="Text 44">
            <a:extLst>
              <a:ext uri="{FF2B5EF4-FFF2-40B4-BE49-F238E27FC236}">
                <a16:creationId xmlns:a16="http://schemas.microsoft.com/office/drawing/2014/main" id="{D2FDFAC5-64B9-444C-92AF-21CF834CE185}"/>
              </a:ext>
            </a:extLst>
          </p:cNvPr>
          <p:cNvSpPr/>
          <p:nvPr/>
        </p:nvSpPr>
        <p:spPr>
          <a:xfrm>
            <a:off x="6263481" y="3617828"/>
            <a:ext cx="2896216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8"/>
              </a:lnSpc>
              <a:buNone/>
            </a:pPr>
            <a:r>
              <a:rPr lang="en-US" sz="1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상담 품질 관리 방안</a:t>
            </a:r>
            <a:endParaRPr lang="en-US" sz="1000" dirty="0"/>
          </a:p>
        </p:txBody>
      </p:sp>
      <p:sp>
        <p:nvSpPr>
          <p:cNvPr id="102" name="Text 45">
            <a:extLst>
              <a:ext uri="{FF2B5EF4-FFF2-40B4-BE49-F238E27FC236}">
                <a16:creationId xmlns:a16="http://schemas.microsoft.com/office/drawing/2014/main" id="{140B4652-5397-4840-A605-E80229A34DFC}"/>
              </a:ext>
            </a:extLst>
          </p:cNvPr>
          <p:cNvSpPr/>
          <p:nvPr/>
        </p:nvSpPr>
        <p:spPr>
          <a:xfrm>
            <a:off x="6263481" y="3815869"/>
            <a:ext cx="2896216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8"/>
              </a:lnSpc>
              <a:buNone/>
            </a:pPr>
            <a:r>
              <a:rPr lang="en-US" sz="100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상시/한시를 구분한 품질 향상 방안</a:t>
            </a:r>
            <a:endParaRPr lang="en-US" sz="1000" dirty="0"/>
          </a:p>
        </p:txBody>
      </p:sp>
      <p:sp>
        <p:nvSpPr>
          <p:cNvPr id="103" name="Text 46">
            <a:extLst>
              <a:ext uri="{FF2B5EF4-FFF2-40B4-BE49-F238E27FC236}">
                <a16:creationId xmlns:a16="http://schemas.microsoft.com/office/drawing/2014/main" id="{142BB819-EF9F-4EC1-937D-DC6D6F03E15F}"/>
              </a:ext>
            </a:extLst>
          </p:cNvPr>
          <p:cNvSpPr/>
          <p:nvPr/>
        </p:nvSpPr>
        <p:spPr>
          <a:xfrm>
            <a:off x="3100784" y="4013910"/>
            <a:ext cx="165100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⑤</a:t>
            </a:r>
            <a:endParaRPr lang="en-US" sz="1000" dirty="0"/>
          </a:p>
        </p:txBody>
      </p:sp>
      <p:sp>
        <p:nvSpPr>
          <p:cNvPr id="104" name="Text 47">
            <a:extLst>
              <a:ext uri="{FF2B5EF4-FFF2-40B4-BE49-F238E27FC236}">
                <a16:creationId xmlns:a16="http://schemas.microsoft.com/office/drawing/2014/main" id="{3269F04F-05AE-44BC-98A5-D7DC8E3F6C00}"/>
              </a:ext>
            </a:extLst>
          </p:cNvPr>
          <p:cNvSpPr/>
          <p:nvPr/>
        </p:nvSpPr>
        <p:spPr>
          <a:xfrm>
            <a:off x="3276203" y="4013910"/>
            <a:ext cx="2896216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8"/>
              </a:lnSpc>
              <a:buNone/>
            </a:pPr>
            <a:r>
              <a:rPr lang="en-US" sz="1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교육 훈련 관리 방안</a:t>
            </a:r>
            <a:endParaRPr lang="en-US" sz="1000" dirty="0"/>
          </a:p>
        </p:txBody>
      </p:sp>
      <p:sp>
        <p:nvSpPr>
          <p:cNvPr id="105" name="Text 48">
            <a:extLst>
              <a:ext uri="{FF2B5EF4-FFF2-40B4-BE49-F238E27FC236}">
                <a16:creationId xmlns:a16="http://schemas.microsoft.com/office/drawing/2014/main" id="{4EC261D3-9BF4-4669-B6E0-9A29FA3241B1}"/>
              </a:ext>
            </a:extLst>
          </p:cNvPr>
          <p:cNvSpPr/>
          <p:nvPr/>
        </p:nvSpPr>
        <p:spPr>
          <a:xfrm>
            <a:off x="3276203" y="4211950"/>
            <a:ext cx="2896216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8"/>
              </a:lnSpc>
              <a:buNone/>
            </a:pPr>
            <a:r>
              <a:rPr lang="en-US" sz="100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상담사 역량 향상 · 관리자 육성</a:t>
            </a:r>
            <a:endParaRPr lang="en-US" sz="1000" dirty="0"/>
          </a:p>
        </p:txBody>
      </p:sp>
      <p:sp>
        <p:nvSpPr>
          <p:cNvPr id="106" name="Text 49">
            <a:extLst>
              <a:ext uri="{FF2B5EF4-FFF2-40B4-BE49-F238E27FC236}">
                <a16:creationId xmlns:a16="http://schemas.microsoft.com/office/drawing/2014/main" id="{A9538D4A-E0CB-41BF-8474-0A9273BE9D99}"/>
              </a:ext>
            </a:extLst>
          </p:cNvPr>
          <p:cNvSpPr/>
          <p:nvPr/>
        </p:nvSpPr>
        <p:spPr>
          <a:xfrm>
            <a:off x="6088062" y="4013910"/>
            <a:ext cx="165100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⑥</a:t>
            </a:r>
            <a:endParaRPr lang="en-US" sz="1000" dirty="0"/>
          </a:p>
        </p:txBody>
      </p:sp>
      <p:sp>
        <p:nvSpPr>
          <p:cNvPr id="107" name="Text 50">
            <a:extLst>
              <a:ext uri="{FF2B5EF4-FFF2-40B4-BE49-F238E27FC236}">
                <a16:creationId xmlns:a16="http://schemas.microsoft.com/office/drawing/2014/main" id="{04CDB24C-7500-4883-AA39-A8BC3AC664DD}"/>
              </a:ext>
            </a:extLst>
          </p:cNvPr>
          <p:cNvSpPr/>
          <p:nvPr/>
        </p:nvSpPr>
        <p:spPr>
          <a:xfrm>
            <a:off x="6263481" y="4013910"/>
            <a:ext cx="2896216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8"/>
              </a:lnSpc>
              <a:buNone/>
            </a:pPr>
            <a:r>
              <a:rPr lang="en-US" sz="1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시스템 및 정보보안 준수</a:t>
            </a:r>
            <a:endParaRPr lang="en-US" sz="1000" dirty="0"/>
          </a:p>
        </p:txBody>
      </p:sp>
      <p:sp>
        <p:nvSpPr>
          <p:cNvPr id="108" name="Text 51">
            <a:extLst>
              <a:ext uri="{FF2B5EF4-FFF2-40B4-BE49-F238E27FC236}">
                <a16:creationId xmlns:a16="http://schemas.microsoft.com/office/drawing/2014/main" id="{BE5AA9C3-00A2-4938-AAB0-8EF0D583C2F9}"/>
              </a:ext>
            </a:extLst>
          </p:cNvPr>
          <p:cNvSpPr/>
          <p:nvPr/>
        </p:nvSpPr>
        <p:spPr>
          <a:xfrm>
            <a:off x="6263481" y="4211950"/>
            <a:ext cx="2896216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8"/>
              </a:lnSpc>
              <a:buNone/>
            </a:pPr>
            <a:r>
              <a:rPr lang="en-US" sz="100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제안사별 관리 계획</a:t>
            </a:r>
            <a:endParaRPr lang="en-US" sz="1000" dirty="0"/>
          </a:p>
        </p:txBody>
      </p:sp>
      <p:sp>
        <p:nvSpPr>
          <p:cNvPr id="109" name="Text 52">
            <a:extLst>
              <a:ext uri="{FF2B5EF4-FFF2-40B4-BE49-F238E27FC236}">
                <a16:creationId xmlns:a16="http://schemas.microsoft.com/office/drawing/2014/main" id="{C85F6906-D101-4C15-826D-4BD888D33B44}"/>
              </a:ext>
            </a:extLst>
          </p:cNvPr>
          <p:cNvSpPr/>
          <p:nvPr/>
        </p:nvSpPr>
        <p:spPr>
          <a:xfrm>
            <a:off x="3100784" y="4409991"/>
            <a:ext cx="165100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⑦</a:t>
            </a:r>
            <a:endParaRPr lang="en-US" sz="1000" dirty="0"/>
          </a:p>
        </p:txBody>
      </p:sp>
      <p:sp>
        <p:nvSpPr>
          <p:cNvPr id="110" name="Text 53">
            <a:extLst>
              <a:ext uri="{FF2B5EF4-FFF2-40B4-BE49-F238E27FC236}">
                <a16:creationId xmlns:a16="http://schemas.microsoft.com/office/drawing/2014/main" id="{95DAEC5E-84BE-41AC-AF35-6ADAA3312542}"/>
              </a:ext>
            </a:extLst>
          </p:cNvPr>
          <p:cNvSpPr/>
          <p:nvPr/>
        </p:nvSpPr>
        <p:spPr>
          <a:xfrm>
            <a:off x="3276203" y="4409991"/>
            <a:ext cx="2896216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8"/>
              </a:lnSpc>
              <a:buNone/>
            </a:pPr>
            <a:r>
              <a:rPr lang="en-US" sz="1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안전보건 관리 방안</a:t>
            </a:r>
            <a:endParaRPr lang="en-US" sz="1000" dirty="0"/>
          </a:p>
        </p:txBody>
      </p:sp>
      <p:sp>
        <p:nvSpPr>
          <p:cNvPr id="111" name="Text 54">
            <a:extLst>
              <a:ext uri="{FF2B5EF4-FFF2-40B4-BE49-F238E27FC236}">
                <a16:creationId xmlns:a16="http://schemas.microsoft.com/office/drawing/2014/main" id="{F22EF4FF-122D-4377-B9F5-C15DD343B680}"/>
              </a:ext>
            </a:extLst>
          </p:cNvPr>
          <p:cNvSpPr/>
          <p:nvPr/>
        </p:nvSpPr>
        <p:spPr>
          <a:xfrm>
            <a:off x="3276203" y="4608031"/>
            <a:ext cx="2896216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8"/>
              </a:lnSpc>
              <a:buNone/>
            </a:pPr>
            <a:r>
              <a:rPr lang="en-US" sz="100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산업안전보건관리체계 구축 여부</a:t>
            </a:r>
            <a:endParaRPr lang="en-US" sz="1000" dirty="0"/>
          </a:p>
        </p:txBody>
      </p:sp>
      <p:sp>
        <p:nvSpPr>
          <p:cNvPr id="112" name="Shape 55">
            <a:extLst>
              <a:ext uri="{FF2B5EF4-FFF2-40B4-BE49-F238E27FC236}">
                <a16:creationId xmlns:a16="http://schemas.microsoft.com/office/drawing/2014/main" id="{45CBC755-174F-4BA6-B185-6CCAAA673602}"/>
              </a:ext>
            </a:extLst>
          </p:cNvPr>
          <p:cNvSpPr/>
          <p:nvPr/>
        </p:nvSpPr>
        <p:spPr>
          <a:xfrm>
            <a:off x="3100784" y="4885447"/>
            <a:ext cx="5974556" cy="0"/>
          </a:xfrm>
          <a:prstGeom prst="line">
            <a:avLst/>
          </a:prstGeom>
          <a:noFill/>
          <a:ln w="6350">
            <a:solidFill>
              <a:srgbClr val="F3B8CC"/>
            </a:solidFill>
            <a:prstDash val="solid"/>
          </a:ln>
        </p:spPr>
        <p:txBody>
          <a:bodyPr lIns="74295" rIns="74295"/>
          <a:lstStyle/>
          <a:p>
            <a:endParaRPr/>
          </a:p>
        </p:txBody>
      </p:sp>
      <p:sp>
        <p:nvSpPr>
          <p:cNvPr id="113" name="Text 56">
            <a:extLst>
              <a:ext uri="{FF2B5EF4-FFF2-40B4-BE49-F238E27FC236}">
                <a16:creationId xmlns:a16="http://schemas.microsoft.com/office/drawing/2014/main" id="{00593A3A-675D-458D-8B58-172DF2674CFB}"/>
              </a:ext>
            </a:extLst>
          </p:cNvPr>
          <p:cNvSpPr/>
          <p:nvPr/>
        </p:nvSpPr>
        <p:spPr>
          <a:xfrm>
            <a:off x="3100784" y="4964822"/>
            <a:ext cx="1362236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479"/>
              </a:lnSpc>
              <a:buNone/>
            </a:pPr>
            <a:r>
              <a:rPr lang="en-US" sz="11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3-2  긴급상황 대응 전략</a:t>
            </a:r>
            <a:endParaRPr lang="en-US" sz="1100" dirty="0">
              <a:solidFill>
                <a:srgbClr val="E30C60"/>
              </a:solidFill>
            </a:endParaRPr>
          </a:p>
        </p:txBody>
      </p:sp>
      <p:sp>
        <p:nvSpPr>
          <p:cNvPr id="114" name="Text 57">
            <a:extLst>
              <a:ext uri="{FF2B5EF4-FFF2-40B4-BE49-F238E27FC236}">
                <a16:creationId xmlns:a16="http://schemas.microsoft.com/office/drawing/2014/main" id="{EEFE42FF-4D46-41A7-B406-11BCB990CBD0}"/>
              </a:ext>
            </a:extLst>
          </p:cNvPr>
          <p:cNvSpPr/>
          <p:nvPr/>
        </p:nvSpPr>
        <p:spPr>
          <a:xfrm>
            <a:off x="4524933" y="4977522"/>
            <a:ext cx="46869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00" dirty="0">
                <a:solidFill>
                  <a:srgbClr val="2B313C"/>
                </a:solidFill>
                <a:latin typeface="페이퍼로지 5 Medium"/>
                <a:ea typeface="페이퍼로지 5 Medium"/>
                <a:cs typeface="페이퍼로지 5 Medium"/>
              </a:rPr>
              <a:t>콜·노무 이슈 대응체계와 커뮤니케이션</a:t>
            </a:r>
            <a:endParaRPr lang="en-US" sz="1000" dirty="0"/>
          </a:p>
        </p:txBody>
      </p:sp>
      <p:sp>
        <p:nvSpPr>
          <p:cNvPr id="115" name="Shape 58">
            <a:extLst>
              <a:ext uri="{FF2B5EF4-FFF2-40B4-BE49-F238E27FC236}">
                <a16:creationId xmlns:a16="http://schemas.microsoft.com/office/drawing/2014/main" id="{F437DA61-0580-4920-B9C6-81B8F00D117E}"/>
              </a:ext>
            </a:extLst>
          </p:cNvPr>
          <p:cNvSpPr/>
          <p:nvPr/>
        </p:nvSpPr>
        <p:spPr>
          <a:xfrm>
            <a:off x="662980" y="5395928"/>
            <a:ext cx="8580041" cy="689570"/>
          </a:xfrm>
          <a:prstGeom prst="roundRect">
            <a:avLst>
              <a:gd name="adj" fmla="val 12432"/>
            </a:avLst>
          </a:prstGeom>
          <a:solidFill>
            <a:srgbClr val="FFFFFF"/>
          </a:solidFill>
          <a:ln w="6350">
            <a:solidFill>
              <a:srgbClr val="E6E8EC"/>
            </a:solidFill>
            <a:prstDash val="solid"/>
          </a:ln>
        </p:spPr>
        <p:txBody>
          <a:bodyPr lIns="74295" rIns="74295"/>
          <a:lstStyle/>
          <a:p>
            <a:endParaRPr/>
          </a:p>
        </p:txBody>
      </p:sp>
      <p:sp>
        <p:nvSpPr>
          <p:cNvPr id="116" name="Shape 59">
            <a:extLst>
              <a:ext uri="{FF2B5EF4-FFF2-40B4-BE49-F238E27FC236}">
                <a16:creationId xmlns:a16="http://schemas.microsoft.com/office/drawing/2014/main" id="{40C1A356-7F05-4704-A239-DC7472D394A2}"/>
              </a:ext>
            </a:extLst>
          </p:cNvPr>
          <p:cNvSpPr/>
          <p:nvPr/>
        </p:nvSpPr>
        <p:spPr>
          <a:xfrm>
            <a:off x="665559" y="5399103"/>
            <a:ext cx="2270125" cy="683220"/>
          </a:xfrm>
          <a:custGeom>
            <a:avLst/>
            <a:gdLst/>
            <a:ahLst/>
            <a:cxnLst/>
            <a:rect l="l" t="t" r="r" b="b"/>
            <a:pathLst>
              <a:path w="2794000" h="683220">
                <a:moveTo>
                  <a:pt x="0" y="82550"/>
                </a:moveTo>
                <a:arcTo wR="82550" hR="82550" stAng="10800000" swAng="5400000"/>
                <a:lnTo>
                  <a:pt x="2794000" y="0"/>
                </a:lnTo>
                <a:lnTo>
                  <a:pt x="2794000" y="683220"/>
                </a:lnTo>
                <a:lnTo>
                  <a:pt x="82550" y="683220"/>
                </a:lnTo>
                <a:arcTo wR="82550" hR="82550" stAng="5400000" swAng="5400000"/>
                <a:close/>
              </a:path>
            </a:pathLst>
          </a:custGeom>
          <a:solidFill>
            <a:srgbClr val="F4F5F7"/>
          </a:solidFill>
          <a:ln/>
        </p:spPr>
        <p:txBody>
          <a:bodyPr lIns="74295" rIns="74295"/>
          <a:lstStyle/>
          <a:p>
            <a:endParaRPr/>
          </a:p>
        </p:txBody>
      </p:sp>
      <p:sp>
        <p:nvSpPr>
          <p:cNvPr id="117" name="Text 60">
            <a:extLst>
              <a:ext uri="{FF2B5EF4-FFF2-40B4-BE49-F238E27FC236}">
                <a16:creationId xmlns:a16="http://schemas.microsoft.com/office/drawing/2014/main" id="{AA34E5D2-48F3-4A25-A815-08BBC8E37229}"/>
              </a:ext>
            </a:extLst>
          </p:cNvPr>
          <p:cNvSpPr/>
          <p:nvPr/>
        </p:nvSpPr>
        <p:spPr>
          <a:xfrm>
            <a:off x="810022" y="5562913"/>
            <a:ext cx="366799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275"/>
              </a:lnSpc>
              <a:buNone/>
            </a:pPr>
            <a:r>
              <a:rPr lang="en-US" sz="2300" b="0" kern="0" spc="-10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04</a:t>
            </a:r>
            <a:endParaRPr lang="en-US" sz="2300" dirty="0"/>
          </a:p>
        </p:txBody>
      </p:sp>
      <p:sp>
        <p:nvSpPr>
          <p:cNvPr id="118" name="Text 61">
            <a:extLst>
              <a:ext uri="{FF2B5EF4-FFF2-40B4-BE49-F238E27FC236}">
                <a16:creationId xmlns:a16="http://schemas.microsoft.com/office/drawing/2014/main" id="{9091E198-91CA-4EE1-9117-40AB20C21BAD}"/>
              </a:ext>
            </a:extLst>
          </p:cNvPr>
          <p:cNvSpPr/>
          <p:nvPr/>
        </p:nvSpPr>
        <p:spPr>
          <a:xfrm>
            <a:off x="1259371" y="5500703"/>
            <a:ext cx="1222288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5"/>
              </a:lnSpc>
              <a:buNone/>
            </a:pPr>
            <a:r>
              <a:rPr lang="en-US" sz="13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기타</a:t>
            </a:r>
            <a:endParaRPr lang="en-US" sz="1300" dirty="0"/>
          </a:p>
        </p:txBody>
      </p:sp>
      <p:sp>
        <p:nvSpPr>
          <p:cNvPr id="119" name="Text 62">
            <a:extLst>
              <a:ext uri="{FF2B5EF4-FFF2-40B4-BE49-F238E27FC236}">
                <a16:creationId xmlns:a16="http://schemas.microsoft.com/office/drawing/2014/main" id="{3B5C83F8-7ED3-47A3-B1EA-E33AB73575D5}"/>
              </a:ext>
            </a:extLst>
          </p:cNvPr>
          <p:cNvSpPr/>
          <p:nvPr/>
        </p:nvSpPr>
        <p:spPr>
          <a:xfrm>
            <a:off x="1259371" y="5767403"/>
            <a:ext cx="12222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0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p.45–48</a:t>
            </a:r>
            <a:endParaRPr lang="en-US" sz="1000" dirty="0"/>
          </a:p>
        </p:txBody>
      </p:sp>
      <p:pic>
        <p:nvPicPr>
          <p:cNvPr id="120" name="Image 3" descr="Star">
            <a:extLst>
              <a:ext uri="{FF2B5EF4-FFF2-40B4-BE49-F238E27FC236}">
                <a16:creationId xmlns:a16="http://schemas.microsoft.com/office/drawing/2014/main" id="{C00C5D45-16EF-4A1B-AE6E-22A95468B1A1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5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2564210" y="5627207"/>
            <a:ext cx="227012" cy="227012"/>
          </a:xfrm>
          <a:prstGeom prst="rect">
            <a:avLst/>
          </a:prstGeom>
          <a:noFill/>
        </p:spPr>
      </p:pic>
      <p:sp>
        <p:nvSpPr>
          <p:cNvPr id="121" name="Text 63">
            <a:extLst>
              <a:ext uri="{FF2B5EF4-FFF2-40B4-BE49-F238E27FC236}">
                <a16:creationId xmlns:a16="http://schemas.microsoft.com/office/drawing/2014/main" id="{715F7E14-EBAD-4DF5-B5F5-75ED1D0A6797}"/>
              </a:ext>
            </a:extLst>
          </p:cNvPr>
          <p:cNvSpPr/>
          <p:nvPr/>
        </p:nvSpPr>
        <p:spPr>
          <a:xfrm>
            <a:off x="3100784" y="5635938"/>
            <a:ext cx="2332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4-1</a:t>
            </a:r>
            <a:endParaRPr lang="en-US" sz="1000" dirty="0"/>
          </a:p>
        </p:txBody>
      </p:sp>
      <p:sp>
        <p:nvSpPr>
          <p:cNvPr id="122" name="Text 64">
            <a:extLst>
              <a:ext uri="{FF2B5EF4-FFF2-40B4-BE49-F238E27FC236}">
                <a16:creationId xmlns:a16="http://schemas.microsoft.com/office/drawing/2014/main" id="{E5D4C8E4-609A-4460-908C-4F2AD1F6C9C5}"/>
              </a:ext>
            </a:extLst>
          </p:cNvPr>
          <p:cNvSpPr/>
          <p:nvPr/>
        </p:nvSpPr>
        <p:spPr>
          <a:xfrm>
            <a:off x="3344323" y="5629588"/>
            <a:ext cx="1750318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422"/>
              </a:lnSpc>
              <a:buNone/>
            </a:pPr>
            <a:r>
              <a:rPr lang="en-US" sz="1000" dirty="0">
                <a:solidFill>
                  <a:srgbClr val="2B313C"/>
                </a:solidFill>
                <a:latin typeface="페이퍼로지 5 Medium"/>
                <a:ea typeface="페이퍼로지 5 Medium"/>
                <a:cs typeface="페이퍼로지 5 Medium"/>
              </a:rPr>
              <a:t>제안사만의 차별화 전략</a:t>
            </a:r>
            <a:endParaRPr lang="en-US" sz="1000" dirty="0"/>
          </a:p>
        </p:txBody>
      </p:sp>
      <p:sp>
        <p:nvSpPr>
          <p:cNvPr id="2" name="Text 63">
            <a:extLst>
              <a:ext uri="{FF2B5EF4-FFF2-40B4-BE49-F238E27FC236}">
                <a16:creationId xmlns:a16="http://schemas.microsoft.com/office/drawing/2014/main" id="{715F7E14-EBAD-4DF5-B5F5-75ED1D0A6797}"/>
              </a:ext>
            </a:extLst>
          </p:cNvPr>
          <p:cNvSpPr/>
          <p:nvPr/>
        </p:nvSpPr>
        <p:spPr>
          <a:xfrm>
            <a:off x="5164534" y="5635938"/>
            <a:ext cx="2332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4-2</a:t>
            </a:r>
            <a:endParaRPr lang="en-US" sz="1000" dirty="0"/>
          </a:p>
        </p:txBody>
      </p:sp>
      <p:sp>
        <p:nvSpPr>
          <p:cNvPr id="3" name="Text 64">
            <a:extLst>
              <a:ext uri="{FF2B5EF4-FFF2-40B4-BE49-F238E27FC236}">
                <a16:creationId xmlns:a16="http://schemas.microsoft.com/office/drawing/2014/main" id="{E5D4C8E4-609A-4460-908C-4F2AD1F6C9C5}"/>
              </a:ext>
            </a:extLst>
          </p:cNvPr>
          <p:cNvSpPr/>
          <p:nvPr/>
        </p:nvSpPr>
        <p:spPr>
          <a:xfrm>
            <a:off x="5408073" y="5629588"/>
            <a:ext cx="1750318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422"/>
              </a:lnSpc>
              <a:buNone/>
            </a:pPr>
            <a:r>
              <a:rPr lang="en-US" sz="1000" dirty="0">
                <a:solidFill>
                  <a:srgbClr val="2B313C"/>
                </a:solidFill>
                <a:latin typeface="페이퍼로지 5 Medium"/>
                <a:ea typeface="페이퍼로지 5 Medium"/>
                <a:cs typeface="페이퍼로지 5 Medium"/>
              </a:rPr>
              <a:t>지속 성장 지표</a:t>
            </a:r>
            <a:endParaRPr lang="en-US" sz="1000" dirty="0"/>
          </a:p>
        </p:txBody>
      </p:sp>
      <p:sp>
        <p:nvSpPr>
          <p:cNvPr id="4" name="Text 63">
            <a:extLst>
              <a:ext uri="{FF2B5EF4-FFF2-40B4-BE49-F238E27FC236}">
                <a16:creationId xmlns:a16="http://schemas.microsoft.com/office/drawing/2014/main" id="{715F7E14-EBAD-4DF5-B5F5-75ED1D0A6797}"/>
              </a:ext>
            </a:extLst>
          </p:cNvPr>
          <p:cNvSpPr/>
          <p:nvPr/>
        </p:nvSpPr>
        <p:spPr>
          <a:xfrm>
            <a:off x="7228284" y="5635938"/>
            <a:ext cx="2332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4-3</a:t>
            </a:r>
            <a:endParaRPr lang="en-US" sz="1000" dirty="0"/>
          </a:p>
        </p:txBody>
      </p:sp>
      <p:sp>
        <p:nvSpPr>
          <p:cNvPr id="5" name="Text 64">
            <a:extLst>
              <a:ext uri="{FF2B5EF4-FFF2-40B4-BE49-F238E27FC236}">
                <a16:creationId xmlns:a16="http://schemas.microsoft.com/office/drawing/2014/main" id="{E5D4C8E4-609A-4460-908C-4F2AD1F6C9C5}"/>
              </a:ext>
            </a:extLst>
          </p:cNvPr>
          <p:cNvSpPr/>
          <p:nvPr/>
        </p:nvSpPr>
        <p:spPr>
          <a:xfrm>
            <a:off x="7471823" y="5629588"/>
            <a:ext cx="1750318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422"/>
              </a:lnSpc>
              <a:buNone/>
            </a:pPr>
            <a:r>
              <a:rPr lang="en-US" sz="1000" dirty="0">
                <a:solidFill>
                  <a:srgbClr val="2B313C"/>
                </a:solidFill>
                <a:latin typeface="페이퍼로지 5 Medium"/>
                <a:ea typeface="페이퍼로지 5 Medium"/>
                <a:cs typeface="페이퍼로지 5 Medium"/>
              </a:rPr>
              <a:t>기타 제안 (품질·AICC)</a:t>
            </a:r>
            <a:endParaRPr lang="en-US" sz="1000" dirty="0"/>
          </a:p>
        </p:txBody>
      </p:sp>
      <p:pic>
        <p:nvPicPr>
          <p:cNvPr id="123" name="Picture 12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800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3">
            <a:extLst>
              <a:ext uri="{FF2B5EF4-FFF2-40B4-BE49-F238E27FC236}">
                <a16:creationId xmlns:a16="http://schemas.microsoft.com/office/drawing/2014/main" id="{C1ACB0F1-EB17-4A85-9270-A9C68BCAEA5D}"/>
              </a:ext>
            </a:extLst>
          </p:cNvPr>
          <p:cNvSpPr/>
          <p:nvPr/>
        </p:nvSpPr>
        <p:spPr>
          <a:xfrm>
            <a:off x="5200650" y="1734840"/>
            <a:ext cx="4166298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500"/>
              </a:lnSpc>
              <a:buNone/>
            </a:pPr>
            <a:r>
              <a:rPr lang="en-US" sz="5400" b="0" kern="0" spc="-300">
                <a:solidFill>
                  <a:srgbClr val="E60059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  <a:endParaRPr lang="en-US" sz="5400" dirty="0">
              <a:solidFill>
                <a:srgbClr val="E60059"/>
              </a:solidFill>
              <a:latin typeface="+mn-ea"/>
            </a:endParaRPr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E1308CBD-B56E-4D39-A4F8-54020363E2AB}"/>
              </a:ext>
            </a:extLst>
          </p:cNvPr>
          <p:cNvSpPr/>
          <p:nvPr/>
        </p:nvSpPr>
        <p:spPr>
          <a:xfrm>
            <a:off x="5200650" y="2852440"/>
            <a:ext cx="4166298" cy="573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10"/>
              </a:lnSpc>
              <a:buNone/>
            </a:pPr>
            <a:r>
              <a:rPr lang="en-US" sz="2900" b="0" kern="0" spc="-50">
                <a:solidFill>
                  <a:srgbClr val="0F131F"/>
                </a:solidFill>
                <a:latin typeface="페이퍼로지 8 ExtraBold"/>
                <a:ea typeface="페이퍼로지 8 ExtraBold"/>
                <a:cs typeface="페이퍼로지 8 ExtraBold"/>
              </a:rPr>
              <a:t>제안 </a:t>
            </a:r>
            <a:r>
              <a:rPr lang="ko-KR" altLang="en-US" sz="2900" kern="0" spc="-50">
                <a:solidFill>
                  <a:srgbClr val="0F131F"/>
                </a:solidFill>
                <a:latin typeface="페이퍼로지 8 ExtraBold"/>
                <a:ea typeface="페이퍼로지 8 ExtraBold"/>
                <a:cs typeface="페이퍼로지 8 ExtraBold"/>
              </a:rPr>
              <a:t>개요</a:t>
            </a:r>
            <a:endParaRPr lang="en-US" sz="2900" dirty="0">
              <a:latin typeface="+mn-ea"/>
            </a:endParaRP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F85D3754-C0C8-4017-A3F4-4D8DDCCF9AEE}"/>
              </a:ext>
            </a:extLst>
          </p:cNvPr>
          <p:cNvSpPr/>
          <p:nvPr/>
        </p:nvSpPr>
        <p:spPr>
          <a:xfrm>
            <a:off x="5200650" y="3460104"/>
            <a:ext cx="416629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9"/>
              </a:lnSpc>
              <a:buNone/>
            </a:pPr>
            <a:r>
              <a:rPr lang="en-US" sz="1100" kern="0" spc="50">
                <a:solidFill>
                  <a:srgbClr val="8A8F99"/>
                </a:solidFill>
                <a:latin typeface="페이퍼로지 5 Medium"/>
                <a:ea typeface="페이퍼로지 5 Medium"/>
                <a:cs typeface="페이퍼로지 5 Medium"/>
              </a:rPr>
              <a:t>p.05–11</a:t>
            </a:r>
            <a:endParaRPr lang="en-US" sz="1100" dirty="0">
              <a:latin typeface="+mn-ea"/>
            </a:endParaRPr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F3AAEBA4-9229-4B50-BFBD-054CEF0708C8}"/>
              </a:ext>
            </a:extLst>
          </p:cNvPr>
          <p:cNvSpPr/>
          <p:nvPr/>
        </p:nvSpPr>
        <p:spPr>
          <a:xfrm>
            <a:off x="5200650" y="3917851"/>
            <a:ext cx="4044950" cy="0"/>
          </a:xfrm>
          <a:prstGeom prst="line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solid"/>
          </a:ln>
        </p:spPr>
        <p:txBody>
          <a:bodyPr lIns="74295" rIns="74295"/>
          <a:lstStyle/>
          <a:p>
            <a:endParaRPr/>
          </a:p>
        </p:txBody>
      </p:sp>
      <p:sp>
        <p:nvSpPr>
          <p:cNvPr id="16" name="Rectangle 26">
            <a:extLst>
              <a:ext uri="{FF2B5EF4-FFF2-40B4-BE49-F238E27FC236}">
                <a16:creationId xmlns:a16="http://schemas.microsoft.com/office/drawing/2014/main" id="{6232D930-05C0-42B6-8DF2-465554121FA8}"/>
              </a:ext>
            </a:extLst>
          </p:cNvPr>
          <p:cNvSpPr/>
          <p:nvPr/>
        </p:nvSpPr>
        <p:spPr>
          <a:xfrm>
            <a:off x="5230668" y="4038600"/>
            <a:ext cx="3939886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altLang="ko-KR" sz="100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1</a:t>
            </a:r>
            <a:r>
              <a:rPr lang="ko-KR" sz="10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-1  </a:t>
            </a:r>
            <a:r>
              <a:rPr lang="ko-KR" altLang="en-US" sz="10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제안 배경 및 목적</a:t>
            </a:r>
            <a:r>
              <a:rPr lang="en-US" altLang="ko-KR" sz="10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, </a:t>
            </a:r>
            <a:r>
              <a:rPr lang="ko-KR" altLang="en-US" sz="10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범위</a:t>
            </a:r>
          </a:p>
        </p:txBody>
      </p:sp>
      <p:sp>
        <p:nvSpPr>
          <p:cNvPr id="17" name="Rectangle 27">
            <a:extLst>
              <a:ext uri="{FF2B5EF4-FFF2-40B4-BE49-F238E27FC236}">
                <a16:creationId xmlns:a16="http://schemas.microsoft.com/office/drawing/2014/main" id="{F44CD382-B567-43BA-AE1A-39EDBD8D8F88}"/>
              </a:ext>
            </a:extLst>
          </p:cNvPr>
          <p:cNvSpPr/>
          <p:nvPr/>
        </p:nvSpPr>
        <p:spPr>
          <a:xfrm>
            <a:off x="5230668" y="4445000"/>
            <a:ext cx="3939886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altLang="ko-KR" sz="100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1</a:t>
            </a:r>
            <a:r>
              <a:rPr lang="ko-KR" sz="10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-2  </a:t>
            </a:r>
            <a:r>
              <a:rPr lang="en-US" altLang="ko-KR" sz="1000">
                <a:solidFill>
                  <a:srgbClr val="2B313C"/>
                </a:solidFill>
                <a:latin typeface="페이퍼로지 5 Medium"/>
                <a:ea typeface="페이퍼로지 5 Medium"/>
                <a:cs typeface="페이퍼로지 5 Medium"/>
              </a:rPr>
              <a:t>비전, 추진 전략 및 목표 달성을 위한 장기 계획</a:t>
            </a:r>
            <a:endParaRPr lang="en-US" altLang="ko-KR" sz="1000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856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852000" y="736002"/>
            <a:ext cx="923528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ko-KR" altLang="en-US" sz="2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3년간 LG전자 센터를 직접 운영하며, 매월 성장해 왔습니다</a:t>
            </a:r>
          </a:p>
        </p:txBody>
      </p:sp>
      <p:sp>
        <p:nvSpPr>
          <p:cNvPr id="23" name="Shape 18"/>
          <p:cNvSpPr/>
          <p:nvPr/>
        </p:nvSpPr>
        <p:spPr>
          <a:xfrm>
            <a:off x="661307" y="3895108"/>
            <a:ext cx="5756956" cy="2353291"/>
          </a:xfrm>
          <a:prstGeom prst="roundRect">
            <a:avLst>
              <a:gd name="adj" fmla="val 1108"/>
            </a:avLst>
          </a:prstGeom>
          <a:solidFill>
            <a:srgbClr val="FFFFFF"/>
          </a:solidFill>
          <a:ln w="12700">
            <a:solidFill>
              <a:srgbClr val="E3DED5"/>
            </a:solidFill>
            <a:prstDash val="solid"/>
          </a:ln>
        </p:spPr>
        <p:txBody>
          <a:bodyPr lIns="74295" rIns="74295"/>
          <a:lstStyle/>
          <a:p>
            <a:endParaRPr/>
          </a:p>
        </p:txBody>
      </p:sp>
      <p:sp>
        <p:nvSpPr>
          <p:cNvPr id="24" name="Text 19"/>
          <p:cNvSpPr txBox="1"/>
          <p:nvPr/>
        </p:nvSpPr>
        <p:spPr>
          <a:xfrm>
            <a:off x="817559" y="4006242"/>
            <a:ext cx="3611562" cy="181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200" b="0" dirty="0">
                <a:solidFill>
                  <a:srgbClr val="1B1F2A"/>
                </a:solidFill>
                <a:latin typeface="페이퍼로지 8 ExtraBold"/>
                <a:ea typeface="페이퍼로지 8 ExtraBold"/>
                <a:cs typeface="페이퍼로지 8 ExtraBold"/>
              </a:rPr>
              <a:t>우리 센터 운영 인력</a:t>
            </a:r>
            <a:r>
              <a:rPr lang="ko-KR" altLang="en-US" sz="900" dirty="0">
                <a:solidFill>
                  <a:srgbClr val="666B75"/>
                </a:solidFill>
                <a:latin typeface="페이퍼로지 5 Medium"/>
                <a:ea typeface="페이퍼로지 5 Medium"/>
                <a:cs typeface="페이퍼로지 5 Medium"/>
              </a:rPr>
              <a:t>  월별 재직 상담사 </a:t>
            </a:r>
            <a:endParaRPr lang="ko-KR" sz="900" dirty="0"/>
          </a:p>
        </p:txBody>
      </p:sp>
      <p:graphicFrame>
        <p:nvGraphicFramePr>
          <p:cNvPr id="25" name="Chart 3"/>
          <p:cNvGraphicFramePr/>
          <p:nvPr>
            <p:extLst>
              <p:ext uri="{D42A27DB-BD31-4B8C-83A1-F6EECF244321}">
                <p14:modId xmlns:p14="http://schemas.microsoft.com/office/powerpoint/2010/main" val="3723674951"/>
              </p:ext>
            </p:extLst>
          </p:nvPr>
        </p:nvGraphicFramePr>
        <p:xfrm>
          <a:off x="661307" y="4245085"/>
          <a:ext cx="5705362" cy="19309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" name="Text 20"/>
          <p:cNvSpPr txBox="1"/>
          <p:nvPr/>
        </p:nvSpPr>
        <p:spPr>
          <a:xfrm>
            <a:off x="3307304" y="4039926"/>
            <a:ext cx="2966496" cy="284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C9CCD3"/>
                </a:solidFill>
                <a:latin typeface="페이퍼로지 5 Medium"/>
                <a:ea typeface="페이퍼로지 5 Medium"/>
                <a:cs typeface="페이퍼로지 5 Medium"/>
              </a:rPr>
              <a:t>■ </a:t>
            </a:r>
            <a:r>
              <a:rPr lang="ko-KR" altLang="en-US" sz="900" dirty="0">
                <a:solidFill>
                  <a:srgbClr val="666B75"/>
                </a:solidFill>
                <a:latin typeface="페이퍼로지 5 Medium"/>
                <a:ea typeface="페이퍼로지 5 Medium"/>
                <a:cs typeface="페이퍼로지 5 Medium"/>
              </a:rPr>
              <a:t>상시(주4일)   </a:t>
            </a:r>
            <a:r>
              <a:rPr lang="ko-KR" altLang="en-US" sz="900" dirty="0">
                <a:solidFill>
                  <a:srgbClr val="E30C60"/>
                </a:solidFill>
                <a:latin typeface="페이퍼로지 5 Medium"/>
                <a:ea typeface="페이퍼로지 5 Medium"/>
                <a:cs typeface="페이퍼로지 5 Medium"/>
              </a:rPr>
              <a:t>■</a:t>
            </a:r>
            <a:r>
              <a:rPr lang="ko-KR" altLang="en-US" sz="900" dirty="0">
                <a:solidFill>
                  <a:srgbClr val="FD312E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lang="ko-KR" altLang="en-US" sz="900" dirty="0">
                <a:solidFill>
                  <a:srgbClr val="666B75"/>
                </a:solidFill>
                <a:latin typeface="페이퍼로지 5 Medium"/>
                <a:ea typeface="페이퍼로지 5 Medium"/>
                <a:cs typeface="페이퍼로지 5 Medium"/>
              </a:rPr>
              <a:t>성수기(상시+한시)   </a:t>
            </a:r>
            <a:r>
              <a:rPr lang="ko-KR" altLang="en-US" sz="900" dirty="0">
                <a:solidFill>
                  <a:srgbClr val="0F131F"/>
                </a:solidFill>
                <a:latin typeface="페이퍼로지 5 Medium"/>
                <a:ea typeface="페이퍼로지 5 Medium"/>
                <a:cs typeface="페이퍼로지 5 Medium"/>
              </a:rPr>
              <a:t>■ </a:t>
            </a:r>
            <a:r>
              <a:rPr lang="ko-KR" altLang="en-US" sz="900" dirty="0">
                <a:solidFill>
                  <a:srgbClr val="666B75"/>
                </a:solidFill>
                <a:latin typeface="페이퍼로지 5 Medium"/>
                <a:ea typeface="페이퍼로지 5 Medium"/>
                <a:cs typeface="페이퍼로지 5 Medium"/>
              </a:rPr>
              <a:t>2027 주5일 상시 제안</a:t>
            </a:r>
            <a:endParaRPr lang="ko-KR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1915472" y="4312667"/>
            <a:ext cx="722312" cy="1448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ko-KR" altLang="en-US" sz="9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75명</a:t>
            </a:r>
            <a:endParaRPr lang="ko-KR" sz="900" dirty="0">
              <a:solidFill>
                <a:srgbClr val="E30C60"/>
              </a:solidFill>
            </a:endParaRPr>
          </a:p>
        </p:txBody>
      </p:sp>
      <p:sp>
        <p:nvSpPr>
          <p:cNvPr id="28" name="Text 22"/>
          <p:cNvSpPr txBox="1"/>
          <p:nvPr/>
        </p:nvSpPr>
        <p:spPr>
          <a:xfrm>
            <a:off x="4804477" y="4745672"/>
            <a:ext cx="722312" cy="1448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ko-KR" altLang="en-US" sz="9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52명</a:t>
            </a:r>
            <a:endParaRPr lang="ko-KR" sz="900" dirty="0">
              <a:solidFill>
                <a:srgbClr val="E30C60"/>
              </a:solidFill>
            </a:endParaRPr>
          </a:p>
        </p:txBody>
      </p:sp>
      <p:sp>
        <p:nvSpPr>
          <p:cNvPr id="29" name="Text 23"/>
          <p:cNvSpPr txBox="1"/>
          <p:nvPr/>
        </p:nvSpPr>
        <p:spPr>
          <a:xfrm>
            <a:off x="5759317" y="4783325"/>
            <a:ext cx="722312" cy="1448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ko-KR" altLang="en-US" sz="900" b="0" dirty="0">
                <a:solidFill>
                  <a:srgbClr val="0F131F"/>
                </a:solidFill>
                <a:latin typeface="페이퍼로지 8 ExtraBold"/>
                <a:ea typeface="페이퍼로지 8 ExtraBold"/>
                <a:cs typeface="페이퍼로지 8 ExtraBold"/>
              </a:rPr>
              <a:t>50명</a:t>
            </a:r>
            <a:endParaRPr lang="ko-KR" sz="900" dirty="0"/>
          </a:p>
        </p:txBody>
      </p:sp>
      <p:sp>
        <p:nvSpPr>
          <p:cNvPr id="31" name="Text 25"/>
          <p:cNvSpPr txBox="1"/>
          <p:nvPr/>
        </p:nvSpPr>
        <p:spPr>
          <a:xfrm>
            <a:off x="4540250" y="4570927"/>
            <a:ext cx="1188523" cy="205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666B75"/>
                </a:solidFill>
                <a:latin typeface="페이퍼로지 5 Medium"/>
                <a:ea typeface="페이퍼로지 5 Medium"/>
                <a:cs typeface="페이퍼로지 5 Medium"/>
              </a:rPr>
              <a:t>2026 성수기 · TO 35</a:t>
            </a:r>
            <a:endParaRPr lang="ko-KR" sz="900" dirty="0"/>
          </a:p>
        </p:txBody>
      </p:sp>
      <p:sp>
        <p:nvSpPr>
          <p:cNvPr id="32" name="Text 26"/>
          <p:cNvSpPr txBox="1"/>
          <p:nvPr/>
        </p:nvSpPr>
        <p:spPr>
          <a:xfrm>
            <a:off x="3482343" y="5466410"/>
            <a:ext cx="722312" cy="120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666B75"/>
                </a:solidFill>
                <a:latin typeface="페이퍼로지 5 Medium"/>
                <a:ea typeface="페이퍼로지 5 Medium"/>
                <a:cs typeface="페이퍼로지 5 Medium"/>
              </a:rPr>
              <a:t>상시 12~20명</a:t>
            </a:r>
            <a:endParaRPr lang="ko-KR" sz="900" dirty="0"/>
          </a:p>
        </p:txBody>
      </p:sp>
      <p:sp>
        <p:nvSpPr>
          <p:cNvPr id="33" name="Shape 27"/>
          <p:cNvSpPr/>
          <p:nvPr/>
        </p:nvSpPr>
        <p:spPr>
          <a:xfrm>
            <a:off x="6521450" y="3895108"/>
            <a:ext cx="2754644" cy="2353291"/>
          </a:xfrm>
          <a:prstGeom prst="roundRect">
            <a:avLst>
              <a:gd name="adj" fmla="val 1477"/>
            </a:avLst>
          </a:prstGeom>
          <a:solidFill>
            <a:srgbClr val="0F131F"/>
          </a:solidFill>
          <a:ln/>
        </p:spPr>
        <p:txBody>
          <a:bodyPr lIns="74295" rIns="74295"/>
          <a:lstStyle/>
          <a:p>
            <a:endParaRPr/>
          </a:p>
        </p:txBody>
      </p:sp>
      <p:sp>
        <p:nvSpPr>
          <p:cNvPr id="34" name="Text 28"/>
          <p:cNvSpPr txBox="1"/>
          <p:nvPr/>
        </p:nvSpPr>
        <p:spPr>
          <a:xfrm>
            <a:off x="6686550" y="4064063"/>
            <a:ext cx="1547812" cy="132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9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제안 목적</a:t>
            </a:r>
            <a:endParaRPr lang="ko-KR" sz="900" dirty="0">
              <a:solidFill>
                <a:srgbClr val="E30C60"/>
              </a:solidFill>
            </a:endParaRPr>
          </a:p>
        </p:txBody>
      </p:sp>
      <p:sp>
        <p:nvSpPr>
          <p:cNvPr id="35" name="Text 29"/>
          <p:cNvSpPr txBox="1"/>
          <p:nvPr/>
        </p:nvSpPr>
        <p:spPr>
          <a:xfrm>
            <a:off x="6686550" y="4233017"/>
            <a:ext cx="2724150" cy="543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ko-KR" altLang="en-US" sz="15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검증된 운영을 </a:t>
            </a:r>
            <a:endParaRPr lang="ko-KR" sz="9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ko-KR" altLang="en-US" sz="15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주5일 상시 운영</a:t>
            </a:r>
            <a:r>
              <a:rPr lang="ko-KR" altLang="en-US" sz="15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으로</a:t>
            </a:r>
            <a:endParaRPr lang="ko-KR" sz="900" dirty="0"/>
          </a:p>
        </p:txBody>
      </p:sp>
      <p:sp>
        <p:nvSpPr>
          <p:cNvPr id="36" name="Shape 30"/>
          <p:cNvSpPr/>
          <p:nvPr/>
        </p:nvSpPr>
        <p:spPr>
          <a:xfrm flipV="1">
            <a:off x="6603201" y="4937478"/>
            <a:ext cx="2619720" cy="22147"/>
          </a:xfrm>
          <a:prstGeom prst="line">
            <a:avLst/>
          </a:prstGeom>
          <a:noFill/>
          <a:ln w="12700">
            <a:solidFill>
              <a:srgbClr val="343A4A"/>
            </a:solidFill>
            <a:prstDash val="solid"/>
          </a:ln>
        </p:spPr>
        <p:txBody>
          <a:bodyPr lIns="74295" rIns="74295"/>
          <a:lstStyle/>
          <a:p>
            <a:endParaRPr/>
          </a:p>
        </p:txBody>
      </p:sp>
      <p:sp>
        <p:nvSpPr>
          <p:cNvPr id="37" name="Text 31"/>
          <p:cNvSpPr txBox="1"/>
          <p:nvPr/>
        </p:nvSpPr>
        <p:spPr>
          <a:xfrm>
            <a:off x="6686550" y="5005379"/>
            <a:ext cx="1547812" cy="132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9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제안 범위</a:t>
            </a:r>
            <a:endParaRPr lang="ko-KR" sz="900" dirty="0">
              <a:solidFill>
                <a:srgbClr val="E30C60"/>
              </a:solidFill>
            </a:endParaRPr>
          </a:p>
        </p:txBody>
      </p:sp>
      <p:sp>
        <p:nvSpPr>
          <p:cNvPr id="38" name="Text 32"/>
          <p:cNvSpPr txBox="1"/>
          <p:nvPr/>
        </p:nvSpPr>
        <p:spPr>
          <a:xfrm>
            <a:off x="6686550" y="5210538"/>
            <a:ext cx="2724150" cy="217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900" b="0" dirty="0">
                <a:solidFill>
                  <a:srgbClr val="8E93A0"/>
                </a:solidFill>
                <a:latin typeface="페이퍼로지 8 ExtraBold"/>
                <a:ea typeface="페이퍼로지 8 ExtraBold"/>
                <a:cs typeface="페이퍼로지 8 ExtraBold"/>
              </a:rPr>
              <a:t>업무   </a:t>
            </a:r>
            <a:r>
              <a:rPr lang="ko-KR" altLang="en-US" sz="900" dirty="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인바운드 완결상담 · 아웃바운드</a:t>
            </a:r>
            <a:endParaRPr lang="ko-KR" sz="900" dirty="0"/>
          </a:p>
        </p:txBody>
      </p:sp>
      <p:sp>
        <p:nvSpPr>
          <p:cNvPr id="39" name="Text 33"/>
          <p:cNvSpPr txBox="1"/>
          <p:nvPr/>
        </p:nvSpPr>
        <p:spPr>
          <a:xfrm>
            <a:off x="6686550" y="5500174"/>
            <a:ext cx="2724150" cy="217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900" b="0" dirty="0">
                <a:solidFill>
                  <a:srgbClr val="8E93A0"/>
                </a:solidFill>
                <a:latin typeface="페이퍼로지 8 ExtraBold"/>
                <a:ea typeface="페이퍼로지 8 ExtraBold"/>
                <a:cs typeface="페이퍼로지 8 ExtraBold"/>
              </a:rPr>
              <a:t>운영   </a:t>
            </a:r>
            <a:r>
              <a:rPr lang="ko-KR" altLang="en-US" sz="900" dirty="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주5일 상시 50명 + 주4일</a:t>
            </a:r>
            <a:endParaRPr lang="ko-KR" sz="900" dirty="0"/>
          </a:p>
        </p:txBody>
      </p:sp>
      <p:sp>
        <p:nvSpPr>
          <p:cNvPr id="40" name="Text 34"/>
          <p:cNvSpPr txBox="1"/>
          <p:nvPr/>
        </p:nvSpPr>
        <p:spPr>
          <a:xfrm>
            <a:off x="6686550" y="5789809"/>
            <a:ext cx="2724150" cy="217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900" b="0" dirty="0">
                <a:solidFill>
                  <a:srgbClr val="8E93A0"/>
                </a:solidFill>
                <a:latin typeface="페이퍼로지 8 ExtraBold"/>
                <a:ea typeface="페이퍼로지 8 ExtraBold"/>
                <a:cs typeface="페이퍼로지 8 ExtraBold"/>
              </a:rPr>
              <a:t>기간   </a:t>
            </a:r>
            <a:r>
              <a:rPr lang="ko-KR" altLang="en-US" sz="900" dirty="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2027.01 ~ 12 (연 단위 갱신)</a:t>
            </a:r>
            <a:endParaRPr lang="ko-KR" sz="900" dirty="0"/>
          </a:p>
        </p:txBody>
      </p:sp>
      <p:sp>
        <p:nvSpPr>
          <p:cNvPr id="41" name="Rectangle 43">
            <a:extLst>
              <a:ext uri="{FF2B5EF4-FFF2-40B4-BE49-F238E27FC236}">
                <a16:creationId xmlns:a16="http://schemas.microsoft.com/office/drawing/2014/main" id="{4C5E6EBE-EA7E-484C-88C7-B1B450D8BB36}"/>
              </a:ext>
            </a:extLst>
          </p:cNvPr>
          <p:cNvSpPr/>
          <p:nvPr/>
        </p:nvSpPr>
        <p:spPr>
          <a:xfrm>
            <a:off x="4540250" y="64770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fld id="{B6F15528-21DE-4FAA-801E-634DDDAF4B2B}" type="slidenum"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5</a:t>
            </a:fld>
            <a:r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 / 49</a:t>
            </a:r>
            <a:endParaRPr lang="ko-KR" sz="600" b="0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44" name="Rectangle 2">
            <a:extLst>
              <a:ext uri="{FF2B5EF4-FFF2-40B4-BE49-F238E27FC236}">
                <a16:creationId xmlns:a16="http://schemas.microsoft.com/office/drawing/2014/main" id="{B76A3F3B-4E6E-4EF0-BB83-C6AD0779ADC3}"/>
              </a:ext>
            </a:extLst>
          </p:cNvPr>
          <p:cNvSpPr/>
          <p:nvPr/>
        </p:nvSpPr>
        <p:spPr>
          <a:xfrm>
            <a:off x="1929606" y="381000"/>
            <a:ext cx="61912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 dirty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1-1. 제안 배경 · 운영 히스토리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  <p:grpSp>
        <p:nvGrpSpPr>
          <p:cNvPr id="43" name="그룹 42">
            <a:extLst>
              <a:ext uri="{FF2B5EF4-FFF2-40B4-BE49-F238E27FC236}">
                <a16:creationId xmlns:a16="http://schemas.microsoft.com/office/drawing/2014/main" id="{9F63404D-E363-4C71-BB7B-CD6A37B94002}"/>
              </a:ext>
            </a:extLst>
          </p:cNvPr>
          <p:cNvGrpSpPr/>
          <p:nvPr/>
        </p:nvGrpSpPr>
        <p:grpSpPr>
          <a:xfrm>
            <a:off x="661307" y="1397000"/>
            <a:ext cx="8749393" cy="2353291"/>
            <a:chOff x="330200" y="1079500"/>
            <a:chExt cx="9390062" cy="2794000"/>
          </a:xfrm>
        </p:grpSpPr>
        <p:sp>
          <p:nvSpPr>
            <p:cNvPr id="47" name="Shape 5">
              <a:extLst>
                <a:ext uri="{FF2B5EF4-FFF2-40B4-BE49-F238E27FC236}">
                  <a16:creationId xmlns:a16="http://schemas.microsoft.com/office/drawing/2014/main" id="{FD6C1E75-17C8-44BB-9403-95D604BC517C}"/>
                </a:ext>
              </a:extLst>
            </p:cNvPr>
            <p:cNvSpPr/>
            <p:nvPr/>
          </p:nvSpPr>
          <p:spPr>
            <a:xfrm>
              <a:off x="330200" y="1079500"/>
              <a:ext cx="3013075" cy="2794000"/>
            </a:xfrm>
            <a:prstGeom prst="roundRect">
              <a:avLst>
                <a:gd name="adj" fmla="val 982"/>
              </a:avLst>
            </a:prstGeom>
            <a:solidFill>
              <a:srgbClr val="FFFFFF"/>
            </a:solidFill>
            <a:ln w="12700">
              <a:solidFill>
                <a:srgbClr val="E3DED5"/>
              </a:solidFill>
              <a:prstDash val="solid"/>
            </a:ln>
          </p:spPr>
          <p:txBody>
            <a:bodyPr lIns="74295" rIns="74295"/>
            <a:lstStyle/>
            <a:p>
              <a:endParaRPr/>
            </a:p>
          </p:txBody>
        </p:sp>
        <p:sp>
          <p:nvSpPr>
            <p:cNvPr id="48" name="Text 6">
              <a:extLst>
                <a:ext uri="{FF2B5EF4-FFF2-40B4-BE49-F238E27FC236}">
                  <a16:creationId xmlns:a16="http://schemas.microsoft.com/office/drawing/2014/main" id="{D650985D-41B8-49EA-99F1-5C620C7C7607}"/>
                </a:ext>
              </a:extLst>
            </p:cNvPr>
            <p:cNvSpPr txBox="1"/>
            <p:nvPr/>
          </p:nvSpPr>
          <p:spPr>
            <a:xfrm>
              <a:off x="474662" y="1219200"/>
              <a:ext cx="27241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15000"/>
                </a:lnSpc>
                <a:buNone/>
              </a:pPr>
              <a:r>
                <a:rPr lang="ko-KR" altLang="en-US" sz="1200" b="0" dirty="0">
                  <a:solidFill>
                    <a:srgbClr val="1B1F2A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T-NPS</a:t>
              </a:r>
              <a:r>
                <a:rPr lang="ko-KR" altLang="en-US" sz="900" dirty="0">
                  <a:solidFill>
                    <a:srgbClr val="666B75"/>
                  </a:solidFill>
                  <a:latin typeface="페이퍼로지 5 Medium"/>
                  <a:ea typeface="페이퍼로지 5 Medium"/>
                  <a:cs typeface="페이퍼로지 5 Medium"/>
                </a:rPr>
                <a:t>  상시 </a:t>
              </a:r>
              <a:endParaRPr lang="ko-KR" sz="900" dirty="0"/>
            </a:p>
          </p:txBody>
        </p:sp>
        <p:sp>
          <p:nvSpPr>
            <p:cNvPr id="49" name="Text 7">
              <a:extLst>
                <a:ext uri="{FF2B5EF4-FFF2-40B4-BE49-F238E27FC236}">
                  <a16:creationId xmlns:a16="http://schemas.microsoft.com/office/drawing/2014/main" id="{E6449620-DE32-45F7-A390-B62C885F5E68}"/>
                </a:ext>
              </a:extLst>
            </p:cNvPr>
            <p:cNvSpPr txBox="1"/>
            <p:nvPr/>
          </p:nvSpPr>
          <p:spPr>
            <a:xfrm>
              <a:off x="773906" y="1504197"/>
              <a:ext cx="2724150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ko-KR" altLang="en-US" sz="1800" b="0" dirty="0">
                  <a:solidFill>
                    <a:srgbClr val="9A9EA6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90.9  →  </a:t>
              </a:r>
              <a:r>
                <a:rPr lang="ko-KR" altLang="en-US" sz="2400" dirty="0">
                  <a:solidFill>
                    <a:srgbClr val="E51F6C"/>
                  </a:solidFill>
                  <a:latin typeface="페이퍼로지 8 ExtraBold"/>
                  <a:ea typeface="페이퍼로지 8 ExtraBold"/>
                </a:rPr>
                <a:t>92.9</a:t>
              </a:r>
            </a:p>
          </p:txBody>
        </p:sp>
        <p:sp>
          <p:nvSpPr>
            <p:cNvPr id="50" name="Text 8">
              <a:extLst>
                <a:ext uri="{FF2B5EF4-FFF2-40B4-BE49-F238E27FC236}">
                  <a16:creationId xmlns:a16="http://schemas.microsoft.com/office/drawing/2014/main" id="{08610AA6-25FE-41A5-B278-CFFE3B917F6C}"/>
                </a:ext>
              </a:extLst>
            </p:cNvPr>
            <p:cNvSpPr txBox="1"/>
            <p:nvPr/>
          </p:nvSpPr>
          <p:spPr>
            <a:xfrm>
              <a:off x="474662" y="1866900"/>
              <a:ext cx="2724150" cy="127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ko-KR" altLang="en-US" sz="900" dirty="0">
                  <a:solidFill>
                    <a:srgbClr val="666B75"/>
                  </a:solidFill>
                  <a:latin typeface="페이퍼로지 5 Medium"/>
                  <a:ea typeface="페이퍼로지 5 Medium"/>
                  <a:cs typeface="페이퍼로지 5 Medium"/>
                </a:rPr>
                <a:t>연 누적 · 2025 → 2026(1~8월)</a:t>
              </a:r>
              <a:endParaRPr lang="ko-KR" sz="900" dirty="0"/>
            </a:p>
          </p:txBody>
        </p:sp>
        <p:graphicFrame>
          <p:nvGraphicFramePr>
            <p:cNvPr id="51" name="Chart 0">
              <a:extLst>
                <a:ext uri="{FF2B5EF4-FFF2-40B4-BE49-F238E27FC236}">
                  <a16:creationId xmlns:a16="http://schemas.microsoft.com/office/drawing/2014/main" id="{C1574D08-D579-4A3E-B710-1A91CDFC26DB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57466750"/>
                </p:ext>
              </p:extLst>
            </p:nvPr>
          </p:nvGraphicFramePr>
          <p:xfrm>
            <a:off x="381794" y="2032000"/>
            <a:ext cx="2909888" cy="177800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sp>
          <p:nvSpPr>
            <p:cNvPr id="52" name="Shape 9">
              <a:extLst>
                <a:ext uri="{FF2B5EF4-FFF2-40B4-BE49-F238E27FC236}">
                  <a16:creationId xmlns:a16="http://schemas.microsoft.com/office/drawing/2014/main" id="{C45F09A1-AF02-4861-837F-7374C1B8714E}"/>
                </a:ext>
              </a:extLst>
            </p:cNvPr>
            <p:cNvSpPr/>
            <p:nvPr/>
          </p:nvSpPr>
          <p:spPr>
            <a:xfrm>
              <a:off x="3446462" y="1079500"/>
              <a:ext cx="3013075" cy="2794000"/>
            </a:xfrm>
            <a:prstGeom prst="roundRect">
              <a:avLst>
                <a:gd name="adj" fmla="val 982"/>
              </a:avLst>
            </a:prstGeom>
            <a:solidFill>
              <a:srgbClr val="FFFFFF"/>
            </a:solidFill>
            <a:ln w="12700">
              <a:solidFill>
                <a:srgbClr val="E3DED5"/>
              </a:solidFill>
              <a:prstDash val="solid"/>
            </a:ln>
          </p:spPr>
          <p:txBody>
            <a:bodyPr lIns="74295" rIns="74295"/>
            <a:lstStyle/>
            <a:p>
              <a:endParaRPr/>
            </a:p>
          </p:txBody>
        </p:sp>
        <p:sp>
          <p:nvSpPr>
            <p:cNvPr id="53" name="Text 10">
              <a:extLst>
                <a:ext uri="{FF2B5EF4-FFF2-40B4-BE49-F238E27FC236}">
                  <a16:creationId xmlns:a16="http://schemas.microsoft.com/office/drawing/2014/main" id="{6D983790-DD20-4B44-A216-5FF55CE4A367}"/>
                </a:ext>
              </a:extLst>
            </p:cNvPr>
            <p:cNvSpPr txBox="1"/>
            <p:nvPr/>
          </p:nvSpPr>
          <p:spPr>
            <a:xfrm>
              <a:off x="3590925" y="1219200"/>
              <a:ext cx="27241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15000"/>
                </a:lnSpc>
                <a:buNone/>
              </a:pPr>
              <a:r>
                <a:rPr lang="ko-KR" altLang="en-US" sz="1200" b="0" dirty="0">
                  <a:solidFill>
                    <a:srgbClr val="1B1F2A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생산성</a:t>
              </a:r>
              <a:r>
                <a:rPr lang="ko-KR" altLang="en-US" sz="900" dirty="0">
                  <a:solidFill>
                    <a:srgbClr val="666B75"/>
                  </a:solidFill>
                  <a:latin typeface="페이퍼로지 5 Medium"/>
                  <a:ea typeface="페이퍼로지 5 Medium"/>
                  <a:cs typeface="페이퍼로지 5 Medium"/>
                </a:rPr>
                <a:t>  IN+OUT · 상시</a:t>
              </a:r>
              <a:endParaRPr lang="ko-KR" sz="900" dirty="0"/>
            </a:p>
          </p:txBody>
        </p:sp>
        <p:sp>
          <p:nvSpPr>
            <p:cNvPr id="54" name="Text 11">
              <a:extLst>
                <a:ext uri="{FF2B5EF4-FFF2-40B4-BE49-F238E27FC236}">
                  <a16:creationId xmlns:a16="http://schemas.microsoft.com/office/drawing/2014/main" id="{486AEBFE-5EB9-439B-BFDB-DC8273809203}"/>
                </a:ext>
              </a:extLst>
            </p:cNvPr>
            <p:cNvSpPr txBox="1"/>
            <p:nvPr/>
          </p:nvSpPr>
          <p:spPr>
            <a:xfrm>
              <a:off x="3984992" y="1532213"/>
              <a:ext cx="2724150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ko-KR" altLang="en-US" sz="1800" b="0" dirty="0">
                  <a:solidFill>
                    <a:srgbClr val="9A9EA6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68.8  →  </a:t>
              </a:r>
              <a:r>
                <a:rPr lang="ko-KR" altLang="en-US" sz="2400" dirty="0">
                  <a:solidFill>
                    <a:srgbClr val="E51F6C"/>
                  </a:solidFill>
                  <a:latin typeface="페이퍼로지 8 ExtraBold"/>
                  <a:ea typeface="페이퍼로지 8 ExtraBold"/>
                </a:rPr>
                <a:t>75.0</a:t>
              </a:r>
            </a:p>
          </p:txBody>
        </p:sp>
        <p:sp>
          <p:nvSpPr>
            <p:cNvPr id="55" name="Text 12">
              <a:extLst>
                <a:ext uri="{FF2B5EF4-FFF2-40B4-BE49-F238E27FC236}">
                  <a16:creationId xmlns:a16="http://schemas.microsoft.com/office/drawing/2014/main" id="{F1B42FD8-0B2F-4B59-A169-E1EF3F047017}"/>
                </a:ext>
              </a:extLst>
            </p:cNvPr>
            <p:cNvSpPr txBox="1"/>
            <p:nvPr/>
          </p:nvSpPr>
          <p:spPr>
            <a:xfrm>
              <a:off x="3590925" y="1866900"/>
              <a:ext cx="2724150" cy="127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ko-KR" altLang="en-US" sz="900" dirty="0">
                  <a:solidFill>
                    <a:srgbClr val="666B75"/>
                  </a:solidFill>
                  <a:latin typeface="페이퍼로지 5 Medium"/>
                  <a:ea typeface="페이퍼로지 5 Medium"/>
                  <a:cs typeface="페이퍼로지 5 Medium"/>
                </a:rPr>
                <a:t>연 누적 · 2025 → 2026(1~8월)</a:t>
              </a:r>
              <a:endParaRPr lang="ko-KR" sz="900" dirty="0"/>
            </a:p>
          </p:txBody>
        </p:sp>
        <p:graphicFrame>
          <p:nvGraphicFramePr>
            <p:cNvPr id="56" name="Chart 1">
              <a:extLst>
                <a:ext uri="{FF2B5EF4-FFF2-40B4-BE49-F238E27FC236}">
                  <a16:creationId xmlns:a16="http://schemas.microsoft.com/office/drawing/2014/main" id="{CFF5CC79-46E4-4F45-9B23-47AA58EB4C65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064723029"/>
                </p:ext>
              </p:extLst>
            </p:nvPr>
          </p:nvGraphicFramePr>
          <p:xfrm>
            <a:off x="3498056" y="2032000"/>
            <a:ext cx="2909888" cy="177800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  <p:sp>
          <p:nvSpPr>
            <p:cNvPr id="57" name="Shape 13">
              <a:extLst>
                <a:ext uri="{FF2B5EF4-FFF2-40B4-BE49-F238E27FC236}">
                  <a16:creationId xmlns:a16="http://schemas.microsoft.com/office/drawing/2014/main" id="{F7A4641C-3060-4F62-BE0E-641AFF3ED2BE}"/>
                </a:ext>
              </a:extLst>
            </p:cNvPr>
            <p:cNvSpPr/>
            <p:nvPr/>
          </p:nvSpPr>
          <p:spPr>
            <a:xfrm>
              <a:off x="6562725" y="1079500"/>
              <a:ext cx="3013075" cy="2794000"/>
            </a:xfrm>
            <a:prstGeom prst="roundRect">
              <a:avLst>
                <a:gd name="adj" fmla="val 982"/>
              </a:avLst>
            </a:prstGeom>
            <a:solidFill>
              <a:srgbClr val="FFFFFF"/>
            </a:solidFill>
            <a:ln w="12700">
              <a:solidFill>
                <a:srgbClr val="E3DED5"/>
              </a:solidFill>
              <a:prstDash val="solid"/>
            </a:ln>
          </p:spPr>
          <p:txBody>
            <a:bodyPr lIns="74295" rIns="74295"/>
            <a:lstStyle/>
            <a:p>
              <a:endParaRPr/>
            </a:p>
          </p:txBody>
        </p:sp>
        <p:sp>
          <p:nvSpPr>
            <p:cNvPr id="58" name="Text 14">
              <a:extLst>
                <a:ext uri="{FF2B5EF4-FFF2-40B4-BE49-F238E27FC236}">
                  <a16:creationId xmlns:a16="http://schemas.microsoft.com/office/drawing/2014/main" id="{03D00375-4EBD-499B-9254-8D73DC5E1803}"/>
                </a:ext>
              </a:extLst>
            </p:cNvPr>
            <p:cNvSpPr txBox="1"/>
            <p:nvPr/>
          </p:nvSpPr>
          <p:spPr>
            <a:xfrm>
              <a:off x="6707188" y="1219200"/>
              <a:ext cx="27241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15000"/>
                </a:lnSpc>
                <a:buNone/>
              </a:pPr>
              <a:r>
                <a:rPr lang="ko-KR" altLang="en-US" sz="1200" b="0" dirty="0">
                  <a:solidFill>
                    <a:srgbClr val="1B1F2A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IN 생산성</a:t>
              </a:r>
              <a:r>
                <a:rPr lang="ko-KR" altLang="en-US" sz="900" dirty="0">
                  <a:solidFill>
                    <a:srgbClr val="666B75"/>
                  </a:solidFill>
                  <a:latin typeface="페이퍼로지 5 Medium"/>
                  <a:ea typeface="페이퍼로지 5 Medium"/>
                  <a:cs typeface="페이퍼로지 5 Medium"/>
                </a:rPr>
                <a:t>  상시</a:t>
              </a:r>
              <a:endParaRPr lang="ko-KR" sz="900" dirty="0"/>
            </a:p>
          </p:txBody>
        </p:sp>
        <p:sp>
          <p:nvSpPr>
            <p:cNvPr id="59" name="Text 15">
              <a:extLst>
                <a:ext uri="{FF2B5EF4-FFF2-40B4-BE49-F238E27FC236}">
                  <a16:creationId xmlns:a16="http://schemas.microsoft.com/office/drawing/2014/main" id="{1EBF9955-2F09-4128-AFEE-8A2BA5CB444B}"/>
                </a:ext>
              </a:extLst>
            </p:cNvPr>
            <p:cNvSpPr txBox="1"/>
            <p:nvPr/>
          </p:nvSpPr>
          <p:spPr>
            <a:xfrm>
              <a:off x="6996112" y="1526413"/>
              <a:ext cx="2724150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ko-KR" altLang="en-US" sz="1800" b="0" dirty="0">
                  <a:solidFill>
                    <a:srgbClr val="9A9EA6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46.4  →  </a:t>
              </a:r>
              <a:r>
                <a:rPr lang="ko-KR" altLang="en-US" sz="2400" dirty="0">
                  <a:solidFill>
                    <a:srgbClr val="E51F6C"/>
                  </a:solidFill>
                  <a:latin typeface="페이퍼로지 8 ExtraBold"/>
                  <a:ea typeface="페이퍼로지 8 ExtraBold"/>
                </a:rPr>
                <a:t>49.7</a:t>
              </a:r>
            </a:p>
          </p:txBody>
        </p:sp>
        <p:sp>
          <p:nvSpPr>
            <p:cNvPr id="60" name="Text 16">
              <a:extLst>
                <a:ext uri="{FF2B5EF4-FFF2-40B4-BE49-F238E27FC236}">
                  <a16:creationId xmlns:a16="http://schemas.microsoft.com/office/drawing/2014/main" id="{1D02905B-938F-470F-A86E-15D3D3E6D764}"/>
                </a:ext>
              </a:extLst>
            </p:cNvPr>
            <p:cNvSpPr txBox="1"/>
            <p:nvPr/>
          </p:nvSpPr>
          <p:spPr>
            <a:xfrm>
              <a:off x="6707188" y="1866900"/>
              <a:ext cx="2724150" cy="127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ko-KR" altLang="en-US" sz="900" dirty="0">
                  <a:solidFill>
                    <a:srgbClr val="666B75"/>
                  </a:solidFill>
                  <a:latin typeface="페이퍼로지 5 Medium"/>
                  <a:ea typeface="페이퍼로지 5 Medium"/>
                  <a:cs typeface="페이퍼로지 5 Medium"/>
                </a:rPr>
                <a:t>연 누적 · 2025 → 2026(1~8월)</a:t>
              </a:r>
              <a:endParaRPr lang="ko-KR" sz="900" dirty="0"/>
            </a:p>
          </p:txBody>
        </p:sp>
        <p:graphicFrame>
          <p:nvGraphicFramePr>
            <p:cNvPr id="61" name="Chart 2">
              <a:extLst>
                <a:ext uri="{FF2B5EF4-FFF2-40B4-BE49-F238E27FC236}">
                  <a16:creationId xmlns:a16="http://schemas.microsoft.com/office/drawing/2014/main" id="{6BA3F9AE-7205-4D2D-887D-A351C02EC8CE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295361102"/>
                </p:ext>
              </p:extLst>
            </p:nvPr>
          </p:nvGraphicFramePr>
          <p:xfrm>
            <a:off x="6614319" y="2032000"/>
            <a:ext cx="2909888" cy="17780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7"/>
            </a:graphicData>
          </a:graphic>
        </p:graphicFrame>
      </p:grpSp>
      <p:sp>
        <p:nvSpPr>
          <p:cNvPr id="62" name="Text 17">
            <a:extLst>
              <a:ext uri="{FF2B5EF4-FFF2-40B4-BE49-F238E27FC236}">
                <a16:creationId xmlns:a16="http://schemas.microsoft.com/office/drawing/2014/main" id="{C7611E59-39C2-4CA1-957B-8D5B34B79C73}"/>
              </a:ext>
            </a:extLst>
          </p:cNvPr>
          <p:cNvSpPr txBox="1"/>
          <p:nvPr/>
        </p:nvSpPr>
        <p:spPr>
          <a:xfrm>
            <a:off x="7398544" y="1231900"/>
            <a:ext cx="18367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ko-KR" altLang="en-US" sz="9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━</a:t>
            </a:r>
            <a:r>
              <a:rPr lang="ko-KR" altLang="en-US" sz="900" b="0" dirty="0">
                <a:solidFill>
                  <a:srgbClr val="FD312E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  <a:r>
              <a:rPr lang="ko-KR" altLang="en-US" sz="900" dirty="0">
                <a:solidFill>
                  <a:srgbClr val="666B75"/>
                </a:solidFill>
                <a:latin typeface="페이퍼로지 5 Medium"/>
                <a:ea typeface="페이퍼로지 5 Medium"/>
                <a:cs typeface="페이퍼로지 5 Medium"/>
              </a:rPr>
              <a:t>3개월 이동평균   </a:t>
            </a:r>
            <a:r>
              <a:rPr lang="ko-KR" altLang="en-US" sz="900" b="0" dirty="0">
                <a:solidFill>
                  <a:srgbClr val="C9CCD3"/>
                </a:solidFill>
                <a:latin typeface="페이퍼로지 8 ExtraBold"/>
                <a:ea typeface="페이퍼로지 8 ExtraBold"/>
                <a:cs typeface="페이퍼로지 8 ExtraBold"/>
              </a:rPr>
              <a:t>━ </a:t>
            </a:r>
            <a:r>
              <a:rPr lang="ko-KR" altLang="en-US" sz="900" dirty="0">
                <a:solidFill>
                  <a:srgbClr val="666B75"/>
                </a:solidFill>
                <a:latin typeface="페이퍼로지 5 Medium"/>
                <a:ea typeface="페이퍼로지 5 Medium"/>
                <a:cs typeface="페이퍼로지 5 Medium"/>
              </a:rPr>
              <a:t>월 실적</a:t>
            </a:r>
            <a:endParaRPr lang="ko-KR" sz="900" dirty="0"/>
          </a:p>
        </p:txBody>
      </p:sp>
      <p:sp>
        <p:nvSpPr>
          <p:cNvPr id="42" name="Text 25">
            <a:extLst>
              <a:ext uri="{FF2B5EF4-FFF2-40B4-BE49-F238E27FC236}">
                <a16:creationId xmlns:a16="http://schemas.microsoft.com/office/drawing/2014/main" id="{BA9C0B5B-E582-4072-B0B7-C7E0628C5DE0}"/>
              </a:ext>
            </a:extLst>
          </p:cNvPr>
          <p:cNvSpPr txBox="1"/>
          <p:nvPr/>
        </p:nvSpPr>
        <p:spPr>
          <a:xfrm>
            <a:off x="1033672" y="4429381"/>
            <a:ext cx="1188523" cy="284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666B75"/>
                </a:solidFill>
                <a:latin typeface="페이퍼로지 5 Medium"/>
                <a:ea typeface="페이퍼로지 5 Medium"/>
                <a:cs typeface="페이퍼로지 5 Medium"/>
              </a:rPr>
              <a:t>202</a:t>
            </a:r>
            <a:r>
              <a:rPr lang="en-US" altLang="ko-KR" sz="900" dirty="0">
                <a:solidFill>
                  <a:srgbClr val="666B75"/>
                </a:solidFill>
                <a:latin typeface="페이퍼로지 5 Medium"/>
                <a:ea typeface="페이퍼로지 5 Medium"/>
                <a:cs typeface="페이퍼로지 5 Medium"/>
              </a:rPr>
              <a:t>5</a:t>
            </a:r>
            <a:r>
              <a:rPr lang="ko-KR" altLang="en-US" sz="900" dirty="0">
                <a:solidFill>
                  <a:srgbClr val="666B75"/>
                </a:solidFill>
                <a:latin typeface="페이퍼로지 5 Medium"/>
                <a:ea typeface="페이퍼로지 5 Medium"/>
                <a:cs typeface="페이퍼로지 5 Medium"/>
              </a:rPr>
              <a:t> 성수기 · TO </a:t>
            </a:r>
            <a:r>
              <a:rPr lang="en-US" altLang="ko-KR" sz="900" dirty="0">
                <a:solidFill>
                  <a:srgbClr val="666B75"/>
                </a:solidFill>
                <a:latin typeface="페이퍼로지 5 Medium"/>
                <a:ea typeface="페이퍼로지 5 Medium"/>
                <a:cs typeface="페이퍼로지 5 Medium"/>
              </a:rPr>
              <a:t>60</a:t>
            </a:r>
            <a:endParaRPr lang="ko-KR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6138" y="381000"/>
            <a:ext cx="1000919" cy="254000"/>
          </a:xfrm>
          <a:prstGeom prst="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01 제안개요</a:t>
            </a:r>
          </a:p>
        </p:txBody>
      </p:sp>
      <p:sp>
        <p:nvSpPr>
          <p:cNvPr id="3" name="Rectangle 2"/>
          <p:cNvSpPr/>
          <p:nvPr/>
        </p:nvSpPr>
        <p:spPr>
          <a:xfrm>
            <a:off x="1929606" y="381000"/>
            <a:ext cx="61912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 dirty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1-1. 제안 배경 · 운영 히스토리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846138" y="660400"/>
            <a:ext cx="8461375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이 성장은 </a:t>
            </a:r>
            <a:r>
              <a:rPr lang="ko-KR" sz="20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3년간의 운영 히스토리</a:t>
            </a:r>
            <a:r>
              <a:rPr lang="ko-KR" sz="2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에서 나왔습니다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138" y="1079500"/>
            <a:ext cx="84613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altLang="en-US" sz="12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운영 경험을 바탕으로 지속적으로 고민하고 개선해 왔습니다</a:t>
            </a:r>
            <a:r>
              <a:rPr lang="en-US" altLang="ko-KR" sz="12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.</a:t>
            </a:r>
            <a:endParaRPr lang="ko-KR" sz="1200" b="0" dirty="0">
              <a:solidFill>
                <a:srgbClr val="6A7180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1152886" y="2685248"/>
            <a:ext cx="7682778" cy="0"/>
          </a:xfrm>
          <a:prstGeom prst="line">
            <a:avLst/>
          </a:prstGeom>
          <a:ln w="25400">
            <a:solidFill>
              <a:srgbClr val="D7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916208" y="2685248"/>
            <a:ext cx="2919456" cy="0"/>
          </a:xfrm>
          <a:prstGeom prst="line">
            <a:avLst/>
          </a:prstGeom>
          <a:ln w="31750">
            <a:solidFill>
              <a:srgbClr val="E30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63405" y="1806575"/>
            <a:ext cx="1378960" cy="23259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ko-KR" sz="1200" b="0">
                <a:solidFill>
                  <a:srgbClr val="6A7180"/>
                </a:solidFill>
                <a:latin typeface="페이퍼로지 8 ExtraBold"/>
                <a:ea typeface="페이퍼로지 8 ExtraBold"/>
                <a:cs typeface="페이퍼로지 8 ExtraBold"/>
              </a:rPr>
              <a:t>2024.07</a:t>
            </a:r>
          </a:p>
        </p:txBody>
      </p:sp>
      <p:sp>
        <p:nvSpPr>
          <p:cNvPr id="9" name="Rectangle 8"/>
          <p:cNvSpPr/>
          <p:nvPr/>
        </p:nvSpPr>
        <p:spPr>
          <a:xfrm>
            <a:off x="463405" y="2065008"/>
            <a:ext cx="1378960" cy="2842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2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단기 성수기</a:t>
            </a:r>
          </a:p>
        </p:txBody>
      </p:sp>
      <p:sp>
        <p:nvSpPr>
          <p:cNvPr id="10" name="Oval 9"/>
          <p:cNvSpPr/>
          <p:nvPr/>
        </p:nvSpPr>
        <p:spPr>
          <a:xfrm>
            <a:off x="1064238" y="2590758"/>
            <a:ext cx="177295" cy="188979"/>
          </a:xfrm>
          <a:prstGeom prst="ellipse">
            <a:avLst/>
          </a:prstGeom>
          <a:solidFill>
            <a:srgbClr val="FFFFFF"/>
          </a:solidFill>
          <a:ln w="25400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02804" y="2943682"/>
            <a:ext cx="1300162" cy="284276"/>
          </a:xfrm>
          <a:prstGeom prst="roundRect">
            <a:avLst>
              <a:gd name="adj" fmla="val 4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200" b="0" dirty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약 </a:t>
            </a:r>
            <a:r>
              <a:rPr lang="en-US" altLang="ko-KR" sz="1200" b="0" dirty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55</a:t>
            </a:r>
            <a:r>
              <a:rPr lang="ko-KR" sz="1200" b="0" dirty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명 · 2개월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3405" y="3321641"/>
            <a:ext cx="1378960" cy="775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2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상시 인력 없이는 성수기 품질을 만들 수 없다는 교훈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99961" y="1806575"/>
            <a:ext cx="1378960" cy="23259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ko-KR" sz="1200" b="0">
                <a:solidFill>
                  <a:srgbClr val="6A7180"/>
                </a:solidFill>
                <a:latin typeface="페이퍼로지 8 ExtraBold"/>
                <a:ea typeface="페이퍼로지 8 ExtraBold"/>
                <a:cs typeface="페이퍼로지 8 ExtraBold"/>
              </a:rPr>
              <a:t>2024.11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99961" y="2065008"/>
            <a:ext cx="1378960" cy="2842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2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주4일 상시 런칭</a:t>
            </a:r>
          </a:p>
        </p:txBody>
      </p:sp>
      <p:sp>
        <p:nvSpPr>
          <p:cNvPr id="15" name="Oval 14"/>
          <p:cNvSpPr/>
          <p:nvPr/>
        </p:nvSpPr>
        <p:spPr>
          <a:xfrm>
            <a:off x="2600794" y="2590758"/>
            <a:ext cx="177295" cy="188979"/>
          </a:xfrm>
          <a:prstGeom prst="ellipse">
            <a:avLst/>
          </a:prstGeom>
          <a:solidFill>
            <a:srgbClr val="FFFFFF"/>
          </a:solidFill>
          <a:ln w="25400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039360" y="2943682"/>
            <a:ext cx="1300162" cy="284276"/>
          </a:xfrm>
          <a:prstGeom prst="roundRect">
            <a:avLst>
              <a:gd name="adj" fmla="val 4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200" b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토·일·월·화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99961" y="3321641"/>
            <a:ext cx="1378960" cy="775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25000"/>
              </a:lnSpc>
            </a:pPr>
            <a:r>
              <a:rPr lang="ko-KR" sz="9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매니저·파트장·TQA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endParaRPr lang="en-US" altLang="ko-KR" sz="900" b="0" dirty="0">
              <a:solidFill>
                <a:srgbClr val="10151F"/>
              </a:solidFill>
              <a:latin typeface="페이퍼로지 5 Medium"/>
              <a:ea typeface="페이퍼로지 5 Medium"/>
              <a:cs typeface="페이퍼로지 5 Medium"/>
            </a:endParaRPr>
          </a:p>
          <a:p>
            <a:pPr algn="ctr">
              <a:lnSpc>
                <a:spcPct val="12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핵심 </a:t>
            </a:r>
            <a:r>
              <a:rPr lang="ko-KR" altLang="en-US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인력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lang="ko-KR" altLang="en-US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모두 재직중 </a:t>
            </a:r>
            <a:endParaRPr lang="ko-KR" sz="900" b="0" dirty="0">
              <a:solidFill>
                <a:srgbClr val="10151F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536517" y="1806575"/>
            <a:ext cx="1378960" cy="23259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ko-KR" sz="1200" b="0">
                <a:solidFill>
                  <a:srgbClr val="6A7180"/>
                </a:solidFill>
                <a:latin typeface="페이퍼로지 8 ExtraBold"/>
                <a:ea typeface="페이퍼로지 8 ExtraBold"/>
                <a:cs typeface="페이퍼로지 8 ExtraBold"/>
              </a:rPr>
              <a:t>2025.04~08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36517" y="2065008"/>
            <a:ext cx="1378960" cy="2842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2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성수기 · 시행착오</a:t>
            </a:r>
          </a:p>
        </p:txBody>
      </p:sp>
      <p:sp>
        <p:nvSpPr>
          <p:cNvPr id="20" name="Oval 19"/>
          <p:cNvSpPr/>
          <p:nvPr/>
        </p:nvSpPr>
        <p:spPr>
          <a:xfrm>
            <a:off x="4137349" y="2590758"/>
            <a:ext cx="177295" cy="188979"/>
          </a:xfrm>
          <a:prstGeom prst="ellipse">
            <a:avLst/>
          </a:prstGeom>
          <a:solidFill>
            <a:srgbClr val="FFFFFF"/>
          </a:solidFill>
          <a:ln w="25400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3575916" y="2943682"/>
            <a:ext cx="1300162" cy="284276"/>
          </a:xfrm>
          <a:prstGeom prst="roundRect">
            <a:avLst>
              <a:gd name="adj" fmla="val 4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200" b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최대 75명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36517" y="3321641"/>
            <a:ext cx="1378960" cy="775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2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대량 </a:t>
            </a:r>
            <a:r>
              <a:rPr lang="ko-KR" sz="9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채용·대형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교육의 한계, </a:t>
            </a:r>
            <a:endParaRPr lang="en-US" altLang="ko-KR" sz="900" b="0" dirty="0">
              <a:solidFill>
                <a:srgbClr val="10151F"/>
              </a:solidFill>
              <a:latin typeface="페이퍼로지 5 Medium"/>
              <a:ea typeface="페이퍼로지 5 Medium"/>
              <a:cs typeface="페이퍼로지 5 Medium"/>
            </a:endParaRPr>
          </a:p>
          <a:p>
            <a:pPr algn="ctr">
              <a:lnSpc>
                <a:spcPct val="12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한시 </a:t>
            </a:r>
            <a:r>
              <a:rPr lang="ko-KR" sz="9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퇴직률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22.0%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73072" y="1806575"/>
            <a:ext cx="1378960" cy="23259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ko-KR" sz="1200" b="0">
                <a:solidFill>
                  <a:srgbClr val="6A7180"/>
                </a:solidFill>
                <a:latin typeface="페이퍼로지 8 ExtraBold"/>
                <a:ea typeface="페이퍼로지 8 ExtraBold"/>
                <a:cs typeface="페이퍼로지 8 ExtraBold"/>
              </a:rPr>
              <a:t>2025.09~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73072" y="2065008"/>
            <a:ext cx="1378960" cy="2842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2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원인 분석·재설계</a:t>
            </a:r>
          </a:p>
        </p:txBody>
      </p:sp>
      <p:sp>
        <p:nvSpPr>
          <p:cNvPr id="25" name="Oval 24"/>
          <p:cNvSpPr/>
          <p:nvPr/>
        </p:nvSpPr>
        <p:spPr>
          <a:xfrm>
            <a:off x="5673905" y="2590758"/>
            <a:ext cx="177295" cy="188979"/>
          </a:xfrm>
          <a:prstGeom prst="ellipse">
            <a:avLst/>
          </a:prstGeom>
          <a:solidFill>
            <a:srgbClr val="FFFFFF"/>
          </a:solidFill>
          <a:ln w="25400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12471" y="2943682"/>
            <a:ext cx="1300162" cy="284276"/>
          </a:xfrm>
          <a:prstGeom prst="roundRect">
            <a:avLst>
              <a:gd name="adj" fmla="val 4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200" b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5대 원인 규명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73072" y="3321641"/>
            <a:ext cx="1378960" cy="775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25000"/>
              </a:lnSpc>
            </a:pPr>
            <a:r>
              <a:rPr lang="ko-KR" sz="9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채용·교육·관리·검증·소통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endParaRPr lang="en-US" altLang="ko-KR" sz="900" b="0" dirty="0">
              <a:solidFill>
                <a:srgbClr val="10151F"/>
              </a:solidFill>
              <a:latin typeface="페이퍼로지 5 Medium"/>
              <a:ea typeface="페이퍼로지 5 Medium"/>
              <a:cs typeface="페이퍼로지 5 Medium"/>
            </a:endParaRPr>
          </a:p>
          <a:p>
            <a:pPr algn="ctr">
              <a:lnSpc>
                <a:spcPct val="12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프로세스 전면 개편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09628" y="1806575"/>
            <a:ext cx="1378960" cy="23259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ko-KR" sz="12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2026.05~08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09628" y="2065008"/>
            <a:ext cx="1378960" cy="2842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2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성수기 · 개선 증명</a:t>
            </a:r>
          </a:p>
        </p:txBody>
      </p:sp>
      <p:sp>
        <p:nvSpPr>
          <p:cNvPr id="30" name="Oval 29"/>
          <p:cNvSpPr/>
          <p:nvPr/>
        </p:nvSpPr>
        <p:spPr>
          <a:xfrm>
            <a:off x="7210460" y="2590758"/>
            <a:ext cx="177295" cy="188979"/>
          </a:xfrm>
          <a:prstGeom prst="ellipse">
            <a:avLst/>
          </a:prstGeom>
          <a:solidFill>
            <a:srgbClr val="E30C60"/>
          </a:solidFill>
          <a:ln w="25400">
            <a:solidFill>
              <a:srgbClr val="E30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649027" y="2943682"/>
            <a:ext cx="1300162" cy="284276"/>
          </a:xfrm>
          <a:prstGeom prst="roundRect">
            <a:avLst>
              <a:gd name="adj" fmla="val 40000"/>
            </a:avLst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200" b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TO 35명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09628" y="3321641"/>
            <a:ext cx="1378960" cy="775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2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한시 </a:t>
            </a:r>
            <a:r>
              <a:rPr lang="ko-KR" sz="9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퇴직률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4.7%, </a:t>
            </a:r>
            <a:endParaRPr lang="en-US" altLang="ko-KR" sz="900" b="0" dirty="0">
              <a:solidFill>
                <a:srgbClr val="10151F"/>
              </a:solidFill>
              <a:latin typeface="페이퍼로지 5 Medium"/>
              <a:ea typeface="페이퍼로지 5 Medium"/>
              <a:cs typeface="페이퍼로지 5 Medium"/>
            </a:endParaRPr>
          </a:p>
          <a:p>
            <a:pPr algn="ctr">
              <a:lnSpc>
                <a:spcPct val="12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한시 T-NPS 89.3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46184" y="1806575"/>
            <a:ext cx="1378960" cy="23259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ko-KR" sz="12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2026.07~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46184" y="2065008"/>
            <a:ext cx="1378960" cy="2842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2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총괄매니저 </a:t>
            </a:r>
            <a:r>
              <a:rPr lang="ko-KR" altLang="en-US" sz="12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투입</a:t>
            </a:r>
            <a:endParaRPr lang="ko-KR" sz="1200" b="0" dirty="0">
              <a:solidFill>
                <a:srgbClr val="10151F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8747017" y="2590758"/>
            <a:ext cx="177295" cy="188979"/>
          </a:xfrm>
          <a:prstGeom prst="ellipse">
            <a:avLst/>
          </a:prstGeom>
          <a:solidFill>
            <a:srgbClr val="E30C60"/>
          </a:solidFill>
          <a:ln w="25400">
            <a:solidFill>
              <a:srgbClr val="E30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8185582" y="2943682"/>
            <a:ext cx="1300162" cy="284276"/>
          </a:xfrm>
          <a:prstGeom prst="roundRect">
            <a:avLst>
              <a:gd name="adj" fmla="val 40000"/>
            </a:avLst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200" b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센터 진단 9과제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46184" y="3321641"/>
            <a:ext cx="1378960" cy="775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2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스스로 진단하고 </a:t>
            </a:r>
            <a:endParaRPr lang="en-US" altLang="ko-KR" sz="900" b="0" dirty="0">
              <a:solidFill>
                <a:srgbClr val="10151F"/>
              </a:solidFill>
              <a:latin typeface="페이퍼로지 5 Medium"/>
              <a:ea typeface="페이퍼로지 5 Medium"/>
              <a:cs typeface="페이퍼로지 5 Medium"/>
            </a:endParaRPr>
          </a:p>
          <a:p>
            <a:pPr algn="ctr">
              <a:lnSpc>
                <a:spcPct val="12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개선하는 관리체계</a:t>
            </a:r>
          </a:p>
        </p:txBody>
      </p:sp>
      <p:sp>
        <p:nvSpPr>
          <p:cNvPr id="38" name="Pentagon 37"/>
          <p:cNvSpPr/>
          <p:nvPr/>
        </p:nvSpPr>
        <p:spPr>
          <a:xfrm>
            <a:off x="660400" y="4361835"/>
            <a:ext cx="2029041" cy="904517"/>
          </a:xfrm>
          <a:prstGeom prst="homePlate">
            <a:avLst>
              <a:gd name="adj" fmla="val 40625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ko-KR" sz="15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과거 경험</a:t>
            </a:r>
          </a:p>
          <a:p>
            <a:pPr algn="ctr">
              <a:lnSpc>
                <a:spcPct val="13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단기·주4일·성수기 2회</a:t>
            </a:r>
          </a:p>
        </p:txBody>
      </p:sp>
      <p:sp>
        <p:nvSpPr>
          <p:cNvPr id="39" name="Chevron 38"/>
          <p:cNvSpPr/>
          <p:nvPr/>
        </p:nvSpPr>
        <p:spPr>
          <a:xfrm>
            <a:off x="2847037" y="4361835"/>
            <a:ext cx="2029041" cy="904517"/>
          </a:xfrm>
          <a:prstGeom prst="chevron">
            <a:avLst>
              <a:gd name="adj" fmla="val 40625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ko-KR" sz="1500" b="0" dirty="0" err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변화·개선</a:t>
            </a:r>
            <a:endParaRPr lang="ko-KR" sz="1500" b="0" dirty="0">
              <a:solidFill>
                <a:srgbClr val="10151F"/>
              </a:solidFill>
              <a:latin typeface="페이퍼로지 8 ExtraBold"/>
              <a:ea typeface="페이퍼로지 8 ExtraBold"/>
              <a:cs typeface="페이퍼로지 8 ExtraBold"/>
            </a:endParaRPr>
          </a:p>
          <a:p>
            <a:pPr algn="ctr">
              <a:lnSpc>
                <a:spcPct val="130000"/>
              </a:lnSpc>
            </a:pPr>
            <a:r>
              <a:rPr lang="ko-KR" sz="9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채용·교육·관리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재설계</a:t>
            </a:r>
          </a:p>
        </p:txBody>
      </p:sp>
      <p:sp>
        <p:nvSpPr>
          <p:cNvPr id="40" name="Chevron 39"/>
          <p:cNvSpPr/>
          <p:nvPr/>
        </p:nvSpPr>
        <p:spPr>
          <a:xfrm>
            <a:off x="5033673" y="4361835"/>
            <a:ext cx="2029041" cy="904517"/>
          </a:xfrm>
          <a:prstGeom prst="chevron">
            <a:avLst>
              <a:gd name="adj" fmla="val 40625"/>
            </a:avLst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ko-KR" sz="1500" b="0" dirty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현재 성과</a:t>
            </a:r>
          </a:p>
          <a:p>
            <a:pPr algn="ctr">
              <a:lnSpc>
                <a:spcPct val="130000"/>
              </a:lnSpc>
            </a:pPr>
            <a:r>
              <a:rPr lang="ko-KR" sz="900" b="0" dirty="0">
                <a:solidFill>
                  <a:srgbClr val="A50034"/>
                </a:solidFill>
                <a:latin typeface="페이퍼로지 5 Medium"/>
                <a:ea typeface="페이퍼로지 5 Medium"/>
                <a:cs typeface="페이퍼로지 5 Medium"/>
              </a:rPr>
              <a:t>KPI </a:t>
            </a:r>
            <a:r>
              <a:rPr lang="ko-KR" sz="900" b="0" dirty="0" err="1">
                <a:solidFill>
                  <a:srgbClr val="A50034"/>
                </a:solidFill>
                <a:latin typeface="페이퍼로지 5 Medium"/>
                <a:ea typeface="페이퍼로지 5 Medium"/>
                <a:cs typeface="페이퍼로지 5 Medium"/>
              </a:rPr>
              <a:t>우상향</a:t>
            </a:r>
            <a:r>
              <a:rPr lang="ko-KR" sz="900" b="0" dirty="0">
                <a:solidFill>
                  <a:srgbClr val="A50034"/>
                </a:solidFill>
                <a:latin typeface="페이퍼로지 5 Medium"/>
                <a:ea typeface="페이퍼로지 5 Medium"/>
                <a:cs typeface="페이퍼로지 5 Medium"/>
              </a:rPr>
              <a:t> · 인력 안정</a:t>
            </a:r>
          </a:p>
        </p:txBody>
      </p:sp>
      <p:sp>
        <p:nvSpPr>
          <p:cNvPr id="41" name="Chevron 40"/>
          <p:cNvSpPr/>
          <p:nvPr/>
        </p:nvSpPr>
        <p:spPr>
          <a:xfrm>
            <a:off x="7220310" y="4361835"/>
            <a:ext cx="2029041" cy="904517"/>
          </a:xfrm>
          <a:prstGeom prst="chevron">
            <a:avLst>
              <a:gd name="adj" fmla="val 40625"/>
            </a:avLst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ko-KR" sz="1500" b="0" dirty="0" err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Next</a:t>
            </a:r>
            <a:r>
              <a:rPr lang="ko-KR" sz="15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  <a:r>
              <a:rPr lang="ko-KR" sz="1500" b="0" dirty="0" err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Step</a:t>
            </a:r>
            <a:endParaRPr lang="ko-KR" sz="1500" b="0" dirty="0">
              <a:solidFill>
                <a:srgbClr val="FFFFFF"/>
              </a:solidFill>
              <a:latin typeface="페이퍼로지 8 ExtraBold"/>
              <a:ea typeface="페이퍼로지 8 ExtraBold"/>
              <a:cs typeface="페이퍼로지 8 ExtraBold"/>
            </a:endParaRPr>
          </a:p>
          <a:p>
            <a:pPr algn="ctr">
              <a:lnSpc>
                <a:spcPct val="130000"/>
              </a:lnSpc>
            </a:pPr>
            <a:r>
              <a:rPr lang="ko-KR" sz="1200" b="0" dirty="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주5일</a:t>
            </a:r>
            <a:r>
              <a:rPr lang="ko-KR" altLang="en-US" sz="1200" b="0" dirty="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제 상시 운영</a:t>
            </a:r>
            <a:endParaRPr lang="ko-KR" sz="1200" b="0" dirty="0">
              <a:solidFill>
                <a:srgbClr val="FFFFFF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660400" y="5524786"/>
            <a:ext cx="8667750" cy="723613"/>
          </a:xfrm>
          <a:prstGeom prst="roundRect">
            <a:avLst>
              <a:gd name="adj" fmla="val 20000"/>
            </a:avLst>
          </a:prstGeom>
          <a:solidFill>
            <a:srgbClr val="F7F8FA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5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“완벽하게 </a:t>
            </a:r>
            <a:r>
              <a:rPr lang="ko-KR" sz="15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운영했다”가</a:t>
            </a:r>
            <a:r>
              <a:rPr lang="ko-KR" sz="15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아니라, </a:t>
            </a:r>
            <a:r>
              <a:rPr lang="ko-KR" sz="15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문제를 겪었지만 학습하고 시스템을 바꾸어 성과를 만들었습니다.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40250" y="64770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fld id="{B6F15528-21DE-4FAA-801E-634DDDAF4B2B}" type="slidenum"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6</a:t>
            </a:fld>
            <a:r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 / 49</a:t>
            </a:r>
            <a:endParaRPr lang="ko-KR" sz="600" b="0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6138" y="381000"/>
            <a:ext cx="1000919" cy="254000"/>
          </a:xfrm>
          <a:prstGeom prst="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01 제안개요</a:t>
            </a:r>
          </a:p>
        </p:txBody>
      </p:sp>
      <p:sp>
        <p:nvSpPr>
          <p:cNvPr id="3" name="Rectangle 2"/>
          <p:cNvSpPr/>
          <p:nvPr/>
        </p:nvSpPr>
        <p:spPr>
          <a:xfrm>
            <a:off x="1929606" y="381000"/>
            <a:ext cx="61912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 dirty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1-1. 제안 배경 · 2025 성수기</a:t>
            </a:r>
          </a:p>
        </p:txBody>
      </p:sp>
      <p:sp>
        <p:nvSpPr>
          <p:cNvPr id="4" name="Rectangle 3"/>
          <p:cNvSpPr/>
          <p:nvPr/>
        </p:nvSpPr>
        <p:spPr>
          <a:xfrm>
            <a:off x="846138" y="660400"/>
            <a:ext cx="8461375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2025년 성수기, </a:t>
            </a:r>
            <a:r>
              <a:rPr lang="ko-KR" sz="20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목표에 미달했고 원인을 찾았습니다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138" y="1079500"/>
            <a:ext cx="84613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altLang="en-US" sz="12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원인을 객관적이고 정확하게 분석하여 다섯 가지 문제점을 확인하였습니다</a:t>
            </a:r>
            <a:r>
              <a:rPr lang="en-US" altLang="ko-KR" sz="12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.</a:t>
            </a:r>
            <a:endParaRPr lang="ko-KR" sz="1200" b="0" dirty="0">
              <a:solidFill>
                <a:srgbClr val="6A7180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4540250" y="64770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fld id="{B6F15528-21DE-4FAA-801E-634DDDAF4B2B}" type="slidenum"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7</a:t>
            </a:fld>
            <a:r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 / 49</a:t>
            </a:r>
            <a:endParaRPr lang="ko-KR" sz="600" b="0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41" name="Rounded Rectangle 5">
            <a:extLst>
              <a:ext uri="{FF2B5EF4-FFF2-40B4-BE49-F238E27FC236}">
                <a16:creationId xmlns:a16="http://schemas.microsoft.com/office/drawing/2014/main" id="{073933D2-4B4C-4AFC-A5C2-EC3CEA5D6601}"/>
              </a:ext>
            </a:extLst>
          </p:cNvPr>
          <p:cNvSpPr/>
          <p:nvPr/>
        </p:nvSpPr>
        <p:spPr>
          <a:xfrm>
            <a:off x="660400" y="1422400"/>
            <a:ext cx="2462428" cy="48260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42" name="Rectangle 6">
            <a:extLst>
              <a:ext uri="{FF2B5EF4-FFF2-40B4-BE49-F238E27FC236}">
                <a16:creationId xmlns:a16="http://schemas.microsoft.com/office/drawing/2014/main" id="{DF09798C-1A9A-417B-B5C2-C58818F8D2EC}"/>
              </a:ext>
            </a:extLst>
          </p:cNvPr>
          <p:cNvSpPr/>
          <p:nvPr/>
        </p:nvSpPr>
        <p:spPr>
          <a:xfrm>
            <a:off x="817995" y="1574800"/>
            <a:ext cx="2166938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ko-KR" sz="1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2025년 </a:t>
            </a:r>
            <a:r>
              <a:rPr lang="ko-KR" altLang="en-US" sz="1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성수기 </a:t>
            </a:r>
            <a:r>
              <a:rPr lang="ko-KR" sz="1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지표</a:t>
            </a:r>
          </a:p>
        </p:txBody>
      </p:sp>
      <p:sp>
        <p:nvSpPr>
          <p:cNvPr id="43" name="Rectangle 7">
            <a:extLst>
              <a:ext uri="{FF2B5EF4-FFF2-40B4-BE49-F238E27FC236}">
                <a16:creationId xmlns:a16="http://schemas.microsoft.com/office/drawing/2014/main" id="{A8C8381E-39D1-48A0-B7E2-C28031D42DAA}"/>
              </a:ext>
            </a:extLst>
          </p:cNvPr>
          <p:cNvSpPr/>
          <p:nvPr/>
        </p:nvSpPr>
        <p:spPr>
          <a:xfrm>
            <a:off x="817995" y="1955800"/>
            <a:ext cx="2166938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1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22.0%</a:t>
            </a:r>
          </a:p>
        </p:txBody>
      </p:sp>
      <p:sp>
        <p:nvSpPr>
          <p:cNvPr id="44" name="Rectangle 8">
            <a:extLst>
              <a:ext uri="{FF2B5EF4-FFF2-40B4-BE49-F238E27FC236}">
                <a16:creationId xmlns:a16="http://schemas.microsoft.com/office/drawing/2014/main" id="{9B5DD5C4-A046-4C2B-ADF3-AB44D240EC3C}"/>
              </a:ext>
            </a:extLst>
          </p:cNvPr>
          <p:cNvSpPr/>
          <p:nvPr/>
        </p:nvSpPr>
        <p:spPr>
          <a:xfrm>
            <a:off x="817995" y="2463800"/>
            <a:ext cx="2166938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한시 퇴직률</a:t>
            </a:r>
          </a:p>
        </p:txBody>
      </p:sp>
      <p:cxnSp>
        <p:nvCxnSpPr>
          <p:cNvPr id="45" name="Connector 9">
            <a:extLst>
              <a:ext uri="{FF2B5EF4-FFF2-40B4-BE49-F238E27FC236}">
                <a16:creationId xmlns:a16="http://schemas.microsoft.com/office/drawing/2014/main" id="{E087A461-FEF3-47BE-AA7D-4F468A797CC9}"/>
              </a:ext>
            </a:extLst>
          </p:cNvPr>
          <p:cNvCxnSpPr/>
          <p:nvPr/>
        </p:nvCxnSpPr>
        <p:spPr>
          <a:xfrm>
            <a:off x="817995" y="2844800"/>
            <a:ext cx="2147238" cy="0"/>
          </a:xfrm>
          <a:prstGeom prst="line">
            <a:avLst/>
          </a:prstGeom>
          <a:ln w="9525">
            <a:solidFill>
              <a:srgbClr val="D7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10">
            <a:extLst>
              <a:ext uri="{FF2B5EF4-FFF2-40B4-BE49-F238E27FC236}">
                <a16:creationId xmlns:a16="http://schemas.microsoft.com/office/drawing/2014/main" id="{B8D5F3E9-8485-4530-99C6-8B7D001E39ED}"/>
              </a:ext>
            </a:extLst>
          </p:cNvPr>
          <p:cNvSpPr/>
          <p:nvPr/>
        </p:nvSpPr>
        <p:spPr>
          <a:xfrm>
            <a:off x="817995" y="2997200"/>
            <a:ext cx="2166938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1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D</a:t>
            </a:r>
          </a:p>
        </p:txBody>
      </p:sp>
      <p:sp>
        <p:nvSpPr>
          <p:cNvPr id="47" name="Rectangle 11">
            <a:extLst>
              <a:ext uri="{FF2B5EF4-FFF2-40B4-BE49-F238E27FC236}">
                <a16:creationId xmlns:a16="http://schemas.microsoft.com/office/drawing/2014/main" id="{7FA01FAF-1AE7-430F-9AAB-AAC80A3761FD}"/>
              </a:ext>
            </a:extLst>
          </p:cNvPr>
          <p:cNvSpPr/>
          <p:nvPr/>
        </p:nvSpPr>
        <p:spPr>
          <a:xfrm>
            <a:off x="817995" y="3505200"/>
            <a:ext cx="2166938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SLA 누적 등급 (98.6점)</a:t>
            </a:r>
          </a:p>
        </p:txBody>
      </p:sp>
      <p:cxnSp>
        <p:nvCxnSpPr>
          <p:cNvPr id="48" name="Connector 12">
            <a:extLst>
              <a:ext uri="{FF2B5EF4-FFF2-40B4-BE49-F238E27FC236}">
                <a16:creationId xmlns:a16="http://schemas.microsoft.com/office/drawing/2014/main" id="{BF3D82BF-C3F8-45AA-85F3-8F51A6E8FDFB}"/>
              </a:ext>
            </a:extLst>
          </p:cNvPr>
          <p:cNvCxnSpPr/>
          <p:nvPr/>
        </p:nvCxnSpPr>
        <p:spPr>
          <a:xfrm>
            <a:off x="817995" y="3886200"/>
            <a:ext cx="2147238" cy="0"/>
          </a:xfrm>
          <a:prstGeom prst="line">
            <a:avLst/>
          </a:prstGeom>
          <a:ln w="9525">
            <a:solidFill>
              <a:srgbClr val="D7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13">
            <a:extLst>
              <a:ext uri="{FF2B5EF4-FFF2-40B4-BE49-F238E27FC236}">
                <a16:creationId xmlns:a16="http://schemas.microsoft.com/office/drawing/2014/main" id="{91134046-68A9-4DD6-9A0A-9B860AA2FAD3}"/>
              </a:ext>
            </a:extLst>
          </p:cNvPr>
          <p:cNvSpPr/>
          <p:nvPr/>
        </p:nvSpPr>
        <p:spPr>
          <a:xfrm>
            <a:off x="817995" y="4038600"/>
            <a:ext cx="2166938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1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60.3%</a:t>
            </a:r>
          </a:p>
        </p:txBody>
      </p:sp>
      <p:sp>
        <p:nvSpPr>
          <p:cNvPr id="50" name="Rectangle 14">
            <a:extLst>
              <a:ext uri="{FF2B5EF4-FFF2-40B4-BE49-F238E27FC236}">
                <a16:creationId xmlns:a16="http://schemas.microsoft.com/office/drawing/2014/main" id="{0F08D56E-47C5-4F6A-B7FD-6040A6271827}"/>
              </a:ext>
            </a:extLst>
          </p:cNvPr>
          <p:cNvSpPr/>
          <p:nvPr/>
        </p:nvSpPr>
        <p:spPr>
          <a:xfrm>
            <a:off x="817995" y="4546600"/>
            <a:ext cx="2166938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투입 대비 종료 유지율 (68명 중 41명)</a:t>
            </a:r>
          </a:p>
        </p:txBody>
      </p:sp>
      <p:cxnSp>
        <p:nvCxnSpPr>
          <p:cNvPr id="51" name="Connector 15">
            <a:extLst>
              <a:ext uri="{FF2B5EF4-FFF2-40B4-BE49-F238E27FC236}">
                <a16:creationId xmlns:a16="http://schemas.microsoft.com/office/drawing/2014/main" id="{E0E411BF-5A8C-4F82-9870-786DFAB4A566}"/>
              </a:ext>
            </a:extLst>
          </p:cNvPr>
          <p:cNvCxnSpPr/>
          <p:nvPr/>
        </p:nvCxnSpPr>
        <p:spPr>
          <a:xfrm>
            <a:off x="817995" y="4927600"/>
            <a:ext cx="2147238" cy="0"/>
          </a:xfrm>
          <a:prstGeom prst="line">
            <a:avLst/>
          </a:prstGeom>
          <a:ln w="9525">
            <a:solidFill>
              <a:srgbClr val="D7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16">
            <a:extLst>
              <a:ext uri="{FF2B5EF4-FFF2-40B4-BE49-F238E27FC236}">
                <a16:creationId xmlns:a16="http://schemas.microsoft.com/office/drawing/2014/main" id="{CE1962DB-7BD1-46C0-BAF6-FBDDFAF60AE5}"/>
              </a:ext>
            </a:extLst>
          </p:cNvPr>
          <p:cNvSpPr/>
          <p:nvPr/>
        </p:nvSpPr>
        <p:spPr>
          <a:xfrm>
            <a:off x="817995" y="5080000"/>
            <a:ext cx="2166938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1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29건</a:t>
            </a:r>
          </a:p>
        </p:txBody>
      </p:sp>
      <p:sp>
        <p:nvSpPr>
          <p:cNvPr id="53" name="Rectangle 17">
            <a:extLst>
              <a:ext uri="{FF2B5EF4-FFF2-40B4-BE49-F238E27FC236}">
                <a16:creationId xmlns:a16="http://schemas.microsoft.com/office/drawing/2014/main" id="{C8A02D2E-AD5C-4FA3-A877-F72AAEB3D8F2}"/>
              </a:ext>
            </a:extLst>
          </p:cNvPr>
          <p:cNvSpPr/>
          <p:nvPr/>
        </p:nvSpPr>
        <p:spPr>
          <a:xfrm>
            <a:off x="817995" y="5588000"/>
            <a:ext cx="2166938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업무부적응 퇴사 (전체 사유의 57%)</a:t>
            </a:r>
          </a:p>
        </p:txBody>
      </p:sp>
      <p:sp>
        <p:nvSpPr>
          <p:cNvPr id="54" name="Rounded Rectangle 18">
            <a:extLst>
              <a:ext uri="{FF2B5EF4-FFF2-40B4-BE49-F238E27FC236}">
                <a16:creationId xmlns:a16="http://schemas.microsoft.com/office/drawing/2014/main" id="{9A14DC3C-712F-4CAC-8B41-2A6CCBA247ED}"/>
              </a:ext>
            </a:extLst>
          </p:cNvPr>
          <p:cNvSpPr/>
          <p:nvPr/>
        </p:nvSpPr>
        <p:spPr>
          <a:xfrm>
            <a:off x="3280424" y="1422400"/>
            <a:ext cx="6047725" cy="863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55" name="Rectangle 19">
            <a:extLst>
              <a:ext uri="{FF2B5EF4-FFF2-40B4-BE49-F238E27FC236}">
                <a16:creationId xmlns:a16="http://schemas.microsoft.com/office/drawing/2014/main" id="{E63ABEF7-ECBA-4A38-965B-993906F5C9C9}"/>
              </a:ext>
            </a:extLst>
          </p:cNvPr>
          <p:cNvSpPr/>
          <p:nvPr/>
        </p:nvSpPr>
        <p:spPr>
          <a:xfrm>
            <a:off x="3418320" y="1524000"/>
            <a:ext cx="393989" cy="635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56" name="Rectangle 20">
            <a:extLst>
              <a:ext uri="{FF2B5EF4-FFF2-40B4-BE49-F238E27FC236}">
                <a16:creationId xmlns:a16="http://schemas.microsoft.com/office/drawing/2014/main" id="{5CF99648-4D56-4A96-9A1A-33E595C5266D}"/>
              </a:ext>
            </a:extLst>
          </p:cNvPr>
          <p:cNvSpPr/>
          <p:nvPr/>
        </p:nvSpPr>
        <p:spPr>
          <a:xfrm>
            <a:off x="3871407" y="1549400"/>
            <a:ext cx="1477457" cy="609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채용 기준·선발</a:t>
            </a:r>
          </a:p>
        </p:txBody>
      </p:sp>
      <p:sp>
        <p:nvSpPr>
          <p:cNvPr id="57" name="Rectangle 21">
            <a:extLst>
              <a:ext uri="{FF2B5EF4-FFF2-40B4-BE49-F238E27FC236}">
                <a16:creationId xmlns:a16="http://schemas.microsoft.com/office/drawing/2014/main" id="{23ACA438-DAA8-4A12-BB69-CA15F8EBF377}"/>
              </a:ext>
            </a:extLst>
          </p:cNvPr>
          <p:cNvSpPr/>
          <p:nvPr/>
        </p:nvSpPr>
        <p:spPr>
          <a:xfrm>
            <a:off x="5088411" y="1524000"/>
            <a:ext cx="4219102" cy="660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ko-KR" sz="10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본사 단체면접 중심 운영 → 현장 관리자가 적합성을 함께 확인하는 단계</a:t>
            </a:r>
            <a:r>
              <a:rPr lang="en-US" altLang="ko-KR" sz="10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lang="ko-KR" altLang="en-US" sz="100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미흡</a:t>
            </a:r>
            <a:endParaRPr lang="ko-KR" sz="1000" b="0" dirty="0">
              <a:solidFill>
                <a:srgbClr val="6A7180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58" name="Rounded Rectangle 22">
            <a:extLst>
              <a:ext uri="{FF2B5EF4-FFF2-40B4-BE49-F238E27FC236}">
                <a16:creationId xmlns:a16="http://schemas.microsoft.com/office/drawing/2014/main" id="{CD7BD5F1-2F0F-4A76-AC10-CCC6A9729F64}"/>
              </a:ext>
            </a:extLst>
          </p:cNvPr>
          <p:cNvSpPr/>
          <p:nvPr/>
        </p:nvSpPr>
        <p:spPr>
          <a:xfrm>
            <a:off x="3280424" y="2400300"/>
            <a:ext cx="6047725" cy="863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59" name="Rectangle 23">
            <a:extLst>
              <a:ext uri="{FF2B5EF4-FFF2-40B4-BE49-F238E27FC236}">
                <a16:creationId xmlns:a16="http://schemas.microsoft.com/office/drawing/2014/main" id="{2670B86A-E1FA-43B8-9DF1-B3C2CCF24DDE}"/>
              </a:ext>
            </a:extLst>
          </p:cNvPr>
          <p:cNvSpPr/>
          <p:nvPr/>
        </p:nvSpPr>
        <p:spPr>
          <a:xfrm>
            <a:off x="3418320" y="2501900"/>
            <a:ext cx="393989" cy="635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60" name="Rectangle 24">
            <a:extLst>
              <a:ext uri="{FF2B5EF4-FFF2-40B4-BE49-F238E27FC236}">
                <a16:creationId xmlns:a16="http://schemas.microsoft.com/office/drawing/2014/main" id="{8A62EC0A-18C3-426B-A3D3-475AE352C6D2}"/>
              </a:ext>
            </a:extLst>
          </p:cNvPr>
          <p:cNvSpPr/>
          <p:nvPr/>
        </p:nvSpPr>
        <p:spPr>
          <a:xfrm>
            <a:off x="3871407" y="2527300"/>
            <a:ext cx="1477457" cy="609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교육 운영</a:t>
            </a:r>
          </a:p>
        </p:txBody>
      </p:sp>
      <p:sp>
        <p:nvSpPr>
          <p:cNvPr id="61" name="Rectangle 25">
            <a:extLst>
              <a:ext uri="{FF2B5EF4-FFF2-40B4-BE49-F238E27FC236}">
                <a16:creationId xmlns:a16="http://schemas.microsoft.com/office/drawing/2014/main" id="{79E932B1-819B-4EB7-948E-0C0597D1FBD0}"/>
              </a:ext>
            </a:extLst>
          </p:cNvPr>
          <p:cNvSpPr/>
          <p:nvPr/>
        </p:nvSpPr>
        <p:spPr>
          <a:xfrm>
            <a:off x="5095875" y="2501900"/>
            <a:ext cx="4114079" cy="660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ko-KR" sz="10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1회 50명 규모 집합 교육 → 소규모로 나누어 개인별 보완 기회를 넓힐 필요</a:t>
            </a:r>
          </a:p>
        </p:txBody>
      </p:sp>
      <p:sp>
        <p:nvSpPr>
          <p:cNvPr id="62" name="Rounded Rectangle 26">
            <a:extLst>
              <a:ext uri="{FF2B5EF4-FFF2-40B4-BE49-F238E27FC236}">
                <a16:creationId xmlns:a16="http://schemas.microsoft.com/office/drawing/2014/main" id="{B811D821-7233-42A6-B8BC-28F186790A10}"/>
              </a:ext>
            </a:extLst>
          </p:cNvPr>
          <p:cNvSpPr/>
          <p:nvPr/>
        </p:nvSpPr>
        <p:spPr>
          <a:xfrm>
            <a:off x="3280424" y="3378200"/>
            <a:ext cx="6047725" cy="863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63" name="Rectangle 27">
            <a:extLst>
              <a:ext uri="{FF2B5EF4-FFF2-40B4-BE49-F238E27FC236}">
                <a16:creationId xmlns:a16="http://schemas.microsoft.com/office/drawing/2014/main" id="{1CE312A7-F65B-4549-8537-A650266A68C0}"/>
              </a:ext>
            </a:extLst>
          </p:cNvPr>
          <p:cNvSpPr/>
          <p:nvPr/>
        </p:nvSpPr>
        <p:spPr>
          <a:xfrm>
            <a:off x="3418320" y="3479800"/>
            <a:ext cx="393989" cy="635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64" name="Rectangle 28">
            <a:extLst>
              <a:ext uri="{FF2B5EF4-FFF2-40B4-BE49-F238E27FC236}">
                <a16:creationId xmlns:a16="http://schemas.microsoft.com/office/drawing/2014/main" id="{7B440295-75DF-4A8A-A19C-9396DFDF5E7B}"/>
              </a:ext>
            </a:extLst>
          </p:cNvPr>
          <p:cNvSpPr/>
          <p:nvPr/>
        </p:nvSpPr>
        <p:spPr>
          <a:xfrm>
            <a:off x="3871407" y="3505200"/>
            <a:ext cx="1477457" cy="609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관리자 준비</a:t>
            </a:r>
          </a:p>
        </p:txBody>
      </p:sp>
      <p:sp>
        <p:nvSpPr>
          <p:cNvPr id="65" name="Rectangle 29">
            <a:extLst>
              <a:ext uri="{FF2B5EF4-FFF2-40B4-BE49-F238E27FC236}">
                <a16:creationId xmlns:a16="http://schemas.microsoft.com/office/drawing/2014/main" id="{04498CA2-17D3-4BC5-B2EC-81290A47A32B}"/>
              </a:ext>
            </a:extLst>
          </p:cNvPr>
          <p:cNvSpPr/>
          <p:nvPr/>
        </p:nvSpPr>
        <p:spPr>
          <a:xfrm>
            <a:off x="5095875" y="3479800"/>
            <a:ext cx="4114079" cy="660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ko-KR" sz="10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기존 관리자 중심 운영 → 성수기 관리자를 미리 준비해 업무 부담</a:t>
            </a:r>
            <a:r>
              <a:rPr lang="en-US" altLang="ko-KR" sz="10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lang="ko-KR" altLang="en-US" sz="10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완화</a:t>
            </a:r>
            <a:r>
              <a:rPr lang="ko-KR" sz="10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 필요</a:t>
            </a:r>
          </a:p>
        </p:txBody>
      </p:sp>
      <p:sp>
        <p:nvSpPr>
          <p:cNvPr id="66" name="Rounded Rectangle 30">
            <a:extLst>
              <a:ext uri="{FF2B5EF4-FFF2-40B4-BE49-F238E27FC236}">
                <a16:creationId xmlns:a16="http://schemas.microsoft.com/office/drawing/2014/main" id="{815325D9-1C43-4B11-985A-5C28A2D88600}"/>
              </a:ext>
            </a:extLst>
          </p:cNvPr>
          <p:cNvSpPr/>
          <p:nvPr/>
        </p:nvSpPr>
        <p:spPr>
          <a:xfrm>
            <a:off x="3280424" y="4356100"/>
            <a:ext cx="6047725" cy="863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67" name="Rectangle 31">
            <a:extLst>
              <a:ext uri="{FF2B5EF4-FFF2-40B4-BE49-F238E27FC236}">
                <a16:creationId xmlns:a16="http://schemas.microsoft.com/office/drawing/2014/main" id="{8007DFD7-6F30-48F0-896D-B0D899CD0AF3}"/>
              </a:ext>
            </a:extLst>
          </p:cNvPr>
          <p:cNvSpPr/>
          <p:nvPr/>
        </p:nvSpPr>
        <p:spPr>
          <a:xfrm>
            <a:off x="3418320" y="4457700"/>
            <a:ext cx="393989" cy="635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04</a:t>
            </a:r>
          </a:p>
        </p:txBody>
      </p:sp>
      <p:sp>
        <p:nvSpPr>
          <p:cNvPr id="68" name="Rectangle 32">
            <a:extLst>
              <a:ext uri="{FF2B5EF4-FFF2-40B4-BE49-F238E27FC236}">
                <a16:creationId xmlns:a16="http://schemas.microsoft.com/office/drawing/2014/main" id="{88CDE278-FCFB-4DEB-8577-3408D0559382}"/>
              </a:ext>
            </a:extLst>
          </p:cNvPr>
          <p:cNvSpPr/>
          <p:nvPr/>
        </p:nvSpPr>
        <p:spPr>
          <a:xfrm>
            <a:off x="3871407" y="4483100"/>
            <a:ext cx="1477457" cy="609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실전 검증</a:t>
            </a:r>
          </a:p>
        </p:txBody>
      </p:sp>
      <p:sp>
        <p:nvSpPr>
          <p:cNvPr id="69" name="Rectangle 33">
            <a:extLst>
              <a:ext uri="{FF2B5EF4-FFF2-40B4-BE49-F238E27FC236}">
                <a16:creationId xmlns:a16="http://schemas.microsoft.com/office/drawing/2014/main" id="{4E48E7CF-179A-4742-9FA7-0878F67D1294}"/>
              </a:ext>
            </a:extLst>
          </p:cNvPr>
          <p:cNvSpPr/>
          <p:nvPr/>
        </p:nvSpPr>
        <p:spPr>
          <a:xfrm>
            <a:off x="5095875" y="4457700"/>
            <a:ext cx="4114079" cy="660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ko-KR" sz="10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이론 평가 중심 → </a:t>
            </a:r>
            <a:r>
              <a:rPr lang="ko-KR" sz="1000" b="0" dirty="0" err="1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공감·설명·돌발</a:t>
            </a:r>
            <a:r>
              <a:rPr lang="ko-KR" sz="10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 상황 대응을 실전처럼 </a:t>
            </a:r>
            <a:r>
              <a:rPr lang="ko-KR" altLang="en-US" sz="100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관리</a:t>
            </a:r>
            <a:r>
              <a:rPr lang="en-US" altLang="ko-KR" sz="100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,</a:t>
            </a:r>
            <a:r>
              <a:rPr lang="ko-KR" altLang="en-US" sz="100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 검증 필요</a:t>
            </a:r>
            <a:endParaRPr lang="ko-KR" sz="1000" b="0" dirty="0">
              <a:solidFill>
                <a:srgbClr val="6A7180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70" name="Rounded Rectangle 34">
            <a:extLst>
              <a:ext uri="{FF2B5EF4-FFF2-40B4-BE49-F238E27FC236}">
                <a16:creationId xmlns:a16="http://schemas.microsoft.com/office/drawing/2014/main" id="{23502E12-2D54-4C05-9B3C-E33E0232B1F9}"/>
              </a:ext>
            </a:extLst>
          </p:cNvPr>
          <p:cNvSpPr/>
          <p:nvPr/>
        </p:nvSpPr>
        <p:spPr>
          <a:xfrm>
            <a:off x="3280424" y="5334000"/>
            <a:ext cx="6047725" cy="863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71" name="Rectangle 35">
            <a:extLst>
              <a:ext uri="{FF2B5EF4-FFF2-40B4-BE49-F238E27FC236}">
                <a16:creationId xmlns:a16="http://schemas.microsoft.com/office/drawing/2014/main" id="{BE0494EC-BA77-4805-8461-CAB564345767}"/>
              </a:ext>
            </a:extLst>
          </p:cNvPr>
          <p:cNvSpPr/>
          <p:nvPr/>
        </p:nvSpPr>
        <p:spPr>
          <a:xfrm>
            <a:off x="3418320" y="5435600"/>
            <a:ext cx="393989" cy="635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05</a:t>
            </a:r>
          </a:p>
        </p:txBody>
      </p:sp>
      <p:sp>
        <p:nvSpPr>
          <p:cNvPr id="72" name="Rectangle 36">
            <a:extLst>
              <a:ext uri="{FF2B5EF4-FFF2-40B4-BE49-F238E27FC236}">
                <a16:creationId xmlns:a16="http://schemas.microsoft.com/office/drawing/2014/main" id="{1F418DBB-0E10-41EF-836B-9801C52CE0C0}"/>
              </a:ext>
            </a:extLst>
          </p:cNvPr>
          <p:cNvSpPr/>
          <p:nvPr/>
        </p:nvSpPr>
        <p:spPr>
          <a:xfrm>
            <a:off x="3871407" y="5461000"/>
            <a:ext cx="1477457" cy="609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근무 일정 소통</a:t>
            </a:r>
          </a:p>
        </p:txBody>
      </p:sp>
      <p:sp>
        <p:nvSpPr>
          <p:cNvPr id="73" name="Rectangle 37">
            <a:extLst>
              <a:ext uri="{FF2B5EF4-FFF2-40B4-BE49-F238E27FC236}">
                <a16:creationId xmlns:a16="http://schemas.microsoft.com/office/drawing/2014/main" id="{C2D81C1C-80C9-4D96-A55F-7ED4CCD320DC}"/>
              </a:ext>
            </a:extLst>
          </p:cNvPr>
          <p:cNvSpPr/>
          <p:nvPr/>
        </p:nvSpPr>
        <p:spPr>
          <a:xfrm>
            <a:off x="5095875" y="5435600"/>
            <a:ext cx="4114079" cy="660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ko-KR" sz="10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연장근무 수시 안내 → 일정을 미리 공유해 상담사 </a:t>
            </a:r>
            <a:r>
              <a:rPr lang="ko-KR" altLang="en-US" sz="100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불만</a:t>
            </a:r>
            <a:r>
              <a:rPr lang="en-US" altLang="ko-KR" sz="100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, </a:t>
            </a:r>
            <a:r>
              <a:rPr lang="ko-KR" altLang="en-US" sz="100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부담감 해소 필요</a:t>
            </a:r>
            <a:endParaRPr lang="ko-KR" sz="1000" b="0" dirty="0">
              <a:solidFill>
                <a:srgbClr val="6A7180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6138" y="381000"/>
            <a:ext cx="1000919" cy="254000"/>
          </a:xfrm>
          <a:prstGeom prst="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01 제안개요</a:t>
            </a:r>
          </a:p>
        </p:txBody>
      </p:sp>
      <p:sp>
        <p:nvSpPr>
          <p:cNvPr id="3" name="Rectangle 2"/>
          <p:cNvSpPr/>
          <p:nvPr/>
        </p:nvSpPr>
        <p:spPr>
          <a:xfrm>
            <a:off x="1929606" y="381000"/>
            <a:ext cx="61912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 dirty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1-1. 제안 배경 · 개선</a:t>
            </a:r>
          </a:p>
        </p:txBody>
      </p:sp>
      <p:sp>
        <p:nvSpPr>
          <p:cNvPr id="4" name="Rectangle 3"/>
          <p:cNvSpPr/>
          <p:nvPr/>
        </p:nvSpPr>
        <p:spPr>
          <a:xfrm>
            <a:off x="846138" y="660400"/>
            <a:ext cx="8461375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원인별로 시스템을 바꿨고, </a:t>
            </a:r>
            <a:r>
              <a:rPr lang="ko-KR" sz="20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2026년 결과로 확인</a:t>
            </a:r>
            <a:r>
              <a:rPr lang="ko-KR" sz="2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했습니다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138" y="1079500"/>
            <a:ext cx="84613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같은 센터, 같은 성수기에서 운영 방식을 바꾸었고 그 차이를 결과로 확인했습니다.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8491049"/>
              </p:ext>
            </p:extLst>
          </p:nvPr>
        </p:nvGraphicFramePr>
        <p:xfrm>
          <a:off x="660400" y="1431925"/>
          <a:ext cx="8667750" cy="378142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68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00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21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6835"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>
                          <a:solidFill>
                            <a:srgbClr val="FFFFF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원인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101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>
                          <a:solidFill>
                            <a:srgbClr val="FFFFF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2025 (</a:t>
                      </a:r>
                      <a:r>
                        <a:rPr lang="ko-KR" sz="1200" b="0" dirty="0" err="1">
                          <a:solidFill>
                            <a:srgbClr val="FFFFF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Before</a:t>
                      </a:r>
                      <a:r>
                        <a:rPr lang="ko-KR" sz="1200" b="0" dirty="0">
                          <a:solidFill>
                            <a:srgbClr val="FFFFF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)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 cap="flat" cmpd="sng" algn="ctr">
                      <a:solidFill>
                        <a:srgbClr val="D7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>
                          <a:solidFill>
                            <a:srgbClr val="FFFFF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2026 조치 (</a:t>
                      </a:r>
                      <a:r>
                        <a:rPr lang="ko-KR" sz="1200" b="0" dirty="0" err="1">
                          <a:solidFill>
                            <a:srgbClr val="FFFFF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After</a:t>
                      </a:r>
                      <a:r>
                        <a:rPr lang="ko-KR" sz="1200" b="0" dirty="0">
                          <a:solidFill>
                            <a:srgbClr val="FFFFF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)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 cap="flat" cmpd="sng" algn="ctr">
                      <a:solidFill>
                        <a:srgbClr val="D7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>
                          <a:solidFill>
                            <a:srgbClr val="FFFFF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결과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1015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918"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>
                          <a:solidFill>
                            <a:srgbClr val="10151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채용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 cap="flat" cmpd="sng" algn="ctr">
                      <a:solidFill>
                        <a:srgbClr val="D7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본사 단체면접 중심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현장 관리자 선별 + 입사 전 CS 1:1 스크립트 테스트 (80점↑ 입과)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kern="1200" dirty="0">
                          <a:solidFill>
                            <a:srgbClr val="A50034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업무부적응 퇴사 </a:t>
                      </a:r>
                      <a:endParaRPr lang="en-US" altLang="ko-KR" sz="1100" b="0" kern="1200" dirty="0">
                        <a:solidFill>
                          <a:srgbClr val="A50034"/>
                        </a:solidFill>
                        <a:latin typeface="페이퍼로지 8 ExtraBold"/>
                        <a:ea typeface="페이퍼로지 8 ExtraBold"/>
                        <a:cs typeface="페이퍼로지 8 ExtraBold"/>
                      </a:endParaRPr>
                    </a:p>
                    <a:p>
                      <a:pPr algn="ctr"/>
                      <a:r>
                        <a:rPr lang="en-US" altLang="ko-KR" sz="1100" b="0" kern="1200" dirty="0">
                          <a:solidFill>
                            <a:srgbClr val="A50034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29</a:t>
                      </a:r>
                      <a:r>
                        <a:rPr lang="ko-KR" altLang="en-US" sz="1100" b="0" kern="1200" dirty="0">
                          <a:solidFill>
                            <a:srgbClr val="A50034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건</a:t>
                      </a:r>
                      <a:r>
                        <a:rPr lang="en-US" altLang="ko-KR" sz="1100" b="0" kern="1200" dirty="0">
                          <a:solidFill>
                            <a:srgbClr val="A50034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 → 6</a:t>
                      </a:r>
                      <a:r>
                        <a:rPr lang="ko-KR" altLang="en-US" sz="1100" b="0" kern="1200" dirty="0">
                          <a:solidFill>
                            <a:srgbClr val="A50034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건</a:t>
                      </a:r>
                    </a:p>
                  </a:txBody>
                  <a:tcPr marL="51594" marR="51594" marT="25400" marB="25400" anchor="ctr">
                    <a:lnL w="6350" cap="flat" cmpd="sng" algn="ctr">
                      <a:solidFill>
                        <a:srgbClr val="D7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918"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>
                          <a:solidFill>
                            <a:srgbClr val="10151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교육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 cap="flat" cmpd="sng" algn="ctr">
                      <a:solidFill>
                        <a:srgbClr val="D7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1회 50명 규모 집합 교육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4차수 소규모 분할</a:t>
                      </a:r>
                      <a:r>
                        <a:rPr lang="en-US" altLang="ko-KR" sz="11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 </a:t>
                      </a:r>
                      <a:r>
                        <a:rPr lang="ko-KR" sz="11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·</a:t>
                      </a:r>
                      <a:r>
                        <a:rPr lang="en-US" altLang="ko-KR" sz="11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 </a:t>
                      </a:r>
                      <a:r>
                        <a:rPr lang="ko-KR" sz="11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투입 1개월 전 </a:t>
                      </a:r>
                      <a:r>
                        <a:rPr lang="ko-KR" sz="1100" b="0" dirty="0" err="1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선교육</a:t>
                      </a:r>
                      <a:r>
                        <a:rPr lang="ko-KR" sz="11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 시작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kern="1200" dirty="0">
                          <a:solidFill>
                            <a:srgbClr val="A50034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투입 대비 </a:t>
                      </a:r>
                      <a:r>
                        <a:rPr lang="ko-KR" altLang="en-US" sz="1100" b="0" kern="1200" dirty="0" err="1">
                          <a:solidFill>
                            <a:srgbClr val="A50034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유지율</a:t>
                      </a:r>
                      <a:r>
                        <a:rPr lang="ko-KR" altLang="en-US" sz="1100" b="0" kern="1200" dirty="0">
                          <a:solidFill>
                            <a:srgbClr val="A50034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 </a:t>
                      </a:r>
                      <a:endParaRPr lang="en-US" altLang="ko-KR" sz="1100" b="0" kern="1200" dirty="0">
                        <a:solidFill>
                          <a:srgbClr val="A50034"/>
                        </a:solidFill>
                        <a:latin typeface="페이퍼로지 8 ExtraBold"/>
                        <a:ea typeface="페이퍼로지 8 ExtraBold"/>
                        <a:cs typeface="페이퍼로지 8 ExtraBold"/>
                      </a:endParaRPr>
                    </a:p>
                    <a:p>
                      <a:pPr algn="ctr"/>
                      <a:r>
                        <a:rPr lang="en-US" altLang="ko-KR" sz="1100" b="0" kern="1200" dirty="0">
                          <a:solidFill>
                            <a:srgbClr val="A50034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60.3% → 89.5%</a:t>
                      </a:r>
                    </a:p>
                  </a:txBody>
                  <a:tcPr marL="51594" marR="51594" marT="25400" marB="25400" anchor="ctr">
                    <a:lnL w="6350" cap="flat" cmpd="sng" algn="ctr">
                      <a:solidFill>
                        <a:srgbClr val="D7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918"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>
                          <a:solidFill>
                            <a:srgbClr val="10151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관리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 cap="flat" cmpd="sng" algn="ctr">
                      <a:solidFill>
                        <a:srgbClr val="D7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기존 관리자 중심 운영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2025</a:t>
                      </a:r>
                      <a:r>
                        <a:rPr lang="ko-KR" altLang="en-US" sz="11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년</a:t>
                      </a:r>
                      <a:r>
                        <a:rPr lang="ko-KR" sz="11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 경험 관리자 유지 + 선임상담사 추가 배정 + 총괄매니저 </a:t>
                      </a:r>
                      <a:r>
                        <a:rPr lang="ko-KR" altLang="en-US" sz="11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투입</a:t>
                      </a:r>
                      <a:endParaRPr lang="ko-KR" sz="1100" b="0" dirty="0">
                        <a:solidFill>
                          <a:srgbClr val="10151F"/>
                        </a:solidFill>
                        <a:latin typeface="페이퍼로지 5 Medium"/>
                        <a:ea typeface="페이퍼로지 5 Medium"/>
                        <a:cs typeface="페이퍼로지 5 Medium"/>
                      </a:endParaRP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A50034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SLA </a:t>
                      </a:r>
                      <a:r>
                        <a:rPr lang="ko-KR" altLang="en-US" sz="1100" b="0" kern="1200" dirty="0">
                          <a:solidFill>
                            <a:srgbClr val="A50034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개선 및 </a:t>
                      </a:r>
                      <a:endParaRPr lang="en-US" altLang="ko-KR" sz="1100" b="0" kern="1200" dirty="0">
                        <a:solidFill>
                          <a:srgbClr val="A50034"/>
                        </a:solidFill>
                        <a:latin typeface="페이퍼로지 8 ExtraBold"/>
                        <a:ea typeface="페이퍼로지 8 ExtraBold"/>
                        <a:cs typeface="페이퍼로지 8 ExtraBold"/>
                      </a:endParaRPr>
                    </a:p>
                    <a:p>
                      <a:pPr marL="0" algn="ctr">
                        <a:buNone/>
                      </a:pPr>
                      <a:r>
                        <a:rPr lang="ko-KR" altLang="en-US" sz="1100" b="0" kern="1200" dirty="0">
                          <a:solidFill>
                            <a:srgbClr val="A50034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개선과제 도출</a:t>
                      </a:r>
                    </a:p>
                  </a:txBody>
                  <a:tcPr marL="51594" marR="51594" marT="25400" marB="25400" anchor="ctr">
                    <a:lnL w="6350" cap="flat" cmpd="sng" algn="ctr">
                      <a:solidFill>
                        <a:srgbClr val="D7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918"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>
                          <a:solidFill>
                            <a:srgbClr val="10151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검증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 cap="flat" cmpd="sng" algn="ctr">
                      <a:solidFill>
                        <a:srgbClr val="D7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이론 중심 평가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실전 스크립트 평가표</a:t>
                      </a:r>
                      <a:r>
                        <a:rPr lang="en-US" altLang="ko-KR" sz="11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 </a:t>
                      </a:r>
                      <a:r>
                        <a:rPr lang="ko-KR" sz="11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·</a:t>
                      </a:r>
                      <a:r>
                        <a:rPr lang="en-US" altLang="ko-KR" sz="11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 </a:t>
                      </a:r>
                      <a:r>
                        <a:rPr lang="ko-KR" sz="11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실전 응대 실습</a:t>
                      </a:r>
                      <a:r>
                        <a:rPr lang="en-US" altLang="ko-KR" sz="11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 </a:t>
                      </a:r>
                      <a:r>
                        <a:rPr lang="ko-KR" sz="11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·</a:t>
                      </a:r>
                      <a:r>
                        <a:rPr lang="en-US" altLang="ko-KR" sz="11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 </a:t>
                      </a:r>
                      <a:r>
                        <a:rPr lang="ko-KR" sz="11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콜 청취 33시간</a:t>
                      </a:r>
                      <a:r>
                        <a:rPr lang="en-US" altLang="ko-KR" sz="11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 </a:t>
                      </a:r>
                      <a:r>
                        <a:rPr lang="ko-KR" sz="11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·</a:t>
                      </a:r>
                      <a:r>
                        <a:rPr lang="en-US" altLang="ko-KR" sz="11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 </a:t>
                      </a:r>
                      <a:r>
                        <a:rPr lang="ko-KR" sz="1100" b="0" dirty="0" err="1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인큐베이팅</a:t>
                      </a:r>
                      <a:r>
                        <a:rPr lang="ko-KR" sz="11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 Q&amp;A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buNone/>
                      </a:pPr>
                      <a:r>
                        <a:rPr lang="ko-KR" altLang="en-US" sz="1100" b="0" kern="1200" dirty="0">
                          <a:solidFill>
                            <a:srgbClr val="A50034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한시 </a:t>
                      </a:r>
                      <a:r>
                        <a:rPr lang="en-US" altLang="ko-KR" sz="1100" b="0" kern="1200" dirty="0">
                          <a:solidFill>
                            <a:srgbClr val="A50034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T-NPS </a:t>
                      </a:r>
                    </a:p>
                    <a:p>
                      <a:pPr marL="0" algn="ctr"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A50034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82.0</a:t>
                      </a:r>
                      <a:r>
                        <a:rPr lang="ko-KR" altLang="en-US" sz="1100" b="0" kern="1200" dirty="0">
                          <a:solidFill>
                            <a:srgbClr val="A50034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점</a:t>
                      </a:r>
                      <a:r>
                        <a:rPr lang="en-US" altLang="ko-KR" sz="1100" b="0" kern="1200" dirty="0">
                          <a:solidFill>
                            <a:srgbClr val="A50034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 → 89.3</a:t>
                      </a:r>
                      <a:r>
                        <a:rPr lang="ko-KR" altLang="en-US" sz="1100" b="0" kern="1200" dirty="0">
                          <a:solidFill>
                            <a:srgbClr val="A50034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점</a:t>
                      </a:r>
                      <a:endParaRPr lang="en-US" altLang="ko-KR" sz="1100" b="0" kern="1200" dirty="0">
                        <a:solidFill>
                          <a:srgbClr val="A50034"/>
                        </a:solidFill>
                        <a:latin typeface="페이퍼로지 8 ExtraBold"/>
                        <a:ea typeface="페이퍼로지 8 ExtraBold"/>
                        <a:cs typeface="페이퍼로지 8 ExtraBold"/>
                      </a:endParaRPr>
                    </a:p>
                  </a:txBody>
                  <a:tcPr marL="51594" marR="51594" marT="25400" marB="25400" anchor="ctr">
                    <a:lnL w="6350" cap="flat" cmpd="sng" algn="ctr">
                      <a:solidFill>
                        <a:srgbClr val="D7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918"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>
                          <a:solidFill>
                            <a:srgbClr val="10151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소통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 cap="flat" cmpd="sng" algn="ctr">
                      <a:solidFill>
                        <a:srgbClr val="D7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연장근무 수시 안내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 dirty="0" err="1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감성케어</a:t>
                      </a:r>
                      <a:r>
                        <a:rPr lang="en-US" altLang="ko-KR" sz="11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 </a:t>
                      </a:r>
                      <a:r>
                        <a:rPr lang="ko-KR" sz="11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·</a:t>
                      </a:r>
                      <a:r>
                        <a:rPr lang="en-US" altLang="ko-KR" sz="11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 </a:t>
                      </a:r>
                      <a:r>
                        <a:rPr lang="ko-KR" sz="11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프로모션</a:t>
                      </a:r>
                      <a:r>
                        <a:rPr lang="en-US" altLang="ko-KR" sz="11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 </a:t>
                      </a:r>
                      <a:r>
                        <a:rPr lang="ko-KR" sz="11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·</a:t>
                      </a:r>
                      <a:r>
                        <a:rPr lang="en-US" altLang="ko-KR" sz="11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 </a:t>
                      </a:r>
                      <a:r>
                        <a:rPr lang="ko-KR" sz="11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면담으로 이탈 신호 조기 관리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kern="1200" dirty="0">
                          <a:solidFill>
                            <a:srgbClr val="A50034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한시 </a:t>
                      </a:r>
                      <a:r>
                        <a:rPr lang="ko-KR" altLang="en-US" sz="1100" b="0" kern="1200" dirty="0" err="1">
                          <a:solidFill>
                            <a:srgbClr val="A50034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퇴직률</a:t>
                      </a:r>
                      <a:r>
                        <a:rPr lang="ko-KR" altLang="en-US" sz="1100" b="0" kern="1200" dirty="0">
                          <a:solidFill>
                            <a:srgbClr val="A50034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 </a:t>
                      </a:r>
                      <a:endParaRPr lang="en-US" altLang="ko-KR" sz="1100" b="0" kern="1200" dirty="0">
                        <a:solidFill>
                          <a:srgbClr val="A50034"/>
                        </a:solidFill>
                        <a:latin typeface="페이퍼로지 8 ExtraBold"/>
                        <a:ea typeface="페이퍼로지 8 ExtraBold"/>
                        <a:cs typeface="페이퍼로지 8 ExtraBold"/>
                      </a:endParaRPr>
                    </a:p>
                    <a:p>
                      <a:pPr algn="ctr"/>
                      <a:r>
                        <a:rPr lang="en-US" altLang="ko-KR" sz="1100" b="0" kern="1200" dirty="0">
                          <a:solidFill>
                            <a:srgbClr val="A50034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22.0% → 4.7%</a:t>
                      </a:r>
                    </a:p>
                  </a:txBody>
                  <a:tcPr marL="51594" marR="51594" marT="25400" marB="25400" anchor="ctr">
                    <a:lnL w="6350" cap="flat" cmpd="sng" algn="ctr">
                      <a:solidFill>
                        <a:srgbClr val="D7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71525" y="5422900"/>
            <a:ext cx="1985890" cy="838200"/>
          </a:xfrm>
          <a:prstGeom prst="roundRect">
            <a:avLst>
              <a:gd name="adj" fmla="val 15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altLang="ko-KR" sz="1800" dirty="0">
                <a:solidFill>
                  <a:srgbClr val="E30C60"/>
                </a:solidFill>
                <a:latin typeface="페이퍼로지 8 ExtraBold"/>
                <a:ea typeface="페이퍼로지 8 ExtraBold"/>
              </a:rPr>
              <a:t>-17.3%p</a:t>
            </a:r>
          </a:p>
          <a:p>
            <a:pPr algn="ctr">
              <a:lnSpc>
                <a:spcPct val="110000"/>
              </a:lnSpc>
            </a:pPr>
            <a:r>
              <a:rPr lang="ko-KR" altLang="en-US" sz="900" dirty="0">
                <a:solidFill>
                  <a:srgbClr val="6A7180"/>
                </a:solidFill>
                <a:latin typeface="페이퍼로지 5 Medium"/>
                <a:ea typeface="페이퍼로지 5 Medium"/>
              </a:rPr>
              <a:t>한시 </a:t>
            </a:r>
            <a:r>
              <a:rPr lang="ko-KR" altLang="en-US" sz="900" dirty="0" err="1">
                <a:solidFill>
                  <a:srgbClr val="6A7180"/>
                </a:solidFill>
                <a:latin typeface="페이퍼로지 5 Medium"/>
                <a:ea typeface="페이퍼로지 5 Medium"/>
              </a:rPr>
              <a:t>퇴직률</a:t>
            </a:r>
            <a:endParaRPr lang="ko-KR" altLang="en-US" sz="900" dirty="0">
              <a:solidFill>
                <a:srgbClr val="6A7180"/>
              </a:solidFill>
              <a:latin typeface="페이퍼로지 5 Medium"/>
              <a:ea typeface="페이퍼로지 5 Medium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875612" y="5422900"/>
            <a:ext cx="2068440" cy="838200"/>
          </a:xfrm>
          <a:prstGeom prst="roundRect">
            <a:avLst>
              <a:gd name="adj" fmla="val 15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8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+29.2%p</a:t>
            </a:r>
          </a:p>
          <a:p>
            <a:pPr algn="ctr">
              <a:lnSpc>
                <a:spcPct val="110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투입 대비 </a:t>
            </a:r>
            <a:r>
              <a:rPr lang="ko-KR" sz="900" b="0" dirty="0" err="1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유지율</a:t>
            </a:r>
            <a:endParaRPr lang="ko-KR" sz="900" b="0" dirty="0">
              <a:solidFill>
                <a:srgbClr val="6A7180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62248" y="5422900"/>
            <a:ext cx="2068440" cy="838200"/>
          </a:xfrm>
          <a:prstGeom prst="roundRect">
            <a:avLst>
              <a:gd name="adj" fmla="val 15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8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+7.3점</a:t>
            </a:r>
          </a:p>
          <a:p>
            <a:pPr algn="ctr">
              <a:lnSpc>
                <a:spcPct val="110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한시 T-NPS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48885" y="5422900"/>
            <a:ext cx="1942740" cy="838200"/>
          </a:xfrm>
          <a:prstGeom prst="roundRect">
            <a:avLst>
              <a:gd name="adj" fmla="val 15000"/>
            </a:avLst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altLang="ko-KR" sz="1800" dirty="0">
                <a:solidFill>
                  <a:srgbClr val="E30C60"/>
                </a:solidFill>
                <a:latin typeface="페이퍼로지 8 ExtraBold"/>
                <a:ea typeface="페이퍼로지 8 ExtraBold"/>
              </a:rPr>
              <a:t>97.1% </a:t>
            </a:r>
            <a:r>
              <a:rPr lang="ko-KR" altLang="en-US" sz="1800" dirty="0">
                <a:solidFill>
                  <a:srgbClr val="E30C60"/>
                </a:solidFill>
                <a:latin typeface="페이퍼로지 8 ExtraBold"/>
                <a:ea typeface="페이퍼로지 8 ExtraBold"/>
              </a:rPr>
              <a:t>유지</a:t>
            </a:r>
            <a:endParaRPr lang="en-US" altLang="ko-KR" sz="1800" dirty="0">
              <a:solidFill>
                <a:srgbClr val="E30C60"/>
              </a:solidFill>
              <a:latin typeface="페이퍼로지 8 ExtraBold"/>
              <a:ea typeface="페이퍼로지 8 ExtraBold"/>
            </a:endParaRPr>
          </a:p>
          <a:p>
            <a:pPr algn="ctr">
              <a:lnSpc>
                <a:spcPct val="110000"/>
              </a:lnSpc>
            </a:pPr>
            <a:r>
              <a:rPr lang="en-US" altLang="ko-KR" sz="900" dirty="0">
                <a:solidFill>
                  <a:srgbClr val="6A7180"/>
                </a:solidFill>
                <a:latin typeface="페이퍼로지 5 Medium"/>
                <a:ea typeface="페이퍼로지 5 Medium"/>
              </a:rPr>
              <a:t>2026</a:t>
            </a:r>
            <a:r>
              <a:rPr lang="ko-KR" altLang="en-US" sz="900" dirty="0">
                <a:solidFill>
                  <a:srgbClr val="6A7180"/>
                </a:solidFill>
                <a:latin typeface="페이퍼로지 5 Medium"/>
                <a:ea typeface="페이퍼로지 5 Medium"/>
              </a:rPr>
              <a:t>년 성수기 </a:t>
            </a:r>
            <a:r>
              <a:rPr lang="en-US" altLang="ko-KR" sz="900" dirty="0">
                <a:solidFill>
                  <a:srgbClr val="6A7180"/>
                </a:solidFill>
                <a:latin typeface="페이퍼로지 5 Medium"/>
                <a:ea typeface="페이퍼로지 5 Medium"/>
              </a:rPr>
              <a:t>TO</a:t>
            </a:r>
            <a:endParaRPr lang="ko-KR" altLang="en-US" sz="900" dirty="0">
              <a:solidFill>
                <a:srgbClr val="6A7180"/>
              </a:solidFill>
              <a:latin typeface="페이퍼로지 5 Medium"/>
              <a:ea typeface="페이퍼로지 5 Medium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540250" y="64770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fld id="{B6F15528-21DE-4FAA-801E-634DDDAF4B2B}" type="slidenum"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8</a:t>
            </a:fld>
            <a:r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 / 49</a:t>
            </a:r>
            <a:endParaRPr lang="ko-KR" sz="600" b="0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929606" y="381000"/>
            <a:ext cx="61912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 dirty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1-2. 추진 전략 · 주4일 → 주5일</a:t>
            </a:r>
          </a:p>
        </p:txBody>
      </p:sp>
      <p:sp>
        <p:nvSpPr>
          <p:cNvPr id="4" name="Rectangle 3"/>
          <p:cNvSpPr/>
          <p:nvPr/>
        </p:nvSpPr>
        <p:spPr>
          <a:xfrm>
            <a:off x="846138" y="660400"/>
            <a:ext cx="8461375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altLang="en-US" sz="2000" dirty="0">
                <a:solidFill>
                  <a:srgbClr val="10151F"/>
                </a:solidFill>
                <a:latin typeface="페이퍼로지 8 ExtraBold"/>
                <a:ea typeface="페이퍼로지 8 ExtraBold"/>
              </a:rPr>
              <a:t>주말은 낯선 제품, 평일은 이틀 — </a:t>
            </a:r>
            <a:r>
              <a:rPr lang="en-US" altLang="ko-KR" sz="2000" dirty="0">
                <a:solidFill>
                  <a:srgbClr val="E30C60"/>
                </a:solidFill>
                <a:latin typeface="페이퍼로지 8 ExtraBold"/>
                <a:ea typeface="페이퍼로지 8 ExtraBold"/>
              </a:rPr>
              <a:t>주5일로 숙련 속도</a:t>
            </a:r>
            <a:r>
              <a:rPr lang="ko-KR" altLang="en-US" sz="2000" dirty="0">
                <a:solidFill>
                  <a:srgbClr val="E30C60"/>
                </a:solidFill>
                <a:latin typeface="페이퍼로지 8 ExtraBold"/>
                <a:ea typeface="페이퍼로지 8 ExtraBold"/>
              </a:rPr>
              <a:t>를 높이겠습니다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138" y="1079500"/>
            <a:ext cx="84613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주4일 구조에서는 평일 경험이 이틀뿐이고 주말엔 전담 외 제품이 많아, 반복 숙련이 느릴 수밖에 없습니다.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40250" y="64770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fld id="{B6F15528-21DE-4FAA-801E-634DDDAF4B2B}" type="slidenum"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9</a:t>
            </a:fld>
            <a:r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 / 49</a:t>
            </a:r>
            <a:endParaRPr lang="ko-KR" sz="600" b="0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36" name="Rounded Rectangle 5">
            <a:extLst>
              <a:ext uri="{FF2B5EF4-FFF2-40B4-BE49-F238E27FC236}">
                <a16:creationId xmlns:a16="http://schemas.microsoft.com/office/drawing/2014/main" id="{1420F398-FE73-4E74-AC95-4E7FB885C5EF}"/>
              </a:ext>
            </a:extLst>
          </p:cNvPr>
          <p:cNvSpPr/>
          <p:nvPr/>
        </p:nvSpPr>
        <p:spPr>
          <a:xfrm>
            <a:off x="660400" y="1397000"/>
            <a:ext cx="3250406" cy="4826000"/>
          </a:xfrm>
          <a:prstGeom prst="roundRect">
            <a:avLst>
              <a:gd name="adj" fmla="val 5000"/>
            </a:avLst>
          </a:prstGeom>
          <a:solidFill>
            <a:srgbClr val="0F1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37" name="Rectangle 6">
            <a:extLst>
              <a:ext uri="{FF2B5EF4-FFF2-40B4-BE49-F238E27FC236}">
                <a16:creationId xmlns:a16="http://schemas.microsoft.com/office/drawing/2014/main" id="{C582BC70-668C-4619-BDC2-37AEABF471CA}"/>
              </a:ext>
            </a:extLst>
          </p:cNvPr>
          <p:cNvSpPr/>
          <p:nvPr/>
        </p:nvSpPr>
        <p:spPr>
          <a:xfrm>
            <a:off x="857394" y="1600200"/>
            <a:ext cx="2856417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ko-KR" sz="1200" b="0" dirty="0">
                <a:solidFill>
                  <a:srgbClr val="FF6B9A"/>
                </a:solidFill>
                <a:latin typeface="페이퍼로지 8 ExtraBold"/>
                <a:ea typeface="페이퍼로지 8 ExtraBold"/>
                <a:cs typeface="페이퍼로지 8 ExtraBold"/>
              </a:rPr>
              <a:t>제안 목적</a:t>
            </a:r>
          </a:p>
        </p:txBody>
      </p:sp>
      <p:sp>
        <p:nvSpPr>
          <p:cNvPr id="38" name="Rectangle 7">
            <a:extLst>
              <a:ext uri="{FF2B5EF4-FFF2-40B4-BE49-F238E27FC236}">
                <a16:creationId xmlns:a16="http://schemas.microsoft.com/office/drawing/2014/main" id="{15B71828-821A-41D6-8B97-EA59D2F27B64}"/>
              </a:ext>
            </a:extLst>
          </p:cNvPr>
          <p:cNvSpPr/>
          <p:nvPr/>
        </p:nvSpPr>
        <p:spPr>
          <a:xfrm>
            <a:off x="857394" y="1879600"/>
            <a:ext cx="2856417" cy="127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ko-KR" sz="15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3년간 </a:t>
            </a:r>
            <a:r>
              <a:rPr lang="ko-KR" sz="1500" b="0" dirty="0" err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LG전자</a:t>
            </a:r>
            <a:r>
              <a:rPr lang="ko-KR" sz="15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 현장에서</a:t>
            </a:r>
          </a:p>
          <a:p>
            <a:pPr algn="l">
              <a:lnSpc>
                <a:spcPct val="135000"/>
              </a:lnSpc>
            </a:pPr>
            <a:r>
              <a:rPr lang="ko-KR" sz="15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검증된 운영 역량을</a:t>
            </a:r>
          </a:p>
          <a:p>
            <a:pPr algn="l">
              <a:lnSpc>
                <a:spcPct val="135000"/>
              </a:lnSpc>
            </a:pPr>
            <a:r>
              <a:rPr lang="ko-KR" sz="1500" b="0" dirty="0">
                <a:solidFill>
                  <a:srgbClr val="FF6B9A"/>
                </a:solidFill>
                <a:latin typeface="페이퍼로지 8 ExtraBold"/>
                <a:ea typeface="페이퍼로지 8 ExtraBold"/>
                <a:cs typeface="페이퍼로지 8 ExtraBold"/>
              </a:rPr>
              <a:t>주5일 상시 핵심 운영</a:t>
            </a:r>
            <a:r>
              <a:rPr lang="ko-KR" sz="15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으로</a:t>
            </a:r>
            <a:r>
              <a:rPr lang="en-US" altLang="ko-KR" sz="15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  <a:r>
              <a:rPr lang="ko-KR" altLang="en-US" sz="15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확장</a:t>
            </a:r>
            <a:endParaRPr lang="ko-KR" sz="1500" b="0" dirty="0">
              <a:solidFill>
                <a:srgbClr val="FFFFFF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cxnSp>
        <p:nvCxnSpPr>
          <p:cNvPr id="39" name="Connector 8">
            <a:extLst>
              <a:ext uri="{FF2B5EF4-FFF2-40B4-BE49-F238E27FC236}">
                <a16:creationId xmlns:a16="http://schemas.microsoft.com/office/drawing/2014/main" id="{8874079D-D715-498D-9DA3-F23B4438E766}"/>
              </a:ext>
            </a:extLst>
          </p:cNvPr>
          <p:cNvCxnSpPr/>
          <p:nvPr/>
        </p:nvCxnSpPr>
        <p:spPr>
          <a:xfrm>
            <a:off x="857394" y="3327400"/>
            <a:ext cx="2856418" cy="0"/>
          </a:xfrm>
          <a:prstGeom prst="line">
            <a:avLst/>
          </a:prstGeom>
          <a:ln w="12700">
            <a:solidFill>
              <a:srgbClr val="2A3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9">
            <a:extLst>
              <a:ext uri="{FF2B5EF4-FFF2-40B4-BE49-F238E27FC236}">
                <a16:creationId xmlns:a16="http://schemas.microsoft.com/office/drawing/2014/main" id="{424F2A7C-829E-4567-BAD3-462BBB6CE197}"/>
              </a:ext>
            </a:extLst>
          </p:cNvPr>
          <p:cNvSpPr/>
          <p:nvPr/>
        </p:nvSpPr>
        <p:spPr>
          <a:xfrm>
            <a:off x="857394" y="3454400"/>
            <a:ext cx="2856417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ko-KR" sz="900" b="0" dirty="0">
                <a:solidFill>
                  <a:srgbClr val="FF6B9A"/>
                </a:solidFill>
                <a:latin typeface="페이퍼로지 8 ExtraBold"/>
                <a:ea typeface="페이퍼로지 8 ExtraBold"/>
                <a:cs typeface="페이퍼로지 8 ExtraBold"/>
              </a:rPr>
              <a:t>VISION</a:t>
            </a:r>
          </a:p>
        </p:txBody>
      </p:sp>
      <p:sp>
        <p:nvSpPr>
          <p:cNvPr id="41" name="Rectangle 10">
            <a:extLst>
              <a:ext uri="{FF2B5EF4-FFF2-40B4-BE49-F238E27FC236}">
                <a16:creationId xmlns:a16="http://schemas.microsoft.com/office/drawing/2014/main" id="{C8DF31B6-42FE-49F3-99E1-6CF16AA43CD4}"/>
              </a:ext>
            </a:extLst>
          </p:cNvPr>
          <p:cNvSpPr/>
          <p:nvPr/>
        </p:nvSpPr>
        <p:spPr>
          <a:xfrm>
            <a:off x="857394" y="3708400"/>
            <a:ext cx="2856417" cy="635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ko-KR" sz="12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성수기에도 흔들리지 않는</a:t>
            </a:r>
          </a:p>
          <a:p>
            <a:pPr algn="l">
              <a:lnSpc>
                <a:spcPct val="130000"/>
              </a:lnSpc>
            </a:pPr>
            <a:r>
              <a:rPr lang="ko-KR" sz="1200" b="0" dirty="0" err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LG전자</a:t>
            </a:r>
            <a:r>
              <a:rPr lang="ko-KR" sz="12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 고객센터</a:t>
            </a:r>
          </a:p>
        </p:txBody>
      </p:sp>
      <p:sp>
        <p:nvSpPr>
          <p:cNvPr id="42" name="Rounded Rectangle 11">
            <a:extLst>
              <a:ext uri="{FF2B5EF4-FFF2-40B4-BE49-F238E27FC236}">
                <a16:creationId xmlns:a16="http://schemas.microsoft.com/office/drawing/2014/main" id="{8426C7DE-6CEE-4BC4-B706-42F1958D2CE8}"/>
              </a:ext>
            </a:extLst>
          </p:cNvPr>
          <p:cNvSpPr/>
          <p:nvPr/>
        </p:nvSpPr>
        <p:spPr>
          <a:xfrm>
            <a:off x="857394" y="4521200"/>
            <a:ext cx="2856417" cy="1498600"/>
          </a:xfrm>
          <a:prstGeom prst="roundRect">
            <a:avLst>
              <a:gd name="adj" fmla="val 8000"/>
            </a:avLst>
          </a:prstGeom>
          <a:solidFill>
            <a:srgbClr val="1E2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462" tIns="88900" rIns="144462" bIns="88900" rtlCol="0" anchor="ctr"/>
          <a:lstStyle/>
          <a:p>
            <a:pPr algn="l">
              <a:lnSpc>
                <a:spcPct val="145000"/>
              </a:lnSpc>
            </a:pPr>
            <a:r>
              <a:rPr lang="ko-KR" sz="1200" b="0" dirty="0">
                <a:solidFill>
                  <a:srgbClr val="9AA0AA"/>
                </a:solidFill>
                <a:latin typeface="페이퍼로지 8 ExtraBold"/>
                <a:ea typeface="페이퍼로지 8 ExtraBold"/>
                <a:cs typeface="페이퍼로지 8 ExtraBold"/>
              </a:rPr>
              <a:t>평일 경험 2일 → 5일</a:t>
            </a:r>
          </a:p>
          <a:p>
            <a:pPr algn="l">
              <a:lnSpc>
                <a:spcPct val="145000"/>
              </a:lnSpc>
            </a:pPr>
            <a:r>
              <a:rPr lang="ko-KR" sz="1500" b="0" dirty="0">
                <a:solidFill>
                  <a:srgbClr val="9AA0AA"/>
                </a:solidFill>
                <a:latin typeface="페이퍼로지 8 ExtraBold"/>
                <a:ea typeface="페이퍼로지 8 ExtraBold"/>
                <a:cs typeface="페이퍼로지 8 ExtraBold"/>
              </a:rPr>
              <a:t>같은 업무 반복 2.5배</a:t>
            </a:r>
          </a:p>
          <a:p>
            <a:pPr algn="l">
              <a:lnSpc>
                <a:spcPct val="145000"/>
              </a:lnSpc>
            </a:pPr>
            <a:r>
              <a:rPr lang="ko-KR" sz="1000" b="0" dirty="0">
                <a:solidFill>
                  <a:srgbClr val="9AA0AA"/>
                </a:solidFill>
                <a:latin typeface="페이퍼로지 5 Medium"/>
                <a:ea typeface="페이퍼로지 5 Medium"/>
                <a:cs typeface="페이퍼로지 5 Medium"/>
              </a:rPr>
              <a:t>주4일은 현행 유지 · 전환은 고객사와 협의</a:t>
            </a:r>
          </a:p>
        </p:txBody>
      </p: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878C4C6B-73EB-4B13-8014-8F24F909F9A9}"/>
              </a:ext>
            </a:extLst>
          </p:cNvPr>
          <p:cNvGrpSpPr/>
          <p:nvPr/>
        </p:nvGrpSpPr>
        <p:grpSpPr>
          <a:xfrm>
            <a:off x="4202766" y="1581641"/>
            <a:ext cx="5411881" cy="1011407"/>
            <a:chOff x="4441917" y="1717921"/>
            <a:chExt cx="4964257" cy="779676"/>
          </a:xfrm>
        </p:grpSpPr>
        <p:sp>
          <p:nvSpPr>
            <p:cNvPr id="44" name="Rectangle 27">
              <a:extLst>
                <a:ext uri="{FF2B5EF4-FFF2-40B4-BE49-F238E27FC236}">
                  <a16:creationId xmlns:a16="http://schemas.microsoft.com/office/drawing/2014/main" id="{222ED0A4-6850-4660-8524-0AB899C7310D}"/>
                </a:ext>
              </a:extLst>
            </p:cNvPr>
            <p:cNvSpPr/>
            <p:nvPr/>
          </p:nvSpPr>
          <p:spPr>
            <a:xfrm>
              <a:off x="4441917" y="1946275"/>
              <a:ext cx="236393" cy="247650"/>
            </a:xfrm>
            <a:prstGeom prst="rect">
              <a:avLst/>
            </a:prstGeom>
            <a:solidFill>
              <a:srgbClr val="E30C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900" b="0">
                  <a:solidFill>
                    <a:srgbClr val="FFFFFF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월</a:t>
              </a:r>
            </a:p>
          </p:txBody>
        </p:sp>
        <p:sp>
          <p:nvSpPr>
            <p:cNvPr id="45" name="Rectangle 28">
              <a:extLst>
                <a:ext uri="{FF2B5EF4-FFF2-40B4-BE49-F238E27FC236}">
                  <a16:creationId xmlns:a16="http://schemas.microsoft.com/office/drawing/2014/main" id="{29D66F68-A867-4898-901E-AEB7CB4AA478}"/>
                </a:ext>
              </a:extLst>
            </p:cNvPr>
            <p:cNvSpPr/>
            <p:nvPr/>
          </p:nvSpPr>
          <p:spPr>
            <a:xfrm>
              <a:off x="4717710" y="1946275"/>
              <a:ext cx="236393" cy="247650"/>
            </a:xfrm>
            <a:prstGeom prst="rect">
              <a:avLst/>
            </a:prstGeom>
            <a:solidFill>
              <a:srgbClr val="E30C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900" b="0">
                  <a:solidFill>
                    <a:srgbClr val="FFFFFF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화</a:t>
              </a:r>
            </a:p>
          </p:txBody>
        </p:sp>
        <p:sp>
          <p:nvSpPr>
            <p:cNvPr id="46" name="Rectangle 29">
              <a:extLst>
                <a:ext uri="{FF2B5EF4-FFF2-40B4-BE49-F238E27FC236}">
                  <a16:creationId xmlns:a16="http://schemas.microsoft.com/office/drawing/2014/main" id="{1BCD5FF9-AD87-4299-81CA-763847518EAF}"/>
                </a:ext>
              </a:extLst>
            </p:cNvPr>
            <p:cNvSpPr/>
            <p:nvPr/>
          </p:nvSpPr>
          <p:spPr>
            <a:xfrm>
              <a:off x="4993501" y="1946275"/>
              <a:ext cx="236393" cy="247650"/>
            </a:xfrm>
            <a:prstGeom prst="rect">
              <a:avLst/>
            </a:prstGeom>
            <a:solidFill>
              <a:srgbClr val="F3F4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900" b="0">
                  <a:solidFill>
                    <a:srgbClr val="9AA0AA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수</a:t>
              </a:r>
            </a:p>
          </p:txBody>
        </p:sp>
        <p:sp>
          <p:nvSpPr>
            <p:cNvPr id="47" name="Rectangle 30">
              <a:extLst>
                <a:ext uri="{FF2B5EF4-FFF2-40B4-BE49-F238E27FC236}">
                  <a16:creationId xmlns:a16="http://schemas.microsoft.com/office/drawing/2014/main" id="{C4875C6B-E7F4-4466-9B63-8C54ACDE8682}"/>
                </a:ext>
              </a:extLst>
            </p:cNvPr>
            <p:cNvSpPr/>
            <p:nvPr/>
          </p:nvSpPr>
          <p:spPr>
            <a:xfrm>
              <a:off x="5269293" y="1946275"/>
              <a:ext cx="236393" cy="247650"/>
            </a:xfrm>
            <a:prstGeom prst="rect">
              <a:avLst/>
            </a:prstGeom>
            <a:solidFill>
              <a:srgbClr val="F3F4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900" b="0">
                  <a:solidFill>
                    <a:srgbClr val="9AA0AA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목</a:t>
              </a:r>
            </a:p>
          </p:txBody>
        </p:sp>
        <p:sp>
          <p:nvSpPr>
            <p:cNvPr id="48" name="Rectangle 31">
              <a:extLst>
                <a:ext uri="{FF2B5EF4-FFF2-40B4-BE49-F238E27FC236}">
                  <a16:creationId xmlns:a16="http://schemas.microsoft.com/office/drawing/2014/main" id="{BD29795C-2A75-4CAA-927B-A8656149159C}"/>
                </a:ext>
              </a:extLst>
            </p:cNvPr>
            <p:cNvSpPr/>
            <p:nvPr/>
          </p:nvSpPr>
          <p:spPr>
            <a:xfrm>
              <a:off x="5545086" y="1946275"/>
              <a:ext cx="236393" cy="247650"/>
            </a:xfrm>
            <a:prstGeom prst="rect">
              <a:avLst/>
            </a:prstGeom>
            <a:solidFill>
              <a:srgbClr val="F3F4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900" b="0">
                  <a:solidFill>
                    <a:srgbClr val="9AA0AA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금</a:t>
              </a:r>
            </a:p>
          </p:txBody>
        </p:sp>
        <p:sp>
          <p:nvSpPr>
            <p:cNvPr id="49" name="Rectangle 32">
              <a:extLst>
                <a:ext uri="{FF2B5EF4-FFF2-40B4-BE49-F238E27FC236}">
                  <a16:creationId xmlns:a16="http://schemas.microsoft.com/office/drawing/2014/main" id="{FBC839A0-147F-4155-87BB-995D34A60FE4}"/>
                </a:ext>
              </a:extLst>
            </p:cNvPr>
            <p:cNvSpPr/>
            <p:nvPr/>
          </p:nvSpPr>
          <p:spPr>
            <a:xfrm>
              <a:off x="5820877" y="1946275"/>
              <a:ext cx="236393" cy="247650"/>
            </a:xfrm>
            <a:prstGeom prst="rect">
              <a:avLst/>
            </a:prstGeom>
            <a:solidFill>
              <a:srgbClr val="FBE8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900" b="0">
                  <a:solidFill>
                    <a:srgbClr val="A50034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토</a:t>
              </a:r>
            </a:p>
          </p:txBody>
        </p:sp>
        <p:sp>
          <p:nvSpPr>
            <p:cNvPr id="50" name="Rectangle 33">
              <a:extLst>
                <a:ext uri="{FF2B5EF4-FFF2-40B4-BE49-F238E27FC236}">
                  <a16:creationId xmlns:a16="http://schemas.microsoft.com/office/drawing/2014/main" id="{E889F8FC-60EE-4B16-B200-AD65BA17834E}"/>
                </a:ext>
              </a:extLst>
            </p:cNvPr>
            <p:cNvSpPr/>
            <p:nvPr/>
          </p:nvSpPr>
          <p:spPr>
            <a:xfrm>
              <a:off x="6096669" y="1946275"/>
              <a:ext cx="236393" cy="247650"/>
            </a:xfrm>
            <a:prstGeom prst="rect">
              <a:avLst/>
            </a:prstGeom>
            <a:solidFill>
              <a:srgbClr val="FBE8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900" b="0">
                  <a:solidFill>
                    <a:srgbClr val="A50034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일</a:t>
              </a:r>
            </a:p>
          </p:txBody>
        </p:sp>
        <p:sp>
          <p:nvSpPr>
            <p:cNvPr id="51" name="Rectangle 34">
              <a:extLst>
                <a:ext uri="{FF2B5EF4-FFF2-40B4-BE49-F238E27FC236}">
                  <a16:creationId xmlns:a16="http://schemas.microsoft.com/office/drawing/2014/main" id="{A3C7BA2E-C9D3-4BB8-A3DD-B658E372B43D}"/>
                </a:ext>
              </a:extLst>
            </p:cNvPr>
            <p:cNvSpPr/>
            <p:nvPr/>
          </p:nvSpPr>
          <p:spPr>
            <a:xfrm>
              <a:off x="4441917" y="2192797"/>
              <a:ext cx="1969943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l">
                <a:lnSpc>
                  <a:spcPct val="110000"/>
                </a:lnSpc>
              </a:pPr>
              <a:r>
                <a:rPr lang="ko-KR" sz="900" b="0" dirty="0">
                  <a:solidFill>
                    <a:srgbClr val="6A7180"/>
                  </a:solidFill>
                  <a:latin typeface="페이퍼로지 5 Medium"/>
                  <a:ea typeface="페이퍼로지 5 Medium"/>
                  <a:cs typeface="페이퍼로지 5 Medium"/>
                </a:rPr>
                <a:t>주말: 1인 39.8콜 · 낯선 제품 57%</a:t>
              </a:r>
            </a:p>
          </p:txBody>
        </p:sp>
        <p:sp>
          <p:nvSpPr>
            <p:cNvPr id="53" name="Rectangle 36">
              <a:extLst>
                <a:ext uri="{FF2B5EF4-FFF2-40B4-BE49-F238E27FC236}">
                  <a16:creationId xmlns:a16="http://schemas.microsoft.com/office/drawing/2014/main" id="{5801EF30-A4F5-4D6E-A1FE-84DE82F0BC7E}"/>
                </a:ext>
              </a:extLst>
            </p:cNvPr>
            <p:cNvSpPr/>
            <p:nvPr/>
          </p:nvSpPr>
          <p:spPr>
            <a:xfrm>
              <a:off x="7239237" y="1717921"/>
              <a:ext cx="1969943" cy="2032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/>
            <a:lstStyle/>
            <a:p>
              <a:pPr algn="l">
                <a:lnSpc>
                  <a:spcPct val="110000"/>
                </a:lnSpc>
              </a:pPr>
              <a:r>
                <a:rPr lang="ko-KR" sz="900" b="0" dirty="0">
                  <a:solidFill>
                    <a:srgbClr val="E30C60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 주5일</a:t>
              </a:r>
            </a:p>
          </p:txBody>
        </p:sp>
        <p:sp>
          <p:nvSpPr>
            <p:cNvPr id="54" name="Rectangle 37">
              <a:extLst>
                <a:ext uri="{FF2B5EF4-FFF2-40B4-BE49-F238E27FC236}">
                  <a16:creationId xmlns:a16="http://schemas.microsoft.com/office/drawing/2014/main" id="{807DCB3D-4779-4D34-8BFE-87E36B87AC80}"/>
                </a:ext>
              </a:extLst>
            </p:cNvPr>
            <p:cNvSpPr/>
            <p:nvPr/>
          </p:nvSpPr>
          <p:spPr>
            <a:xfrm>
              <a:off x="7239237" y="1946274"/>
              <a:ext cx="236393" cy="247650"/>
            </a:xfrm>
            <a:prstGeom prst="rect">
              <a:avLst/>
            </a:prstGeom>
            <a:solidFill>
              <a:srgbClr val="E30C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900" b="0">
                  <a:solidFill>
                    <a:srgbClr val="FFFFFF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월</a:t>
              </a:r>
            </a:p>
          </p:txBody>
        </p:sp>
        <p:sp>
          <p:nvSpPr>
            <p:cNvPr id="55" name="Rectangle 38">
              <a:extLst>
                <a:ext uri="{FF2B5EF4-FFF2-40B4-BE49-F238E27FC236}">
                  <a16:creationId xmlns:a16="http://schemas.microsoft.com/office/drawing/2014/main" id="{191CF092-0CCF-4761-A04D-8BDE584CFE44}"/>
                </a:ext>
              </a:extLst>
            </p:cNvPr>
            <p:cNvSpPr/>
            <p:nvPr/>
          </p:nvSpPr>
          <p:spPr>
            <a:xfrm>
              <a:off x="7515029" y="1946274"/>
              <a:ext cx="236393" cy="247650"/>
            </a:xfrm>
            <a:prstGeom prst="rect">
              <a:avLst/>
            </a:prstGeom>
            <a:solidFill>
              <a:srgbClr val="E30C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900" b="0">
                  <a:solidFill>
                    <a:srgbClr val="FFFFFF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화</a:t>
              </a:r>
            </a:p>
          </p:txBody>
        </p:sp>
        <p:sp>
          <p:nvSpPr>
            <p:cNvPr id="56" name="Rectangle 39">
              <a:extLst>
                <a:ext uri="{FF2B5EF4-FFF2-40B4-BE49-F238E27FC236}">
                  <a16:creationId xmlns:a16="http://schemas.microsoft.com/office/drawing/2014/main" id="{AECE6CC5-213E-4AC1-901F-1BBB099FA29A}"/>
                </a:ext>
              </a:extLst>
            </p:cNvPr>
            <p:cNvSpPr/>
            <p:nvPr/>
          </p:nvSpPr>
          <p:spPr>
            <a:xfrm>
              <a:off x="7790820" y="1946274"/>
              <a:ext cx="236393" cy="247650"/>
            </a:xfrm>
            <a:prstGeom prst="rect">
              <a:avLst/>
            </a:prstGeom>
            <a:solidFill>
              <a:srgbClr val="E30C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900" b="0">
                  <a:solidFill>
                    <a:srgbClr val="FFFFFF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수</a:t>
              </a:r>
            </a:p>
          </p:txBody>
        </p:sp>
        <p:sp>
          <p:nvSpPr>
            <p:cNvPr id="57" name="Rectangle 40">
              <a:extLst>
                <a:ext uri="{FF2B5EF4-FFF2-40B4-BE49-F238E27FC236}">
                  <a16:creationId xmlns:a16="http://schemas.microsoft.com/office/drawing/2014/main" id="{953CFD18-05AE-4076-BC4B-ED67510A02CA}"/>
                </a:ext>
              </a:extLst>
            </p:cNvPr>
            <p:cNvSpPr/>
            <p:nvPr/>
          </p:nvSpPr>
          <p:spPr>
            <a:xfrm>
              <a:off x="8066613" y="1946274"/>
              <a:ext cx="236393" cy="247650"/>
            </a:xfrm>
            <a:prstGeom prst="rect">
              <a:avLst/>
            </a:prstGeom>
            <a:solidFill>
              <a:srgbClr val="E30C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900" b="0">
                  <a:solidFill>
                    <a:srgbClr val="FFFFFF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목</a:t>
              </a:r>
            </a:p>
          </p:txBody>
        </p:sp>
        <p:sp>
          <p:nvSpPr>
            <p:cNvPr id="58" name="Rectangle 41">
              <a:extLst>
                <a:ext uri="{FF2B5EF4-FFF2-40B4-BE49-F238E27FC236}">
                  <a16:creationId xmlns:a16="http://schemas.microsoft.com/office/drawing/2014/main" id="{FD0354B0-1336-44D5-BE7C-242F11B1CDBC}"/>
                </a:ext>
              </a:extLst>
            </p:cNvPr>
            <p:cNvSpPr/>
            <p:nvPr/>
          </p:nvSpPr>
          <p:spPr>
            <a:xfrm>
              <a:off x="8342405" y="1946274"/>
              <a:ext cx="236393" cy="247650"/>
            </a:xfrm>
            <a:prstGeom prst="rect">
              <a:avLst/>
            </a:prstGeom>
            <a:solidFill>
              <a:srgbClr val="E30C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900" b="0">
                  <a:solidFill>
                    <a:srgbClr val="FFFFFF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금</a:t>
              </a:r>
            </a:p>
          </p:txBody>
        </p:sp>
        <p:sp>
          <p:nvSpPr>
            <p:cNvPr id="59" name="Rectangle 42">
              <a:extLst>
                <a:ext uri="{FF2B5EF4-FFF2-40B4-BE49-F238E27FC236}">
                  <a16:creationId xmlns:a16="http://schemas.microsoft.com/office/drawing/2014/main" id="{6CE5B02D-BC4D-45F5-8103-3688A8739E38}"/>
                </a:ext>
              </a:extLst>
            </p:cNvPr>
            <p:cNvSpPr/>
            <p:nvPr/>
          </p:nvSpPr>
          <p:spPr>
            <a:xfrm>
              <a:off x="8618197" y="1946274"/>
              <a:ext cx="236393" cy="247650"/>
            </a:xfrm>
            <a:prstGeom prst="rect">
              <a:avLst/>
            </a:prstGeom>
            <a:solidFill>
              <a:srgbClr val="F3F4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900" b="0">
                  <a:solidFill>
                    <a:srgbClr val="9AA0AA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토</a:t>
              </a:r>
            </a:p>
          </p:txBody>
        </p:sp>
        <p:sp>
          <p:nvSpPr>
            <p:cNvPr id="60" name="Rectangle 43">
              <a:extLst>
                <a:ext uri="{FF2B5EF4-FFF2-40B4-BE49-F238E27FC236}">
                  <a16:creationId xmlns:a16="http://schemas.microsoft.com/office/drawing/2014/main" id="{49C78E32-62F8-4A22-9009-47234AE2C9D9}"/>
                </a:ext>
              </a:extLst>
            </p:cNvPr>
            <p:cNvSpPr/>
            <p:nvPr/>
          </p:nvSpPr>
          <p:spPr>
            <a:xfrm>
              <a:off x="8893989" y="1946274"/>
              <a:ext cx="236393" cy="247650"/>
            </a:xfrm>
            <a:prstGeom prst="rect">
              <a:avLst/>
            </a:prstGeom>
            <a:solidFill>
              <a:srgbClr val="F3F4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900" b="0">
                  <a:solidFill>
                    <a:srgbClr val="9AA0AA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일</a:t>
              </a:r>
            </a:p>
          </p:txBody>
        </p:sp>
        <p:sp>
          <p:nvSpPr>
            <p:cNvPr id="61" name="Rectangle 44">
              <a:extLst>
                <a:ext uri="{FF2B5EF4-FFF2-40B4-BE49-F238E27FC236}">
                  <a16:creationId xmlns:a16="http://schemas.microsoft.com/office/drawing/2014/main" id="{EB0D14A4-5765-41D4-ADD4-76A75C95D892}"/>
                </a:ext>
              </a:extLst>
            </p:cNvPr>
            <p:cNvSpPr/>
            <p:nvPr/>
          </p:nvSpPr>
          <p:spPr>
            <a:xfrm>
              <a:off x="7239237" y="2192797"/>
              <a:ext cx="2166937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l">
                <a:lnSpc>
                  <a:spcPct val="110000"/>
                </a:lnSpc>
              </a:pPr>
              <a:r>
                <a:rPr lang="ko-KR" sz="900" b="0" dirty="0">
                  <a:solidFill>
                    <a:srgbClr val="A50034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평일 5일 반복 숙련</a:t>
              </a:r>
            </a:p>
          </p:txBody>
        </p:sp>
        <p:sp>
          <p:nvSpPr>
            <p:cNvPr id="62" name="Rectangle 6">
              <a:extLst>
                <a:ext uri="{FF2B5EF4-FFF2-40B4-BE49-F238E27FC236}">
                  <a16:creationId xmlns:a16="http://schemas.microsoft.com/office/drawing/2014/main" id="{1E7B5108-70EB-4D58-9BA4-947AAE4547E2}"/>
                </a:ext>
              </a:extLst>
            </p:cNvPr>
            <p:cNvSpPr/>
            <p:nvPr/>
          </p:nvSpPr>
          <p:spPr>
            <a:xfrm>
              <a:off x="4441918" y="1725704"/>
              <a:ext cx="2954915" cy="2032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/>
            <a:lstStyle/>
            <a:p>
              <a:pPr algn="l">
                <a:lnSpc>
                  <a:spcPct val="110000"/>
                </a:lnSpc>
              </a:pPr>
              <a:r>
                <a:rPr lang="ko-KR" sz="900" b="0" dirty="0">
                  <a:solidFill>
                    <a:srgbClr val="6A7180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NOW  현재 주4일 (</a:t>
              </a:r>
              <a:r>
                <a:rPr lang="ko-KR" sz="900" b="0" dirty="0" err="1">
                  <a:solidFill>
                    <a:srgbClr val="6A7180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월·화</a:t>
              </a:r>
              <a:r>
                <a:rPr lang="ko-KR" sz="900" b="0" dirty="0">
                  <a:solidFill>
                    <a:srgbClr val="6A7180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 + </a:t>
              </a:r>
              <a:r>
                <a:rPr lang="ko-KR" sz="900" b="0" dirty="0" err="1">
                  <a:solidFill>
                    <a:srgbClr val="6A7180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토·일</a:t>
              </a:r>
              <a:r>
                <a:rPr lang="ko-KR" sz="900" b="0" dirty="0">
                  <a:solidFill>
                    <a:srgbClr val="6A7180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)</a:t>
              </a:r>
            </a:p>
          </p:txBody>
        </p:sp>
      </p:grpSp>
      <p:sp>
        <p:nvSpPr>
          <p:cNvPr id="87" name="Right Arrow 16">
            <a:extLst>
              <a:ext uri="{FF2B5EF4-FFF2-40B4-BE49-F238E27FC236}">
                <a16:creationId xmlns:a16="http://schemas.microsoft.com/office/drawing/2014/main" id="{A50AA0B2-EED8-4704-BA6E-722F9A2CEA9F}"/>
              </a:ext>
            </a:extLst>
          </p:cNvPr>
          <p:cNvSpPr/>
          <p:nvPr/>
        </p:nvSpPr>
        <p:spPr>
          <a:xfrm>
            <a:off x="6602812" y="1953558"/>
            <a:ext cx="389656" cy="199701"/>
          </a:xfrm>
          <a:prstGeom prst="rightArrow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endParaRPr dirty="0"/>
          </a:p>
        </p:txBody>
      </p:sp>
      <p:pic>
        <p:nvPicPr>
          <p:cNvPr id="89" name="Picture 8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  <p:sp>
        <p:nvSpPr>
          <p:cNvPr id="90" name="Rectangle 89"/>
          <p:cNvSpPr/>
          <p:nvPr/>
        </p:nvSpPr>
        <p:spPr>
          <a:xfrm>
            <a:off x="4191000" y="2641600"/>
            <a:ext cx="51308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1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NOW  주4일 상시 업무 비교 </a:t>
            </a: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(2026년 3~4월·7~8월 상시 상담 40,781건)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191000" y="4521200"/>
            <a:ext cx="5130800" cy="584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ko-KR" sz="10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결과  </a:t>
            </a:r>
            <a:r>
              <a:rPr lang="ko-KR" sz="10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평일 경험은 이틀뿐인데, 주말은 콜이 적고 낯선 제품이 많아</a:t>
            </a:r>
          </a:p>
          <a:p>
            <a:pPr algn="l">
              <a:lnSpc>
                <a:spcPct val="135000"/>
              </a:lnSpc>
            </a:pPr>
            <a:r>
              <a:rPr lang="ko-KR" sz="10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반복 숙련이 쌓이는 속도가 주5일 센터보다 느린 구조입니다.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4191000" y="5173949"/>
            <a:ext cx="5130800" cy="1041400"/>
          </a:xfrm>
          <a:prstGeom prst="roundRect">
            <a:avLst>
              <a:gd name="adj" fmla="val 8000"/>
            </a:avLst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88900" rIns="177800" bIns="88900" rtlCol="0" anchor="ctr"/>
          <a:lstStyle/>
          <a:p>
            <a:pPr algn="l">
              <a:lnSpc>
                <a:spcPct val="140000"/>
              </a:lnSpc>
            </a:pPr>
            <a:r>
              <a:rPr lang="ko-KR" sz="1100" b="1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NEXT  주5일 상시 운영 제안</a:t>
            </a:r>
          </a:p>
          <a:p>
            <a:pPr algn="l">
              <a:lnSpc>
                <a:spcPct val="140000"/>
              </a:lnSpc>
            </a:pPr>
            <a:r>
              <a:rPr lang="ko-KR" sz="1200" b="0" dirty="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평일 5일의 반복 경험으로 전담 외 제품까지 숙련 → 기준 품질 도달 기간 단축</a:t>
            </a:r>
          </a:p>
          <a:p>
            <a:pPr algn="ctr">
              <a:lnSpc>
                <a:spcPct val="140000"/>
              </a:lnSpc>
            </a:pPr>
            <a:r>
              <a:rPr lang="ko-KR" altLang="en-US" sz="1500" b="1" dirty="0">
                <a:solidFill>
                  <a:srgbClr val="FFFFFF"/>
                </a:solidFill>
                <a:latin typeface="페이퍼로지 8 ExtraBold"/>
                <a:ea typeface="페이퍼로지 8 ExtraBold"/>
              </a:rPr>
              <a:t>상시 운영 </a:t>
            </a:r>
            <a:r>
              <a:rPr lang="en-US" altLang="ko-KR" sz="1500" b="1" dirty="0">
                <a:solidFill>
                  <a:srgbClr val="FFFFFF"/>
                </a:solidFill>
                <a:latin typeface="페이퍼로지 8 ExtraBold"/>
                <a:ea typeface="페이퍼로지 8 ExtraBold"/>
              </a:rPr>
              <a:t>50</a:t>
            </a:r>
            <a:r>
              <a:rPr lang="ko-KR" altLang="en-US" sz="1500" b="1" dirty="0">
                <a:solidFill>
                  <a:srgbClr val="FFFFFF"/>
                </a:solidFill>
                <a:latin typeface="페이퍼로지 8 ExtraBold"/>
                <a:ea typeface="페이퍼로지 8 ExtraBold"/>
              </a:rPr>
              <a:t>석</a:t>
            </a:r>
          </a:p>
        </p:txBody>
      </p:sp>
      <p:sp>
        <p:nvSpPr>
          <p:cNvPr id="63" name="Rectangle 90">
            <a:extLst>
              <a:ext uri="{FF2B5EF4-FFF2-40B4-BE49-F238E27FC236}">
                <a16:creationId xmlns:a16="http://schemas.microsoft.com/office/drawing/2014/main" id="{94F291DB-8715-4E7A-B5F8-5F4777DA605A}"/>
              </a:ext>
            </a:extLst>
          </p:cNvPr>
          <p:cNvSpPr/>
          <p:nvPr/>
        </p:nvSpPr>
        <p:spPr>
          <a:xfrm>
            <a:off x="4191000" y="2921000"/>
            <a:ext cx="1143000" cy="254000"/>
          </a:xfrm>
          <a:prstGeom prst="rect">
            <a:avLst/>
          </a:prstGeom>
          <a:solidFill>
            <a:srgbClr val="101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구분</a:t>
            </a:r>
          </a:p>
        </p:txBody>
      </p:sp>
      <p:sp>
        <p:nvSpPr>
          <p:cNvPr id="65" name="Rectangle 91">
            <a:extLst>
              <a:ext uri="{FF2B5EF4-FFF2-40B4-BE49-F238E27FC236}">
                <a16:creationId xmlns:a16="http://schemas.microsoft.com/office/drawing/2014/main" id="{6168E9BA-E4EA-4CAA-8C2E-6E89D78517D3}"/>
              </a:ext>
            </a:extLst>
          </p:cNvPr>
          <p:cNvSpPr/>
          <p:nvPr/>
        </p:nvSpPr>
        <p:spPr>
          <a:xfrm>
            <a:off x="5359400" y="2921000"/>
            <a:ext cx="1295400" cy="254000"/>
          </a:xfrm>
          <a:prstGeom prst="rect">
            <a:avLst/>
          </a:prstGeom>
          <a:solidFill>
            <a:srgbClr val="101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월 · 화</a:t>
            </a:r>
          </a:p>
        </p:txBody>
      </p:sp>
      <p:sp>
        <p:nvSpPr>
          <p:cNvPr id="66" name="Rectangle 92">
            <a:extLst>
              <a:ext uri="{FF2B5EF4-FFF2-40B4-BE49-F238E27FC236}">
                <a16:creationId xmlns:a16="http://schemas.microsoft.com/office/drawing/2014/main" id="{5BB1282E-AA18-447A-80BC-7458770DBD8F}"/>
              </a:ext>
            </a:extLst>
          </p:cNvPr>
          <p:cNvSpPr/>
          <p:nvPr/>
        </p:nvSpPr>
        <p:spPr>
          <a:xfrm>
            <a:off x="6680200" y="2921000"/>
            <a:ext cx="1295400" cy="254000"/>
          </a:xfrm>
          <a:prstGeom prst="rect">
            <a:avLst/>
          </a:prstGeom>
          <a:solidFill>
            <a:srgbClr val="101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토 · 일 · 공휴일</a:t>
            </a:r>
          </a:p>
        </p:txBody>
      </p:sp>
      <p:sp>
        <p:nvSpPr>
          <p:cNvPr id="67" name="Rectangle 93">
            <a:extLst>
              <a:ext uri="{FF2B5EF4-FFF2-40B4-BE49-F238E27FC236}">
                <a16:creationId xmlns:a16="http://schemas.microsoft.com/office/drawing/2014/main" id="{5E7D5F8F-8D9B-4805-93FA-8FF51BD224FD}"/>
              </a:ext>
            </a:extLst>
          </p:cNvPr>
          <p:cNvSpPr/>
          <p:nvPr/>
        </p:nvSpPr>
        <p:spPr>
          <a:xfrm>
            <a:off x="8001000" y="2921000"/>
            <a:ext cx="1295400" cy="254000"/>
          </a:xfrm>
          <a:prstGeom prst="rect">
            <a:avLst/>
          </a:prstGeom>
          <a:solidFill>
            <a:srgbClr val="101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의미</a:t>
            </a:r>
          </a:p>
        </p:txBody>
      </p:sp>
      <p:sp>
        <p:nvSpPr>
          <p:cNvPr id="68" name="Rectangle 94">
            <a:extLst>
              <a:ext uri="{FF2B5EF4-FFF2-40B4-BE49-F238E27FC236}">
                <a16:creationId xmlns:a16="http://schemas.microsoft.com/office/drawing/2014/main" id="{4D7408F1-4454-4DC4-A72F-00B4328475F8}"/>
              </a:ext>
            </a:extLst>
          </p:cNvPr>
          <p:cNvSpPr/>
          <p:nvPr/>
        </p:nvSpPr>
        <p:spPr>
          <a:xfrm>
            <a:off x="4191000" y="3200400"/>
            <a:ext cx="1143000" cy="3556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1인 1일 처리 콜</a:t>
            </a:r>
          </a:p>
        </p:txBody>
      </p:sp>
      <p:sp>
        <p:nvSpPr>
          <p:cNvPr id="69" name="Rectangle 95">
            <a:extLst>
              <a:ext uri="{FF2B5EF4-FFF2-40B4-BE49-F238E27FC236}">
                <a16:creationId xmlns:a16="http://schemas.microsoft.com/office/drawing/2014/main" id="{859556E7-A60C-4B19-8933-E9BF9492C0B9}"/>
              </a:ext>
            </a:extLst>
          </p:cNvPr>
          <p:cNvSpPr/>
          <p:nvPr/>
        </p:nvSpPr>
        <p:spPr>
          <a:xfrm>
            <a:off x="5359400" y="3200400"/>
            <a:ext cx="1295400" cy="3556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55.2건</a:t>
            </a:r>
          </a:p>
        </p:txBody>
      </p:sp>
      <p:sp>
        <p:nvSpPr>
          <p:cNvPr id="70" name="Rectangle 96">
            <a:extLst>
              <a:ext uri="{FF2B5EF4-FFF2-40B4-BE49-F238E27FC236}">
                <a16:creationId xmlns:a16="http://schemas.microsoft.com/office/drawing/2014/main" id="{6CBE4FFE-93D8-4E5B-80DA-1FC73D9F2841}"/>
              </a:ext>
            </a:extLst>
          </p:cNvPr>
          <p:cNvSpPr/>
          <p:nvPr/>
        </p:nvSpPr>
        <p:spPr>
          <a:xfrm>
            <a:off x="6680200" y="3200400"/>
            <a:ext cx="1295400" cy="3556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39.8건</a:t>
            </a:r>
          </a:p>
        </p:txBody>
      </p:sp>
      <p:sp>
        <p:nvSpPr>
          <p:cNvPr id="71" name="Rectangle 97">
            <a:extLst>
              <a:ext uri="{FF2B5EF4-FFF2-40B4-BE49-F238E27FC236}">
                <a16:creationId xmlns:a16="http://schemas.microsoft.com/office/drawing/2014/main" id="{2E16B556-1E6A-4F5A-BD1E-144251FC9084}"/>
              </a:ext>
            </a:extLst>
          </p:cNvPr>
          <p:cNvSpPr/>
          <p:nvPr/>
        </p:nvSpPr>
        <p:spPr>
          <a:xfrm>
            <a:off x="8001000" y="3200400"/>
            <a:ext cx="1320800" cy="3556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주말 반복 경험 ▼28%</a:t>
            </a:r>
          </a:p>
        </p:txBody>
      </p:sp>
      <p:sp>
        <p:nvSpPr>
          <p:cNvPr id="72" name="Rectangle 98">
            <a:extLst>
              <a:ext uri="{FF2B5EF4-FFF2-40B4-BE49-F238E27FC236}">
                <a16:creationId xmlns:a16="http://schemas.microsoft.com/office/drawing/2014/main" id="{5250C2FB-6610-4F99-81D5-4F7CA7DDD6BD}"/>
              </a:ext>
            </a:extLst>
          </p:cNvPr>
          <p:cNvSpPr/>
          <p:nvPr/>
        </p:nvSpPr>
        <p:spPr>
          <a:xfrm>
            <a:off x="4191000" y="3581400"/>
            <a:ext cx="1143000" cy="355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전담(주방가전) 외 제품</a:t>
            </a:r>
          </a:p>
        </p:txBody>
      </p:sp>
      <p:sp>
        <p:nvSpPr>
          <p:cNvPr id="73" name="Rectangle 99">
            <a:extLst>
              <a:ext uri="{FF2B5EF4-FFF2-40B4-BE49-F238E27FC236}">
                <a16:creationId xmlns:a16="http://schemas.microsoft.com/office/drawing/2014/main" id="{88E68ADE-4436-40EF-9792-796C092F8217}"/>
              </a:ext>
            </a:extLst>
          </p:cNvPr>
          <p:cNvSpPr/>
          <p:nvPr/>
        </p:nvSpPr>
        <p:spPr>
          <a:xfrm>
            <a:off x="5359400" y="3581400"/>
            <a:ext cx="1295400" cy="355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24.8%</a:t>
            </a:r>
          </a:p>
        </p:txBody>
      </p:sp>
      <p:sp>
        <p:nvSpPr>
          <p:cNvPr id="74" name="Rectangle 100">
            <a:extLst>
              <a:ext uri="{FF2B5EF4-FFF2-40B4-BE49-F238E27FC236}">
                <a16:creationId xmlns:a16="http://schemas.microsoft.com/office/drawing/2014/main" id="{FAFCC99D-1AAF-4237-970F-DED0A88EA616}"/>
              </a:ext>
            </a:extLst>
          </p:cNvPr>
          <p:cNvSpPr/>
          <p:nvPr/>
        </p:nvSpPr>
        <p:spPr>
          <a:xfrm>
            <a:off x="6680200" y="3581400"/>
            <a:ext cx="1295400" cy="355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56.7%</a:t>
            </a:r>
          </a:p>
        </p:txBody>
      </p:sp>
      <p:sp>
        <p:nvSpPr>
          <p:cNvPr id="75" name="Rectangle 101">
            <a:extLst>
              <a:ext uri="{FF2B5EF4-FFF2-40B4-BE49-F238E27FC236}">
                <a16:creationId xmlns:a16="http://schemas.microsoft.com/office/drawing/2014/main" id="{D040EDAD-B088-4CB5-9BA6-333C2E6DC7B4}"/>
              </a:ext>
            </a:extLst>
          </p:cNvPr>
          <p:cNvSpPr/>
          <p:nvPr/>
        </p:nvSpPr>
        <p:spPr>
          <a:xfrm>
            <a:off x="8001000" y="3581400"/>
            <a:ext cx="1320800" cy="355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낯선 제품 비중 2.3배</a:t>
            </a:r>
          </a:p>
        </p:txBody>
      </p:sp>
      <p:sp>
        <p:nvSpPr>
          <p:cNvPr id="76" name="Rectangle 102">
            <a:extLst>
              <a:ext uri="{FF2B5EF4-FFF2-40B4-BE49-F238E27FC236}">
                <a16:creationId xmlns:a16="http://schemas.microsoft.com/office/drawing/2014/main" id="{821C7A19-65B0-4965-87A0-86085AC04B8F}"/>
              </a:ext>
            </a:extLst>
          </p:cNvPr>
          <p:cNvSpPr/>
          <p:nvPr/>
        </p:nvSpPr>
        <p:spPr>
          <a:xfrm>
            <a:off x="4191000" y="3962400"/>
            <a:ext cx="1143000" cy="3556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 dirty="0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응대 환경</a:t>
            </a:r>
          </a:p>
        </p:txBody>
      </p:sp>
      <p:sp>
        <p:nvSpPr>
          <p:cNvPr id="77" name="Rectangle 103">
            <a:extLst>
              <a:ext uri="{FF2B5EF4-FFF2-40B4-BE49-F238E27FC236}">
                <a16:creationId xmlns:a16="http://schemas.microsoft.com/office/drawing/2014/main" id="{36C92021-17F5-4AB8-BECD-F2083963D9E7}"/>
              </a:ext>
            </a:extLst>
          </p:cNvPr>
          <p:cNvSpPr/>
          <p:nvPr/>
        </p:nvSpPr>
        <p:spPr>
          <a:xfrm>
            <a:off x="5359400" y="3962400"/>
            <a:ext cx="1295400" cy="3556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이관·접수 가능</a:t>
            </a:r>
          </a:p>
        </p:txBody>
      </p:sp>
      <p:sp>
        <p:nvSpPr>
          <p:cNvPr id="78" name="Rectangle 104">
            <a:extLst>
              <a:ext uri="{FF2B5EF4-FFF2-40B4-BE49-F238E27FC236}">
                <a16:creationId xmlns:a16="http://schemas.microsoft.com/office/drawing/2014/main" id="{51A87A91-3A51-43B3-930A-FF5F77B96FD6}"/>
              </a:ext>
            </a:extLst>
          </p:cNvPr>
          <p:cNvSpPr/>
          <p:nvPr/>
        </p:nvSpPr>
        <p:spPr>
          <a:xfrm>
            <a:off x="6680200" y="3962400"/>
            <a:ext cx="1295400" cy="3556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0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이관·접수 제한</a:t>
            </a:r>
          </a:p>
        </p:txBody>
      </p:sp>
      <p:sp>
        <p:nvSpPr>
          <p:cNvPr id="79" name="Rectangle 105">
            <a:extLst>
              <a:ext uri="{FF2B5EF4-FFF2-40B4-BE49-F238E27FC236}">
                <a16:creationId xmlns:a16="http://schemas.microsoft.com/office/drawing/2014/main" id="{B469D57D-282C-4914-96CA-8D8B53C35F03}"/>
              </a:ext>
            </a:extLst>
          </p:cNvPr>
          <p:cNvSpPr/>
          <p:nvPr/>
        </p:nvSpPr>
        <p:spPr>
          <a:xfrm>
            <a:off x="8001000" y="3962400"/>
            <a:ext cx="1320800" cy="3556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설명 중심 응대</a:t>
            </a:r>
          </a:p>
        </p:txBody>
      </p:sp>
      <p:sp>
        <p:nvSpPr>
          <p:cNvPr id="80" name="Rectangle 106">
            <a:extLst>
              <a:ext uri="{FF2B5EF4-FFF2-40B4-BE49-F238E27FC236}">
                <a16:creationId xmlns:a16="http://schemas.microsoft.com/office/drawing/2014/main" id="{0EE74D30-380A-430F-A1A0-B627E769D1F8}"/>
              </a:ext>
            </a:extLst>
          </p:cNvPr>
          <p:cNvSpPr/>
          <p:nvPr/>
        </p:nvSpPr>
        <p:spPr>
          <a:xfrm>
            <a:off x="4191000" y="4419600"/>
            <a:ext cx="5130800" cy="12700"/>
          </a:xfrm>
          <a:prstGeom prst="rect">
            <a:avLst/>
          </a:prstGeom>
          <a:solidFill>
            <a:srgbClr val="E3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ounded Rectangle 10">
            <a:extLst>
              <a:ext uri="{FF2B5EF4-FFF2-40B4-BE49-F238E27FC236}">
                <a16:creationId xmlns:a16="http://schemas.microsoft.com/office/drawing/2014/main" id="{0EFC2363-C7F4-4179-BE27-912E312F91D5}"/>
              </a:ext>
            </a:extLst>
          </p:cNvPr>
          <p:cNvSpPr/>
          <p:nvPr/>
        </p:nvSpPr>
        <p:spPr>
          <a:xfrm>
            <a:off x="650550" y="1473200"/>
            <a:ext cx="2068440" cy="1981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929606" y="381000"/>
            <a:ext cx="61912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 dirty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1-2. 추진 전략 · 기대효과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846138" y="660400"/>
            <a:ext cx="8461375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ko-KR" altLang="en-US" sz="2000" dirty="0">
                <a:solidFill>
                  <a:srgbClr val="10151F"/>
                </a:solidFill>
                <a:latin typeface="페이퍼로지 8 ExtraBold"/>
                <a:ea typeface="페이퍼로지 8 ExtraBold"/>
              </a:rPr>
              <a:t>주</a:t>
            </a:r>
            <a:r>
              <a:rPr lang="en-US" altLang="ko-KR" sz="2000" dirty="0">
                <a:solidFill>
                  <a:srgbClr val="10151F"/>
                </a:solidFill>
                <a:latin typeface="페이퍼로지 8 ExtraBold"/>
                <a:ea typeface="페이퍼로지 8 ExtraBold"/>
              </a:rPr>
              <a:t>5</a:t>
            </a:r>
            <a:r>
              <a:rPr lang="ko-KR" altLang="en-US" sz="2000" dirty="0">
                <a:solidFill>
                  <a:srgbClr val="10151F"/>
                </a:solidFill>
                <a:latin typeface="페이퍼로지 8 ExtraBold"/>
                <a:ea typeface="페이퍼로지 8 ExtraBold"/>
              </a:rPr>
              <a:t>일 운영으로 경험을 쌓아</a:t>
            </a:r>
            <a:r>
              <a:rPr lang="en-US" altLang="ko-KR" sz="2000" dirty="0">
                <a:solidFill>
                  <a:srgbClr val="10151F"/>
                </a:solidFill>
                <a:latin typeface="페이퍼로지 8 ExtraBold"/>
                <a:ea typeface="페이퍼로지 8 ExtraBold"/>
              </a:rPr>
              <a:t>, </a:t>
            </a:r>
            <a:r>
              <a:rPr lang="ko-KR" altLang="en-US" sz="2000" dirty="0">
                <a:solidFill>
                  <a:srgbClr val="E30C60"/>
                </a:solidFill>
                <a:latin typeface="페이퍼로지 8 ExtraBold"/>
                <a:ea typeface="페이퍼로지 8 ExtraBold"/>
              </a:rPr>
              <a:t>상담 품</a:t>
            </a:r>
            <a:r>
              <a:rPr lang="ko-KR" altLang="en-US" sz="20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질을 더 단단히 </a:t>
            </a:r>
            <a:r>
              <a:rPr lang="ko-KR" altLang="en-US" sz="2000" dirty="0">
                <a:solidFill>
                  <a:srgbClr val="10151F"/>
                </a:solidFill>
                <a:latin typeface="페이퍼로지 8 ExtraBold"/>
                <a:ea typeface="페이퍼로지 8 ExtraBold"/>
              </a:rPr>
              <a:t>만들겠습니다</a:t>
            </a:r>
            <a:endParaRPr lang="en-US" altLang="ko-KR" sz="2000" dirty="0">
              <a:solidFill>
                <a:srgbClr val="10151F"/>
              </a:solidFill>
              <a:latin typeface="페이퍼로지 8 ExtraBold"/>
              <a:ea typeface="페이퍼로지 8 ExtraBold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17995" y="1651000"/>
            <a:ext cx="492486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ko-KR" sz="1500" b="0" dirty="0">
                <a:solidFill>
                  <a:schemeClr val="bg1">
                    <a:lumMod val="6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17995" y="2032000"/>
            <a:ext cx="1772948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상담 숙련도 향상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17995" y="2463800"/>
            <a:ext cx="1753250" cy="0"/>
          </a:xfrm>
          <a:prstGeom prst="line">
            <a:avLst/>
          </a:prstGeom>
          <a:ln w="9525">
            <a:solidFill>
              <a:srgbClr val="D7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17995" y="2590800"/>
            <a:ext cx="1772948" cy="711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평일 업무 경험이 쌓여 기준 품질 </a:t>
            </a:r>
            <a:endParaRPr lang="en-US" altLang="ko-KR" sz="900" b="0" dirty="0">
              <a:solidFill>
                <a:srgbClr val="6A7180"/>
              </a:solidFill>
              <a:latin typeface="페이퍼로지 5 Medium"/>
              <a:ea typeface="페이퍼로지 5 Medium"/>
              <a:cs typeface="페이퍼로지 5 Medium"/>
            </a:endParaRPr>
          </a:p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도달 기간 단축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47037" y="1473200"/>
            <a:ext cx="2068440" cy="1981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004632" y="1651000"/>
            <a:ext cx="492486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ko-KR" sz="1500" b="0">
                <a:solidFill>
                  <a:schemeClr val="bg1">
                    <a:lumMod val="6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04632" y="2032000"/>
            <a:ext cx="1772948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반복 경험 축적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004632" y="2463800"/>
            <a:ext cx="1753249" cy="0"/>
          </a:xfrm>
          <a:prstGeom prst="line">
            <a:avLst/>
          </a:prstGeom>
          <a:ln w="9525">
            <a:solidFill>
              <a:srgbClr val="D7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004632" y="2590800"/>
            <a:ext cx="1772948" cy="711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평일 5일 반복 응대로</a:t>
            </a:r>
            <a:endParaRPr lang="en-US" altLang="ko-KR" sz="900" b="0" dirty="0">
              <a:solidFill>
                <a:srgbClr val="6A7180"/>
              </a:solidFill>
              <a:latin typeface="페이퍼로지 5 Medium"/>
              <a:ea typeface="페이퍼로지 5 Medium"/>
              <a:cs typeface="페이퍼로지 5 Medium"/>
            </a:endParaRPr>
          </a:p>
          <a:p>
            <a:pPr algn="l">
              <a:lnSpc>
                <a:spcPct val="130000"/>
              </a:lnSpc>
            </a:pPr>
            <a:r>
              <a:rPr lang="ko-KR" sz="900" b="0" dirty="0" err="1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전담 외 제품까지 숙련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33673" y="1473200"/>
            <a:ext cx="2068440" cy="1981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191269" y="1651000"/>
            <a:ext cx="492486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ko-KR" sz="1500" b="0">
                <a:solidFill>
                  <a:schemeClr val="bg1">
                    <a:lumMod val="6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91269" y="2032000"/>
            <a:ext cx="1772948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관리자 역량 고도화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191269" y="2463800"/>
            <a:ext cx="1753250" cy="0"/>
          </a:xfrm>
          <a:prstGeom prst="line">
            <a:avLst/>
          </a:prstGeom>
          <a:ln w="9525">
            <a:solidFill>
              <a:srgbClr val="D7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191269" y="2590800"/>
            <a:ext cx="1772948" cy="711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평일 상주 관리로 </a:t>
            </a:r>
            <a:endParaRPr lang="en-US" altLang="ko-KR" sz="900" dirty="0">
              <a:solidFill>
                <a:srgbClr val="6A7180"/>
              </a:solidFill>
              <a:latin typeface="페이퍼로지 5 Medium"/>
              <a:ea typeface="페이퍼로지 5 Medium"/>
              <a:cs typeface="페이퍼로지 5 Medium"/>
            </a:endParaRPr>
          </a:p>
          <a:p>
            <a:pPr algn="l">
              <a:lnSpc>
                <a:spcPct val="130000"/>
              </a:lnSpc>
            </a:pPr>
            <a:r>
              <a:rPr lang="ko-KR" sz="900" b="0" dirty="0" err="1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코칭·모니터링</a:t>
            </a: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 밀도 증가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20310" y="1473200"/>
            <a:ext cx="2068440" cy="1981200"/>
          </a:xfrm>
          <a:prstGeom prst="roundRect">
            <a:avLst>
              <a:gd name="adj" fmla="val 5000"/>
            </a:avLst>
          </a:prstGeom>
          <a:solidFill>
            <a:srgbClr val="FBE8EF"/>
          </a:solidFill>
          <a:ln w="9525">
            <a:solidFill>
              <a:srgbClr val="E30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77906" y="1651000"/>
            <a:ext cx="492486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ko-KR" sz="15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04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77906" y="2032000"/>
            <a:ext cx="1772948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주말·성수기 안정성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377906" y="2463800"/>
            <a:ext cx="1753249" cy="0"/>
          </a:xfrm>
          <a:prstGeom prst="line">
            <a:avLst/>
          </a:prstGeom>
          <a:ln w="9525">
            <a:solidFill>
              <a:srgbClr val="E30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7377906" y="2590800"/>
            <a:ext cx="1772948" cy="711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주5일 상시 인력이 </a:t>
            </a:r>
            <a:endParaRPr lang="en-US" altLang="ko-KR" sz="900" b="0" dirty="0">
              <a:solidFill>
                <a:srgbClr val="6A7180"/>
              </a:solidFill>
              <a:latin typeface="페이퍼로지 5 Medium"/>
              <a:ea typeface="페이퍼로지 5 Medium"/>
              <a:cs typeface="페이퍼로지 5 Medium"/>
            </a:endParaRPr>
          </a:p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성수기 한시 인력</a:t>
            </a:r>
            <a:r>
              <a:rPr lang="ko-KR" altLang="en-US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을 지원</a:t>
            </a:r>
            <a:endParaRPr lang="ko-KR" sz="900" b="0" dirty="0">
              <a:solidFill>
                <a:srgbClr val="6A7180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60400" y="3632200"/>
            <a:ext cx="2068440" cy="1981200"/>
          </a:xfrm>
          <a:prstGeom prst="roundRect">
            <a:avLst>
              <a:gd name="adj" fmla="val 5000"/>
            </a:avLst>
          </a:prstGeom>
          <a:solidFill>
            <a:srgbClr val="FBE8EF"/>
          </a:solidFill>
          <a:ln w="9525">
            <a:solidFill>
              <a:srgbClr val="E30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17995" y="3810000"/>
            <a:ext cx="492486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ko-KR" sz="15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05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7995" y="4191000"/>
            <a:ext cx="1772948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인력 </a:t>
            </a:r>
            <a:r>
              <a:rPr lang="ko-KR" sz="1200" b="0" dirty="0" err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Pool</a:t>
            </a:r>
            <a:r>
              <a:rPr lang="ko-KR" sz="12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 확대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17995" y="4622800"/>
            <a:ext cx="1753250" cy="0"/>
          </a:xfrm>
          <a:prstGeom prst="line">
            <a:avLst/>
          </a:prstGeom>
          <a:ln w="9525">
            <a:solidFill>
              <a:srgbClr val="E30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817995" y="4749800"/>
            <a:ext cx="1772948" cy="711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성수기 우수 인력의 </a:t>
            </a:r>
            <a:endParaRPr lang="en-US" altLang="ko-KR" sz="900" b="0" dirty="0">
              <a:solidFill>
                <a:srgbClr val="6A7180"/>
              </a:solidFill>
              <a:latin typeface="페이퍼로지 5 Medium"/>
              <a:ea typeface="페이퍼로지 5 Medium"/>
              <a:cs typeface="페이퍼로지 5 Medium"/>
            </a:endParaRPr>
          </a:p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상시 전환 경로 확대 (2026: 6명)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847037" y="3632200"/>
            <a:ext cx="2068440" cy="1981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004632" y="3810000"/>
            <a:ext cx="492486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ko-KR" sz="1500" b="0">
                <a:solidFill>
                  <a:schemeClr val="bg1">
                    <a:lumMod val="6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06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04632" y="4191000"/>
            <a:ext cx="1772948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LG 업무 전문성 강화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004632" y="4622800"/>
            <a:ext cx="1753249" cy="0"/>
          </a:xfrm>
          <a:prstGeom prst="line">
            <a:avLst/>
          </a:prstGeom>
          <a:ln w="9525">
            <a:solidFill>
              <a:srgbClr val="D7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3004632" y="4749800"/>
            <a:ext cx="1772948" cy="711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연중 운영으로 </a:t>
            </a:r>
            <a:endParaRPr lang="en-US" altLang="ko-KR" sz="900" b="0" dirty="0">
              <a:solidFill>
                <a:srgbClr val="6A7180"/>
              </a:solidFill>
              <a:latin typeface="페이퍼로지 5 Medium"/>
              <a:ea typeface="페이퍼로지 5 Medium"/>
              <a:cs typeface="페이퍼로지 5 Medium"/>
            </a:endParaRPr>
          </a:p>
          <a:p>
            <a:pPr algn="l">
              <a:lnSpc>
                <a:spcPct val="130000"/>
              </a:lnSpc>
            </a:pPr>
            <a:r>
              <a:rPr lang="ko-KR" sz="900" b="0" dirty="0" err="1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제품·정책</a:t>
            </a: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 변화에 즉시 대응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33673" y="3632200"/>
            <a:ext cx="2068440" cy="1981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191269" y="3810000"/>
            <a:ext cx="492486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ko-KR" sz="1500" b="0">
                <a:solidFill>
                  <a:schemeClr val="bg1">
                    <a:lumMod val="6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07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191269" y="4191000"/>
            <a:ext cx="1772948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추가 사업 대응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191269" y="4622800"/>
            <a:ext cx="1753250" cy="0"/>
          </a:xfrm>
          <a:prstGeom prst="line">
            <a:avLst/>
          </a:prstGeom>
          <a:ln w="9525">
            <a:solidFill>
              <a:srgbClr val="D7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5191269" y="4749800"/>
            <a:ext cx="1772948" cy="711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주5일 안정화 증명 후 </a:t>
            </a:r>
            <a:endParaRPr lang="en-US" altLang="ko-KR" sz="900" b="0" dirty="0">
              <a:solidFill>
                <a:srgbClr val="6A7180"/>
              </a:solidFill>
              <a:latin typeface="페이퍼로지 5 Medium"/>
              <a:ea typeface="페이퍼로지 5 Medium"/>
              <a:cs typeface="페이퍼로지 5 Medium"/>
            </a:endParaRPr>
          </a:p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구독 등 확대 업무 즉시 수용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220310" y="3632200"/>
            <a:ext cx="2068440" cy="1981200"/>
          </a:xfrm>
          <a:prstGeom prst="roundRect">
            <a:avLst>
              <a:gd name="adj" fmla="val 5000"/>
            </a:avLst>
          </a:prstGeom>
          <a:solidFill>
            <a:srgbClr val="0F1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7377906" y="3949700"/>
            <a:ext cx="1772948" cy="1397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35000"/>
              </a:lnSpc>
            </a:pPr>
            <a:r>
              <a:rPr lang="ko-KR" sz="2000" b="0" dirty="0">
                <a:solidFill>
                  <a:srgbClr val="FF6B9A"/>
                </a:solidFill>
                <a:latin typeface="페이퍼로지 8 ExtraBold"/>
                <a:ea typeface="페이퍼로지 8 ExtraBold"/>
                <a:cs typeface="페이퍼로지 8 ExtraBold"/>
              </a:rPr>
              <a:t>단계적 확장</a:t>
            </a:r>
          </a:p>
          <a:p>
            <a:pPr algn="ctr">
              <a:lnSpc>
                <a:spcPct val="135000"/>
              </a:lnSpc>
            </a:pPr>
            <a:r>
              <a:rPr lang="ko-KR" sz="11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주4일</a:t>
            </a:r>
          </a:p>
          <a:p>
            <a:pPr algn="ctr">
              <a:lnSpc>
                <a:spcPct val="135000"/>
              </a:lnSpc>
            </a:pPr>
            <a:r>
              <a:rPr lang="ko-KR" sz="11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→ 주5일</a:t>
            </a:r>
          </a:p>
          <a:p>
            <a:pPr algn="ctr">
              <a:lnSpc>
                <a:spcPct val="135000"/>
              </a:lnSpc>
            </a:pPr>
            <a:r>
              <a:rPr lang="ko-KR" sz="11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→ 구독 등 확대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60400" y="5842000"/>
            <a:ext cx="8667750" cy="406400"/>
          </a:xfrm>
          <a:prstGeom prst="roundRect">
            <a:avLst>
              <a:gd name="adj" fmla="val 3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5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주5일 </a:t>
            </a:r>
            <a:r>
              <a:rPr lang="ko-KR" sz="15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관리조직 → </a:t>
            </a:r>
            <a:r>
              <a:rPr lang="ko-KR" sz="1500" b="0" dirty="0" err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교육·QA</a:t>
            </a:r>
            <a:r>
              <a:rPr lang="ko-KR" sz="15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 → 성수기 </a:t>
            </a:r>
            <a:r>
              <a:rPr lang="ko-KR" sz="1500" b="0" dirty="0" err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Pool</a:t>
            </a:r>
            <a:r>
              <a:rPr lang="ko-KR" sz="15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 → 품질 향상</a:t>
            </a:r>
            <a:r>
              <a:rPr lang="ko-KR" sz="15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의 선순환이 가능해집니다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40250" y="64770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fld id="{B6F15528-21DE-4FAA-801E-634DDDAF4B2B}" type="slidenum"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10</a:t>
            </a:fld>
            <a:r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 / 49</a:t>
            </a:r>
            <a:endParaRPr lang="ko-KR" sz="600" b="0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46" name="Rectangle 4">
            <a:extLst>
              <a:ext uri="{FF2B5EF4-FFF2-40B4-BE49-F238E27FC236}">
                <a16:creationId xmlns:a16="http://schemas.microsoft.com/office/drawing/2014/main" id="{DC9C8E69-BECC-4AB3-BB12-C30EB6444D5A}"/>
              </a:ext>
            </a:extLst>
          </p:cNvPr>
          <p:cNvSpPr/>
          <p:nvPr/>
        </p:nvSpPr>
        <p:spPr>
          <a:xfrm>
            <a:off x="866775" y="1120252"/>
            <a:ext cx="84613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ko-KR" altLang="en-US" sz="120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안정적인 운영이 품질 향상으로 이어지는 선순환을 만들 수 있습니다.</a:t>
            </a:r>
            <a:endParaRPr lang="ko-KR" sz="1200" b="0" dirty="0">
              <a:solidFill>
                <a:srgbClr val="6A7180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그림 35">
            <a:extLst>
              <a:ext uri="{FF2B5EF4-FFF2-40B4-BE49-F238E27FC236}">
                <a16:creationId xmlns:a16="http://schemas.microsoft.com/office/drawing/2014/main" id="{58D605F6-E8CD-49C4-B39D-4C23CB36F2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5" t="20988" r="9375" b="20988"/>
          <a:stretch/>
        </p:blipFill>
        <p:spPr>
          <a:xfrm>
            <a:off x="7160167" y="526915"/>
            <a:ext cx="2120719" cy="1020552"/>
          </a:xfrm>
          <a:prstGeom prst="roundRect">
            <a:avLst>
              <a:gd name="adj" fmla="val 8000"/>
            </a:avLst>
          </a:prstGeom>
        </p:spPr>
      </p:pic>
      <p:sp>
        <p:nvSpPr>
          <p:cNvPr id="3" name="Rectangle 2"/>
          <p:cNvSpPr/>
          <p:nvPr/>
        </p:nvSpPr>
        <p:spPr>
          <a:xfrm>
            <a:off x="1929606" y="381000"/>
            <a:ext cx="61912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 dirty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1-2. 목표 달성을 위한 장기 계획</a:t>
            </a:r>
          </a:p>
        </p:txBody>
      </p:sp>
      <p:sp>
        <p:nvSpPr>
          <p:cNvPr id="4" name="Rectangle 3"/>
          <p:cNvSpPr/>
          <p:nvPr/>
        </p:nvSpPr>
        <p:spPr>
          <a:xfrm>
            <a:off x="846138" y="660400"/>
            <a:ext cx="8461375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2027년, </a:t>
            </a:r>
            <a:r>
              <a:rPr lang="ko-KR" sz="20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50석 안정화에서 80석 확장</a:t>
            </a:r>
            <a:r>
              <a:rPr lang="ko-KR" sz="2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까지의 로드맵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138" y="1079500"/>
            <a:ext cx="84613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목표는 하이텔레서비스와 협의하여 확정하고, 매월 결과를 보고드리겠습니다.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0400" y="1498600"/>
            <a:ext cx="2068440" cy="1320800"/>
          </a:xfrm>
          <a:prstGeom prst="roundRect">
            <a:avLst>
              <a:gd name="adj" fmla="val 5000"/>
            </a:avLst>
          </a:prstGeom>
          <a:solidFill>
            <a:srgbClr val="FBE8EF"/>
          </a:solidFill>
          <a:ln w="9525">
            <a:solidFill>
              <a:srgbClr val="E30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6704" y="1776097"/>
            <a:ext cx="1772948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ko-KR" sz="12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T-NPS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6704" y="2068197"/>
            <a:ext cx="1772948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22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93% 이상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47037" y="1498600"/>
            <a:ext cx="2068440" cy="1320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013341" y="1776097"/>
            <a:ext cx="1772948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ko-KR" sz="12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T-NPS 상담과실 저점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3341" y="2068197"/>
            <a:ext cx="1772948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22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제로화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33673" y="1498600"/>
            <a:ext cx="2068440" cy="1320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199978" y="1776097"/>
            <a:ext cx="1772948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ko-KR" sz="12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성수기 TO 충원율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99978" y="2068197"/>
            <a:ext cx="1772948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22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100%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0310" y="1498600"/>
            <a:ext cx="2068440" cy="1320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86615" y="1776097"/>
            <a:ext cx="1772948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ko-KR" sz="12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성수기 TO 유지율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86615" y="2068197"/>
            <a:ext cx="1772948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22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90%</a:t>
            </a:r>
          </a:p>
        </p:txBody>
      </p:sp>
      <p:sp>
        <p:nvSpPr>
          <p:cNvPr id="22" name="Pentagon 21"/>
          <p:cNvSpPr/>
          <p:nvPr/>
        </p:nvSpPr>
        <p:spPr>
          <a:xfrm>
            <a:off x="660400" y="3073400"/>
            <a:ext cx="1398659" cy="635000"/>
          </a:xfrm>
          <a:prstGeom prst="homePlate">
            <a:avLst>
              <a:gd name="adj" fmla="val 40625"/>
            </a:avLst>
          </a:prstGeom>
          <a:solidFill>
            <a:srgbClr val="0F1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3188" tIns="63500" rIns="103188" bIns="6350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9AA0AA"/>
                </a:solidFill>
                <a:latin typeface="페이퍼로지 5 Medium"/>
                <a:ea typeface="페이퍼로지 5 Medium"/>
                <a:cs typeface="페이퍼로지 5 Medium"/>
              </a:rPr>
              <a:t>2026.11~12</a:t>
            </a:r>
          </a:p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전환 준비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2522" y="3803650"/>
            <a:ext cx="1280463" cy="4601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3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우선협상 · 계약
인력 선확보 착수</a:t>
            </a:r>
          </a:p>
        </p:txBody>
      </p:sp>
      <p:sp>
        <p:nvSpPr>
          <p:cNvPr id="24" name="Chevron 23"/>
          <p:cNvSpPr/>
          <p:nvPr/>
        </p:nvSpPr>
        <p:spPr>
          <a:xfrm>
            <a:off x="2108308" y="3073400"/>
            <a:ext cx="1398659" cy="635000"/>
          </a:xfrm>
          <a:prstGeom prst="chevron">
            <a:avLst>
              <a:gd name="adj" fmla="val 40625"/>
            </a:avLst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4462" tIns="88900" rIns="144462" bIns="8890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FFD6E3"/>
                </a:solidFill>
                <a:latin typeface="페이퍼로지 5 Medium"/>
                <a:ea typeface="페이퍼로지 5 Medium"/>
                <a:cs typeface="페이퍼로지 5 Medium"/>
              </a:rPr>
              <a:t>2027 1Q</a:t>
            </a:r>
          </a:p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50석 안정화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20430" y="3803650"/>
            <a:ext cx="1280463" cy="4601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3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1</a:t>
            </a:r>
            <a:r>
              <a:rPr lang="en-US" alt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2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0% </a:t>
            </a:r>
            <a:r>
              <a:rPr lang="ko-KR" sz="9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선투입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· 5파트
</a:t>
            </a:r>
            <a:r>
              <a:rPr lang="ko-KR" altLang="en-US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인력 안정화 관리 집중</a:t>
            </a:r>
            <a:endParaRPr lang="ko-KR" sz="900" b="0" dirty="0">
              <a:solidFill>
                <a:srgbClr val="10151F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26" name="Chevron 25"/>
          <p:cNvSpPr/>
          <p:nvPr/>
        </p:nvSpPr>
        <p:spPr>
          <a:xfrm>
            <a:off x="3556216" y="3073400"/>
            <a:ext cx="1398659" cy="635000"/>
          </a:xfrm>
          <a:prstGeom prst="chevron">
            <a:avLst>
              <a:gd name="adj" fmla="val 40625"/>
            </a:avLst>
          </a:prstGeom>
          <a:solidFill>
            <a:srgbClr val="0F1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4462" tIns="88900" rIns="144462" bIns="8890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9AA0AA"/>
                </a:solidFill>
                <a:latin typeface="페이퍼로지 5 Medium"/>
                <a:ea typeface="페이퍼로지 5 Medium"/>
                <a:cs typeface="페이퍼로지 5 Medium"/>
              </a:rPr>
              <a:t>2027 2Q</a:t>
            </a:r>
          </a:p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성수기 준비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68339" y="3803650"/>
            <a:ext cx="1280463" cy="4601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3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한시 </a:t>
            </a:r>
            <a:r>
              <a:rPr lang="ko-KR" altLang="en-US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인력 </a:t>
            </a:r>
            <a:r>
              <a:rPr lang="en-US" alt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1</a:t>
            </a:r>
            <a:r>
              <a:rPr lang="ko-KR" altLang="en-US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개월 전 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교육</a:t>
            </a:r>
            <a:r>
              <a:rPr lang="ko-KR" altLang="en-US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시행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
상시 → 한시 리더 배치</a:t>
            </a:r>
          </a:p>
        </p:txBody>
      </p:sp>
      <p:sp>
        <p:nvSpPr>
          <p:cNvPr id="28" name="Chevron 27"/>
          <p:cNvSpPr/>
          <p:nvPr/>
        </p:nvSpPr>
        <p:spPr>
          <a:xfrm>
            <a:off x="5004124" y="3073400"/>
            <a:ext cx="1398659" cy="635000"/>
          </a:xfrm>
          <a:prstGeom prst="chevron">
            <a:avLst>
              <a:gd name="adj" fmla="val 40625"/>
            </a:avLst>
          </a:prstGeom>
          <a:solidFill>
            <a:srgbClr val="0F1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4462" tIns="88900" rIns="144462" bIns="8890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9AA0AA"/>
                </a:solidFill>
                <a:latin typeface="페이퍼로지 5 Medium"/>
                <a:ea typeface="페이퍼로지 5 Medium"/>
                <a:cs typeface="페이퍼로지 5 Medium"/>
              </a:rPr>
              <a:t>2027 3Q</a:t>
            </a:r>
          </a:p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성수기 운영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16247" y="3803650"/>
            <a:ext cx="1280463" cy="4601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3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한시 최대 약 100명
종료까지 TO 유지</a:t>
            </a:r>
          </a:p>
        </p:txBody>
      </p:sp>
      <p:sp>
        <p:nvSpPr>
          <p:cNvPr id="30" name="Chevron 29"/>
          <p:cNvSpPr/>
          <p:nvPr/>
        </p:nvSpPr>
        <p:spPr>
          <a:xfrm>
            <a:off x="6452032" y="3073400"/>
            <a:ext cx="1398659" cy="635000"/>
          </a:xfrm>
          <a:prstGeom prst="chevron">
            <a:avLst>
              <a:gd name="adj" fmla="val 40625"/>
            </a:avLst>
          </a:prstGeom>
          <a:solidFill>
            <a:srgbClr val="0F1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4462" tIns="88900" rIns="144462" bIns="8890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9AA0AA"/>
                </a:solidFill>
                <a:latin typeface="페이퍼로지 5 Medium"/>
                <a:ea typeface="페이퍼로지 5 Medium"/>
                <a:cs typeface="페이퍼로지 5 Medium"/>
              </a:rPr>
              <a:t>2027 4Q</a:t>
            </a:r>
          </a:p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리뷰 · 전환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64155" y="3803650"/>
            <a:ext cx="1280463" cy="4601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3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우수 한시 상시 전환
연간 성과 · 갱신 평가</a:t>
            </a:r>
          </a:p>
        </p:txBody>
      </p:sp>
      <p:sp>
        <p:nvSpPr>
          <p:cNvPr id="32" name="Chevron 31"/>
          <p:cNvSpPr/>
          <p:nvPr/>
        </p:nvSpPr>
        <p:spPr>
          <a:xfrm>
            <a:off x="7899941" y="3073400"/>
            <a:ext cx="1398659" cy="635000"/>
          </a:xfrm>
          <a:prstGeom prst="chevron">
            <a:avLst>
              <a:gd name="adj" fmla="val 40625"/>
            </a:avLst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4462" tIns="88900" rIns="144462" bIns="8890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FFD6E3"/>
                </a:solidFill>
                <a:latin typeface="페이퍼로지 5 Medium"/>
                <a:ea typeface="페이퍼로지 5 Medium"/>
                <a:cs typeface="페이퍼로지 5 Medium"/>
              </a:rPr>
              <a:t>2028~</a:t>
            </a:r>
          </a:p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80석 · 확대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12064" y="3803650"/>
            <a:ext cx="1280463" cy="4601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3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80석 운영 모델
구독 등 업무 확대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40250" y="64770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fld id="{B6F15528-21DE-4FAA-801E-634DDDAF4B2B}" type="slidenum"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11</a:t>
            </a:fld>
            <a:r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 / 49</a:t>
            </a:r>
            <a:endParaRPr lang="ko-KR" sz="600" b="0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B4414C39-0ECA-4F66-903A-CA75224BFFD0}"/>
              </a:ext>
            </a:extLst>
          </p:cNvPr>
          <p:cNvSpPr>
            <a:spLocks noGrp="1"/>
          </p:cNvSpPr>
          <p:nvPr/>
        </p:nvSpPr>
        <p:spPr>
          <a:xfrm>
            <a:off x="660400" y="5165113"/>
            <a:ext cx="348258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74295" tIns="0" rIns="74295" bIns="0">
            <a:noAutofit/>
          </a:bodyPr>
          <a:lstStyle/>
          <a:p>
            <a:pPr algn="l">
              <a:buNone/>
              <a:defRPr sz="900" b="0">
                <a:solidFill>
                  <a:srgbClr val="FFBBB9"/>
                </a:solidFill>
                <a:latin typeface="페이퍼로지 8 ExtraBold"/>
                <a:ea typeface="페이퍼로지 8 ExtraBold"/>
                <a:cs typeface="페이퍼로지 8 ExtraBold"/>
              </a:defRPr>
            </a:pPr>
            <a:r>
              <a:rPr sz="1200" b="0">
                <a:solidFill>
                  <a:schemeClr val="bg1">
                    <a:lumMod val="50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D179E770-1939-4FB3-97C2-7CFD5CEE6C5D}"/>
              </a:ext>
            </a:extLst>
          </p:cNvPr>
          <p:cNvSpPr>
            <a:spLocks noGrp="1"/>
          </p:cNvSpPr>
          <p:nvPr/>
        </p:nvSpPr>
        <p:spPr>
          <a:xfrm>
            <a:off x="660400" y="5376686"/>
            <a:ext cx="1934766" cy="295275"/>
          </a:xfrm>
          <a:prstGeom prst="rect">
            <a:avLst/>
          </a:prstGeom>
          <a:noFill/>
          <a:ln w="0">
            <a:noFill/>
          </a:ln>
        </p:spPr>
        <p:txBody>
          <a:bodyPr lIns="74295" rIns="74295">
            <a:noAutofit/>
          </a:bodyPr>
          <a:lstStyle/>
          <a:p>
            <a:pPr algn="l">
              <a:buNone/>
              <a:defRPr sz="12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defRPr>
            </a:pPr>
            <a:r>
              <a:rPr sz="1200" b="0">
                <a:solidFill>
                  <a:srgbClr val="000000"/>
                </a:solidFill>
                <a:latin typeface="페이퍼로지 8 ExtraBold"/>
                <a:ea typeface="페이퍼로지 8 ExtraBold"/>
                <a:cs typeface="페이퍼로지 8 ExtraBold"/>
              </a:rPr>
              <a:t>운영 연속성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FB57C02-CFFE-41E8-8102-385F20F0436B}"/>
              </a:ext>
            </a:extLst>
          </p:cNvPr>
          <p:cNvSpPr>
            <a:spLocks noGrp="1"/>
          </p:cNvSpPr>
          <p:nvPr/>
        </p:nvSpPr>
        <p:spPr>
          <a:xfrm>
            <a:off x="660400" y="5694362"/>
            <a:ext cx="1934766" cy="523875"/>
          </a:xfrm>
          <a:prstGeom prst="rect">
            <a:avLst/>
          </a:prstGeom>
          <a:noFill/>
          <a:ln w="0">
            <a:noFill/>
          </a:ln>
        </p:spPr>
        <p:txBody>
          <a:bodyPr lIns="74295" rIns="74295">
            <a:noAutofit/>
          </a:bodyPr>
          <a:lstStyle/>
          <a:p>
            <a:pPr algn="l">
              <a:buNone/>
              <a:defRPr sz="900" b="0">
                <a:solidFill>
                  <a:srgbClr val="EEE5E8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900" dirty="0" err="1">
                <a:solidFill>
                  <a:srgbClr val="6A7180"/>
                </a:solidFill>
                <a:latin typeface="페이퍼로지 5 Medium"/>
                <a:ea typeface="페이퍼로지 5 Medium"/>
              </a:rPr>
              <a:t>현직</a:t>
            </a:r>
            <a:r>
              <a:rPr sz="900" dirty="0">
                <a:solidFill>
                  <a:srgbClr val="6A7180"/>
                </a:solidFill>
                <a:latin typeface="페이퍼로지 5 Medium"/>
                <a:ea typeface="페이퍼로지 5 Medium"/>
              </a:rPr>
              <a:t> </a:t>
            </a:r>
            <a:r>
              <a:rPr sz="900" dirty="0" err="1">
                <a:solidFill>
                  <a:srgbClr val="6A7180"/>
                </a:solidFill>
                <a:latin typeface="페이퍼로지 5 Medium"/>
                <a:ea typeface="페이퍼로지 5 Medium"/>
              </a:rPr>
              <a:t>상담사</a:t>
            </a:r>
            <a:r>
              <a:rPr sz="900" dirty="0">
                <a:solidFill>
                  <a:srgbClr val="6A7180"/>
                </a:solidFill>
                <a:latin typeface="페이퍼로지 5 Medium"/>
                <a:ea typeface="페이퍼로지 5 Medium"/>
              </a:rPr>
              <a:t> </a:t>
            </a:r>
            <a:r>
              <a:rPr sz="900" dirty="0" err="1">
                <a:solidFill>
                  <a:srgbClr val="6A7180"/>
                </a:solidFill>
                <a:latin typeface="페이퍼로지 5 Medium"/>
                <a:ea typeface="페이퍼로지 5 Medium"/>
              </a:rPr>
              <a:t>우선고용</a:t>
            </a:r>
            <a:endParaRPr sz="900" dirty="0">
              <a:solidFill>
                <a:srgbClr val="6A7180"/>
              </a:solidFill>
              <a:latin typeface="페이퍼로지 5 Medium"/>
              <a:ea typeface="페이퍼로지 5 Medium"/>
            </a:endParaRPr>
          </a:p>
          <a:p>
            <a:pPr algn="l">
              <a:buNone/>
              <a:defRPr sz="900" b="0">
                <a:solidFill>
                  <a:srgbClr val="EEE5E8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900" dirty="0" err="1">
                <a:solidFill>
                  <a:srgbClr val="6A7180"/>
                </a:solidFill>
                <a:latin typeface="페이퍼로지 5 Medium"/>
                <a:ea typeface="페이퍼로지 5 Medium"/>
              </a:rPr>
              <a:t>사전</a:t>
            </a:r>
            <a:r>
              <a:rPr sz="900" dirty="0">
                <a:solidFill>
                  <a:srgbClr val="6A7180"/>
                </a:solidFill>
                <a:latin typeface="페이퍼로지 5 Medium"/>
                <a:ea typeface="페이퍼로지 5 Medium"/>
              </a:rPr>
              <a:t> </a:t>
            </a:r>
            <a:r>
              <a:rPr sz="900" dirty="0" err="1">
                <a:solidFill>
                  <a:srgbClr val="6A7180"/>
                </a:solidFill>
                <a:latin typeface="페이퍼로지 5 Medium"/>
                <a:ea typeface="페이퍼로지 5 Medium"/>
              </a:rPr>
              <a:t>인수인계와</a:t>
            </a:r>
            <a:r>
              <a:rPr sz="900" dirty="0">
                <a:solidFill>
                  <a:srgbClr val="6A7180"/>
                </a:solidFill>
                <a:latin typeface="페이퍼로지 5 Medium"/>
                <a:ea typeface="페이퍼로지 5 Medium"/>
              </a:rPr>
              <a:t> </a:t>
            </a:r>
            <a:r>
              <a:rPr lang="ko-KR" altLang="en-US" sz="900" dirty="0">
                <a:solidFill>
                  <a:srgbClr val="6A7180"/>
                </a:solidFill>
                <a:latin typeface="페이퍼로지 5 Medium"/>
                <a:ea typeface="페이퍼로지 5 Medium"/>
              </a:rPr>
              <a:t>일정 관리</a:t>
            </a:r>
            <a:endParaRPr sz="900" dirty="0">
              <a:solidFill>
                <a:srgbClr val="6A7180"/>
              </a:solidFill>
              <a:latin typeface="페이퍼로지 5 Medium"/>
              <a:ea typeface="페이퍼로지 5 Medium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5484D3BB-762C-448C-9EA7-F85CBA473995}"/>
              </a:ext>
            </a:extLst>
          </p:cNvPr>
          <p:cNvSpPr>
            <a:spLocks noGrp="1"/>
          </p:cNvSpPr>
          <p:nvPr/>
        </p:nvSpPr>
        <p:spPr>
          <a:xfrm>
            <a:off x="2765425" y="5151437"/>
            <a:ext cx="11609" cy="1066800"/>
          </a:xfrm>
          <a:prstGeom prst="rect">
            <a:avLst/>
          </a:prstGeom>
          <a:solidFill>
            <a:schemeClr val="bg1">
              <a:lumMod val="65000"/>
              <a:alpha val="34000"/>
            </a:schemeClr>
          </a:solidFill>
          <a:ln w="0">
            <a:noFill/>
          </a:ln>
        </p:spPr>
        <p:txBody>
          <a:bodyPr lIns="74295" rIns="74295"/>
          <a:lstStyle/>
          <a:p>
            <a:endParaRPr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C91571D6-7A3B-4B25-94E4-D98AFE3A2470}"/>
              </a:ext>
            </a:extLst>
          </p:cNvPr>
          <p:cNvSpPr>
            <a:spLocks noGrp="1"/>
          </p:cNvSpPr>
          <p:nvPr/>
        </p:nvSpPr>
        <p:spPr>
          <a:xfrm>
            <a:off x="2904728" y="5165113"/>
            <a:ext cx="348258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74295" tIns="0" rIns="74295" bIns="0">
            <a:noAutofit/>
          </a:bodyPr>
          <a:lstStyle/>
          <a:p>
            <a:pPr algn="l">
              <a:buNone/>
              <a:defRPr sz="900" b="0">
                <a:solidFill>
                  <a:srgbClr val="FFBBB9"/>
                </a:solidFill>
                <a:latin typeface="페이퍼로지 8 ExtraBold"/>
                <a:ea typeface="페이퍼로지 8 ExtraBold"/>
                <a:cs typeface="페이퍼로지 8 ExtraBold"/>
              </a:defRPr>
            </a:pPr>
            <a:r>
              <a:rPr sz="1200" b="0">
                <a:solidFill>
                  <a:schemeClr val="bg1">
                    <a:lumMod val="50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BF9568A3-15EC-4BAD-ADD5-F944D42D7F38}"/>
              </a:ext>
            </a:extLst>
          </p:cNvPr>
          <p:cNvSpPr>
            <a:spLocks noGrp="1"/>
          </p:cNvSpPr>
          <p:nvPr/>
        </p:nvSpPr>
        <p:spPr>
          <a:xfrm>
            <a:off x="2904728" y="5376686"/>
            <a:ext cx="1934766" cy="295275"/>
          </a:xfrm>
          <a:prstGeom prst="rect">
            <a:avLst/>
          </a:prstGeom>
          <a:noFill/>
          <a:ln w="0">
            <a:noFill/>
          </a:ln>
        </p:spPr>
        <p:txBody>
          <a:bodyPr lIns="74295" rIns="74295">
            <a:noAutofit/>
          </a:bodyPr>
          <a:lstStyle/>
          <a:p>
            <a:pPr algn="l">
              <a:buNone/>
              <a:defRPr sz="12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defRPr>
            </a:pPr>
            <a:r>
              <a:rPr sz="1200" b="0">
                <a:solidFill>
                  <a:srgbClr val="000000"/>
                </a:solidFill>
                <a:latin typeface="페이퍼로지 8 ExtraBold"/>
                <a:ea typeface="페이퍼로지 8 ExtraBold"/>
                <a:cs typeface="페이퍼로지 8 ExtraBold"/>
              </a:rPr>
              <a:t>Peak 탄력운영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34B7BA3-5EF2-49F6-96FA-EE068CC9E8AE}"/>
              </a:ext>
            </a:extLst>
          </p:cNvPr>
          <p:cNvSpPr>
            <a:spLocks noGrp="1"/>
          </p:cNvSpPr>
          <p:nvPr/>
        </p:nvSpPr>
        <p:spPr>
          <a:xfrm>
            <a:off x="2904728" y="5694362"/>
            <a:ext cx="2036663" cy="523875"/>
          </a:xfrm>
          <a:prstGeom prst="rect">
            <a:avLst/>
          </a:prstGeom>
          <a:noFill/>
          <a:ln w="0">
            <a:noFill/>
          </a:ln>
        </p:spPr>
        <p:txBody>
          <a:bodyPr lIns="74295" rIns="74295">
            <a:noAutofit/>
          </a:bodyPr>
          <a:lstStyle/>
          <a:p>
            <a:pPr>
              <a:defRPr sz="900" b="0">
                <a:solidFill>
                  <a:srgbClr val="EEE5E8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900" dirty="0" err="1">
                <a:solidFill>
                  <a:srgbClr val="6A7180"/>
                </a:solidFill>
                <a:latin typeface="페이퍼로지 5 Medium"/>
                <a:ea typeface="페이퍼로지 5 Medium"/>
              </a:rPr>
              <a:t>배정</a:t>
            </a:r>
            <a:r>
              <a:rPr lang="ko-KR" altLang="en-US" sz="900" dirty="0">
                <a:solidFill>
                  <a:srgbClr val="6A7180"/>
                </a:solidFill>
                <a:latin typeface="페이퍼로지 5 Medium"/>
                <a:ea typeface="페이퍼로지 5 Medium"/>
              </a:rPr>
              <a:t>된</a:t>
            </a:r>
            <a:r>
              <a:rPr sz="900" dirty="0">
                <a:solidFill>
                  <a:srgbClr val="6A7180"/>
                </a:solidFill>
                <a:latin typeface="페이퍼로지 5 Medium"/>
                <a:ea typeface="페이퍼로지 5 Medium"/>
              </a:rPr>
              <a:t> </a:t>
            </a:r>
            <a:r>
              <a:rPr sz="900" dirty="0" err="1">
                <a:solidFill>
                  <a:srgbClr val="6A7180"/>
                </a:solidFill>
                <a:latin typeface="페이퍼로지 5 Medium"/>
                <a:ea typeface="페이퍼로지 5 Medium"/>
              </a:rPr>
              <a:t>물량</a:t>
            </a:r>
            <a:r>
              <a:rPr sz="900" dirty="0">
                <a:solidFill>
                  <a:srgbClr val="6A7180"/>
                </a:solidFill>
                <a:latin typeface="페이퍼로지 5 Medium"/>
                <a:ea typeface="페이퍼로지 5 Medium"/>
              </a:rPr>
              <a:t> </a:t>
            </a:r>
            <a:r>
              <a:rPr sz="900" dirty="0" err="1">
                <a:solidFill>
                  <a:srgbClr val="6A7180"/>
                </a:solidFill>
                <a:latin typeface="페이퍼로지 5 Medium"/>
                <a:ea typeface="페이퍼로지 5 Medium"/>
              </a:rPr>
              <a:t>기반</a:t>
            </a:r>
            <a:r>
              <a:rPr sz="900" dirty="0">
                <a:solidFill>
                  <a:srgbClr val="6A7180"/>
                </a:solidFill>
                <a:latin typeface="페이퍼로지 5 Medium"/>
                <a:ea typeface="페이퍼로지 5 Medium"/>
              </a:rPr>
              <a:t> </a:t>
            </a:r>
            <a:r>
              <a:rPr sz="900" dirty="0" err="1">
                <a:solidFill>
                  <a:srgbClr val="6A7180"/>
                </a:solidFill>
                <a:latin typeface="페이퍼로지 5 Medium"/>
                <a:ea typeface="페이퍼로지 5 Medium"/>
              </a:rPr>
              <a:t>채용·교육·인증</a:t>
            </a:r>
            <a:r>
              <a:rPr lang="en-US" altLang="ko-KR" sz="900" dirty="0">
                <a:solidFill>
                  <a:srgbClr val="6A7180"/>
                </a:solidFill>
                <a:latin typeface="페이퍼로지 5 Medium"/>
                <a:ea typeface="페이퍼로지 5 Medium"/>
              </a:rPr>
              <a:t> </a:t>
            </a:r>
            <a:r>
              <a:rPr lang="ko-KR" altLang="en-US" sz="900" dirty="0">
                <a:solidFill>
                  <a:srgbClr val="6A7180"/>
                </a:solidFill>
                <a:latin typeface="페이퍼로지 5 Medium"/>
                <a:ea typeface="페이퍼로지 5 Medium"/>
              </a:rPr>
              <a:t>완료</a:t>
            </a:r>
            <a:endParaRPr sz="900" dirty="0">
              <a:solidFill>
                <a:srgbClr val="6A7180"/>
              </a:solidFill>
              <a:latin typeface="페이퍼로지 5 Medium"/>
              <a:ea typeface="페이퍼로지 5 Medium"/>
            </a:endParaRPr>
          </a:p>
          <a:p>
            <a:pPr>
              <a:defRPr sz="900" b="0">
                <a:solidFill>
                  <a:srgbClr val="EEE5E8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900" dirty="0" err="1">
                <a:solidFill>
                  <a:srgbClr val="6A7180"/>
                </a:solidFill>
                <a:latin typeface="페이퍼로지 5 Medium"/>
                <a:ea typeface="페이퍼로지 5 Medium"/>
              </a:rPr>
              <a:t>투입과</a:t>
            </a:r>
            <a:r>
              <a:rPr sz="900" dirty="0">
                <a:solidFill>
                  <a:srgbClr val="6A7180"/>
                </a:solidFill>
                <a:latin typeface="페이퍼로지 5 Medium"/>
                <a:ea typeface="페이퍼로지 5 Medium"/>
              </a:rPr>
              <a:t> </a:t>
            </a:r>
            <a:r>
              <a:rPr sz="900" dirty="0" err="1">
                <a:solidFill>
                  <a:srgbClr val="6A7180"/>
                </a:solidFill>
                <a:latin typeface="페이퍼로지 5 Medium"/>
                <a:ea typeface="페이퍼로지 5 Medium"/>
              </a:rPr>
              <a:t>출구</a:t>
            </a:r>
            <a:r>
              <a:rPr sz="900" dirty="0">
                <a:solidFill>
                  <a:srgbClr val="6A7180"/>
                </a:solidFill>
                <a:latin typeface="페이퍼로지 5 Medium"/>
                <a:ea typeface="페이퍼로지 5 Medium"/>
              </a:rPr>
              <a:t> </a:t>
            </a:r>
            <a:r>
              <a:rPr sz="900" dirty="0" err="1">
                <a:solidFill>
                  <a:srgbClr val="6A7180"/>
                </a:solidFill>
                <a:latin typeface="페이퍼로지 5 Medium"/>
                <a:ea typeface="페이퍼로지 5 Medium"/>
              </a:rPr>
              <a:t>기준</a:t>
            </a:r>
            <a:r>
              <a:rPr lang="ko-KR" altLang="en-US" sz="900" dirty="0">
                <a:solidFill>
                  <a:srgbClr val="6A7180"/>
                </a:solidFill>
                <a:latin typeface="페이퍼로지 5 Medium"/>
                <a:ea typeface="페이퍼로지 5 Medium"/>
              </a:rPr>
              <a:t>에 맞게 운영</a:t>
            </a:r>
            <a:endParaRPr sz="900" dirty="0">
              <a:solidFill>
                <a:srgbClr val="6A7180"/>
              </a:solidFill>
              <a:latin typeface="페이퍼로지 5 Medium"/>
              <a:ea typeface="페이퍼로지 5 Medium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1D7946F8-64A7-4843-B0CA-6F51ADCB70BB}"/>
              </a:ext>
            </a:extLst>
          </p:cNvPr>
          <p:cNvSpPr>
            <a:spLocks noGrp="1"/>
          </p:cNvSpPr>
          <p:nvPr/>
        </p:nvSpPr>
        <p:spPr>
          <a:xfrm>
            <a:off x="5009753" y="5151437"/>
            <a:ext cx="11609" cy="1066800"/>
          </a:xfrm>
          <a:prstGeom prst="rect">
            <a:avLst/>
          </a:prstGeom>
          <a:solidFill>
            <a:schemeClr val="bg1">
              <a:lumMod val="65000"/>
              <a:alpha val="34000"/>
            </a:schemeClr>
          </a:solidFill>
          <a:ln w="0">
            <a:noFill/>
          </a:ln>
        </p:spPr>
        <p:txBody>
          <a:bodyPr lIns="74295" rIns="74295"/>
          <a:lstStyle/>
          <a:p>
            <a:endParaRPr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7E5C05A9-91D0-4D49-A0C8-BDCCA884EBFB}"/>
              </a:ext>
            </a:extLst>
          </p:cNvPr>
          <p:cNvSpPr>
            <a:spLocks noGrp="1"/>
          </p:cNvSpPr>
          <p:nvPr/>
        </p:nvSpPr>
        <p:spPr>
          <a:xfrm>
            <a:off x="5149056" y="5165113"/>
            <a:ext cx="348258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74295" tIns="0" rIns="74295" bIns="0">
            <a:noAutofit/>
          </a:bodyPr>
          <a:lstStyle/>
          <a:p>
            <a:pPr algn="l">
              <a:buNone/>
              <a:defRPr sz="900" b="0">
                <a:solidFill>
                  <a:srgbClr val="FFBBB9"/>
                </a:solidFill>
                <a:latin typeface="페이퍼로지 8 ExtraBold"/>
                <a:ea typeface="페이퍼로지 8 ExtraBold"/>
                <a:cs typeface="페이퍼로지 8 ExtraBold"/>
              </a:defRPr>
            </a:pPr>
            <a:r>
              <a:rPr sz="1200" b="0">
                <a:solidFill>
                  <a:schemeClr val="bg1">
                    <a:lumMod val="50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E12528ED-8E00-471C-BE6C-E4FD4706588F}"/>
              </a:ext>
            </a:extLst>
          </p:cNvPr>
          <p:cNvSpPr>
            <a:spLocks noGrp="1"/>
          </p:cNvSpPr>
          <p:nvPr/>
        </p:nvSpPr>
        <p:spPr>
          <a:xfrm>
            <a:off x="5149056" y="5376686"/>
            <a:ext cx="1934766" cy="295275"/>
          </a:xfrm>
          <a:prstGeom prst="rect">
            <a:avLst/>
          </a:prstGeom>
          <a:noFill/>
          <a:ln w="0">
            <a:noFill/>
          </a:ln>
        </p:spPr>
        <p:txBody>
          <a:bodyPr lIns="74295" rIns="74295">
            <a:noAutofit/>
          </a:bodyPr>
          <a:lstStyle/>
          <a:p>
            <a:pPr algn="l">
              <a:buNone/>
              <a:defRPr sz="12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defRPr>
            </a:pPr>
            <a:r>
              <a:rPr sz="1200" b="0">
                <a:solidFill>
                  <a:srgbClr val="000000"/>
                </a:solidFill>
                <a:latin typeface="페이퍼로지 8 ExtraBold"/>
                <a:ea typeface="페이퍼로지 8 ExtraBold"/>
                <a:cs typeface="페이퍼로지 8 ExtraBold"/>
              </a:rPr>
              <a:t>품질 기준 유지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9A91DC2B-C678-4AB0-9383-614DE7C2A2A0}"/>
              </a:ext>
            </a:extLst>
          </p:cNvPr>
          <p:cNvSpPr>
            <a:spLocks noGrp="1"/>
          </p:cNvSpPr>
          <p:nvPr/>
        </p:nvSpPr>
        <p:spPr>
          <a:xfrm>
            <a:off x="5149056" y="5694362"/>
            <a:ext cx="2071254" cy="523875"/>
          </a:xfrm>
          <a:prstGeom prst="rect">
            <a:avLst/>
          </a:prstGeom>
          <a:noFill/>
          <a:ln w="0">
            <a:noFill/>
          </a:ln>
        </p:spPr>
        <p:txBody>
          <a:bodyPr lIns="74295" rIns="74295">
            <a:noAutofit/>
          </a:bodyPr>
          <a:lstStyle/>
          <a:p>
            <a:pPr>
              <a:defRPr sz="900" b="0">
                <a:solidFill>
                  <a:srgbClr val="EEE5E8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900" dirty="0" err="1">
                <a:solidFill>
                  <a:srgbClr val="6A7180"/>
                </a:solidFill>
                <a:latin typeface="페이퍼로지 5 Medium"/>
                <a:ea typeface="페이퍼로지 5 Medium"/>
              </a:rPr>
              <a:t>상시·한시</a:t>
            </a:r>
            <a:r>
              <a:rPr sz="900" dirty="0">
                <a:solidFill>
                  <a:srgbClr val="6A7180"/>
                </a:solidFill>
                <a:latin typeface="페이퍼로지 5 Medium"/>
                <a:ea typeface="페이퍼로지 5 Medium"/>
              </a:rPr>
              <a:t> </a:t>
            </a:r>
            <a:r>
              <a:rPr sz="900" dirty="0" err="1">
                <a:solidFill>
                  <a:srgbClr val="6A7180"/>
                </a:solidFill>
                <a:latin typeface="페이퍼로지 5 Medium"/>
                <a:ea typeface="페이퍼로지 5 Medium"/>
              </a:rPr>
              <a:t>동일</a:t>
            </a:r>
            <a:r>
              <a:rPr sz="900" dirty="0">
                <a:solidFill>
                  <a:srgbClr val="6A7180"/>
                </a:solidFill>
                <a:latin typeface="페이퍼로지 5 Medium"/>
                <a:ea typeface="페이퍼로지 5 Medium"/>
              </a:rPr>
              <a:t> </a:t>
            </a:r>
            <a:r>
              <a:rPr sz="900" dirty="0" err="1">
                <a:solidFill>
                  <a:srgbClr val="6A7180"/>
                </a:solidFill>
                <a:latin typeface="페이퍼로지 5 Medium"/>
                <a:ea typeface="페이퍼로지 5 Medium"/>
              </a:rPr>
              <a:t>기준</a:t>
            </a:r>
            <a:endParaRPr sz="900" dirty="0">
              <a:solidFill>
                <a:srgbClr val="6A7180"/>
              </a:solidFill>
              <a:latin typeface="페이퍼로지 5 Medium"/>
              <a:ea typeface="페이퍼로지 5 Medium"/>
            </a:endParaRPr>
          </a:p>
          <a:p>
            <a:pPr>
              <a:defRPr sz="900" b="0">
                <a:solidFill>
                  <a:srgbClr val="EEE5E8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900" dirty="0" err="1">
                <a:solidFill>
                  <a:srgbClr val="6A7180"/>
                </a:solidFill>
                <a:latin typeface="페이퍼로지 5 Medium"/>
                <a:ea typeface="페이퍼로지 5 Medium"/>
              </a:rPr>
              <a:t>숙련도별</a:t>
            </a:r>
            <a:r>
              <a:rPr sz="900" dirty="0">
                <a:solidFill>
                  <a:srgbClr val="6A7180"/>
                </a:solidFill>
                <a:latin typeface="페이퍼로지 5 Medium"/>
                <a:ea typeface="페이퍼로지 5 Medium"/>
              </a:rPr>
              <a:t> </a:t>
            </a:r>
            <a:r>
              <a:rPr sz="900" dirty="0" err="1">
                <a:solidFill>
                  <a:srgbClr val="6A7180"/>
                </a:solidFill>
                <a:latin typeface="페이퍼로지 5 Medium"/>
                <a:ea typeface="페이퍼로지 5 Medium"/>
              </a:rPr>
              <a:t>모니터링과</a:t>
            </a:r>
            <a:r>
              <a:rPr sz="900" dirty="0">
                <a:solidFill>
                  <a:srgbClr val="6A7180"/>
                </a:solidFill>
                <a:latin typeface="페이퍼로지 5 Medium"/>
                <a:ea typeface="페이퍼로지 5 Medium"/>
              </a:rPr>
              <a:t> </a:t>
            </a:r>
            <a:r>
              <a:rPr sz="900" dirty="0" err="1">
                <a:solidFill>
                  <a:srgbClr val="6A7180"/>
                </a:solidFill>
                <a:latin typeface="페이퍼로지 5 Medium"/>
                <a:ea typeface="페이퍼로지 5 Medium"/>
              </a:rPr>
              <a:t>코칭</a:t>
            </a:r>
            <a:r>
              <a:rPr lang="en-US" altLang="ko-KR" sz="900" dirty="0">
                <a:solidFill>
                  <a:srgbClr val="6A7180"/>
                </a:solidFill>
                <a:latin typeface="페이퍼로지 5 Medium"/>
                <a:ea typeface="페이퍼로지 5 Medium"/>
              </a:rPr>
              <a:t> </a:t>
            </a:r>
            <a:r>
              <a:rPr lang="ko-KR" altLang="en-US" sz="900" dirty="0">
                <a:solidFill>
                  <a:srgbClr val="6A7180"/>
                </a:solidFill>
                <a:latin typeface="페이퍼로지 5 Medium"/>
                <a:ea typeface="페이퍼로지 5 Medium"/>
              </a:rPr>
              <a:t>피드백 시행</a:t>
            </a:r>
            <a:endParaRPr sz="900" dirty="0">
              <a:solidFill>
                <a:srgbClr val="6A7180"/>
              </a:solidFill>
              <a:latin typeface="페이퍼로지 5 Medium"/>
              <a:ea typeface="페이퍼로지 5 Medium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7B4DD14B-FFC8-49C9-AC13-F4659B653738}"/>
              </a:ext>
            </a:extLst>
          </p:cNvPr>
          <p:cNvSpPr>
            <a:spLocks noGrp="1"/>
          </p:cNvSpPr>
          <p:nvPr/>
        </p:nvSpPr>
        <p:spPr>
          <a:xfrm>
            <a:off x="7254081" y="5151437"/>
            <a:ext cx="11609" cy="1066800"/>
          </a:xfrm>
          <a:prstGeom prst="rect">
            <a:avLst/>
          </a:prstGeom>
          <a:solidFill>
            <a:schemeClr val="bg1">
              <a:lumMod val="65000"/>
              <a:alpha val="34000"/>
            </a:schemeClr>
          </a:solidFill>
          <a:ln w="0">
            <a:noFill/>
          </a:ln>
        </p:spPr>
        <p:txBody>
          <a:bodyPr lIns="74295" rIns="74295"/>
          <a:lstStyle/>
          <a:p>
            <a:endParaRPr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4B9CC359-19E9-4FF8-9A73-A0626A96FD07}"/>
              </a:ext>
            </a:extLst>
          </p:cNvPr>
          <p:cNvSpPr>
            <a:spLocks noGrp="1"/>
          </p:cNvSpPr>
          <p:nvPr/>
        </p:nvSpPr>
        <p:spPr>
          <a:xfrm>
            <a:off x="7393384" y="5165113"/>
            <a:ext cx="348258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74295" tIns="0" rIns="74295" bIns="0">
            <a:noAutofit/>
          </a:bodyPr>
          <a:lstStyle/>
          <a:p>
            <a:pPr algn="l">
              <a:buNone/>
              <a:defRPr sz="900" b="0">
                <a:solidFill>
                  <a:srgbClr val="FFBBB9"/>
                </a:solidFill>
                <a:latin typeface="페이퍼로지 8 ExtraBold"/>
                <a:ea typeface="페이퍼로지 8 ExtraBold"/>
                <a:cs typeface="페이퍼로지 8 ExtraBold"/>
              </a:defRPr>
            </a:pPr>
            <a:r>
              <a:rPr sz="1200" b="0">
                <a:solidFill>
                  <a:schemeClr val="bg1">
                    <a:lumMod val="50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04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271E3753-BF6B-4A55-A492-01B842996E1B}"/>
              </a:ext>
            </a:extLst>
          </p:cNvPr>
          <p:cNvSpPr>
            <a:spLocks noGrp="1"/>
          </p:cNvSpPr>
          <p:nvPr/>
        </p:nvSpPr>
        <p:spPr>
          <a:xfrm>
            <a:off x="7393384" y="5376686"/>
            <a:ext cx="1934766" cy="295275"/>
          </a:xfrm>
          <a:prstGeom prst="rect">
            <a:avLst/>
          </a:prstGeom>
          <a:noFill/>
          <a:ln w="0">
            <a:noFill/>
          </a:ln>
        </p:spPr>
        <p:txBody>
          <a:bodyPr lIns="74295" rIns="74295">
            <a:noAutofit/>
          </a:bodyPr>
          <a:lstStyle/>
          <a:p>
            <a:pPr algn="l">
              <a:buNone/>
              <a:defRPr sz="12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defRPr>
            </a:pPr>
            <a:r>
              <a:rPr sz="1200" b="0">
                <a:solidFill>
                  <a:srgbClr val="000000"/>
                </a:solidFill>
                <a:latin typeface="페이퍼로지 8 ExtraBold"/>
                <a:ea typeface="페이퍼로지 8 ExtraBold"/>
                <a:cs typeface="페이퍼로지 8 ExtraBold"/>
              </a:rPr>
              <a:t>실명 책임 운영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B31B94E5-C6D1-417C-A4CC-913A518E0F8B}"/>
              </a:ext>
            </a:extLst>
          </p:cNvPr>
          <p:cNvSpPr>
            <a:spLocks noGrp="1"/>
          </p:cNvSpPr>
          <p:nvPr/>
        </p:nvSpPr>
        <p:spPr>
          <a:xfrm>
            <a:off x="7393384" y="5694362"/>
            <a:ext cx="1934766" cy="523875"/>
          </a:xfrm>
          <a:prstGeom prst="rect">
            <a:avLst/>
          </a:prstGeom>
          <a:noFill/>
          <a:ln w="0">
            <a:noFill/>
          </a:ln>
        </p:spPr>
        <p:txBody>
          <a:bodyPr lIns="74295" rIns="74295">
            <a:noAutofit/>
          </a:bodyPr>
          <a:lstStyle/>
          <a:p>
            <a:pPr>
              <a:defRPr sz="900" b="0">
                <a:solidFill>
                  <a:srgbClr val="EEE5E8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900" dirty="0" err="1">
                <a:solidFill>
                  <a:srgbClr val="6A7180"/>
                </a:solidFill>
                <a:latin typeface="페이퍼로지 5 Medium"/>
                <a:ea typeface="페이퍼로지 5 Medium"/>
              </a:rPr>
              <a:t>총괄</a:t>
            </a:r>
            <a:r>
              <a:rPr sz="900" dirty="0">
                <a:solidFill>
                  <a:srgbClr val="6A7180"/>
                </a:solidFill>
                <a:latin typeface="페이퍼로지 5 Medium"/>
                <a:ea typeface="페이퍼로지 5 Medium"/>
              </a:rPr>
              <a:t> </a:t>
            </a:r>
            <a:r>
              <a:rPr sz="900" dirty="0" err="1">
                <a:solidFill>
                  <a:srgbClr val="6A7180"/>
                </a:solidFill>
                <a:latin typeface="페이퍼로지 5 Medium"/>
                <a:ea typeface="페이퍼로지 5 Medium"/>
              </a:rPr>
              <a:t>책임자</a:t>
            </a:r>
            <a:r>
              <a:rPr sz="900" dirty="0">
                <a:solidFill>
                  <a:srgbClr val="6A7180"/>
                </a:solidFill>
                <a:latin typeface="페이퍼로지 5 Medium"/>
                <a:ea typeface="페이퍼로지 5 Medium"/>
              </a:rPr>
              <a:t> </a:t>
            </a:r>
            <a:r>
              <a:rPr sz="900" dirty="0" err="1">
                <a:solidFill>
                  <a:srgbClr val="6A7180"/>
                </a:solidFill>
                <a:latin typeface="페이퍼로지 5 Medium"/>
                <a:ea typeface="페이퍼로지 5 Medium"/>
              </a:rPr>
              <a:t>중심</a:t>
            </a:r>
            <a:r>
              <a:rPr sz="900" dirty="0">
                <a:solidFill>
                  <a:srgbClr val="6A7180"/>
                </a:solidFill>
                <a:latin typeface="페이퍼로지 5 Medium"/>
                <a:ea typeface="페이퍼로지 5 Medium"/>
              </a:rPr>
              <a:t> </a:t>
            </a:r>
            <a:r>
              <a:rPr sz="900" dirty="0" err="1">
                <a:solidFill>
                  <a:srgbClr val="6A7180"/>
                </a:solidFill>
                <a:latin typeface="페이퍼로지 5 Medium"/>
                <a:ea typeface="페이퍼로지 5 Medium"/>
              </a:rPr>
              <a:t>보고</a:t>
            </a:r>
            <a:endParaRPr sz="900" dirty="0">
              <a:solidFill>
                <a:srgbClr val="6A7180"/>
              </a:solidFill>
              <a:latin typeface="페이퍼로지 5 Medium"/>
              <a:ea typeface="페이퍼로지 5 Medium"/>
            </a:endParaRPr>
          </a:p>
          <a:p>
            <a:pPr>
              <a:defRPr sz="900" b="0">
                <a:solidFill>
                  <a:srgbClr val="EEE5E8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900" dirty="0">
                <a:solidFill>
                  <a:srgbClr val="6A7180"/>
                </a:solidFill>
                <a:latin typeface="페이퍼로지 5 Medium"/>
                <a:ea typeface="페이퍼로지 5 Medium"/>
              </a:rPr>
              <a:t>Action </a:t>
            </a:r>
            <a:r>
              <a:rPr sz="900" dirty="0" err="1">
                <a:solidFill>
                  <a:srgbClr val="6A7180"/>
                </a:solidFill>
                <a:latin typeface="페이퍼로지 5 Medium"/>
                <a:ea typeface="페이퍼로지 5 Medium"/>
              </a:rPr>
              <a:t>완료까지</a:t>
            </a:r>
            <a:r>
              <a:rPr sz="900" dirty="0">
                <a:solidFill>
                  <a:srgbClr val="6A7180"/>
                </a:solidFill>
                <a:latin typeface="페이퍼로지 5 Medium"/>
                <a:ea typeface="페이퍼로지 5 Medium"/>
              </a:rPr>
              <a:t> </a:t>
            </a:r>
            <a:r>
              <a:rPr lang="ko-KR" altLang="en-US" sz="900" dirty="0">
                <a:solidFill>
                  <a:srgbClr val="6A7180"/>
                </a:solidFill>
                <a:latin typeface="페이퍼로지 5 Medium"/>
                <a:ea typeface="페이퍼로지 5 Medium"/>
              </a:rPr>
              <a:t>이행 관리</a:t>
            </a:r>
            <a:endParaRPr sz="900" dirty="0">
              <a:solidFill>
                <a:srgbClr val="6A7180"/>
              </a:solidFill>
              <a:latin typeface="페이퍼로지 5 Medium"/>
              <a:ea typeface="페이퍼로지 5 Medium"/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A43C0CC9-92B7-4785-A1D9-4C4A5C86EEC8}"/>
              </a:ext>
            </a:extLst>
          </p:cNvPr>
          <p:cNvSpPr>
            <a:spLocks noGrp="1"/>
          </p:cNvSpPr>
          <p:nvPr/>
        </p:nvSpPr>
        <p:spPr>
          <a:xfrm>
            <a:off x="619125" y="4417791"/>
            <a:ext cx="8685807" cy="589151"/>
          </a:xfrm>
          <a:prstGeom prst="roundRect">
            <a:avLst>
              <a:gd name="adj" fmla="val 17073"/>
            </a:avLst>
          </a:prstGeom>
          <a:solidFill>
            <a:srgbClr val="F3F4F6">
              <a:alpha val="94000"/>
            </a:srgbClr>
          </a:solidFill>
          <a:ln w="0">
            <a:noFill/>
          </a:ln>
        </p:spPr>
        <p:txBody>
          <a:bodyPr lIns="74295" rIns="74295"/>
          <a:lstStyle/>
          <a:p>
            <a:endParaRPr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35AA3D6F-F3FE-4CAD-AB5E-CCACB2AEB29B}"/>
              </a:ext>
            </a:extLst>
          </p:cNvPr>
          <p:cNvSpPr>
            <a:spLocks noGrp="1"/>
          </p:cNvSpPr>
          <p:nvPr/>
        </p:nvSpPr>
        <p:spPr>
          <a:xfrm>
            <a:off x="717454" y="4524208"/>
            <a:ext cx="3250406" cy="301760"/>
          </a:xfrm>
          <a:prstGeom prst="rect">
            <a:avLst/>
          </a:prstGeom>
          <a:noFill/>
          <a:ln w="0">
            <a:noFill/>
          </a:ln>
        </p:spPr>
        <p:txBody>
          <a:bodyPr lIns="74295" tIns="0" rIns="74295" bIns="0">
            <a:noAutofit/>
          </a:bodyPr>
          <a:lstStyle/>
          <a:p>
            <a:pPr algn="l">
              <a:buNone/>
              <a:defRPr sz="1800" b="0">
                <a:solidFill>
                  <a:srgbClr val="0F131F"/>
                </a:solidFill>
                <a:latin typeface="페이퍼로지 8 ExtraBold"/>
                <a:ea typeface="페이퍼로지 8 ExtraBold"/>
                <a:cs typeface="페이퍼로지 8 ExtraBold"/>
              </a:defRPr>
            </a:pPr>
            <a:r>
              <a:rPr sz="1800" b="0" dirty="0" err="1">
                <a:solidFill>
                  <a:srgbClr val="000000"/>
                </a:solidFill>
                <a:latin typeface="페이퍼로지 8 ExtraBold"/>
                <a:ea typeface="페이퍼로지 8 ExtraBold"/>
                <a:cs typeface="페이퍼로지 8 ExtraBold"/>
              </a:rPr>
              <a:t>중단</a:t>
            </a:r>
            <a:r>
              <a:rPr sz="1800" b="0" dirty="0">
                <a:solidFill>
                  <a:srgbClr val="000000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  <a:r>
              <a:rPr sz="1800" b="0" dirty="0" err="1">
                <a:solidFill>
                  <a:srgbClr val="000000"/>
                </a:solidFill>
                <a:latin typeface="페이퍼로지 8 ExtraBold"/>
                <a:ea typeface="페이퍼로지 8 ExtraBold"/>
                <a:cs typeface="페이퍼로지 8 ExtraBold"/>
              </a:rPr>
              <a:t>없는</a:t>
            </a:r>
            <a:r>
              <a:rPr sz="1800" b="0" dirty="0">
                <a:solidFill>
                  <a:srgbClr val="000000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  <a:r>
              <a:rPr sz="1800" b="0" dirty="0" err="1">
                <a:solidFill>
                  <a:srgbClr val="000000"/>
                </a:solidFill>
                <a:latin typeface="페이퍼로지 8 ExtraBold"/>
                <a:ea typeface="페이퍼로지 8 ExtraBold"/>
                <a:cs typeface="페이퍼로지 8 ExtraBold"/>
              </a:rPr>
              <a:t>고객경험</a:t>
            </a:r>
            <a:endParaRPr sz="1800" b="0" dirty="0">
              <a:solidFill>
                <a:srgbClr val="000000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C0910CE9-50C5-46B1-A8BF-2B0FAE8C6DB4}"/>
              </a:ext>
            </a:extLst>
          </p:cNvPr>
          <p:cNvSpPr>
            <a:spLocks noGrp="1"/>
          </p:cNvSpPr>
          <p:nvPr/>
        </p:nvSpPr>
        <p:spPr>
          <a:xfrm>
            <a:off x="4480461" y="4705682"/>
            <a:ext cx="4689872" cy="215543"/>
          </a:xfrm>
          <a:prstGeom prst="rect">
            <a:avLst/>
          </a:prstGeom>
          <a:noFill/>
          <a:ln w="0">
            <a:noFill/>
          </a:ln>
        </p:spPr>
        <p:txBody>
          <a:bodyPr lIns="74295" rIns="74295">
            <a:noAutofit/>
          </a:bodyPr>
          <a:lstStyle/>
          <a:p>
            <a:pPr algn="r">
              <a:buNone/>
              <a:defRPr sz="900" b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defRPr>
            </a:pPr>
            <a:r>
              <a:rPr sz="900" b="0" dirty="0" err="1">
                <a:solidFill>
                  <a:srgbClr val="000000"/>
                </a:solidFill>
                <a:latin typeface="페이퍼로지 8 ExtraBold"/>
                <a:ea typeface="페이퍼로지 8 ExtraBold"/>
                <a:cs typeface="페이퍼로지 8 ExtraBold"/>
              </a:rPr>
              <a:t>운영개시일부터</a:t>
            </a:r>
            <a:r>
              <a:rPr sz="900" b="0" dirty="0">
                <a:solidFill>
                  <a:srgbClr val="000000"/>
                </a:solidFill>
                <a:latin typeface="페이퍼로지 8 ExtraBold"/>
                <a:ea typeface="페이퍼로지 8 ExtraBold"/>
                <a:cs typeface="페이퍼로지 8 ExtraBold"/>
              </a:rPr>
              <a:t> Peak </a:t>
            </a:r>
            <a:r>
              <a:rPr sz="900" b="0" dirty="0" err="1">
                <a:solidFill>
                  <a:srgbClr val="000000"/>
                </a:solidFill>
                <a:latin typeface="페이퍼로지 8 ExtraBold"/>
                <a:ea typeface="페이퍼로지 8 ExtraBold"/>
                <a:cs typeface="페이퍼로지 8 ExtraBold"/>
              </a:rPr>
              <a:t>종료까지</a:t>
            </a:r>
            <a:r>
              <a:rPr sz="900" b="0" dirty="0">
                <a:solidFill>
                  <a:srgbClr val="000000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  <a:r>
              <a:rPr sz="900" b="0" dirty="0" err="1">
                <a:solidFill>
                  <a:srgbClr val="000000"/>
                </a:solidFill>
                <a:latin typeface="페이퍼로지 8 ExtraBold"/>
                <a:ea typeface="페이퍼로지 8 ExtraBold"/>
                <a:cs typeface="페이퍼로지 8 ExtraBold"/>
              </a:rPr>
              <a:t>동일</a:t>
            </a:r>
            <a:r>
              <a:rPr sz="900" b="0" dirty="0">
                <a:solidFill>
                  <a:srgbClr val="000000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  <a:r>
              <a:rPr sz="900" b="0" dirty="0" err="1">
                <a:solidFill>
                  <a:srgbClr val="000000"/>
                </a:solidFill>
                <a:latin typeface="페이퍼로지 8 ExtraBold"/>
                <a:ea typeface="페이퍼로지 8 ExtraBold"/>
                <a:cs typeface="페이퍼로지 8 ExtraBold"/>
              </a:rPr>
              <a:t>기준으로</a:t>
            </a:r>
            <a:r>
              <a:rPr sz="900" b="0" dirty="0">
                <a:solidFill>
                  <a:srgbClr val="000000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  <a:r>
              <a:rPr sz="900" b="0" dirty="0" err="1">
                <a:solidFill>
                  <a:srgbClr val="000000"/>
                </a:solidFill>
                <a:latin typeface="페이퍼로지 8 ExtraBold"/>
                <a:ea typeface="페이퍼로지 8 ExtraBold"/>
                <a:cs typeface="페이퍼로지 8 ExtraBold"/>
              </a:rPr>
              <a:t>관리</a:t>
            </a:r>
            <a:endParaRPr sz="900" b="0" dirty="0">
              <a:solidFill>
                <a:srgbClr val="000000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3">
            <a:extLst>
              <a:ext uri="{FF2B5EF4-FFF2-40B4-BE49-F238E27FC236}">
                <a16:creationId xmlns:a16="http://schemas.microsoft.com/office/drawing/2014/main" id="{C6807522-730A-4479-8C96-26C8BF887E82}"/>
              </a:ext>
            </a:extLst>
          </p:cNvPr>
          <p:cNvSpPr/>
          <p:nvPr/>
        </p:nvSpPr>
        <p:spPr>
          <a:xfrm>
            <a:off x="5200650" y="1734840"/>
            <a:ext cx="4166298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500"/>
              </a:lnSpc>
              <a:buNone/>
            </a:pPr>
            <a:r>
              <a:rPr lang="en-US" sz="5400" b="0" kern="0" spc="-300" dirty="0">
                <a:solidFill>
                  <a:srgbClr val="E60059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  <a:endParaRPr lang="en-US" sz="5400" dirty="0">
              <a:solidFill>
                <a:srgbClr val="E60059"/>
              </a:solidFill>
              <a:latin typeface="+mn-ea"/>
            </a:endParaRPr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8B642D3E-B4CC-4337-A9E5-AB58B732E7A1}"/>
              </a:ext>
            </a:extLst>
          </p:cNvPr>
          <p:cNvSpPr/>
          <p:nvPr/>
        </p:nvSpPr>
        <p:spPr>
          <a:xfrm>
            <a:off x="5200650" y="2852440"/>
            <a:ext cx="4166298" cy="573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10"/>
              </a:lnSpc>
              <a:buNone/>
            </a:pPr>
            <a:r>
              <a:rPr lang="en-US" sz="2900" b="0" kern="0" spc="-50" dirty="0">
                <a:solidFill>
                  <a:srgbClr val="0F131F"/>
                </a:solidFill>
                <a:latin typeface="페이퍼로지 8 ExtraBold"/>
                <a:ea typeface="페이퍼로지 8 ExtraBold"/>
                <a:cs typeface="페이퍼로지 8 ExtraBold"/>
              </a:rPr>
              <a:t>제안사 일반</a:t>
            </a:r>
            <a:endParaRPr lang="en-US" sz="2900" dirty="0">
              <a:latin typeface="+mn-ea"/>
            </a:endParaRPr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ADBADF35-665A-4360-8EDE-877E717128C1}"/>
              </a:ext>
            </a:extLst>
          </p:cNvPr>
          <p:cNvSpPr/>
          <p:nvPr/>
        </p:nvSpPr>
        <p:spPr>
          <a:xfrm>
            <a:off x="5200650" y="3460104"/>
            <a:ext cx="416629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9"/>
              </a:lnSpc>
              <a:buNone/>
            </a:pPr>
            <a:r>
              <a:rPr lang="en-US" sz="1100" kern="0" spc="50" dirty="0">
                <a:solidFill>
                  <a:srgbClr val="8A8F99"/>
                </a:solidFill>
                <a:latin typeface="페이퍼로지 5 Medium"/>
                <a:ea typeface="페이퍼로지 5 Medium"/>
                <a:cs typeface="페이퍼로지 5 Medium"/>
              </a:rPr>
              <a:t>p.13–16</a:t>
            </a:r>
            <a:endParaRPr lang="en-US" sz="1100" dirty="0">
              <a:latin typeface="+mn-ea"/>
            </a:endParaRPr>
          </a:p>
        </p:txBody>
      </p:sp>
      <p:sp>
        <p:nvSpPr>
          <p:cNvPr id="26" name="Shape 6">
            <a:extLst>
              <a:ext uri="{FF2B5EF4-FFF2-40B4-BE49-F238E27FC236}">
                <a16:creationId xmlns:a16="http://schemas.microsoft.com/office/drawing/2014/main" id="{8191E20C-5FED-4839-9B88-D5243BDCD445}"/>
              </a:ext>
            </a:extLst>
          </p:cNvPr>
          <p:cNvSpPr/>
          <p:nvPr/>
        </p:nvSpPr>
        <p:spPr>
          <a:xfrm>
            <a:off x="5200650" y="3917851"/>
            <a:ext cx="4044950" cy="0"/>
          </a:xfrm>
          <a:prstGeom prst="line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solid"/>
          </a:ln>
        </p:spPr>
        <p:txBody>
          <a:bodyPr lIns="74295" rIns="74295"/>
          <a:lstStyle/>
          <a:p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230668" y="4038600"/>
            <a:ext cx="3939886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2-1  일반 현황 및 주요 연혁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30668" y="4445000"/>
            <a:ext cx="3939886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2-2  조직 및 인원 현황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30668" y="4851400"/>
            <a:ext cx="3939886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2-3  재무 현황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30668" y="5257800"/>
            <a:ext cx="3939886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ko-KR" altLang="ko-KR" sz="1000" dirty="0">
                <a:solidFill>
                  <a:srgbClr val="10151F"/>
                </a:solidFill>
                <a:cs typeface="페이퍼로지 5 Medium"/>
              </a:rPr>
              <a:t>2-4·5  사업 현황 · 유사 사업 수행 실적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Rectangle 2">
            <a:extLst>
              <a:ext uri="{FF2B5EF4-FFF2-40B4-BE49-F238E27FC236}">
                <a16:creationId xmlns:a16="http://schemas.microsoft.com/office/drawing/2014/main" id="{66282572-5816-422F-A5F6-6F46198BC839}"/>
              </a:ext>
            </a:extLst>
          </p:cNvPr>
          <p:cNvSpPr/>
          <p:nvPr/>
        </p:nvSpPr>
        <p:spPr>
          <a:xfrm>
            <a:off x="1929606" y="381000"/>
            <a:ext cx="61912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altLang="ko-KR" sz="900" b="0" dirty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2</a:t>
            </a:r>
            <a:r>
              <a:rPr lang="ko-KR" sz="900" b="0" dirty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-</a:t>
            </a:r>
            <a:r>
              <a:rPr lang="en-US" altLang="ko-KR" sz="900" b="0" dirty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1</a:t>
            </a:r>
            <a:r>
              <a:rPr lang="ko-KR" sz="900" b="0" dirty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. </a:t>
            </a:r>
            <a:r>
              <a:rPr lang="ko-KR" altLang="en-US" sz="900" b="0" dirty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일반 현황 및 주요 연혁</a:t>
            </a:r>
            <a:endParaRPr lang="ko-KR" sz="900" b="0" dirty="0">
              <a:solidFill>
                <a:srgbClr val="A50034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179" name="Rectangle 3">
            <a:extLst>
              <a:ext uri="{FF2B5EF4-FFF2-40B4-BE49-F238E27FC236}">
                <a16:creationId xmlns:a16="http://schemas.microsoft.com/office/drawing/2014/main" id="{32FA807B-A07A-47B7-8748-91F14EE4A93C}"/>
              </a:ext>
            </a:extLst>
          </p:cNvPr>
          <p:cNvSpPr/>
          <p:nvPr/>
        </p:nvSpPr>
        <p:spPr>
          <a:xfrm>
            <a:off x="846138" y="660400"/>
            <a:ext cx="8461375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0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고객센터 운영 전문기업 </a:t>
            </a:r>
            <a:r>
              <a:rPr lang="ko-KR" sz="20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KT IS</a:t>
            </a:r>
            <a:r>
              <a:rPr lang="ko-KR" sz="20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를 소개합니다</a:t>
            </a:r>
          </a:p>
        </p:txBody>
      </p:sp>
      <p:sp>
        <p:nvSpPr>
          <p:cNvPr id="180" name="Rectangle 4">
            <a:extLst>
              <a:ext uri="{FF2B5EF4-FFF2-40B4-BE49-F238E27FC236}">
                <a16:creationId xmlns:a16="http://schemas.microsoft.com/office/drawing/2014/main" id="{AFA34CF8-6FC8-470E-A633-424A91EECBE9}"/>
              </a:ext>
            </a:extLst>
          </p:cNvPr>
          <p:cNvSpPr/>
          <p:nvPr/>
        </p:nvSpPr>
        <p:spPr>
          <a:xfrm>
            <a:off x="846138" y="1079500"/>
            <a:ext cx="84613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고객센터 운영이라는 한 분야에서 꾸준히 경험을 쌓아 왔습니다.</a:t>
            </a:r>
          </a:p>
        </p:txBody>
      </p:sp>
      <p:sp>
        <p:nvSpPr>
          <p:cNvPr id="181" name="Rectangle 78">
            <a:extLst>
              <a:ext uri="{FF2B5EF4-FFF2-40B4-BE49-F238E27FC236}">
                <a16:creationId xmlns:a16="http://schemas.microsoft.com/office/drawing/2014/main" id="{7D347CCC-3F77-43D2-A599-83BD1A2ACE74}"/>
              </a:ext>
            </a:extLst>
          </p:cNvPr>
          <p:cNvSpPr/>
          <p:nvPr/>
        </p:nvSpPr>
        <p:spPr>
          <a:xfrm>
            <a:off x="4417658" y="65532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fld id="{B6F15528-21DE-4FAA-801E-634DDDAF4B2B}" type="slidenum"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13</a:t>
            </a:fld>
            <a:r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 / 49</a:t>
            </a:r>
            <a:endParaRPr lang="ko-KR" sz="600" b="0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79" name="Rounded Rectangle 329">
            <a:extLst>
              <a:ext uri="{FF2B5EF4-FFF2-40B4-BE49-F238E27FC236}">
                <a16:creationId xmlns:a16="http://schemas.microsoft.com/office/drawing/2014/main" id="{4A4C1332-D910-4EB8-804B-5E102DD2B448}"/>
              </a:ext>
            </a:extLst>
          </p:cNvPr>
          <p:cNvSpPr/>
          <p:nvPr/>
        </p:nvSpPr>
        <p:spPr>
          <a:xfrm>
            <a:off x="660400" y="1422400"/>
            <a:ext cx="2717800" cy="4826000"/>
          </a:xfrm>
          <a:prstGeom prst="roundRect">
            <a:avLst>
              <a:gd name="adj" fmla="val 4000"/>
            </a:avLst>
          </a:prstGeom>
          <a:solidFill>
            <a:srgbClr val="FAFAFA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330">
            <a:extLst>
              <a:ext uri="{FF2B5EF4-FFF2-40B4-BE49-F238E27FC236}">
                <a16:creationId xmlns:a16="http://schemas.microsoft.com/office/drawing/2014/main" id="{E8BEFAB8-BA6D-46CB-BC61-692204F3AEFF}"/>
              </a:ext>
            </a:extLst>
          </p:cNvPr>
          <p:cNvSpPr/>
          <p:nvPr/>
        </p:nvSpPr>
        <p:spPr>
          <a:xfrm>
            <a:off x="660400" y="1422400"/>
            <a:ext cx="2717800" cy="50800"/>
          </a:xfrm>
          <a:prstGeom prst="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1" name="Picture 331" descr="image.png">
            <a:extLst>
              <a:ext uri="{FF2B5EF4-FFF2-40B4-BE49-F238E27FC236}">
                <a16:creationId xmlns:a16="http://schemas.microsoft.com/office/drawing/2014/main" id="{AD83A434-F225-4808-A6B9-5ECAAC1667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0" y="1676400"/>
            <a:ext cx="711467" cy="330200"/>
          </a:xfrm>
          <a:prstGeom prst="rect">
            <a:avLst/>
          </a:prstGeom>
        </p:spPr>
      </p:pic>
      <p:sp>
        <p:nvSpPr>
          <p:cNvPr id="82" name="Rectangle 332">
            <a:extLst>
              <a:ext uri="{FF2B5EF4-FFF2-40B4-BE49-F238E27FC236}">
                <a16:creationId xmlns:a16="http://schemas.microsoft.com/office/drawing/2014/main" id="{7604882A-EF00-4DF6-B1C3-F0EE229D7117}"/>
              </a:ext>
            </a:extLst>
          </p:cNvPr>
          <p:cNvSpPr/>
          <p:nvPr/>
        </p:nvSpPr>
        <p:spPr>
          <a:xfrm>
            <a:off x="863600" y="2133600"/>
            <a:ext cx="2413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100" b="1" dirty="0">
                <a:solidFill>
                  <a:srgbClr val="ED2024"/>
                </a:solidFill>
                <a:latin typeface="페이퍼로지 8 ExtraBold"/>
                <a:ea typeface="페이퍼로지 8 ExtraBold"/>
                <a:cs typeface="페이퍼로지 8 ExtraBold"/>
              </a:rPr>
              <a:t>AX </a:t>
            </a:r>
            <a:r>
              <a:rPr lang="ko-KR" sz="1100" b="1" dirty="0" err="1">
                <a:solidFill>
                  <a:srgbClr val="ED2024"/>
                </a:solidFill>
                <a:latin typeface="페이퍼로지 8 ExtraBold"/>
                <a:ea typeface="페이퍼로지 8 ExtraBold"/>
                <a:cs typeface="페이퍼로지 8 ExtraBold"/>
              </a:rPr>
              <a:t>Contact</a:t>
            </a:r>
            <a:r>
              <a:rPr lang="ko-KR" sz="1100" b="1" dirty="0">
                <a:solidFill>
                  <a:srgbClr val="ED2024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  <a:r>
              <a:rPr lang="ko-KR" sz="1100" b="1" dirty="0" err="1">
                <a:solidFill>
                  <a:srgbClr val="ED2024"/>
                </a:solidFill>
                <a:latin typeface="페이퍼로지 8 ExtraBold"/>
                <a:ea typeface="페이퍼로지 8 ExtraBold"/>
                <a:cs typeface="페이퍼로지 8 ExtraBold"/>
              </a:rPr>
              <a:t>Platform</a:t>
            </a:r>
            <a:r>
              <a:rPr lang="ko-KR" sz="1100" b="1" dirty="0">
                <a:solidFill>
                  <a:srgbClr val="ED2024"/>
                </a:solidFill>
                <a:latin typeface="페이퍼로지 8 ExtraBold"/>
                <a:ea typeface="페이퍼로지 8 ExtraBold"/>
                <a:cs typeface="페이퍼로지 8 ExtraBold"/>
              </a:rPr>
              <a:t> Company</a:t>
            </a:r>
          </a:p>
        </p:txBody>
      </p:sp>
      <p:sp>
        <p:nvSpPr>
          <p:cNvPr id="83" name="Rectangle 333">
            <a:extLst>
              <a:ext uri="{FF2B5EF4-FFF2-40B4-BE49-F238E27FC236}">
                <a16:creationId xmlns:a16="http://schemas.microsoft.com/office/drawing/2014/main" id="{7EF0668C-9926-42FF-BACC-673E1070DABF}"/>
              </a:ext>
            </a:extLst>
          </p:cNvPr>
          <p:cNvSpPr/>
          <p:nvPr/>
        </p:nvSpPr>
        <p:spPr>
          <a:xfrm>
            <a:off x="863600" y="2387600"/>
            <a:ext cx="24130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ko-KR" sz="900" b="0">
                <a:solidFill>
                  <a:srgbClr val="555555"/>
                </a:solidFill>
                <a:latin typeface="페이퍼로지 5 Medium"/>
                <a:ea typeface="페이퍼로지 5 Medium"/>
                <a:cs typeface="페이퍼로지 5 Medium"/>
              </a:rPr>
              <a:t>고객경험의 현재와 미래를 책임지는</a:t>
            </a:r>
          </a:p>
          <a:p>
            <a:pPr algn="l">
              <a:lnSpc>
                <a:spcPct val="125000"/>
              </a:lnSpc>
            </a:pPr>
            <a:r>
              <a:rPr lang="ko-KR" sz="900" b="0">
                <a:solidFill>
                  <a:srgbClr val="555555"/>
                </a:solidFill>
                <a:latin typeface="페이퍼로지 5 Medium"/>
                <a:ea typeface="페이퍼로지 5 Medium"/>
                <a:cs typeface="페이퍼로지 5 Medium"/>
              </a:rPr>
              <a:t>코스피 상장 KT그룹 계열사</a:t>
            </a:r>
          </a:p>
        </p:txBody>
      </p:sp>
      <p:sp>
        <p:nvSpPr>
          <p:cNvPr id="84" name="Rectangle 334">
            <a:extLst>
              <a:ext uri="{FF2B5EF4-FFF2-40B4-BE49-F238E27FC236}">
                <a16:creationId xmlns:a16="http://schemas.microsoft.com/office/drawing/2014/main" id="{D6868701-E6DF-431E-9DC4-819FAF8CB524}"/>
              </a:ext>
            </a:extLst>
          </p:cNvPr>
          <p:cNvSpPr/>
          <p:nvPr/>
        </p:nvSpPr>
        <p:spPr>
          <a:xfrm>
            <a:off x="863600" y="2946400"/>
            <a:ext cx="6604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888888"/>
                </a:solidFill>
                <a:latin typeface="페이퍼로지 5 Medium"/>
                <a:ea typeface="페이퍼로지 5 Medium"/>
                <a:cs typeface="페이퍼로지 5 Medium"/>
              </a:rPr>
              <a:t>법인명</a:t>
            </a:r>
          </a:p>
        </p:txBody>
      </p:sp>
      <p:sp>
        <p:nvSpPr>
          <p:cNvPr id="85" name="Rectangle 335">
            <a:extLst>
              <a:ext uri="{FF2B5EF4-FFF2-40B4-BE49-F238E27FC236}">
                <a16:creationId xmlns:a16="http://schemas.microsoft.com/office/drawing/2014/main" id="{6254AE9C-597C-4293-8F18-D33F9D29D84A}"/>
              </a:ext>
            </a:extLst>
          </p:cNvPr>
          <p:cNvSpPr/>
          <p:nvPr/>
        </p:nvSpPr>
        <p:spPr>
          <a:xfrm>
            <a:off x="1524000" y="2946400"/>
            <a:ext cx="17780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1">
                <a:solidFill>
                  <a:srgbClr val="111111"/>
                </a:solidFill>
                <a:latin typeface="페이퍼로지 8 ExtraBold"/>
                <a:ea typeface="페이퍼로지 8 ExtraBold"/>
                <a:cs typeface="페이퍼로지 8 ExtraBold"/>
              </a:rPr>
              <a:t>주식회사 케이티아이에스</a:t>
            </a:r>
          </a:p>
        </p:txBody>
      </p:sp>
      <p:sp>
        <p:nvSpPr>
          <p:cNvPr id="86" name="Rectangle 336">
            <a:extLst>
              <a:ext uri="{FF2B5EF4-FFF2-40B4-BE49-F238E27FC236}">
                <a16:creationId xmlns:a16="http://schemas.microsoft.com/office/drawing/2014/main" id="{61AAE632-93A8-4961-84FD-EA4C190BD1D5}"/>
              </a:ext>
            </a:extLst>
          </p:cNvPr>
          <p:cNvSpPr/>
          <p:nvPr/>
        </p:nvSpPr>
        <p:spPr>
          <a:xfrm>
            <a:off x="863600" y="3378200"/>
            <a:ext cx="2311400" cy="7620"/>
          </a:xfrm>
          <a:prstGeom prst="rect">
            <a:avLst/>
          </a:prstGeom>
          <a:solidFill>
            <a:srgbClr val="E3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337">
            <a:extLst>
              <a:ext uri="{FF2B5EF4-FFF2-40B4-BE49-F238E27FC236}">
                <a16:creationId xmlns:a16="http://schemas.microsoft.com/office/drawing/2014/main" id="{1A3A573C-4C28-4D96-98DA-3D114DB58428}"/>
              </a:ext>
            </a:extLst>
          </p:cNvPr>
          <p:cNvSpPr/>
          <p:nvPr/>
        </p:nvSpPr>
        <p:spPr>
          <a:xfrm>
            <a:off x="863600" y="3454400"/>
            <a:ext cx="6604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888888"/>
                </a:solidFill>
                <a:latin typeface="페이퍼로지 5 Medium"/>
                <a:ea typeface="페이퍼로지 5 Medium"/>
                <a:cs typeface="페이퍼로지 5 Medium"/>
              </a:rPr>
              <a:t>대표이사</a:t>
            </a:r>
          </a:p>
        </p:txBody>
      </p:sp>
      <p:sp>
        <p:nvSpPr>
          <p:cNvPr id="88" name="Rectangle 338">
            <a:extLst>
              <a:ext uri="{FF2B5EF4-FFF2-40B4-BE49-F238E27FC236}">
                <a16:creationId xmlns:a16="http://schemas.microsoft.com/office/drawing/2014/main" id="{2E1DEA2A-C954-481A-8EC6-6177C9A7458E}"/>
              </a:ext>
            </a:extLst>
          </p:cNvPr>
          <p:cNvSpPr/>
          <p:nvPr/>
        </p:nvSpPr>
        <p:spPr>
          <a:xfrm>
            <a:off x="1524000" y="3454400"/>
            <a:ext cx="17780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1">
                <a:solidFill>
                  <a:srgbClr val="111111"/>
                </a:solidFill>
                <a:latin typeface="페이퍼로지 8 ExtraBold"/>
                <a:ea typeface="페이퍼로지 8 ExtraBold"/>
                <a:cs typeface="페이퍼로지 8 ExtraBold"/>
              </a:rPr>
              <a:t>양율모</a:t>
            </a:r>
          </a:p>
        </p:txBody>
      </p:sp>
      <p:sp>
        <p:nvSpPr>
          <p:cNvPr id="89" name="Rectangle 339">
            <a:extLst>
              <a:ext uri="{FF2B5EF4-FFF2-40B4-BE49-F238E27FC236}">
                <a16:creationId xmlns:a16="http://schemas.microsoft.com/office/drawing/2014/main" id="{08C04B3F-27C7-4A27-BEFA-C0CF0F91C95B}"/>
              </a:ext>
            </a:extLst>
          </p:cNvPr>
          <p:cNvSpPr/>
          <p:nvPr/>
        </p:nvSpPr>
        <p:spPr>
          <a:xfrm>
            <a:off x="863600" y="3886200"/>
            <a:ext cx="2311400" cy="7620"/>
          </a:xfrm>
          <a:prstGeom prst="rect">
            <a:avLst/>
          </a:prstGeom>
          <a:solidFill>
            <a:srgbClr val="E3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340">
            <a:extLst>
              <a:ext uri="{FF2B5EF4-FFF2-40B4-BE49-F238E27FC236}">
                <a16:creationId xmlns:a16="http://schemas.microsoft.com/office/drawing/2014/main" id="{EEBB534F-70C5-4211-AED3-D60B94C21F31}"/>
              </a:ext>
            </a:extLst>
          </p:cNvPr>
          <p:cNvSpPr/>
          <p:nvPr/>
        </p:nvSpPr>
        <p:spPr>
          <a:xfrm>
            <a:off x="863600" y="3962400"/>
            <a:ext cx="6604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888888"/>
                </a:solidFill>
                <a:latin typeface="페이퍼로지 5 Medium"/>
                <a:ea typeface="페이퍼로지 5 Medium"/>
                <a:cs typeface="페이퍼로지 5 Medium"/>
              </a:rPr>
              <a:t>설립</a:t>
            </a:r>
          </a:p>
        </p:txBody>
      </p:sp>
      <p:sp>
        <p:nvSpPr>
          <p:cNvPr id="91" name="Rectangle 341">
            <a:extLst>
              <a:ext uri="{FF2B5EF4-FFF2-40B4-BE49-F238E27FC236}">
                <a16:creationId xmlns:a16="http://schemas.microsoft.com/office/drawing/2014/main" id="{D5E8E06D-031F-4E18-943A-A8B4CFB0F078}"/>
              </a:ext>
            </a:extLst>
          </p:cNvPr>
          <p:cNvSpPr/>
          <p:nvPr/>
        </p:nvSpPr>
        <p:spPr>
          <a:xfrm>
            <a:off x="1524000" y="3962400"/>
            <a:ext cx="17780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1">
                <a:solidFill>
                  <a:srgbClr val="111111"/>
                </a:solidFill>
                <a:latin typeface="페이퍼로지 8 ExtraBold"/>
                <a:ea typeface="페이퍼로지 8 ExtraBold"/>
                <a:cs typeface="페이퍼로지 8 ExtraBold"/>
              </a:rPr>
              <a:t>2001년 6월 27일</a:t>
            </a:r>
          </a:p>
        </p:txBody>
      </p:sp>
      <p:sp>
        <p:nvSpPr>
          <p:cNvPr id="92" name="Rectangle 342">
            <a:extLst>
              <a:ext uri="{FF2B5EF4-FFF2-40B4-BE49-F238E27FC236}">
                <a16:creationId xmlns:a16="http://schemas.microsoft.com/office/drawing/2014/main" id="{4B4C0898-69CF-4740-9D04-75771E5E1F6D}"/>
              </a:ext>
            </a:extLst>
          </p:cNvPr>
          <p:cNvSpPr/>
          <p:nvPr/>
        </p:nvSpPr>
        <p:spPr>
          <a:xfrm>
            <a:off x="863600" y="4394200"/>
            <a:ext cx="2311400" cy="7620"/>
          </a:xfrm>
          <a:prstGeom prst="rect">
            <a:avLst/>
          </a:prstGeom>
          <a:solidFill>
            <a:srgbClr val="E3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343">
            <a:extLst>
              <a:ext uri="{FF2B5EF4-FFF2-40B4-BE49-F238E27FC236}">
                <a16:creationId xmlns:a16="http://schemas.microsoft.com/office/drawing/2014/main" id="{6B19BF07-FEB1-478F-B751-639D2C862403}"/>
              </a:ext>
            </a:extLst>
          </p:cNvPr>
          <p:cNvSpPr/>
          <p:nvPr/>
        </p:nvSpPr>
        <p:spPr>
          <a:xfrm>
            <a:off x="863600" y="4470400"/>
            <a:ext cx="6604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888888"/>
                </a:solidFill>
                <a:latin typeface="페이퍼로지 5 Medium"/>
                <a:ea typeface="페이퍼로지 5 Medium"/>
                <a:cs typeface="페이퍼로지 5 Medium"/>
              </a:rPr>
              <a:t>본사</a:t>
            </a:r>
          </a:p>
        </p:txBody>
      </p:sp>
      <p:sp>
        <p:nvSpPr>
          <p:cNvPr id="94" name="Rectangle 344">
            <a:extLst>
              <a:ext uri="{FF2B5EF4-FFF2-40B4-BE49-F238E27FC236}">
                <a16:creationId xmlns:a16="http://schemas.microsoft.com/office/drawing/2014/main" id="{CCCF99BD-A724-488C-B243-8C0C635F4FBB}"/>
              </a:ext>
            </a:extLst>
          </p:cNvPr>
          <p:cNvSpPr/>
          <p:nvPr/>
        </p:nvSpPr>
        <p:spPr>
          <a:xfrm>
            <a:off x="1524000" y="4470400"/>
            <a:ext cx="17780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1">
                <a:solidFill>
                  <a:srgbClr val="111111"/>
                </a:solidFill>
                <a:latin typeface="페이퍼로지 8 ExtraBold"/>
                <a:ea typeface="페이퍼로지 8 ExtraBold"/>
                <a:cs typeface="페이퍼로지 8 ExtraBold"/>
              </a:rPr>
              <a:t>서울 영등포구 여의대로 14</a:t>
            </a:r>
          </a:p>
        </p:txBody>
      </p:sp>
      <p:sp>
        <p:nvSpPr>
          <p:cNvPr id="95" name="Rectangle 345">
            <a:extLst>
              <a:ext uri="{FF2B5EF4-FFF2-40B4-BE49-F238E27FC236}">
                <a16:creationId xmlns:a16="http://schemas.microsoft.com/office/drawing/2014/main" id="{7D2C5B43-4ABC-4DA6-AD65-9D50B1F4662B}"/>
              </a:ext>
            </a:extLst>
          </p:cNvPr>
          <p:cNvSpPr/>
          <p:nvPr/>
        </p:nvSpPr>
        <p:spPr>
          <a:xfrm>
            <a:off x="863600" y="4902200"/>
            <a:ext cx="2311400" cy="7620"/>
          </a:xfrm>
          <a:prstGeom prst="rect">
            <a:avLst/>
          </a:prstGeom>
          <a:solidFill>
            <a:srgbClr val="E3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346">
            <a:extLst>
              <a:ext uri="{FF2B5EF4-FFF2-40B4-BE49-F238E27FC236}">
                <a16:creationId xmlns:a16="http://schemas.microsoft.com/office/drawing/2014/main" id="{73B2B9DB-5DC9-4C57-9959-71CB27149A3F}"/>
              </a:ext>
            </a:extLst>
          </p:cNvPr>
          <p:cNvSpPr/>
          <p:nvPr/>
        </p:nvSpPr>
        <p:spPr>
          <a:xfrm>
            <a:off x="863600" y="4978400"/>
            <a:ext cx="6604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888888"/>
                </a:solidFill>
                <a:latin typeface="페이퍼로지 5 Medium"/>
                <a:ea typeface="페이퍼로지 5 Medium"/>
                <a:cs typeface="페이퍼로지 5 Medium"/>
              </a:rPr>
              <a:t>상장</a:t>
            </a:r>
          </a:p>
        </p:txBody>
      </p:sp>
      <p:sp>
        <p:nvSpPr>
          <p:cNvPr id="97" name="Rectangle 347">
            <a:extLst>
              <a:ext uri="{FF2B5EF4-FFF2-40B4-BE49-F238E27FC236}">
                <a16:creationId xmlns:a16="http://schemas.microsoft.com/office/drawing/2014/main" id="{49EA7E14-D30B-4020-A5CA-73A09E0F294E}"/>
              </a:ext>
            </a:extLst>
          </p:cNvPr>
          <p:cNvSpPr/>
          <p:nvPr/>
        </p:nvSpPr>
        <p:spPr>
          <a:xfrm>
            <a:off x="1524000" y="4978400"/>
            <a:ext cx="17780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1">
                <a:solidFill>
                  <a:srgbClr val="111111"/>
                </a:solidFill>
                <a:latin typeface="페이퍼로지 8 ExtraBold"/>
                <a:ea typeface="페이퍼로지 8 ExtraBold"/>
                <a:cs typeface="페이퍼로지 8 ExtraBold"/>
              </a:rPr>
              <a:t>KOSPI · KT그룹 계열사</a:t>
            </a:r>
          </a:p>
        </p:txBody>
      </p:sp>
      <p:sp>
        <p:nvSpPr>
          <p:cNvPr id="98" name="Rectangle 348">
            <a:extLst>
              <a:ext uri="{FF2B5EF4-FFF2-40B4-BE49-F238E27FC236}">
                <a16:creationId xmlns:a16="http://schemas.microsoft.com/office/drawing/2014/main" id="{4F797EEF-3EF8-4492-809C-ACDB5EC7A538}"/>
              </a:ext>
            </a:extLst>
          </p:cNvPr>
          <p:cNvSpPr/>
          <p:nvPr/>
        </p:nvSpPr>
        <p:spPr>
          <a:xfrm>
            <a:off x="863600" y="5410200"/>
            <a:ext cx="2311400" cy="7620"/>
          </a:xfrm>
          <a:prstGeom prst="rect">
            <a:avLst/>
          </a:prstGeom>
          <a:solidFill>
            <a:srgbClr val="E3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349">
            <a:extLst>
              <a:ext uri="{FF2B5EF4-FFF2-40B4-BE49-F238E27FC236}">
                <a16:creationId xmlns:a16="http://schemas.microsoft.com/office/drawing/2014/main" id="{D4247BC6-DE7D-4C22-8D7A-1B1CCC024EEB}"/>
              </a:ext>
            </a:extLst>
          </p:cNvPr>
          <p:cNvSpPr/>
          <p:nvPr/>
        </p:nvSpPr>
        <p:spPr>
          <a:xfrm>
            <a:off x="863600" y="5588000"/>
            <a:ext cx="2311400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ko-KR" sz="900" b="1" dirty="0" err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kt</a:t>
            </a:r>
            <a:r>
              <a:rPr lang="ko-KR" sz="9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  <a:r>
              <a:rPr lang="ko-KR" sz="900" b="1" dirty="0" err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is</a:t>
            </a:r>
            <a:r>
              <a:rPr lang="ko-KR" sz="9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  <a:r>
              <a:rPr lang="ko-KR" sz="900" b="0" dirty="0">
                <a:solidFill>
                  <a:srgbClr val="555555"/>
                </a:solidFill>
                <a:latin typeface="페이퍼로지 5 Medium"/>
                <a:ea typeface="페이퍼로지 5 Medium"/>
                <a:cs typeface="페이퍼로지 5 Medium"/>
              </a:rPr>
              <a:t>= </a:t>
            </a:r>
            <a:r>
              <a:rPr lang="ko-KR" sz="900" b="0" dirty="0" err="1">
                <a:solidFill>
                  <a:srgbClr val="555555"/>
                </a:solidFill>
                <a:latin typeface="페이퍼로지 5 Medium"/>
                <a:ea typeface="페이퍼로지 5 Medium"/>
                <a:cs typeface="페이퍼로지 5 Medium"/>
              </a:rPr>
              <a:t>innovative</a:t>
            </a:r>
            <a:r>
              <a:rPr lang="ko-KR" sz="900" b="0" dirty="0">
                <a:solidFill>
                  <a:srgbClr val="555555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lang="ko-KR" sz="900" b="0" dirty="0" err="1">
                <a:solidFill>
                  <a:srgbClr val="555555"/>
                </a:solidFill>
                <a:latin typeface="페이퍼로지 5 Medium"/>
                <a:ea typeface="페이퍼로지 5 Medium"/>
                <a:cs typeface="페이퍼로지 5 Medium"/>
              </a:rPr>
              <a:t>solution</a:t>
            </a:r>
            <a:endParaRPr lang="ko-KR" sz="900" b="0" dirty="0">
              <a:solidFill>
                <a:srgbClr val="555555"/>
              </a:solidFill>
              <a:latin typeface="페이퍼로지 5 Medium"/>
              <a:ea typeface="페이퍼로지 5 Medium"/>
              <a:cs typeface="페이퍼로지 5 Medium"/>
            </a:endParaRPr>
          </a:p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555555"/>
                </a:solidFill>
                <a:latin typeface="페이퍼로지 5 Medium"/>
                <a:ea typeface="페이퍼로지 5 Medium"/>
                <a:cs typeface="페이퍼로지 5 Medium"/>
              </a:rPr>
              <a:t>차별화된 AICC 플랫폼 · 운영 서비스 전문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9E1C2682-1819-4195-91FA-439690408164}"/>
              </a:ext>
            </a:extLst>
          </p:cNvPr>
          <p:cNvGrpSpPr/>
          <p:nvPr/>
        </p:nvGrpSpPr>
        <p:grpSpPr>
          <a:xfrm>
            <a:off x="3441700" y="2646656"/>
            <a:ext cx="5865813" cy="1696738"/>
            <a:chOff x="10967989" y="2276230"/>
            <a:chExt cx="6464300" cy="1696738"/>
          </a:xfrm>
        </p:grpSpPr>
        <p:sp>
          <p:nvSpPr>
            <p:cNvPr id="100" name="Rectangle 374">
              <a:extLst>
                <a:ext uri="{FF2B5EF4-FFF2-40B4-BE49-F238E27FC236}">
                  <a16:creationId xmlns:a16="http://schemas.microsoft.com/office/drawing/2014/main" id="{1D2EA859-1E35-459E-90A8-6E26959A1175}"/>
                </a:ext>
              </a:extLst>
            </p:cNvPr>
            <p:cNvSpPr/>
            <p:nvPr/>
          </p:nvSpPr>
          <p:spPr>
            <a:xfrm>
              <a:off x="11221989" y="2349499"/>
              <a:ext cx="38100" cy="177800"/>
            </a:xfrm>
            <a:prstGeom prst="rect">
              <a:avLst/>
            </a:prstGeom>
            <a:solidFill>
              <a:srgbClr val="ED20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5" name="Rectangle 374">
              <a:extLst>
                <a:ext uri="{FF2B5EF4-FFF2-40B4-BE49-F238E27FC236}">
                  <a16:creationId xmlns:a16="http://schemas.microsoft.com/office/drawing/2014/main" id="{A2ECBA18-5CFE-4093-A02B-6FDE96FB4E99}"/>
                </a:ext>
              </a:extLst>
            </p:cNvPr>
            <p:cNvSpPr/>
            <p:nvPr/>
          </p:nvSpPr>
          <p:spPr>
            <a:xfrm>
              <a:off x="11221989" y="2349499"/>
              <a:ext cx="38100" cy="177800"/>
            </a:xfrm>
            <a:prstGeom prst="rect">
              <a:avLst/>
            </a:prstGeom>
            <a:solidFill>
              <a:srgbClr val="ED20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6" name="Rectangle 375">
              <a:extLst>
                <a:ext uri="{FF2B5EF4-FFF2-40B4-BE49-F238E27FC236}">
                  <a16:creationId xmlns:a16="http://schemas.microsoft.com/office/drawing/2014/main" id="{073DBFCB-6E5B-463A-9F22-BFBA30363436}"/>
                </a:ext>
              </a:extLst>
            </p:cNvPr>
            <p:cNvSpPr/>
            <p:nvPr/>
          </p:nvSpPr>
          <p:spPr>
            <a:xfrm>
              <a:off x="11336290" y="2276230"/>
              <a:ext cx="2540000" cy="254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l">
                <a:lnSpc>
                  <a:spcPct val="110000"/>
                </a:lnSpc>
              </a:pPr>
              <a:r>
                <a:rPr lang="ko-KR" sz="1100" b="1" dirty="0">
                  <a:solidFill>
                    <a:srgbClr val="111111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주요 연혁</a:t>
              </a:r>
            </a:p>
          </p:txBody>
        </p:sp>
        <p:cxnSp>
          <p:nvCxnSpPr>
            <p:cNvPr id="137" name="Connector 376">
              <a:extLst>
                <a:ext uri="{FF2B5EF4-FFF2-40B4-BE49-F238E27FC236}">
                  <a16:creationId xmlns:a16="http://schemas.microsoft.com/office/drawing/2014/main" id="{6949BB7B-2E88-4F5D-953F-240D68FE029A}"/>
                </a:ext>
              </a:extLst>
            </p:cNvPr>
            <p:cNvCxnSpPr/>
            <p:nvPr/>
          </p:nvCxnSpPr>
          <p:spPr>
            <a:xfrm>
              <a:off x="11399789" y="2844799"/>
              <a:ext cx="5486400" cy="0"/>
            </a:xfrm>
            <a:prstGeom prst="line">
              <a:avLst/>
            </a:prstGeom>
            <a:ln w="19050">
              <a:solidFill>
                <a:srgbClr val="C9CCD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Oval 377">
              <a:extLst>
                <a:ext uri="{FF2B5EF4-FFF2-40B4-BE49-F238E27FC236}">
                  <a16:creationId xmlns:a16="http://schemas.microsoft.com/office/drawing/2014/main" id="{35AD8838-680C-48D8-A2F1-0706138F5EE4}"/>
                </a:ext>
              </a:extLst>
            </p:cNvPr>
            <p:cNvSpPr/>
            <p:nvPr/>
          </p:nvSpPr>
          <p:spPr>
            <a:xfrm>
              <a:off x="11396396" y="2768599"/>
              <a:ext cx="152400" cy="1524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AA0A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/>
            <a:lstStyle/>
            <a:p>
              <a:pPr algn="l">
                <a:lnSpc>
                  <a:spcPct val="110000"/>
                </a:lnSpc>
              </a:pPr>
              <a:endParaRPr/>
            </a:p>
          </p:txBody>
        </p:sp>
        <p:sp>
          <p:nvSpPr>
            <p:cNvPr id="139" name="Rectangle 378">
              <a:extLst>
                <a:ext uri="{FF2B5EF4-FFF2-40B4-BE49-F238E27FC236}">
                  <a16:creationId xmlns:a16="http://schemas.microsoft.com/office/drawing/2014/main" id="{42B81C44-93FE-4234-9452-D40441AF0529}"/>
                </a:ext>
              </a:extLst>
            </p:cNvPr>
            <p:cNvSpPr/>
            <p:nvPr/>
          </p:nvSpPr>
          <p:spPr>
            <a:xfrm>
              <a:off x="10993389" y="2565399"/>
              <a:ext cx="1016000" cy="177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1000" b="1">
                  <a:solidFill>
                    <a:srgbClr val="111111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1935</a:t>
              </a:r>
            </a:p>
          </p:txBody>
        </p:sp>
        <p:sp>
          <p:nvSpPr>
            <p:cNvPr id="140" name="Rectangle 379">
              <a:extLst>
                <a:ext uri="{FF2B5EF4-FFF2-40B4-BE49-F238E27FC236}">
                  <a16:creationId xmlns:a16="http://schemas.microsoft.com/office/drawing/2014/main" id="{531AF64F-DF64-4E37-88A5-D51890BC258D}"/>
                </a:ext>
              </a:extLst>
            </p:cNvPr>
            <p:cNvSpPr/>
            <p:nvPr/>
          </p:nvSpPr>
          <p:spPr>
            <a:xfrm>
              <a:off x="10967989" y="2997199"/>
              <a:ext cx="1066800" cy="431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/>
            <a:lstStyle/>
            <a:p>
              <a:pPr algn="ctr">
                <a:lnSpc>
                  <a:spcPct val="120000"/>
                </a:lnSpc>
              </a:pPr>
              <a:r>
                <a:rPr lang="ko-KR" sz="900" b="0" dirty="0">
                  <a:solidFill>
                    <a:srgbClr val="555555"/>
                  </a:solidFill>
                  <a:latin typeface="페이퍼로지 5 Medium"/>
                  <a:ea typeface="페이퍼로지 5 Medium"/>
                  <a:cs typeface="페이퍼로지 5 Medium"/>
                </a:rPr>
                <a:t>114 번호안내</a:t>
              </a:r>
            </a:p>
            <a:p>
              <a:pPr algn="ctr">
                <a:lnSpc>
                  <a:spcPct val="120000"/>
                </a:lnSpc>
              </a:pPr>
              <a:r>
                <a:rPr lang="ko-KR" sz="900" b="0" dirty="0">
                  <a:solidFill>
                    <a:srgbClr val="555555"/>
                  </a:solidFill>
                  <a:latin typeface="페이퍼로지 5 Medium"/>
                  <a:ea typeface="페이퍼로지 5 Medium"/>
                  <a:cs typeface="페이퍼로지 5 Medium"/>
                </a:rPr>
                <a:t>서비스 시작</a:t>
              </a:r>
            </a:p>
          </p:txBody>
        </p:sp>
        <p:sp>
          <p:nvSpPr>
            <p:cNvPr id="141" name="Oval 380">
              <a:extLst>
                <a:ext uri="{FF2B5EF4-FFF2-40B4-BE49-F238E27FC236}">
                  <a16:creationId xmlns:a16="http://schemas.microsoft.com/office/drawing/2014/main" id="{0250C88C-79FD-4A80-8B1A-C9736EFED816}"/>
                </a:ext>
              </a:extLst>
            </p:cNvPr>
            <p:cNvSpPr/>
            <p:nvPr/>
          </p:nvSpPr>
          <p:spPr>
            <a:xfrm>
              <a:off x="12504689" y="2768599"/>
              <a:ext cx="152400" cy="1524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AA0A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/>
            <a:lstStyle/>
            <a:p>
              <a:pPr algn="l">
                <a:lnSpc>
                  <a:spcPct val="110000"/>
                </a:lnSpc>
              </a:pPr>
              <a:endParaRPr/>
            </a:p>
          </p:txBody>
        </p:sp>
        <p:sp>
          <p:nvSpPr>
            <p:cNvPr id="142" name="Rectangle 381">
              <a:extLst>
                <a:ext uri="{FF2B5EF4-FFF2-40B4-BE49-F238E27FC236}">
                  <a16:creationId xmlns:a16="http://schemas.microsoft.com/office/drawing/2014/main" id="{6A191721-DDA1-4E64-BE07-C6546DF80BB5}"/>
                </a:ext>
              </a:extLst>
            </p:cNvPr>
            <p:cNvSpPr/>
            <p:nvPr/>
          </p:nvSpPr>
          <p:spPr>
            <a:xfrm>
              <a:off x="12072889" y="2565399"/>
              <a:ext cx="1016000" cy="177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1000" b="1">
                  <a:solidFill>
                    <a:srgbClr val="111111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2001</a:t>
              </a:r>
            </a:p>
          </p:txBody>
        </p:sp>
        <p:sp>
          <p:nvSpPr>
            <p:cNvPr id="143" name="Rectangle 382">
              <a:extLst>
                <a:ext uri="{FF2B5EF4-FFF2-40B4-BE49-F238E27FC236}">
                  <a16:creationId xmlns:a16="http://schemas.microsoft.com/office/drawing/2014/main" id="{4EF403E0-A15E-45F7-B7A4-6A7524BFC3AE}"/>
                </a:ext>
              </a:extLst>
            </p:cNvPr>
            <p:cNvSpPr/>
            <p:nvPr/>
          </p:nvSpPr>
          <p:spPr>
            <a:xfrm>
              <a:off x="12047489" y="2997199"/>
              <a:ext cx="1066800" cy="431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/>
            <a:lstStyle/>
            <a:p>
              <a:pPr algn="ctr">
                <a:lnSpc>
                  <a:spcPct val="120000"/>
                </a:lnSpc>
              </a:pPr>
              <a:r>
                <a:rPr lang="ko-KR" sz="900" b="0">
                  <a:solidFill>
                    <a:srgbClr val="555555"/>
                  </a:solidFill>
                  <a:latin typeface="페이퍼로지 5 Medium"/>
                  <a:ea typeface="페이퍼로지 5 Medium"/>
                  <a:cs typeface="페이퍼로지 5 Medium"/>
                </a:rPr>
                <a:t>KT IS 설립</a:t>
              </a:r>
            </a:p>
            <a:p>
              <a:pPr algn="ctr">
                <a:lnSpc>
                  <a:spcPct val="120000"/>
                </a:lnSpc>
              </a:pPr>
              <a:r>
                <a:rPr lang="ko-KR" sz="900" b="0">
                  <a:solidFill>
                    <a:srgbClr val="555555"/>
                  </a:solidFill>
                  <a:latin typeface="페이퍼로지 5 Medium"/>
                  <a:ea typeface="페이퍼로지 5 Medium"/>
                  <a:cs typeface="페이퍼로지 5 Medium"/>
                </a:rPr>
                <a:t>114·100번 개시</a:t>
              </a:r>
            </a:p>
          </p:txBody>
        </p:sp>
        <p:sp>
          <p:nvSpPr>
            <p:cNvPr id="144" name="Oval 383">
              <a:extLst>
                <a:ext uri="{FF2B5EF4-FFF2-40B4-BE49-F238E27FC236}">
                  <a16:creationId xmlns:a16="http://schemas.microsoft.com/office/drawing/2014/main" id="{03A3AA41-BAC1-486A-8D20-95337FDCA034}"/>
                </a:ext>
              </a:extLst>
            </p:cNvPr>
            <p:cNvSpPr/>
            <p:nvPr/>
          </p:nvSpPr>
          <p:spPr>
            <a:xfrm>
              <a:off x="13584189" y="2768599"/>
              <a:ext cx="152400" cy="1524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AA0A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/>
            <a:lstStyle/>
            <a:p>
              <a:pPr algn="l">
                <a:lnSpc>
                  <a:spcPct val="110000"/>
                </a:lnSpc>
              </a:pPr>
              <a:endParaRPr/>
            </a:p>
          </p:txBody>
        </p:sp>
        <p:sp>
          <p:nvSpPr>
            <p:cNvPr id="145" name="Rectangle 384">
              <a:extLst>
                <a:ext uri="{FF2B5EF4-FFF2-40B4-BE49-F238E27FC236}">
                  <a16:creationId xmlns:a16="http://schemas.microsoft.com/office/drawing/2014/main" id="{0F76B463-2BF3-4860-937E-12F27AC15EA5}"/>
                </a:ext>
              </a:extLst>
            </p:cNvPr>
            <p:cNvSpPr/>
            <p:nvPr/>
          </p:nvSpPr>
          <p:spPr>
            <a:xfrm>
              <a:off x="13152389" y="2565399"/>
              <a:ext cx="1016000" cy="177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1000" b="1">
                  <a:solidFill>
                    <a:srgbClr val="111111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2010</a:t>
              </a:r>
            </a:p>
          </p:txBody>
        </p:sp>
        <p:sp>
          <p:nvSpPr>
            <p:cNvPr id="146" name="Rectangle 385">
              <a:extLst>
                <a:ext uri="{FF2B5EF4-FFF2-40B4-BE49-F238E27FC236}">
                  <a16:creationId xmlns:a16="http://schemas.microsoft.com/office/drawing/2014/main" id="{1F1003D0-E865-4105-A394-6F4848CEC89E}"/>
                </a:ext>
              </a:extLst>
            </p:cNvPr>
            <p:cNvSpPr/>
            <p:nvPr/>
          </p:nvSpPr>
          <p:spPr>
            <a:xfrm>
              <a:off x="13126989" y="2997199"/>
              <a:ext cx="1066800" cy="431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/>
            <a:lstStyle/>
            <a:p>
              <a:pPr algn="ctr">
                <a:lnSpc>
                  <a:spcPct val="120000"/>
                </a:lnSpc>
              </a:pPr>
              <a:r>
                <a:rPr lang="ko-KR" sz="900" b="0">
                  <a:solidFill>
                    <a:srgbClr val="555555"/>
                  </a:solidFill>
                  <a:latin typeface="페이퍼로지 5 Medium"/>
                  <a:ea typeface="페이퍼로지 5 Medium"/>
                  <a:cs typeface="페이퍼로지 5 Medium"/>
                </a:rPr>
                <a:t>KOSPI 상장</a:t>
              </a:r>
            </a:p>
            <a:p>
              <a:pPr algn="ctr">
                <a:lnSpc>
                  <a:spcPct val="120000"/>
                </a:lnSpc>
              </a:pPr>
              <a:r>
                <a:rPr lang="ko-KR" sz="900" b="0">
                  <a:solidFill>
                    <a:srgbClr val="555555"/>
                  </a:solidFill>
                  <a:latin typeface="페이퍼로지 5 Medium"/>
                  <a:ea typeface="페이퍼로지 5 Medium"/>
                  <a:cs typeface="페이퍼로지 5 Medium"/>
                </a:rPr>
                <a:t>45개 센터</a:t>
              </a:r>
            </a:p>
          </p:txBody>
        </p:sp>
        <p:sp>
          <p:nvSpPr>
            <p:cNvPr id="147" name="Oval 386">
              <a:extLst>
                <a:ext uri="{FF2B5EF4-FFF2-40B4-BE49-F238E27FC236}">
                  <a16:creationId xmlns:a16="http://schemas.microsoft.com/office/drawing/2014/main" id="{8B41C402-AF54-4C53-A27C-40592C743A38}"/>
                </a:ext>
              </a:extLst>
            </p:cNvPr>
            <p:cNvSpPr/>
            <p:nvPr/>
          </p:nvSpPr>
          <p:spPr>
            <a:xfrm>
              <a:off x="14663689" y="2768599"/>
              <a:ext cx="152400" cy="1524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AA0A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/>
            <a:lstStyle/>
            <a:p>
              <a:pPr algn="l">
                <a:lnSpc>
                  <a:spcPct val="110000"/>
                </a:lnSpc>
              </a:pPr>
              <a:endParaRPr/>
            </a:p>
          </p:txBody>
        </p:sp>
        <p:sp>
          <p:nvSpPr>
            <p:cNvPr id="148" name="Rectangle 387">
              <a:extLst>
                <a:ext uri="{FF2B5EF4-FFF2-40B4-BE49-F238E27FC236}">
                  <a16:creationId xmlns:a16="http://schemas.microsoft.com/office/drawing/2014/main" id="{BA1432EB-46C6-4722-92D2-06F381A5F0D0}"/>
                </a:ext>
              </a:extLst>
            </p:cNvPr>
            <p:cNvSpPr/>
            <p:nvPr/>
          </p:nvSpPr>
          <p:spPr>
            <a:xfrm>
              <a:off x="14231889" y="2565399"/>
              <a:ext cx="1016000" cy="177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1000" b="1">
                  <a:solidFill>
                    <a:srgbClr val="111111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2021</a:t>
              </a:r>
            </a:p>
          </p:txBody>
        </p:sp>
        <p:sp>
          <p:nvSpPr>
            <p:cNvPr id="149" name="Rectangle 388">
              <a:extLst>
                <a:ext uri="{FF2B5EF4-FFF2-40B4-BE49-F238E27FC236}">
                  <a16:creationId xmlns:a16="http://schemas.microsoft.com/office/drawing/2014/main" id="{D05747D0-1C2E-4017-8904-9B081F0498C7}"/>
                </a:ext>
              </a:extLst>
            </p:cNvPr>
            <p:cNvSpPr/>
            <p:nvPr/>
          </p:nvSpPr>
          <p:spPr>
            <a:xfrm>
              <a:off x="14206489" y="2997199"/>
              <a:ext cx="1066800" cy="431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/>
            <a:lstStyle/>
            <a:p>
              <a:pPr algn="ctr">
                <a:lnSpc>
                  <a:spcPct val="120000"/>
                </a:lnSpc>
              </a:pPr>
              <a:r>
                <a:rPr lang="ko-KR" sz="900" b="0">
                  <a:solidFill>
                    <a:srgbClr val="555555"/>
                  </a:solidFill>
                  <a:latin typeface="페이퍼로지 5 Medium"/>
                  <a:ea typeface="페이퍼로지 5 Medium"/>
                  <a:cs typeface="페이퍼로지 5 Medium"/>
                </a:rPr>
                <a:t>과기정통부</a:t>
              </a:r>
            </a:p>
            <a:p>
              <a:pPr algn="ctr">
                <a:lnSpc>
                  <a:spcPct val="120000"/>
                </a:lnSpc>
              </a:pPr>
              <a:r>
                <a:rPr lang="ko-KR" sz="900" b="0">
                  <a:solidFill>
                    <a:srgbClr val="555555"/>
                  </a:solidFill>
                  <a:latin typeface="페이퍼로지 5 Medium"/>
                  <a:ea typeface="페이퍼로지 5 Medium"/>
                  <a:cs typeface="페이퍼로지 5 Medium"/>
                </a:rPr>
                <a:t>장관 표창</a:t>
              </a:r>
            </a:p>
          </p:txBody>
        </p:sp>
        <p:sp>
          <p:nvSpPr>
            <p:cNvPr id="150" name="Oval 389">
              <a:extLst>
                <a:ext uri="{FF2B5EF4-FFF2-40B4-BE49-F238E27FC236}">
                  <a16:creationId xmlns:a16="http://schemas.microsoft.com/office/drawing/2014/main" id="{D3D2F169-7368-496A-8F7D-411278271E4F}"/>
                </a:ext>
              </a:extLst>
            </p:cNvPr>
            <p:cNvSpPr/>
            <p:nvPr/>
          </p:nvSpPr>
          <p:spPr>
            <a:xfrm>
              <a:off x="15743189" y="2768599"/>
              <a:ext cx="152400" cy="1524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AA0A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/>
            <a:lstStyle/>
            <a:p>
              <a:pPr algn="l">
                <a:lnSpc>
                  <a:spcPct val="110000"/>
                </a:lnSpc>
              </a:pPr>
              <a:endParaRPr/>
            </a:p>
          </p:txBody>
        </p:sp>
        <p:sp>
          <p:nvSpPr>
            <p:cNvPr id="151" name="Rectangle 390">
              <a:extLst>
                <a:ext uri="{FF2B5EF4-FFF2-40B4-BE49-F238E27FC236}">
                  <a16:creationId xmlns:a16="http://schemas.microsoft.com/office/drawing/2014/main" id="{9BDB2A59-91A5-4FF5-A3F1-781DB1AE27FC}"/>
                </a:ext>
              </a:extLst>
            </p:cNvPr>
            <p:cNvSpPr/>
            <p:nvPr/>
          </p:nvSpPr>
          <p:spPr>
            <a:xfrm>
              <a:off x="15311389" y="2565399"/>
              <a:ext cx="1016000" cy="177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1000" b="1">
                  <a:solidFill>
                    <a:srgbClr val="111111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2024</a:t>
              </a:r>
            </a:p>
          </p:txBody>
        </p:sp>
        <p:sp>
          <p:nvSpPr>
            <p:cNvPr id="152" name="Rectangle 391">
              <a:extLst>
                <a:ext uri="{FF2B5EF4-FFF2-40B4-BE49-F238E27FC236}">
                  <a16:creationId xmlns:a16="http://schemas.microsoft.com/office/drawing/2014/main" id="{0CBE32EA-AB0F-4A1D-AEFB-DAC730F621BA}"/>
                </a:ext>
              </a:extLst>
            </p:cNvPr>
            <p:cNvSpPr/>
            <p:nvPr/>
          </p:nvSpPr>
          <p:spPr>
            <a:xfrm>
              <a:off x="15285989" y="2997199"/>
              <a:ext cx="1066800" cy="431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/>
            <a:lstStyle/>
            <a:p>
              <a:pPr algn="ctr">
                <a:lnSpc>
                  <a:spcPct val="120000"/>
                </a:lnSpc>
              </a:pPr>
              <a:r>
                <a:rPr lang="ko-KR" sz="900" b="0">
                  <a:solidFill>
                    <a:srgbClr val="555555"/>
                  </a:solidFill>
                  <a:latin typeface="페이퍼로지 5 Medium"/>
                  <a:ea typeface="페이퍼로지 5 Medium"/>
                  <a:cs typeface="페이퍼로지 5 Medium"/>
                </a:rPr>
                <a:t>LG전자 운영</a:t>
              </a:r>
            </a:p>
            <a:p>
              <a:pPr algn="ctr">
                <a:lnSpc>
                  <a:spcPct val="120000"/>
                </a:lnSpc>
              </a:pPr>
              <a:r>
                <a:rPr lang="ko-KR" sz="900" b="0">
                  <a:solidFill>
                    <a:srgbClr val="555555"/>
                  </a:solidFill>
                  <a:latin typeface="페이퍼로지 5 Medium"/>
                  <a:ea typeface="페이퍼로지 5 Medium"/>
                  <a:cs typeface="페이퍼로지 5 Medium"/>
                </a:rPr>
                <a:t>100여 개 센터</a:t>
              </a:r>
            </a:p>
          </p:txBody>
        </p:sp>
        <p:sp>
          <p:nvSpPr>
            <p:cNvPr id="153" name="Oval 392">
              <a:extLst>
                <a:ext uri="{FF2B5EF4-FFF2-40B4-BE49-F238E27FC236}">
                  <a16:creationId xmlns:a16="http://schemas.microsoft.com/office/drawing/2014/main" id="{B4A42202-A23C-49CF-A277-3411531E12A8}"/>
                </a:ext>
              </a:extLst>
            </p:cNvPr>
            <p:cNvSpPr/>
            <p:nvPr/>
          </p:nvSpPr>
          <p:spPr>
            <a:xfrm>
              <a:off x="16822689" y="2768599"/>
              <a:ext cx="152400" cy="152400"/>
            </a:xfrm>
            <a:prstGeom prst="ellipse">
              <a:avLst/>
            </a:prstGeom>
            <a:solidFill>
              <a:srgbClr val="E30C60"/>
            </a:solidFill>
            <a:ln w="19050">
              <a:solidFill>
                <a:srgbClr val="ED202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/>
            <a:lstStyle/>
            <a:p>
              <a:pPr algn="l">
                <a:lnSpc>
                  <a:spcPct val="110000"/>
                </a:lnSpc>
              </a:pPr>
              <a:endParaRPr/>
            </a:p>
          </p:txBody>
        </p:sp>
        <p:sp>
          <p:nvSpPr>
            <p:cNvPr id="154" name="Rectangle 393">
              <a:extLst>
                <a:ext uri="{FF2B5EF4-FFF2-40B4-BE49-F238E27FC236}">
                  <a16:creationId xmlns:a16="http://schemas.microsoft.com/office/drawing/2014/main" id="{1FC2A478-E76F-4A5B-803D-70374EE404BA}"/>
                </a:ext>
              </a:extLst>
            </p:cNvPr>
            <p:cNvSpPr/>
            <p:nvPr/>
          </p:nvSpPr>
          <p:spPr>
            <a:xfrm>
              <a:off x="16390889" y="2565399"/>
              <a:ext cx="1016000" cy="177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1000" b="1">
                  <a:solidFill>
                    <a:srgbClr val="E30C60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2026</a:t>
              </a:r>
            </a:p>
          </p:txBody>
        </p:sp>
        <p:sp>
          <p:nvSpPr>
            <p:cNvPr id="155" name="Rectangle 394">
              <a:extLst>
                <a:ext uri="{FF2B5EF4-FFF2-40B4-BE49-F238E27FC236}">
                  <a16:creationId xmlns:a16="http://schemas.microsoft.com/office/drawing/2014/main" id="{181F744E-C555-4AA3-902A-61002593DC48}"/>
                </a:ext>
              </a:extLst>
            </p:cNvPr>
            <p:cNvSpPr/>
            <p:nvPr/>
          </p:nvSpPr>
          <p:spPr>
            <a:xfrm>
              <a:off x="16365489" y="2997199"/>
              <a:ext cx="1066800" cy="431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/>
            <a:lstStyle/>
            <a:p>
              <a:pPr algn="ctr">
                <a:lnSpc>
                  <a:spcPct val="120000"/>
                </a:lnSpc>
              </a:pPr>
              <a:r>
                <a:rPr lang="ko-KR" sz="900" b="0">
                  <a:solidFill>
                    <a:srgbClr val="111111"/>
                  </a:solidFill>
                  <a:latin typeface="페이퍼로지 5 Medium"/>
                  <a:ea typeface="페이퍼로지 5 Medium"/>
                  <a:cs typeface="페이퍼로지 5 Medium"/>
                </a:rPr>
                <a:t>167개 센터</a:t>
              </a:r>
            </a:p>
            <a:p>
              <a:pPr algn="ctr">
                <a:lnSpc>
                  <a:spcPct val="120000"/>
                </a:lnSpc>
              </a:pPr>
              <a:r>
                <a:rPr lang="ko-KR" sz="900" b="0">
                  <a:solidFill>
                    <a:srgbClr val="111111"/>
                  </a:solidFill>
                  <a:latin typeface="페이퍼로지 5 Medium"/>
                  <a:ea typeface="페이퍼로지 5 Medium"/>
                  <a:cs typeface="페이퍼로지 5 Medium"/>
                </a:rPr>
                <a:t>KS-CQI 13년 연속</a:t>
              </a:r>
            </a:p>
          </p:txBody>
        </p:sp>
        <p:sp>
          <p:nvSpPr>
            <p:cNvPr id="156" name="Rectangle 395">
              <a:extLst>
                <a:ext uri="{FF2B5EF4-FFF2-40B4-BE49-F238E27FC236}">
                  <a16:creationId xmlns:a16="http://schemas.microsoft.com/office/drawing/2014/main" id="{7B498D93-AF1D-4DFB-BA2B-B8127595FFF1}"/>
                </a:ext>
              </a:extLst>
            </p:cNvPr>
            <p:cNvSpPr/>
            <p:nvPr/>
          </p:nvSpPr>
          <p:spPr>
            <a:xfrm>
              <a:off x="11181157" y="3470029"/>
              <a:ext cx="6219506" cy="502939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1200" b="1" dirty="0" err="1">
                  <a:solidFill>
                    <a:srgbClr val="111111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컨택센터</a:t>
              </a:r>
              <a:r>
                <a:rPr lang="ko-KR" sz="1200" b="1" dirty="0">
                  <a:solidFill>
                    <a:srgbClr val="111111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 운영 </a:t>
              </a:r>
              <a:r>
                <a:rPr lang="ko-KR" sz="1200" b="1" dirty="0">
                  <a:solidFill>
                    <a:srgbClr val="E30C60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25년</a:t>
              </a:r>
              <a:r>
                <a:rPr lang="ko-KR" sz="1200" b="1" dirty="0">
                  <a:solidFill>
                    <a:srgbClr val="111111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  ·  </a:t>
              </a:r>
              <a:r>
                <a:rPr lang="ko-KR" sz="1200" b="1" dirty="0" err="1">
                  <a:solidFill>
                    <a:srgbClr val="111111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공공·금융·유통·의료</a:t>
              </a:r>
              <a:r>
                <a:rPr lang="ko-KR" sz="1200" b="1" dirty="0">
                  <a:solidFill>
                    <a:srgbClr val="111111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 </a:t>
              </a:r>
              <a:r>
                <a:rPr lang="ko-KR" sz="1200" b="1" dirty="0">
                  <a:solidFill>
                    <a:srgbClr val="E30C60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167개 센터  </a:t>
              </a:r>
              <a:r>
                <a:rPr lang="ko-KR" sz="1200" b="1" dirty="0">
                  <a:solidFill>
                    <a:srgbClr val="111111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·  경력 5년 이상 전문 인력 </a:t>
              </a:r>
              <a:r>
                <a:rPr lang="ko-KR" sz="1200" b="1" dirty="0">
                  <a:solidFill>
                    <a:srgbClr val="E30C60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3,264명</a:t>
              </a:r>
            </a:p>
          </p:txBody>
        </p:sp>
      </p:grpSp>
      <p:sp>
        <p:nvSpPr>
          <p:cNvPr id="157" name="Rounded Rectangle 329">
            <a:extLst>
              <a:ext uri="{FF2B5EF4-FFF2-40B4-BE49-F238E27FC236}">
                <a16:creationId xmlns:a16="http://schemas.microsoft.com/office/drawing/2014/main" id="{6C27C21A-D353-474E-9A3C-9220E2027F69}"/>
              </a:ext>
            </a:extLst>
          </p:cNvPr>
          <p:cNvSpPr/>
          <p:nvPr/>
        </p:nvSpPr>
        <p:spPr>
          <a:xfrm>
            <a:off x="3635131" y="1422400"/>
            <a:ext cx="1821803" cy="1066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8" name="Rectangle 330">
            <a:extLst>
              <a:ext uri="{FF2B5EF4-FFF2-40B4-BE49-F238E27FC236}">
                <a16:creationId xmlns:a16="http://schemas.microsoft.com/office/drawing/2014/main" id="{C1E063AA-D09F-418E-96CE-D16389037F3E}"/>
              </a:ext>
            </a:extLst>
          </p:cNvPr>
          <p:cNvSpPr/>
          <p:nvPr/>
        </p:nvSpPr>
        <p:spPr>
          <a:xfrm>
            <a:off x="3803297" y="1498600"/>
            <a:ext cx="148547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800" b="1">
                <a:solidFill>
                  <a:srgbClr val="10151F"/>
                </a:solidFill>
                <a:latin typeface="페이퍼로지 9 Black"/>
                <a:ea typeface="페이퍼로지 9 Black"/>
                <a:cs typeface="페이퍼로지 9 Black"/>
              </a:rPr>
              <a:t>90년</a:t>
            </a:r>
          </a:p>
        </p:txBody>
      </p:sp>
      <p:sp>
        <p:nvSpPr>
          <p:cNvPr id="159" name="Rectangle 331">
            <a:extLst>
              <a:ext uri="{FF2B5EF4-FFF2-40B4-BE49-F238E27FC236}">
                <a16:creationId xmlns:a16="http://schemas.microsoft.com/office/drawing/2014/main" id="{BFE50C9A-3555-42CD-BC59-FA27511D1F8F}"/>
              </a:ext>
            </a:extLst>
          </p:cNvPr>
          <p:cNvSpPr/>
          <p:nvPr/>
        </p:nvSpPr>
        <p:spPr>
          <a:xfrm>
            <a:off x="3803297" y="1905000"/>
            <a:ext cx="1485470" cy="12700"/>
          </a:xfrm>
          <a:prstGeom prst="rect">
            <a:avLst/>
          </a:prstGeom>
          <a:solidFill>
            <a:srgbClr val="E3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Rectangle 332">
            <a:extLst>
              <a:ext uri="{FF2B5EF4-FFF2-40B4-BE49-F238E27FC236}">
                <a16:creationId xmlns:a16="http://schemas.microsoft.com/office/drawing/2014/main" id="{4786DA78-A3A7-4FDB-89C2-B48BE3C9BF6F}"/>
              </a:ext>
            </a:extLst>
          </p:cNvPr>
          <p:cNvSpPr/>
          <p:nvPr/>
        </p:nvSpPr>
        <p:spPr>
          <a:xfrm>
            <a:off x="3803297" y="1898650"/>
            <a:ext cx="168166" cy="25400"/>
          </a:xfrm>
          <a:prstGeom prst="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Rectangle 333">
            <a:extLst>
              <a:ext uri="{FF2B5EF4-FFF2-40B4-BE49-F238E27FC236}">
                <a16:creationId xmlns:a16="http://schemas.microsoft.com/office/drawing/2014/main" id="{9B04A6BF-EC0A-4B89-A2F0-ADD39C72E9FD}"/>
              </a:ext>
            </a:extLst>
          </p:cNvPr>
          <p:cNvSpPr/>
          <p:nvPr/>
        </p:nvSpPr>
        <p:spPr>
          <a:xfrm>
            <a:off x="3803297" y="1968500"/>
            <a:ext cx="1569553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1935년 114안내서비스 시초</a:t>
            </a:r>
          </a:p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2001년 6월 27일 설립</a:t>
            </a:r>
          </a:p>
        </p:txBody>
      </p:sp>
      <p:sp>
        <p:nvSpPr>
          <p:cNvPr id="162" name="Rounded Rectangle 334">
            <a:extLst>
              <a:ext uri="{FF2B5EF4-FFF2-40B4-BE49-F238E27FC236}">
                <a16:creationId xmlns:a16="http://schemas.microsoft.com/office/drawing/2014/main" id="{1284689F-849A-43BC-B360-EF0B7E39B259}"/>
              </a:ext>
            </a:extLst>
          </p:cNvPr>
          <p:cNvSpPr/>
          <p:nvPr/>
        </p:nvSpPr>
        <p:spPr>
          <a:xfrm>
            <a:off x="5569045" y="1422400"/>
            <a:ext cx="1821803" cy="1066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Rectangle 335">
            <a:extLst>
              <a:ext uri="{FF2B5EF4-FFF2-40B4-BE49-F238E27FC236}">
                <a16:creationId xmlns:a16="http://schemas.microsoft.com/office/drawing/2014/main" id="{2E11ABB6-648F-4078-AB8D-C8F470A1F980}"/>
              </a:ext>
            </a:extLst>
          </p:cNvPr>
          <p:cNvSpPr/>
          <p:nvPr/>
        </p:nvSpPr>
        <p:spPr>
          <a:xfrm>
            <a:off x="5737211" y="1498600"/>
            <a:ext cx="148547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800" b="1">
                <a:solidFill>
                  <a:srgbClr val="10151F"/>
                </a:solidFill>
                <a:latin typeface="페이퍼로지 9 Black"/>
                <a:ea typeface="페이퍼로지 9 Black"/>
                <a:cs typeface="페이퍼로지 9 Black"/>
              </a:rPr>
              <a:t>8,889명</a:t>
            </a:r>
          </a:p>
        </p:txBody>
      </p:sp>
      <p:sp>
        <p:nvSpPr>
          <p:cNvPr id="164" name="Rectangle 336">
            <a:extLst>
              <a:ext uri="{FF2B5EF4-FFF2-40B4-BE49-F238E27FC236}">
                <a16:creationId xmlns:a16="http://schemas.microsoft.com/office/drawing/2014/main" id="{FA12177D-C54B-49CC-8C7F-A8B537319EB2}"/>
              </a:ext>
            </a:extLst>
          </p:cNvPr>
          <p:cNvSpPr/>
          <p:nvPr/>
        </p:nvSpPr>
        <p:spPr>
          <a:xfrm>
            <a:off x="5737211" y="1905000"/>
            <a:ext cx="1485470" cy="12700"/>
          </a:xfrm>
          <a:prstGeom prst="rect">
            <a:avLst/>
          </a:prstGeom>
          <a:solidFill>
            <a:srgbClr val="E3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Rectangle 337">
            <a:extLst>
              <a:ext uri="{FF2B5EF4-FFF2-40B4-BE49-F238E27FC236}">
                <a16:creationId xmlns:a16="http://schemas.microsoft.com/office/drawing/2014/main" id="{FB1F23DF-737C-40CB-A5C5-80A84DC7BB1F}"/>
              </a:ext>
            </a:extLst>
          </p:cNvPr>
          <p:cNvSpPr/>
          <p:nvPr/>
        </p:nvSpPr>
        <p:spPr>
          <a:xfrm>
            <a:off x="5737211" y="1898650"/>
            <a:ext cx="168166" cy="25400"/>
          </a:xfrm>
          <a:prstGeom prst="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Rectangle 338">
            <a:extLst>
              <a:ext uri="{FF2B5EF4-FFF2-40B4-BE49-F238E27FC236}">
                <a16:creationId xmlns:a16="http://schemas.microsoft.com/office/drawing/2014/main" id="{C8879C4F-AC5F-4BC2-A4C7-27DABF9C8DE2}"/>
              </a:ext>
            </a:extLst>
          </p:cNvPr>
          <p:cNvSpPr/>
          <p:nvPr/>
        </p:nvSpPr>
        <p:spPr>
          <a:xfrm>
            <a:off x="5737211" y="1968500"/>
            <a:ext cx="1569553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본사: 1총괄 / 1단</a:t>
            </a:r>
          </a:p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현장사업본부: 3본부 / 8단</a:t>
            </a:r>
          </a:p>
        </p:txBody>
      </p:sp>
      <p:sp>
        <p:nvSpPr>
          <p:cNvPr id="172" name="Rounded Rectangle 344">
            <a:extLst>
              <a:ext uri="{FF2B5EF4-FFF2-40B4-BE49-F238E27FC236}">
                <a16:creationId xmlns:a16="http://schemas.microsoft.com/office/drawing/2014/main" id="{E862790C-772B-444E-AC19-545B93706EDC}"/>
              </a:ext>
            </a:extLst>
          </p:cNvPr>
          <p:cNvSpPr/>
          <p:nvPr/>
        </p:nvSpPr>
        <p:spPr>
          <a:xfrm>
            <a:off x="7485710" y="1435099"/>
            <a:ext cx="1821803" cy="1066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Rectangle 345">
            <a:extLst>
              <a:ext uri="{FF2B5EF4-FFF2-40B4-BE49-F238E27FC236}">
                <a16:creationId xmlns:a16="http://schemas.microsoft.com/office/drawing/2014/main" id="{4E12DD3C-C1E3-47B3-94EB-67DED34CDEEE}"/>
              </a:ext>
            </a:extLst>
          </p:cNvPr>
          <p:cNvSpPr/>
          <p:nvPr/>
        </p:nvSpPr>
        <p:spPr>
          <a:xfrm>
            <a:off x="7653877" y="1511299"/>
            <a:ext cx="148547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800" b="1">
                <a:solidFill>
                  <a:srgbClr val="10151F"/>
                </a:solidFill>
                <a:latin typeface="페이퍼로지 9 Black"/>
                <a:ea typeface="페이퍼로지 9 Black"/>
                <a:cs typeface="페이퍼로지 9 Black"/>
              </a:rPr>
              <a:t>167개 센터</a:t>
            </a:r>
          </a:p>
        </p:txBody>
      </p:sp>
      <p:sp>
        <p:nvSpPr>
          <p:cNvPr id="176" name="Rectangle 348">
            <a:extLst>
              <a:ext uri="{FF2B5EF4-FFF2-40B4-BE49-F238E27FC236}">
                <a16:creationId xmlns:a16="http://schemas.microsoft.com/office/drawing/2014/main" id="{26359FEF-4F25-43D4-8C65-1080FB6C178E}"/>
              </a:ext>
            </a:extLst>
          </p:cNvPr>
          <p:cNvSpPr/>
          <p:nvPr/>
        </p:nvSpPr>
        <p:spPr>
          <a:xfrm>
            <a:off x="7653877" y="1981199"/>
            <a:ext cx="1569553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업계 최다 공공기관 센터 운영</a:t>
            </a:r>
          </a:p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콜센터 DX 선도기업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A5E12FB4-4351-41C4-AAB0-E92B38FCA9BF}"/>
              </a:ext>
            </a:extLst>
          </p:cNvPr>
          <p:cNvGrpSpPr/>
          <p:nvPr/>
        </p:nvGrpSpPr>
        <p:grpSpPr>
          <a:xfrm>
            <a:off x="3635131" y="4343400"/>
            <a:ext cx="5643684" cy="1905000"/>
            <a:chOff x="3462215" y="4089400"/>
            <a:chExt cx="5816600" cy="2159000"/>
          </a:xfrm>
        </p:grpSpPr>
        <p:pic>
          <p:nvPicPr>
            <p:cNvPr id="186" name="Picture 362" descr="image.jpg">
              <a:extLst>
                <a:ext uri="{FF2B5EF4-FFF2-40B4-BE49-F238E27FC236}">
                  <a16:creationId xmlns:a16="http://schemas.microsoft.com/office/drawing/2014/main" id="{3C8BB093-7A5F-4144-8373-1F3E6CE027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62215" y="4089400"/>
              <a:ext cx="2870200" cy="1041400"/>
            </a:xfrm>
            <a:prstGeom prst="rect">
              <a:avLst/>
            </a:prstGeom>
          </p:spPr>
        </p:pic>
        <p:sp>
          <p:nvSpPr>
            <p:cNvPr id="187" name="Rectangle 363">
              <a:extLst>
                <a:ext uri="{FF2B5EF4-FFF2-40B4-BE49-F238E27FC236}">
                  <a16:creationId xmlns:a16="http://schemas.microsoft.com/office/drawing/2014/main" id="{47EBAE81-DA6D-4D53-843E-A7A7444AED77}"/>
                </a:ext>
              </a:extLst>
            </p:cNvPr>
            <p:cNvSpPr/>
            <p:nvPr/>
          </p:nvSpPr>
          <p:spPr>
            <a:xfrm>
              <a:off x="3614615" y="4216400"/>
              <a:ext cx="2032000" cy="177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l">
                <a:lnSpc>
                  <a:spcPct val="110000"/>
                </a:lnSpc>
              </a:pPr>
              <a:r>
                <a:rPr lang="ko-KR" sz="1200" b="1" dirty="0">
                  <a:solidFill>
                    <a:schemeClr val="bg1"/>
                  </a:solidFill>
                  <a:latin typeface="페이퍼로지 7 Bold"/>
                  <a:ea typeface="페이퍼로지 7 Bold"/>
                  <a:cs typeface="페이퍼로지 7 Bold"/>
                </a:rPr>
                <a:t>고객센터</a:t>
              </a:r>
            </a:p>
          </p:txBody>
        </p:sp>
        <p:sp>
          <p:nvSpPr>
            <p:cNvPr id="188" name="Rectangle 364">
              <a:extLst>
                <a:ext uri="{FF2B5EF4-FFF2-40B4-BE49-F238E27FC236}">
                  <a16:creationId xmlns:a16="http://schemas.microsoft.com/office/drawing/2014/main" id="{152405BE-FF78-455E-85BA-03A8F58A7BA4}"/>
                </a:ext>
              </a:extLst>
            </p:cNvPr>
            <p:cNvSpPr/>
            <p:nvPr/>
          </p:nvSpPr>
          <p:spPr>
            <a:xfrm>
              <a:off x="3614615" y="4445000"/>
              <a:ext cx="2159000" cy="5842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l">
                <a:lnSpc>
                  <a:spcPct val="130000"/>
                </a:lnSpc>
              </a:pPr>
              <a:r>
                <a:rPr lang="ko-KR" sz="1100" b="1" dirty="0">
                  <a:solidFill>
                    <a:schemeClr val="bg1">
                      <a:lumMod val="95000"/>
                    </a:schemeClr>
                  </a:solidFill>
                  <a:latin typeface="페이퍼로지 8 ExtraBold"/>
                  <a:ea typeface="페이퍼로지 8 ExtraBold"/>
                  <a:cs typeface="페이퍼로지 8 ExtraBold"/>
                </a:rPr>
                <a:t>차별화된 고객 경험 제공</a:t>
              </a:r>
            </a:p>
            <a:p>
              <a:pPr algn="l">
                <a:lnSpc>
                  <a:spcPct val="130000"/>
                </a:lnSpc>
              </a:pPr>
              <a:r>
                <a:rPr lang="ko-KR" sz="900" b="0" dirty="0">
                  <a:solidFill>
                    <a:srgbClr val="D9D9D9"/>
                  </a:solidFill>
                  <a:latin typeface="페이퍼로지 5 Medium"/>
                  <a:ea typeface="페이퍼로지 5 Medium"/>
                  <a:cs typeface="페이퍼로지 5 Medium"/>
                </a:rPr>
                <a:t>고객 서비스의 기본을 지키는 운영</a:t>
              </a:r>
            </a:p>
          </p:txBody>
        </p:sp>
        <p:pic>
          <p:nvPicPr>
            <p:cNvPr id="189" name="Picture 365" descr="image.jpg">
              <a:extLst>
                <a:ext uri="{FF2B5EF4-FFF2-40B4-BE49-F238E27FC236}">
                  <a16:creationId xmlns:a16="http://schemas.microsoft.com/office/drawing/2014/main" id="{08E9D46B-4FC7-49FC-B4F8-F7FB07096EC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08615" y="4089400"/>
              <a:ext cx="2870200" cy="1041400"/>
            </a:xfrm>
            <a:prstGeom prst="rect">
              <a:avLst/>
            </a:prstGeom>
          </p:spPr>
        </p:pic>
        <p:sp>
          <p:nvSpPr>
            <p:cNvPr id="190" name="Rectangle 366">
              <a:extLst>
                <a:ext uri="{FF2B5EF4-FFF2-40B4-BE49-F238E27FC236}">
                  <a16:creationId xmlns:a16="http://schemas.microsoft.com/office/drawing/2014/main" id="{11F92DC4-1C3B-43C9-9AD7-69835B5044EE}"/>
                </a:ext>
              </a:extLst>
            </p:cNvPr>
            <p:cNvSpPr/>
            <p:nvPr/>
          </p:nvSpPr>
          <p:spPr>
            <a:xfrm>
              <a:off x="6561015" y="4216400"/>
              <a:ext cx="2032000" cy="177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l">
                <a:lnSpc>
                  <a:spcPct val="110000"/>
                </a:lnSpc>
              </a:pPr>
              <a:r>
                <a:rPr lang="ko-KR" sz="1200" b="1" dirty="0" err="1">
                  <a:solidFill>
                    <a:schemeClr val="bg1"/>
                  </a:solidFill>
                  <a:latin typeface="페이퍼로지 7 Bold"/>
                  <a:ea typeface="페이퍼로지 7 Bold"/>
                  <a:cs typeface="페이퍼로지 7 Bold"/>
                </a:rPr>
                <a:t>컨택센터</a:t>
              </a:r>
              <a:endParaRPr lang="ko-KR" sz="1200" b="1" dirty="0">
                <a:solidFill>
                  <a:schemeClr val="bg1"/>
                </a:solidFill>
                <a:latin typeface="페이퍼로지 7 Bold"/>
                <a:ea typeface="페이퍼로지 7 Bold"/>
                <a:cs typeface="페이퍼로지 7 Bold"/>
              </a:endParaRPr>
            </a:p>
          </p:txBody>
        </p:sp>
        <p:sp>
          <p:nvSpPr>
            <p:cNvPr id="191" name="Rectangle 367">
              <a:extLst>
                <a:ext uri="{FF2B5EF4-FFF2-40B4-BE49-F238E27FC236}">
                  <a16:creationId xmlns:a16="http://schemas.microsoft.com/office/drawing/2014/main" id="{0BC9B2A8-FF8F-4C62-B4A4-39F96ADB082B}"/>
                </a:ext>
              </a:extLst>
            </p:cNvPr>
            <p:cNvSpPr/>
            <p:nvPr/>
          </p:nvSpPr>
          <p:spPr>
            <a:xfrm>
              <a:off x="6561015" y="4445000"/>
              <a:ext cx="2159000" cy="5842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l">
                <a:lnSpc>
                  <a:spcPct val="130000"/>
                </a:lnSpc>
              </a:pPr>
              <a:r>
                <a:rPr lang="ko-KR" sz="1100" b="1" dirty="0">
                  <a:solidFill>
                    <a:schemeClr val="bg1">
                      <a:lumMod val="95000"/>
                    </a:schemeClr>
                  </a:solidFill>
                  <a:latin typeface="페이퍼로지 8 ExtraBold"/>
                  <a:ea typeface="페이퍼로지 8 ExtraBold"/>
                  <a:cs typeface="페이퍼로지 8 ExtraBold"/>
                </a:rPr>
                <a:t>AI 시대, 고객의 성장을 돕는</a:t>
              </a:r>
            </a:p>
            <a:p>
              <a:pPr algn="l">
                <a:lnSpc>
                  <a:spcPct val="130000"/>
                </a:lnSpc>
              </a:pPr>
              <a:r>
                <a:rPr lang="ko-KR" sz="900" b="0" dirty="0">
                  <a:solidFill>
                    <a:srgbClr val="D9D9D9"/>
                  </a:solidFill>
                  <a:latin typeface="페이퍼로지 5 Medium"/>
                  <a:ea typeface="페이퍼로지 5 Medium"/>
                  <a:cs typeface="페이퍼로지 5 Medium"/>
                </a:rPr>
                <a:t>MOT </a:t>
              </a:r>
              <a:r>
                <a:rPr lang="ko-KR" sz="900" b="0" dirty="0" err="1">
                  <a:solidFill>
                    <a:srgbClr val="D9D9D9"/>
                  </a:solidFill>
                  <a:latin typeface="페이퍼로지 5 Medium"/>
                  <a:ea typeface="페이퍼로지 5 Medium"/>
                  <a:cs typeface="페이퍼로지 5 Medium"/>
                </a:rPr>
                <a:t>Agency</a:t>
              </a:r>
              <a:r>
                <a:rPr lang="ko-KR" sz="900" b="0" dirty="0">
                  <a:solidFill>
                    <a:srgbClr val="D9D9D9"/>
                  </a:solidFill>
                  <a:latin typeface="페이퍼로지 5 Medium"/>
                  <a:ea typeface="페이퍼로지 5 Medium"/>
                  <a:cs typeface="페이퍼로지 5 Medium"/>
                </a:rPr>
                <a:t> · AICC 운영</a:t>
              </a:r>
            </a:p>
          </p:txBody>
        </p:sp>
        <p:pic>
          <p:nvPicPr>
            <p:cNvPr id="192" name="Picture 368" descr="image.jpg">
              <a:extLst>
                <a:ext uri="{FF2B5EF4-FFF2-40B4-BE49-F238E27FC236}">
                  <a16:creationId xmlns:a16="http://schemas.microsoft.com/office/drawing/2014/main" id="{3F561A1E-E8BB-4CF9-98CD-54C6BB9E03E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462215" y="5207000"/>
              <a:ext cx="2870200" cy="1041400"/>
            </a:xfrm>
            <a:prstGeom prst="rect">
              <a:avLst/>
            </a:prstGeom>
          </p:spPr>
        </p:pic>
        <p:sp>
          <p:nvSpPr>
            <p:cNvPr id="193" name="Rectangle 369">
              <a:extLst>
                <a:ext uri="{FF2B5EF4-FFF2-40B4-BE49-F238E27FC236}">
                  <a16:creationId xmlns:a16="http://schemas.microsoft.com/office/drawing/2014/main" id="{B2C5B907-93B0-42A4-862B-D524B4320A84}"/>
                </a:ext>
              </a:extLst>
            </p:cNvPr>
            <p:cNvSpPr/>
            <p:nvPr/>
          </p:nvSpPr>
          <p:spPr>
            <a:xfrm>
              <a:off x="3614615" y="5334000"/>
              <a:ext cx="2032000" cy="177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l">
                <a:lnSpc>
                  <a:spcPct val="110000"/>
                </a:lnSpc>
              </a:pPr>
              <a:r>
                <a:rPr lang="ko-KR" sz="1200" b="1" dirty="0">
                  <a:solidFill>
                    <a:schemeClr val="bg1"/>
                  </a:solidFill>
                  <a:latin typeface="페이퍼로지 7 Bold"/>
                  <a:ea typeface="페이퍼로지 7 Bold"/>
                  <a:cs typeface="페이퍼로지 7 Bold"/>
                </a:rPr>
                <a:t>통신상품유통</a:t>
              </a:r>
            </a:p>
          </p:txBody>
        </p:sp>
        <p:sp>
          <p:nvSpPr>
            <p:cNvPr id="194" name="Rectangle 370">
              <a:extLst>
                <a:ext uri="{FF2B5EF4-FFF2-40B4-BE49-F238E27FC236}">
                  <a16:creationId xmlns:a16="http://schemas.microsoft.com/office/drawing/2014/main" id="{B097FB3C-D8AD-41C9-9712-C018D7206CE7}"/>
                </a:ext>
              </a:extLst>
            </p:cNvPr>
            <p:cNvSpPr/>
            <p:nvPr/>
          </p:nvSpPr>
          <p:spPr>
            <a:xfrm>
              <a:off x="3614615" y="5562600"/>
              <a:ext cx="2159000" cy="5842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l">
                <a:lnSpc>
                  <a:spcPct val="130000"/>
                </a:lnSpc>
              </a:pPr>
              <a:r>
                <a:rPr lang="ko-KR" sz="1100" b="1" dirty="0">
                  <a:solidFill>
                    <a:schemeClr val="bg1">
                      <a:lumMod val="95000"/>
                    </a:schemeClr>
                  </a:solidFill>
                  <a:latin typeface="페이퍼로지 8 ExtraBold"/>
                  <a:ea typeface="페이퍼로지 8 ExtraBold"/>
                  <a:cs typeface="페이퍼로지 8 ExtraBold"/>
                </a:rPr>
                <a:t>고객 맞춤 컨설팅으로</a:t>
              </a:r>
            </a:p>
            <a:p>
              <a:pPr algn="l">
                <a:lnSpc>
                  <a:spcPct val="130000"/>
                </a:lnSpc>
              </a:pPr>
              <a:r>
                <a:rPr lang="ko-KR" sz="900" b="0" dirty="0">
                  <a:solidFill>
                    <a:srgbClr val="D9D9D9"/>
                  </a:solidFill>
                  <a:latin typeface="페이퍼로지 5 Medium"/>
                  <a:ea typeface="페이퍼로지 5 Medium"/>
                  <a:cs typeface="페이퍼로지 5 Medium"/>
                </a:rPr>
                <a:t>KT 통신상품 판매 · 플라자 운영</a:t>
              </a:r>
            </a:p>
          </p:txBody>
        </p:sp>
        <p:pic>
          <p:nvPicPr>
            <p:cNvPr id="195" name="Picture 371" descr="image.jpg">
              <a:extLst>
                <a:ext uri="{FF2B5EF4-FFF2-40B4-BE49-F238E27FC236}">
                  <a16:creationId xmlns:a16="http://schemas.microsoft.com/office/drawing/2014/main" id="{2254246B-9ED5-4C28-B924-8609C261DFF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408615" y="5207000"/>
              <a:ext cx="2870200" cy="1041400"/>
            </a:xfrm>
            <a:prstGeom prst="rect">
              <a:avLst/>
            </a:prstGeom>
          </p:spPr>
        </p:pic>
        <p:sp>
          <p:nvSpPr>
            <p:cNvPr id="196" name="Rectangle 372">
              <a:extLst>
                <a:ext uri="{FF2B5EF4-FFF2-40B4-BE49-F238E27FC236}">
                  <a16:creationId xmlns:a16="http://schemas.microsoft.com/office/drawing/2014/main" id="{363057A6-2FC9-49DF-8B03-CE33778F6452}"/>
                </a:ext>
              </a:extLst>
            </p:cNvPr>
            <p:cNvSpPr/>
            <p:nvPr/>
          </p:nvSpPr>
          <p:spPr>
            <a:xfrm>
              <a:off x="6561015" y="5334000"/>
              <a:ext cx="2032000" cy="177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l">
                <a:lnSpc>
                  <a:spcPct val="110000"/>
                </a:lnSpc>
              </a:pPr>
              <a:r>
                <a:rPr lang="ko-KR" sz="1200" b="1" dirty="0">
                  <a:solidFill>
                    <a:schemeClr val="bg1"/>
                  </a:solidFill>
                  <a:latin typeface="페이퍼로지 7 Bold"/>
                  <a:ea typeface="페이퍼로지 7 Bold"/>
                  <a:cs typeface="페이퍼로지 7 Bold"/>
                </a:rPr>
                <a:t>번호안내</a:t>
              </a:r>
            </a:p>
          </p:txBody>
        </p:sp>
        <p:sp>
          <p:nvSpPr>
            <p:cNvPr id="197" name="Rectangle 373">
              <a:extLst>
                <a:ext uri="{FF2B5EF4-FFF2-40B4-BE49-F238E27FC236}">
                  <a16:creationId xmlns:a16="http://schemas.microsoft.com/office/drawing/2014/main" id="{FCB5F175-40D6-47B9-92D4-8C017B466D7E}"/>
                </a:ext>
              </a:extLst>
            </p:cNvPr>
            <p:cNvSpPr/>
            <p:nvPr/>
          </p:nvSpPr>
          <p:spPr>
            <a:xfrm>
              <a:off x="6561015" y="5562600"/>
              <a:ext cx="2159000" cy="5842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l">
                <a:lnSpc>
                  <a:spcPct val="130000"/>
                </a:lnSpc>
              </a:pPr>
              <a:r>
                <a:rPr lang="ko-KR" sz="1100" b="1" dirty="0">
                  <a:solidFill>
                    <a:schemeClr val="bg1">
                      <a:lumMod val="95000"/>
                    </a:schemeClr>
                  </a:solidFill>
                  <a:latin typeface="페이퍼로지 8 ExtraBold"/>
                  <a:ea typeface="페이퍼로지 8 ExtraBold"/>
                  <a:cs typeface="페이퍼로지 8 ExtraBold"/>
                </a:rPr>
                <a:t>국내 유일 전화번호 안내 114</a:t>
              </a:r>
            </a:p>
            <a:p>
              <a:pPr algn="l">
                <a:lnSpc>
                  <a:spcPct val="130000"/>
                </a:lnSpc>
              </a:pPr>
              <a:r>
                <a:rPr lang="ko-KR" sz="900" b="0" dirty="0">
                  <a:solidFill>
                    <a:srgbClr val="D9D9D9"/>
                  </a:solidFill>
                  <a:latin typeface="페이퍼로지 5 Medium"/>
                  <a:ea typeface="페이퍼로지 5 Medium"/>
                  <a:cs typeface="페이퍼로지 5 Medium"/>
                </a:rPr>
                <a:t>1935년부터 이어 온 안내 서비스</a:t>
              </a:r>
            </a:p>
          </p:txBody>
        </p:sp>
      </p:grpSp>
      <p:sp>
        <p:nvSpPr>
          <p:cNvPr id="102" name="Rectangle 336">
            <a:extLst>
              <a:ext uri="{FF2B5EF4-FFF2-40B4-BE49-F238E27FC236}">
                <a16:creationId xmlns:a16="http://schemas.microsoft.com/office/drawing/2014/main" id="{4CBEB07B-6BAF-4B6B-B916-EEA2268529CC}"/>
              </a:ext>
            </a:extLst>
          </p:cNvPr>
          <p:cNvSpPr/>
          <p:nvPr/>
        </p:nvSpPr>
        <p:spPr>
          <a:xfrm>
            <a:off x="7653877" y="1902640"/>
            <a:ext cx="1485470" cy="12700"/>
          </a:xfrm>
          <a:prstGeom prst="rect">
            <a:avLst/>
          </a:prstGeom>
          <a:solidFill>
            <a:srgbClr val="E3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337">
            <a:extLst>
              <a:ext uri="{FF2B5EF4-FFF2-40B4-BE49-F238E27FC236}">
                <a16:creationId xmlns:a16="http://schemas.microsoft.com/office/drawing/2014/main" id="{9BE75AA5-2599-46F6-AC28-A718B1B47AFD}"/>
              </a:ext>
            </a:extLst>
          </p:cNvPr>
          <p:cNvSpPr/>
          <p:nvPr/>
        </p:nvSpPr>
        <p:spPr>
          <a:xfrm>
            <a:off x="7653877" y="1896290"/>
            <a:ext cx="168166" cy="25400"/>
          </a:xfrm>
          <a:prstGeom prst="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0693127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Rectangle 2">
            <a:extLst>
              <a:ext uri="{FF2B5EF4-FFF2-40B4-BE49-F238E27FC236}">
                <a16:creationId xmlns:a16="http://schemas.microsoft.com/office/drawing/2014/main" id="{66282572-5816-422F-A5F6-6F46198BC839}"/>
              </a:ext>
            </a:extLst>
          </p:cNvPr>
          <p:cNvSpPr/>
          <p:nvPr/>
        </p:nvSpPr>
        <p:spPr>
          <a:xfrm>
            <a:off x="1929606" y="381000"/>
            <a:ext cx="61912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altLang="ko-KR" sz="900" b="0" dirty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2</a:t>
            </a:r>
            <a:r>
              <a:rPr lang="ko-KR" sz="900" b="0" dirty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-</a:t>
            </a:r>
            <a:r>
              <a:rPr lang="en-US" altLang="ko-KR" sz="900" b="0" dirty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2</a:t>
            </a:r>
            <a:r>
              <a:rPr lang="ko-KR" sz="900" b="0" dirty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. </a:t>
            </a:r>
            <a:r>
              <a:rPr lang="ko-KR" altLang="en-US" sz="900" b="0" dirty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조직 및 인원 현황</a:t>
            </a:r>
            <a:endParaRPr lang="ko-KR" sz="900" b="0" dirty="0">
              <a:solidFill>
                <a:srgbClr val="A50034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179" name="Rectangle 3">
            <a:extLst>
              <a:ext uri="{FF2B5EF4-FFF2-40B4-BE49-F238E27FC236}">
                <a16:creationId xmlns:a16="http://schemas.microsoft.com/office/drawing/2014/main" id="{32FA807B-A07A-47B7-8748-91F14EE4A93C}"/>
              </a:ext>
            </a:extLst>
          </p:cNvPr>
          <p:cNvSpPr/>
          <p:nvPr/>
        </p:nvSpPr>
        <p:spPr>
          <a:xfrm>
            <a:off x="846138" y="660400"/>
            <a:ext cx="8461375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0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고객센터 운영을 뒷받침하는 </a:t>
            </a:r>
            <a:r>
              <a:rPr lang="ko-KR" sz="20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조직과 인력</a:t>
            </a:r>
          </a:p>
        </p:txBody>
      </p:sp>
      <p:sp>
        <p:nvSpPr>
          <p:cNvPr id="180" name="Rectangle 4">
            <a:extLst>
              <a:ext uri="{FF2B5EF4-FFF2-40B4-BE49-F238E27FC236}">
                <a16:creationId xmlns:a16="http://schemas.microsoft.com/office/drawing/2014/main" id="{AFA34CF8-6FC8-470E-A633-424A91EECBE9}"/>
              </a:ext>
            </a:extLst>
          </p:cNvPr>
          <p:cNvSpPr/>
          <p:nvPr/>
        </p:nvSpPr>
        <p:spPr>
          <a:xfrm>
            <a:off x="846138" y="1079500"/>
            <a:ext cx="84613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현장 운영을 본사 조직이 함께 뒷받침하는 구조로 운영하고 있습니다.</a:t>
            </a:r>
          </a:p>
        </p:txBody>
      </p:sp>
      <p:sp>
        <p:nvSpPr>
          <p:cNvPr id="181" name="Rectangle 78">
            <a:extLst>
              <a:ext uri="{FF2B5EF4-FFF2-40B4-BE49-F238E27FC236}">
                <a16:creationId xmlns:a16="http://schemas.microsoft.com/office/drawing/2014/main" id="{7D347CCC-3F77-43D2-A599-83BD1A2ACE74}"/>
              </a:ext>
            </a:extLst>
          </p:cNvPr>
          <p:cNvSpPr/>
          <p:nvPr/>
        </p:nvSpPr>
        <p:spPr>
          <a:xfrm>
            <a:off x="4540250" y="64770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14 / 49</a:t>
            </a:r>
            <a:endParaRPr lang="ko-KR" sz="600" b="0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pic>
        <p:nvPicPr>
          <p:cNvPr id="329" name="Picture 3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FE7D74C0-9B22-6771-3236-6D6F248FEA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9753377"/>
              </p:ext>
            </p:extLst>
          </p:nvPr>
        </p:nvGraphicFramePr>
        <p:xfrm>
          <a:off x="657688" y="4704445"/>
          <a:ext cx="8614541" cy="1512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9733">
                  <a:extLst>
                    <a:ext uri="{9D8B030D-6E8A-4147-A177-3AD203B41FA5}">
                      <a16:colId xmlns:a16="http://schemas.microsoft.com/office/drawing/2014/main" val="1484342104"/>
                    </a:ext>
                  </a:extLst>
                </a:gridCol>
                <a:gridCol w="607148">
                  <a:extLst>
                    <a:ext uri="{9D8B030D-6E8A-4147-A177-3AD203B41FA5}">
                      <a16:colId xmlns:a16="http://schemas.microsoft.com/office/drawing/2014/main" val="1251709637"/>
                    </a:ext>
                  </a:extLst>
                </a:gridCol>
                <a:gridCol w="607148">
                  <a:extLst>
                    <a:ext uri="{9D8B030D-6E8A-4147-A177-3AD203B41FA5}">
                      <a16:colId xmlns:a16="http://schemas.microsoft.com/office/drawing/2014/main" val="3139453918"/>
                    </a:ext>
                  </a:extLst>
                </a:gridCol>
                <a:gridCol w="607148">
                  <a:extLst>
                    <a:ext uri="{9D8B030D-6E8A-4147-A177-3AD203B41FA5}">
                      <a16:colId xmlns:a16="http://schemas.microsoft.com/office/drawing/2014/main" val="617358068"/>
                    </a:ext>
                  </a:extLst>
                </a:gridCol>
                <a:gridCol w="607148">
                  <a:extLst>
                    <a:ext uri="{9D8B030D-6E8A-4147-A177-3AD203B41FA5}">
                      <a16:colId xmlns:a16="http://schemas.microsoft.com/office/drawing/2014/main" val="1484995174"/>
                    </a:ext>
                  </a:extLst>
                </a:gridCol>
                <a:gridCol w="607148">
                  <a:extLst>
                    <a:ext uri="{9D8B030D-6E8A-4147-A177-3AD203B41FA5}">
                      <a16:colId xmlns:a16="http://schemas.microsoft.com/office/drawing/2014/main" val="514227781"/>
                    </a:ext>
                  </a:extLst>
                </a:gridCol>
                <a:gridCol w="607148">
                  <a:extLst>
                    <a:ext uri="{9D8B030D-6E8A-4147-A177-3AD203B41FA5}">
                      <a16:colId xmlns:a16="http://schemas.microsoft.com/office/drawing/2014/main" val="3369056433"/>
                    </a:ext>
                  </a:extLst>
                </a:gridCol>
                <a:gridCol w="607148">
                  <a:extLst>
                    <a:ext uri="{9D8B030D-6E8A-4147-A177-3AD203B41FA5}">
                      <a16:colId xmlns:a16="http://schemas.microsoft.com/office/drawing/2014/main" val="411414767"/>
                    </a:ext>
                  </a:extLst>
                </a:gridCol>
                <a:gridCol w="742954">
                  <a:extLst>
                    <a:ext uri="{9D8B030D-6E8A-4147-A177-3AD203B41FA5}">
                      <a16:colId xmlns:a16="http://schemas.microsoft.com/office/drawing/2014/main" val="2689172804"/>
                    </a:ext>
                  </a:extLst>
                </a:gridCol>
                <a:gridCol w="742955">
                  <a:extLst>
                    <a:ext uri="{9D8B030D-6E8A-4147-A177-3AD203B41FA5}">
                      <a16:colId xmlns:a16="http://schemas.microsoft.com/office/drawing/2014/main" val="484544986"/>
                    </a:ext>
                  </a:extLst>
                </a:gridCol>
                <a:gridCol w="742954">
                  <a:extLst>
                    <a:ext uri="{9D8B030D-6E8A-4147-A177-3AD203B41FA5}">
                      <a16:colId xmlns:a16="http://schemas.microsoft.com/office/drawing/2014/main" val="570471925"/>
                    </a:ext>
                  </a:extLst>
                </a:gridCol>
                <a:gridCol w="742955">
                  <a:extLst>
                    <a:ext uri="{9D8B030D-6E8A-4147-A177-3AD203B41FA5}">
                      <a16:colId xmlns:a16="http://schemas.microsoft.com/office/drawing/2014/main" val="3991889435"/>
                    </a:ext>
                  </a:extLst>
                </a:gridCol>
                <a:gridCol w="742954">
                  <a:extLst>
                    <a:ext uri="{9D8B030D-6E8A-4147-A177-3AD203B41FA5}">
                      <a16:colId xmlns:a16="http://schemas.microsoft.com/office/drawing/2014/main" val="2645473712"/>
                    </a:ext>
                  </a:extLst>
                </a:gridCol>
              </a:tblGrid>
              <a:tr h="3429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 panose="02000703000000020004" pitchFamily="2" charset="-127"/>
                        </a:rPr>
                        <a:t>구분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b="0" kern="1200" dirty="0">
                          <a:solidFill>
                            <a:srgbClr val="E30C60"/>
                          </a:solidFill>
                          <a:latin typeface="페이퍼로지 5 Medium"/>
                          <a:ea typeface="페이퍼로지 5 Medium"/>
                          <a:cs typeface="페이퍼로지 5 Medium" panose="02000703000000020004" pitchFamily="2" charset="-127"/>
                        </a:rPr>
                        <a:t>본사 인원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C3D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b="0" kern="1200">
                        <a:solidFill>
                          <a:schemeClr val="bg1"/>
                        </a:solidFill>
                        <a:latin typeface="페이퍼로지 5 Medium" panose="02000703000000020004" pitchFamily="2" charset="-127"/>
                        <a:ea typeface="페이퍼로지 5 Medium" panose="02000703000000020004" pitchFamily="2" charset="-127"/>
                        <a:cs typeface="페이퍼로지 5 Medium" panose="02000703000000020004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5D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b="0" kern="1200">
                        <a:solidFill>
                          <a:schemeClr val="bg1"/>
                        </a:solidFill>
                        <a:latin typeface="페이퍼로지 5 Medium" panose="02000703000000020004" pitchFamily="2" charset="-127"/>
                        <a:ea typeface="페이퍼로지 5 Medium" panose="02000703000000020004" pitchFamily="2" charset="-127"/>
                        <a:cs typeface="페이퍼로지 5 Medium" panose="02000703000000020004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5D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b="0" kern="1200">
                        <a:solidFill>
                          <a:schemeClr val="bg1"/>
                        </a:solidFill>
                        <a:latin typeface="페이퍼로지 5 Medium" panose="02000703000000020004" pitchFamily="2" charset="-127"/>
                        <a:ea typeface="페이퍼로지 5 Medium" panose="02000703000000020004" pitchFamily="2" charset="-127"/>
                        <a:cs typeface="페이퍼로지 5 Medium" panose="02000703000000020004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5D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b="0" kern="1200">
                        <a:solidFill>
                          <a:schemeClr val="bg1"/>
                        </a:solidFill>
                        <a:latin typeface="페이퍼로지 5 Medium" panose="02000703000000020004" pitchFamily="2" charset="-127"/>
                        <a:ea typeface="페이퍼로지 5 Medium" panose="02000703000000020004" pitchFamily="2" charset="-127"/>
                        <a:cs typeface="페이퍼로지 5 Medium" panose="02000703000000020004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5D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b="0" kern="1200">
                        <a:solidFill>
                          <a:schemeClr val="bg1"/>
                        </a:solidFill>
                        <a:latin typeface="페이퍼로지 5 Medium" panose="02000703000000020004" pitchFamily="2" charset="-127"/>
                        <a:ea typeface="페이퍼로지 5 Medium" panose="02000703000000020004" pitchFamily="2" charset="-127"/>
                        <a:cs typeface="페이퍼로지 5 Medium" panose="02000703000000020004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5D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b="0" kern="1200">
                        <a:solidFill>
                          <a:schemeClr val="bg1"/>
                        </a:solidFill>
                        <a:latin typeface="페이퍼로지 5 Medium" panose="02000703000000020004" pitchFamily="2" charset="-127"/>
                        <a:ea typeface="페이퍼로지 5 Medium" panose="02000703000000020004" pitchFamily="2" charset="-127"/>
                        <a:cs typeface="페이퍼로지 5 Medium" panose="02000703000000020004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5DD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 panose="02000703000000020004" pitchFamily="2" charset="-127"/>
                        </a:rPr>
                        <a:t>현장 인원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b="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5 Medium" panose="02000703000000020004" pitchFamily="2" charset="-127"/>
                        <a:ea typeface="페이퍼로지 5 Medium" panose="02000703000000020004" pitchFamily="2" charset="-127"/>
                        <a:cs typeface="페이퍼로지 5 Medium" panose="02000703000000020004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F2FC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b="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5 Medium" panose="02000703000000020004" pitchFamily="2" charset="-127"/>
                        <a:ea typeface="페이퍼로지 5 Medium" panose="02000703000000020004" pitchFamily="2" charset="-127"/>
                        <a:cs typeface="페이퍼로지 5 Medium" panose="02000703000000020004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F2FC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b="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5 Medium" panose="02000703000000020004" pitchFamily="2" charset="-127"/>
                        <a:ea typeface="페이퍼로지 5 Medium" panose="02000703000000020004" pitchFamily="2" charset="-127"/>
                        <a:cs typeface="페이퍼로지 5 Medium" panose="02000703000000020004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F2FC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b="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5 Medium" panose="02000703000000020004" pitchFamily="2" charset="-127"/>
                        <a:ea typeface="페이퍼로지 5 Medium" panose="02000703000000020004" pitchFamily="2" charset="-127"/>
                        <a:cs typeface="페이퍼로지 5 Medium" panose="02000703000000020004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667987"/>
                  </a:ext>
                </a:extLst>
              </a:tr>
              <a:tr h="385148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 panose="02000703000000020004" pitchFamily="2" charset="-127"/>
                        </a:rPr>
                        <a:t>인원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05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 panose="02000703000000020004" pitchFamily="2" charset="-127"/>
                        </a:rPr>
                        <a:t>임원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05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 panose="02000703000000020004" pitchFamily="2" charset="-127"/>
                        </a:rPr>
                        <a:t>부장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05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 panose="02000703000000020004" pitchFamily="2" charset="-127"/>
                        </a:rPr>
                        <a:t>차장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05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 panose="02000703000000020004" pitchFamily="2" charset="-127"/>
                        </a:rPr>
                        <a:t>과장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05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 panose="02000703000000020004" pitchFamily="2" charset="-127"/>
                        </a:rPr>
                        <a:t>대리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05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 panose="02000703000000020004" pitchFamily="2" charset="-127"/>
                        </a:rPr>
                        <a:t>사원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05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 panose="02000703000000020004" pitchFamily="2" charset="-127"/>
                        </a:rPr>
                        <a:t>총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05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 panose="02000703000000020004" pitchFamily="2" charset="-127"/>
                        </a:rPr>
                        <a:t>센터장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050" b="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 panose="02000703000000020004" pitchFamily="2" charset="-127"/>
                        </a:rPr>
                        <a:t>스탭</a:t>
                      </a:r>
                      <a:endParaRPr lang="ko-KR" altLang="en-US" sz="105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5 Medium"/>
                        <a:ea typeface="페이퍼로지 5 Medium"/>
                        <a:cs typeface="페이퍼로지 5 Medium" panose="020007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05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 panose="02000703000000020004" pitchFamily="2" charset="-127"/>
                        </a:rPr>
                        <a:t>상담사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05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 panose="02000703000000020004" pitchFamily="2" charset="-127"/>
                        </a:rPr>
                        <a:t>기타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05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 panose="02000703000000020004" pitchFamily="2" charset="-127"/>
                        </a:rPr>
                        <a:t>총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8692231"/>
                  </a:ext>
                </a:extLst>
              </a:tr>
              <a:tr h="374084">
                <a:tc vMerge="1">
                  <a:txBody>
                    <a:bodyPr/>
                    <a:lstStyle/>
                    <a:p>
                      <a:pPr latinLnBrk="1"/>
                      <a:endParaRPr lang="ko-KR" altLang="en-US">
                        <a:latin typeface="페이퍼로지 5 Medium"/>
                        <a:ea typeface="페이퍼로지 5 Medium"/>
                        <a:cs typeface="페이퍼로지 5 Medium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 panose="02000403000000020004" pitchFamily="50" charset="-127"/>
                        </a:rPr>
                        <a:t>17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 panose="02000403000000020004" pitchFamily="50" charset="-127"/>
                        </a:rPr>
                        <a:t>명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 panose="02000403000000020004" pitchFamily="50" charset="-127"/>
                        </a:rPr>
                        <a:t>38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 panose="02000403000000020004" pitchFamily="50" charset="-127"/>
                        </a:rPr>
                        <a:t>명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 panose="02000403000000020004" pitchFamily="50" charset="-127"/>
                        </a:rPr>
                        <a:t>89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 panose="02000403000000020004" pitchFamily="50" charset="-127"/>
                        </a:rPr>
                        <a:t>명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 panose="02000403000000020004" pitchFamily="50" charset="-127"/>
                        </a:rPr>
                        <a:t>80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 panose="02000403000000020004" pitchFamily="50" charset="-127"/>
                        </a:rPr>
                        <a:t>명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 panose="02000403000000020004" pitchFamily="50" charset="-127"/>
                        </a:rPr>
                        <a:t>46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 panose="02000403000000020004" pitchFamily="50" charset="-127"/>
                        </a:rPr>
                        <a:t>명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 panose="02000403000000020004" pitchFamily="50" charset="-127"/>
                        </a:rPr>
                        <a:t>9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 panose="02000403000000020004" pitchFamily="50" charset="-127"/>
                        </a:rPr>
                        <a:t>명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rgbClr val="5D544B"/>
                          </a:solidFill>
                          <a:latin typeface="페이퍼로지 5 Medium"/>
                          <a:ea typeface="페이퍼로지 5 Medium"/>
                          <a:cs typeface="페이퍼로지 5 Medium" panose="02000703000000020004" pitchFamily="50" charset="-127"/>
                        </a:rPr>
                        <a:t>160</a:t>
                      </a:r>
                      <a:r>
                        <a:rPr lang="ko-KR" altLang="en-US" sz="1000" b="0" dirty="0">
                          <a:solidFill>
                            <a:srgbClr val="5D544B"/>
                          </a:solidFill>
                          <a:latin typeface="페이퍼로지 5 Medium"/>
                          <a:ea typeface="페이퍼로지 5 Medium"/>
                          <a:cs typeface="페이퍼로지 5 Medium" panose="02000703000000020004" pitchFamily="50" charset="-127"/>
                        </a:rPr>
                        <a:t>명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 panose="02000403000000020004" pitchFamily="50" charset="-127"/>
                        </a:rPr>
                        <a:t>160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 panose="02000403000000020004" pitchFamily="50" charset="-127"/>
                        </a:rPr>
                        <a:t>명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 panose="02000403000000020004" pitchFamily="50" charset="-127"/>
                        </a:rPr>
                        <a:t>951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 panose="02000403000000020004" pitchFamily="50" charset="-127"/>
                        </a:rPr>
                        <a:t>명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 panose="02000403000000020004" pitchFamily="50" charset="-127"/>
                        </a:rPr>
                        <a:t>6,835</a:t>
                      </a:r>
                      <a:r>
                        <a:rPr lang="ko-KR" altLang="en-US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 panose="02000403000000020004" pitchFamily="50" charset="-127"/>
                        </a:rPr>
                        <a:t>명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 panose="02000403000000020004" pitchFamily="50" charset="-127"/>
                        </a:rPr>
                        <a:t>504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 panose="02000403000000020004" pitchFamily="50" charset="-127"/>
                        </a:rPr>
                        <a:t>명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rgbClr val="E30C60"/>
                          </a:solidFill>
                          <a:latin typeface="페이퍼로지 5 Medium"/>
                          <a:ea typeface="페이퍼로지 5 Medium"/>
                          <a:cs typeface="페이퍼로지 5 Medium" panose="02000703000000020004" pitchFamily="50" charset="-127"/>
                        </a:rPr>
                        <a:t>8,729</a:t>
                      </a:r>
                      <a:r>
                        <a:rPr lang="ko-KR" altLang="en-US" sz="1000" b="0" dirty="0">
                          <a:solidFill>
                            <a:srgbClr val="E30C60"/>
                          </a:solidFill>
                          <a:latin typeface="페이퍼로지 5 Medium"/>
                          <a:ea typeface="페이퍼로지 5 Medium"/>
                          <a:cs typeface="페이퍼로지 5 Medium" panose="02000703000000020004" pitchFamily="50" charset="-127"/>
                        </a:rPr>
                        <a:t>명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9383444"/>
                  </a:ext>
                </a:extLst>
              </a:tr>
              <a:tr h="410793">
                <a:tc gridSpan="13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 panose="02000703000000020004" pitchFamily="50" charset="-127"/>
                        </a:rPr>
                        <a:t> 2026년 10월 현재 총 8,889명   /   상담센터 상담 경력 5년 이상 전문 인력 : 3,264명</a:t>
                      </a:r>
                      <a:endParaRPr lang="ko-KR" altLang="en-US" sz="1100" kern="1200" dirty="0">
                        <a:solidFill>
                          <a:srgbClr val="E51F6C"/>
                        </a:solidFill>
                        <a:latin typeface="페이퍼로지 5 Medium"/>
                        <a:ea typeface="페이퍼로지 5 Medium"/>
                        <a:cs typeface="페이퍼로지 5 Medium" panose="020007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5 Medium" panose="02000403000000020004" pitchFamily="50" charset="-127"/>
                        <a:ea typeface="페이퍼로지 5 Medium" panose="02000403000000020004" pitchFamily="50" charset="-127"/>
                        <a:cs typeface="페이퍼로지 5 Medium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5 Medium" panose="02000403000000020004" pitchFamily="50" charset="-127"/>
                        <a:ea typeface="페이퍼로지 5 Medium" panose="02000403000000020004" pitchFamily="50" charset="-127"/>
                        <a:cs typeface="페이퍼로지 5 Medium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5 Medium" panose="02000403000000020004" pitchFamily="50" charset="-127"/>
                        <a:ea typeface="페이퍼로지 5 Medium" panose="02000403000000020004" pitchFamily="50" charset="-127"/>
                        <a:cs typeface="페이퍼로지 5 Medium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5 Medium" panose="02000403000000020004" pitchFamily="50" charset="-127"/>
                        <a:ea typeface="페이퍼로지 5 Medium" panose="02000403000000020004" pitchFamily="50" charset="-127"/>
                        <a:cs typeface="페이퍼로지 5 Medium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5 Medium" panose="02000403000000020004" pitchFamily="50" charset="-127"/>
                        <a:ea typeface="페이퍼로지 5 Medium" panose="02000403000000020004" pitchFamily="50" charset="-127"/>
                        <a:cs typeface="페이퍼로지 5 Medium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5 Medium" panose="02000403000000020004" pitchFamily="50" charset="-127"/>
                        <a:ea typeface="페이퍼로지 5 Medium" panose="02000403000000020004" pitchFamily="50" charset="-127"/>
                        <a:cs typeface="페이퍼로지 5 Medium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5 Medium" panose="02000403000000020004" pitchFamily="50" charset="-127"/>
                        <a:ea typeface="페이퍼로지 5 Medium" panose="02000403000000020004" pitchFamily="50" charset="-127"/>
                        <a:cs typeface="페이퍼로지 5 Medium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kern="1200">
                        <a:solidFill>
                          <a:srgbClr val="0075DD"/>
                        </a:solidFill>
                        <a:latin typeface="페이퍼로지 5 Medium" panose="02000703000000020004" pitchFamily="50" charset="-127"/>
                        <a:ea typeface="페이퍼로지 5 Medium" panose="02000703000000020004" pitchFamily="50" charset="-127"/>
                        <a:cs typeface="페이퍼로지 5 Medium" panose="02000703000000020004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5 Medium" panose="02000403000000020004" pitchFamily="50" charset="-127"/>
                        <a:ea typeface="페이퍼로지 5 Medium" panose="02000403000000020004" pitchFamily="50" charset="-127"/>
                        <a:cs typeface="페이퍼로지 5 Medium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>
                        <a:solidFill>
                          <a:srgbClr val="FF0000"/>
                        </a:solidFill>
                        <a:latin typeface="페이퍼로지 5 Medium" panose="02000703000000020004" pitchFamily="50" charset="-127"/>
                        <a:ea typeface="페이퍼로지 5 Medium" panose="02000703000000020004" pitchFamily="50" charset="-127"/>
                        <a:cs typeface="페이퍼로지 5 Medium" panose="020007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5 Medium" panose="02000403000000020004" pitchFamily="50" charset="-127"/>
                        <a:ea typeface="페이퍼로지 5 Medium" panose="02000403000000020004" pitchFamily="50" charset="-127"/>
                        <a:cs typeface="페이퍼로지 5 Medium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5 Medium" panose="02000403000000020004" pitchFamily="50" charset="-127"/>
                        <a:ea typeface="페이퍼로지 5 Medium" panose="02000403000000020004" pitchFamily="50" charset="-127"/>
                        <a:cs typeface="페이퍼로지 5 Medium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9444526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5CA0BFF6-1A7E-4838-8468-015B16AED385}"/>
              </a:ext>
            </a:extLst>
          </p:cNvPr>
          <p:cNvSpPr txBox="1"/>
          <p:nvPr/>
        </p:nvSpPr>
        <p:spPr>
          <a:xfrm>
            <a:off x="657688" y="4193566"/>
            <a:ext cx="2940532" cy="338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72000" latinLnBrk="0">
              <a:lnSpc>
                <a:spcPct val="110000"/>
              </a:lnSpc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</a:pPr>
            <a:r>
              <a:rPr lang="ko-KR" altLang="en-US" sz="900" spc="-16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anose="02000403000000020004" pitchFamily="50" charset="-127"/>
                <a:ea typeface="페이퍼로지 5 Medium" panose="02000403000000020004" pitchFamily="50" charset="-127"/>
                <a:cs typeface="페이퍼로지 5 Medium" panose="02000403000000020004" pitchFamily="50" charset="-127"/>
              </a:rPr>
              <a:t>전사 차원의 채용</a:t>
            </a:r>
            <a:r>
              <a:rPr lang="en-US" altLang="ko-KR" sz="900" spc="-16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anose="02000403000000020004" pitchFamily="50" charset="-127"/>
                <a:ea typeface="페이퍼로지 5 Medium" panose="02000403000000020004" pitchFamily="50" charset="-127"/>
                <a:cs typeface="페이퍼로지 5 Medium" panose="02000403000000020004" pitchFamily="50" charset="-127"/>
              </a:rPr>
              <a:t>, </a:t>
            </a:r>
            <a:r>
              <a:rPr lang="ko-KR" altLang="en-US" sz="900" spc="-16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anose="02000403000000020004" pitchFamily="50" charset="-127"/>
                <a:ea typeface="페이퍼로지 5 Medium" panose="02000403000000020004" pitchFamily="50" charset="-127"/>
                <a:cs typeface="페이퍼로지 5 Medium" panose="02000403000000020004" pitchFamily="50" charset="-127"/>
              </a:rPr>
              <a:t>교육</a:t>
            </a:r>
            <a:r>
              <a:rPr lang="en-US" altLang="ko-KR" sz="900" spc="-16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anose="02000403000000020004" pitchFamily="50" charset="-127"/>
                <a:ea typeface="페이퍼로지 5 Medium" panose="02000403000000020004" pitchFamily="50" charset="-127"/>
                <a:cs typeface="페이퍼로지 5 Medium" panose="02000403000000020004" pitchFamily="50" charset="-127"/>
              </a:rPr>
              <a:t>, </a:t>
            </a:r>
            <a:r>
              <a:rPr lang="ko-KR" altLang="en-US" sz="900" spc="-16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anose="02000403000000020004" pitchFamily="50" charset="-127"/>
                <a:ea typeface="페이퍼로지 5 Medium" panose="02000403000000020004" pitchFamily="50" charset="-127"/>
                <a:cs typeface="페이퍼로지 5 Medium" panose="02000403000000020004" pitchFamily="50" charset="-127"/>
              </a:rPr>
              <a:t>복지</a:t>
            </a:r>
            <a:r>
              <a:rPr lang="en-US" altLang="ko-KR" sz="900" spc="-16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anose="02000403000000020004" pitchFamily="50" charset="-127"/>
                <a:ea typeface="페이퍼로지 5 Medium" panose="02000403000000020004" pitchFamily="50" charset="-127"/>
                <a:cs typeface="페이퍼로지 5 Medium" panose="02000403000000020004" pitchFamily="50" charset="-127"/>
              </a:rPr>
              <a:t>, </a:t>
            </a:r>
            <a:r>
              <a:rPr lang="ko-KR" altLang="en-US" sz="900" spc="-16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anose="02000403000000020004" pitchFamily="50" charset="-127"/>
                <a:ea typeface="페이퍼로지 5 Medium" panose="02000403000000020004" pitchFamily="50" charset="-127"/>
                <a:cs typeface="페이퍼로지 5 Medium" panose="02000403000000020004" pitchFamily="50" charset="-127"/>
              </a:rPr>
              <a:t>급여</a:t>
            </a:r>
            <a:r>
              <a:rPr lang="en-US" altLang="ko-KR" sz="900" spc="-16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anose="02000403000000020004" pitchFamily="50" charset="-127"/>
                <a:ea typeface="페이퍼로지 5 Medium" panose="02000403000000020004" pitchFamily="50" charset="-127"/>
                <a:cs typeface="페이퍼로지 5 Medium" panose="02000403000000020004" pitchFamily="50" charset="-127"/>
              </a:rPr>
              <a:t>, </a:t>
            </a:r>
            <a:r>
              <a:rPr lang="ko-KR" altLang="en-US" sz="900" spc="-16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anose="02000403000000020004" pitchFamily="50" charset="-127"/>
                <a:ea typeface="페이퍼로지 5 Medium" panose="02000403000000020004" pitchFamily="50" charset="-127"/>
                <a:cs typeface="페이퍼로지 5 Medium" panose="02000403000000020004" pitchFamily="50" charset="-127"/>
              </a:rPr>
              <a:t>정보보안 등 업무 지원</a:t>
            </a:r>
            <a:endParaRPr lang="en-US" altLang="ko-KR" sz="900" spc="-16">
              <a:solidFill>
                <a:schemeClr val="tx1">
                  <a:lumMod val="75000"/>
                  <a:lumOff val="25000"/>
                </a:schemeClr>
              </a:solidFill>
              <a:latin typeface="페이퍼로지 5 Medium" panose="02000403000000020004" pitchFamily="50" charset="-127"/>
              <a:ea typeface="페이퍼로지 5 Medium" panose="02000403000000020004" pitchFamily="50" charset="-127"/>
              <a:cs typeface="페이퍼로지 5 Medium" panose="02000403000000020004" pitchFamily="50" charset="-127"/>
            </a:endParaRPr>
          </a:p>
          <a:p>
            <a:pPr indent="72000" latinLnBrk="0">
              <a:lnSpc>
                <a:spcPct val="110000"/>
              </a:lnSpc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</a:pPr>
            <a:r>
              <a:rPr lang="ko-KR" altLang="en-US" sz="900" spc="-16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anose="02000403000000020004" pitchFamily="50" charset="-127"/>
                <a:ea typeface="페이퍼로지 5 Medium" panose="02000403000000020004" pitchFamily="50" charset="-127"/>
                <a:cs typeface="페이퍼로지 5 Medium" panose="02000403000000020004" pitchFamily="50" charset="-127"/>
              </a:rPr>
              <a:t>사내 변호사</a:t>
            </a:r>
            <a:r>
              <a:rPr lang="en-US" altLang="ko-KR" sz="900" spc="-16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anose="02000403000000020004" pitchFamily="50" charset="-127"/>
                <a:ea typeface="페이퍼로지 5 Medium" panose="02000403000000020004" pitchFamily="50" charset="-127"/>
                <a:cs typeface="페이퍼로지 5 Medium" panose="02000403000000020004" pitchFamily="50" charset="-127"/>
              </a:rPr>
              <a:t>, </a:t>
            </a:r>
            <a:r>
              <a:rPr lang="ko-KR" altLang="en-US" sz="900" spc="-16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anose="02000403000000020004" pitchFamily="50" charset="-127"/>
                <a:ea typeface="페이퍼로지 5 Medium" panose="02000403000000020004" pitchFamily="50" charset="-127"/>
                <a:cs typeface="페이퍼로지 5 Medium" panose="02000403000000020004" pitchFamily="50" charset="-127"/>
              </a:rPr>
              <a:t>노무사</a:t>
            </a:r>
            <a:r>
              <a:rPr lang="en-US" altLang="ko-KR" sz="900" spc="-16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anose="02000403000000020004" pitchFamily="50" charset="-127"/>
                <a:ea typeface="페이퍼로지 5 Medium" panose="02000403000000020004" pitchFamily="50" charset="-127"/>
                <a:cs typeface="페이퍼로지 5 Medium" panose="02000403000000020004" pitchFamily="50" charset="-127"/>
              </a:rPr>
              <a:t> </a:t>
            </a:r>
            <a:r>
              <a:rPr lang="ko-KR" altLang="en-US" sz="900" spc="-16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anose="02000403000000020004" pitchFamily="50" charset="-127"/>
                <a:ea typeface="페이퍼로지 5 Medium" panose="02000403000000020004" pitchFamily="50" charset="-127"/>
                <a:cs typeface="페이퍼로지 5 Medium" panose="02000403000000020004" pitchFamily="50" charset="-127"/>
              </a:rPr>
              <a:t>보유</a:t>
            </a:r>
            <a:r>
              <a:rPr lang="en-US" altLang="ko-KR" sz="900" spc="-16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anose="02000403000000020004" pitchFamily="50" charset="-127"/>
                <a:ea typeface="페이퍼로지 5 Medium" panose="02000403000000020004" pitchFamily="50" charset="-127"/>
                <a:cs typeface="페이퍼로지 5 Medium" panose="02000403000000020004" pitchFamily="50" charset="-127"/>
              </a:rPr>
              <a:t>,</a:t>
            </a:r>
            <a:r>
              <a:rPr lang="ko-KR" altLang="en-US" sz="900" spc="-16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anose="02000403000000020004" pitchFamily="50" charset="-127"/>
                <a:ea typeface="페이퍼로지 5 Medium" panose="02000403000000020004" pitchFamily="50" charset="-127"/>
                <a:cs typeface="페이퍼로지 5 Medium" panose="02000403000000020004" pitchFamily="50" charset="-127"/>
              </a:rPr>
              <a:t> 법률 자문 및 노무 리스크 관리</a:t>
            </a:r>
            <a:endParaRPr lang="en-US" altLang="ko-KR" sz="900" spc="-16">
              <a:solidFill>
                <a:schemeClr val="tx1">
                  <a:lumMod val="75000"/>
                  <a:lumOff val="25000"/>
                </a:schemeClr>
              </a:solidFill>
              <a:latin typeface="페이퍼로지 5 Medium" panose="02000403000000020004" pitchFamily="50" charset="-127"/>
              <a:ea typeface="페이퍼로지 5 Medium" panose="02000403000000020004" pitchFamily="50" charset="-127"/>
              <a:cs typeface="페이퍼로지 5 Medium" panose="02000403000000020004" pitchFamily="50" charset="-127"/>
            </a:endParaRP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89163FA1-3EBA-E26B-EE52-A178F5AF4FE3}"/>
              </a:ext>
            </a:extLst>
          </p:cNvPr>
          <p:cNvGrpSpPr/>
          <p:nvPr/>
        </p:nvGrpSpPr>
        <p:grpSpPr>
          <a:xfrm>
            <a:off x="658293" y="1426478"/>
            <a:ext cx="8664044" cy="2629749"/>
            <a:chOff x="696341" y="1604380"/>
            <a:chExt cx="8880010" cy="2695300"/>
          </a:xfrm>
        </p:grpSpPr>
        <p:sp>
          <p:nvSpPr>
            <p:cNvPr id="7" name="모서리가 둥근 직사각형 62">
              <a:extLst>
                <a:ext uri="{FF2B5EF4-FFF2-40B4-BE49-F238E27FC236}">
                  <a16:creationId xmlns:a16="http://schemas.microsoft.com/office/drawing/2014/main" id="{89E60FFC-0B40-ED24-3084-E73B636CBAEC}"/>
                </a:ext>
              </a:extLst>
            </p:cNvPr>
            <p:cNvSpPr/>
            <p:nvPr/>
          </p:nvSpPr>
          <p:spPr>
            <a:xfrm>
              <a:off x="8381700" y="1696144"/>
              <a:ext cx="1138968" cy="2598819"/>
            </a:xfrm>
            <a:prstGeom prst="roundRect">
              <a:avLst>
                <a:gd name="adj" fmla="val 8602"/>
              </a:avLst>
            </a:prstGeom>
            <a:gradFill flip="none" rotWithShape="1">
              <a:gsLst>
                <a:gs pos="0">
                  <a:srgbClr val="A50034"/>
                </a:gs>
                <a:gs pos="75000">
                  <a:srgbClr val="E30C60"/>
                </a:gs>
              </a:gsLst>
              <a:lin ang="16200000" scaled="1"/>
              <a:tileRect/>
            </a:gradFill>
            <a:ln w="12700">
              <a:noFill/>
            </a:ln>
            <a:effectLst>
              <a:outerShdw blurRad="63500" dist="38100" dir="5400000" algn="t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 dirty="0">
                <a:solidFill>
                  <a:srgbClr val="1343A4"/>
                </a:solidFill>
                <a:latin typeface="페이퍼로지 5 Medium" panose="02000603000000020004" pitchFamily="2" charset="-127"/>
                <a:ea typeface="페이퍼로지 5 Medium" panose="02000603000000020004" pitchFamily="2" charset="-127"/>
                <a:cs typeface="페이퍼로지 5 Medium" panose="02000603000000020004" pitchFamily="2" charset="-127"/>
              </a:endParaRPr>
            </a:p>
          </p:txBody>
        </p:sp>
        <p:sp>
          <p:nvSpPr>
            <p:cNvPr id="9" name="사각형: 둥근 모서리 41">
              <a:extLst>
                <a:ext uri="{FF2B5EF4-FFF2-40B4-BE49-F238E27FC236}">
                  <a16:creationId xmlns:a16="http://schemas.microsoft.com/office/drawing/2014/main" id="{FA58C707-F413-DC8A-A570-343979BA6A58}"/>
                </a:ext>
              </a:extLst>
            </p:cNvPr>
            <p:cNvSpPr/>
            <p:nvPr/>
          </p:nvSpPr>
          <p:spPr>
            <a:xfrm>
              <a:off x="8509766" y="3361245"/>
              <a:ext cx="904479" cy="373806"/>
            </a:xfrm>
            <a:prstGeom prst="roundRect">
              <a:avLst/>
            </a:prstGeom>
            <a:solidFill>
              <a:schemeClr val="bg1"/>
            </a:solidFill>
            <a:ln w="3175"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latin typeface="페이퍼로지 5 Medium" panose="02000703000000020004" pitchFamily="50" charset="-127"/>
                <a:ea typeface="페이퍼로지 5 Medium" panose="02000703000000020004" pitchFamily="50" charset="-127"/>
                <a:cs typeface="페이퍼로지 5 Medium" panose="02000703000000020004" pitchFamily="50" charset="-127"/>
              </a:endParaRPr>
            </a:p>
          </p:txBody>
        </p:sp>
        <p:sp>
          <p:nvSpPr>
            <p:cNvPr id="10" name="사각형: 둥근 모서리 41">
              <a:extLst>
                <a:ext uri="{FF2B5EF4-FFF2-40B4-BE49-F238E27FC236}">
                  <a16:creationId xmlns:a16="http://schemas.microsoft.com/office/drawing/2014/main" id="{DA6D4FE5-02C8-E168-87AE-C54A96124455}"/>
                </a:ext>
              </a:extLst>
            </p:cNvPr>
            <p:cNvSpPr/>
            <p:nvPr/>
          </p:nvSpPr>
          <p:spPr>
            <a:xfrm>
              <a:off x="8509765" y="3815982"/>
              <a:ext cx="904479" cy="373806"/>
            </a:xfrm>
            <a:prstGeom prst="roundRect">
              <a:avLst/>
            </a:prstGeom>
            <a:solidFill>
              <a:schemeClr val="bg1"/>
            </a:solidFill>
            <a:ln w="3175"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latin typeface="페이퍼로지 5 Medium" panose="02000703000000020004" pitchFamily="50" charset="-127"/>
                <a:ea typeface="페이퍼로지 5 Medium" panose="02000703000000020004" pitchFamily="50" charset="-127"/>
                <a:cs typeface="페이퍼로지 5 Medium" panose="02000703000000020004" pitchFamily="50" charset="-127"/>
              </a:endParaRPr>
            </a:p>
          </p:txBody>
        </p:sp>
        <p:sp>
          <p:nvSpPr>
            <p:cNvPr id="11" name="사각형: 둥근 모서리 41">
              <a:extLst>
                <a:ext uri="{FF2B5EF4-FFF2-40B4-BE49-F238E27FC236}">
                  <a16:creationId xmlns:a16="http://schemas.microsoft.com/office/drawing/2014/main" id="{9DC68183-C65E-1E46-A2D1-E673E33EAF99}"/>
                </a:ext>
              </a:extLst>
            </p:cNvPr>
            <p:cNvSpPr/>
            <p:nvPr/>
          </p:nvSpPr>
          <p:spPr>
            <a:xfrm>
              <a:off x="8509766" y="2442104"/>
              <a:ext cx="904479" cy="373806"/>
            </a:xfrm>
            <a:prstGeom prst="roundRect">
              <a:avLst/>
            </a:prstGeom>
            <a:solidFill>
              <a:schemeClr val="bg1"/>
            </a:solidFill>
            <a:ln w="3175"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latin typeface="페이퍼로지 5 Medium" panose="02000703000000020004" pitchFamily="50" charset="-127"/>
                <a:ea typeface="페이퍼로지 5 Medium" panose="02000703000000020004" pitchFamily="50" charset="-127"/>
                <a:cs typeface="페이퍼로지 5 Medium" panose="02000703000000020004" pitchFamily="50" charset="-127"/>
              </a:endParaRPr>
            </a:p>
          </p:txBody>
        </p:sp>
        <p:sp>
          <p:nvSpPr>
            <p:cNvPr id="12" name="사각형: 둥근 모서리 41">
              <a:extLst>
                <a:ext uri="{FF2B5EF4-FFF2-40B4-BE49-F238E27FC236}">
                  <a16:creationId xmlns:a16="http://schemas.microsoft.com/office/drawing/2014/main" id="{E33FC871-B33E-003D-F008-0EE2E72B94DB}"/>
                </a:ext>
              </a:extLst>
            </p:cNvPr>
            <p:cNvSpPr/>
            <p:nvPr/>
          </p:nvSpPr>
          <p:spPr>
            <a:xfrm>
              <a:off x="8509766" y="2901792"/>
              <a:ext cx="904479" cy="373806"/>
            </a:xfrm>
            <a:prstGeom prst="roundRect">
              <a:avLst/>
            </a:prstGeom>
            <a:solidFill>
              <a:schemeClr val="bg1"/>
            </a:solidFill>
            <a:ln w="3175"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latin typeface="페이퍼로지 5 Medium" panose="02000703000000020004" pitchFamily="50" charset="-127"/>
                <a:ea typeface="페이퍼로지 5 Medium" panose="02000703000000020004" pitchFamily="50" charset="-127"/>
                <a:cs typeface="페이퍼로지 5 Medium" panose="02000703000000020004" pitchFamily="50" charset="-127"/>
              </a:endParaRPr>
            </a:p>
          </p:txBody>
        </p:sp>
        <p:sp>
          <p:nvSpPr>
            <p:cNvPr id="13" name="모서리가 둥근 직사각형 7">
              <a:extLst>
                <a:ext uri="{FF2B5EF4-FFF2-40B4-BE49-F238E27FC236}">
                  <a16:creationId xmlns:a16="http://schemas.microsoft.com/office/drawing/2014/main" id="{AEE8D862-4A05-83F7-0C57-00C2770DC068}"/>
                </a:ext>
              </a:extLst>
            </p:cNvPr>
            <p:cNvSpPr/>
            <p:nvPr/>
          </p:nvSpPr>
          <p:spPr>
            <a:xfrm>
              <a:off x="5356619" y="1700859"/>
              <a:ext cx="2847883" cy="665578"/>
            </a:xfrm>
            <a:prstGeom prst="roundRect">
              <a:avLst>
                <a:gd name="adj" fmla="val 13084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페이퍼로지 5 Medium"/>
                <a:ea typeface="페이퍼로지 5 Medium"/>
                <a:cs typeface="페이퍼로지 5 Medium"/>
              </a:endParaRPr>
            </a:p>
          </p:txBody>
        </p:sp>
        <p:sp>
          <p:nvSpPr>
            <p:cNvPr id="14" name="모서리가 둥근 직사각형 8">
              <a:extLst>
                <a:ext uri="{FF2B5EF4-FFF2-40B4-BE49-F238E27FC236}">
                  <a16:creationId xmlns:a16="http://schemas.microsoft.com/office/drawing/2014/main" id="{8BFB2EBC-33AF-7F8A-3594-25ECC793F316}"/>
                </a:ext>
              </a:extLst>
            </p:cNvPr>
            <p:cNvSpPr/>
            <p:nvPr/>
          </p:nvSpPr>
          <p:spPr>
            <a:xfrm>
              <a:off x="5356619" y="2444562"/>
              <a:ext cx="2847883" cy="666414"/>
            </a:xfrm>
            <a:prstGeom prst="roundRect">
              <a:avLst>
                <a:gd name="adj" fmla="val 12659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페이퍼로지 5 Medium"/>
                <a:ea typeface="페이퍼로지 5 Medium"/>
                <a:cs typeface="페이퍼로지 5 Medium"/>
              </a:endParaRPr>
            </a:p>
          </p:txBody>
        </p:sp>
        <p:sp>
          <p:nvSpPr>
            <p:cNvPr id="15" name="모서리가 둥근 직사각형 9">
              <a:extLst>
                <a:ext uri="{FF2B5EF4-FFF2-40B4-BE49-F238E27FC236}">
                  <a16:creationId xmlns:a16="http://schemas.microsoft.com/office/drawing/2014/main" id="{408C20D2-2C8F-1715-D8DE-FC310712B265}"/>
                </a:ext>
              </a:extLst>
            </p:cNvPr>
            <p:cNvSpPr/>
            <p:nvPr/>
          </p:nvSpPr>
          <p:spPr>
            <a:xfrm>
              <a:off x="5356619" y="3189101"/>
              <a:ext cx="2847883" cy="1110579"/>
            </a:xfrm>
            <a:prstGeom prst="roundRect">
              <a:avLst>
                <a:gd name="adj" fmla="val 7106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페이퍼로지 5 Medium"/>
                <a:ea typeface="페이퍼로지 5 Medium"/>
                <a:cs typeface="페이퍼로지 5 Medium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7A3A62EB-C6E5-237A-E240-3FAD039BE745}"/>
                </a:ext>
              </a:extLst>
            </p:cNvPr>
            <p:cNvCxnSpPr/>
            <p:nvPr/>
          </p:nvCxnSpPr>
          <p:spPr>
            <a:xfrm flipV="1">
              <a:off x="4896493" y="3657487"/>
              <a:ext cx="462095" cy="554"/>
            </a:xfrm>
            <a:prstGeom prst="line">
              <a:avLst/>
            </a:prstGeom>
            <a:ln w="12700" cap="sq">
              <a:solidFill>
                <a:schemeClr val="bg1">
                  <a:lumMod val="50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FD57F0CD-EDEF-BA9B-C54A-C74C17B96BDF}"/>
                </a:ext>
              </a:extLst>
            </p:cNvPr>
            <p:cNvCxnSpPr/>
            <p:nvPr/>
          </p:nvCxnSpPr>
          <p:spPr>
            <a:xfrm flipV="1">
              <a:off x="4896493" y="2988402"/>
              <a:ext cx="462095" cy="554"/>
            </a:xfrm>
            <a:prstGeom prst="line">
              <a:avLst/>
            </a:prstGeom>
            <a:ln w="12700" cap="sq">
              <a:solidFill>
                <a:schemeClr val="bg1">
                  <a:lumMod val="50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43DC807-13D8-32C5-E4DD-F0083BC63EA6}"/>
                </a:ext>
              </a:extLst>
            </p:cNvPr>
            <p:cNvCxnSpPr/>
            <p:nvPr/>
          </p:nvCxnSpPr>
          <p:spPr>
            <a:xfrm flipV="1">
              <a:off x="4896493" y="2323971"/>
              <a:ext cx="462095" cy="554"/>
            </a:xfrm>
            <a:prstGeom prst="line">
              <a:avLst/>
            </a:prstGeom>
            <a:ln w="12700" cap="sq">
              <a:solidFill>
                <a:schemeClr val="bg1">
                  <a:lumMod val="50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33D6A08B-548B-7335-E282-5C4BE2E02E51}"/>
                </a:ext>
              </a:extLst>
            </p:cNvPr>
            <p:cNvCxnSpPr/>
            <p:nvPr/>
          </p:nvCxnSpPr>
          <p:spPr>
            <a:xfrm>
              <a:off x="1596638" y="2042043"/>
              <a:ext cx="1065874" cy="597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B6897B5A-545F-C30A-EE55-F59CB539E7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46119" y="1921947"/>
              <a:ext cx="13591" cy="145817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사각형: 둥근 모서리 41">
              <a:extLst>
                <a:ext uri="{FF2B5EF4-FFF2-40B4-BE49-F238E27FC236}">
                  <a16:creationId xmlns:a16="http://schemas.microsoft.com/office/drawing/2014/main" id="{EB03EC3F-4F75-1E8E-7B0C-3C2B1C4BAFA8}"/>
                </a:ext>
              </a:extLst>
            </p:cNvPr>
            <p:cNvSpPr/>
            <p:nvPr/>
          </p:nvSpPr>
          <p:spPr>
            <a:xfrm>
              <a:off x="1927919" y="1604380"/>
              <a:ext cx="1470238" cy="31756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587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dirty="0">
                  <a:solidFill>
                    <a:srgbClr val="36373E"/>
                  </a:solidFill>
                  <a:latin typeface="페이퍼로지 5 Medium"/>
                  <a:ea typeface="페이퍼로지 5 Medium"/>
                  <a:cs typeface="페이퍼로지 5 Medium" panose="02000703000000020004" pitchFamily="50" charset="-127"/>
                </a:rPr>
                <a:t>대표이사 </a:t>
              </a:r>
              <a:r>
                <a:rPr lang="en-US" altLang="ko-KR" sz="1050" dirty="0">
                  <a:solidFill>
                    <a:srgbClr val="36373E"/>
                  </a:solidFill>
                  <a:latin typeface="페이퍼로지 5 Medium"/>
                  <a:ea typeface="페이퍼로지 5 Medium"/>
                  <a:cs typeface="페이퍼로지 5 Medium" panose="02000703000000020004" pitchFamily="50" charset="-127"/>
                </a:rPr>
                <a:t>(CEO)</a:t>
              </a:r>
              <a:endParaRPr lang="ko-KR" altLang="en-US" sz="1050" dirty="0">
                <a:solidFill>
                  <a:srgbClr val="36373E"/>
                </a:solidFill>
                <a:latin typeface="페이퍼로지 5 Medium"/>
                <a:ea typeface="페이퍼로지 5 Medium"/>
                <a:cs typeface="페이퍼로지 5 Medium" panose="02000703000000020004" pitchFamily="50" charset="-127"/>
              </a:endParaRPr>
            </a:p>
          </p:txBody>
        </p:sp>
        <p:sp>
          <p:nvSpPr>
            <p:cNvPr id="22" name="사각형: 둥근 모서리 4">
              <a:extLst>
                <a:ext uri="{FF2B5EF4-FFF2-40B4-BE49-F238E27FC236}">
                  <a16:creationId xmlns:a16="http://schemas.microsoft.com/office/drawing/2014/main" id="{EA16EC4E-E25B-B0BB-DCB6-C7576FC0FA83}"/>
                </a:ext>
              </a:extLst>
            </p:cNvPr>
            <p:cNvSpPr/>
            <p:nvPr/>
          </p:nvSpPr>
          <p:spPr>
            <a:xfrm>
              <a:off x="3793135" y="2152588"/>
              <a:ext cx="1386286" cy="320670"/>
            </a:xfrm>
            <a:prstGeom prst="roundRect">
              <a:avLst>
                <a:gd name="adj" fmla="val 16072"/>
              </a:avLst>
            </a:prstGeom>
            <a:solidFill>
              <a:srgbClr val="F6F5F2"/>
            </a:solidFill>
            <a:ln w="12700">
              <a:solidFill>
                <a:srgbClr val="5D544B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ea typeface="페이퍼로지 5 Medium"/>
                  <a:cs typeface="페이퍼로지 5 Medium" panose="02000703000000020004" pitchFamily="50" charset="-127"/>
                </a:rPr>
                <a:t>AICC </a:t>
              </a:r>
              <a:r>
                <a:rPr lang="ko-KR" alt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ea typeface="페이퍼로지 5 Medium"/>
                  <a:cs typeface="페이퍼로지 5 Medium" panose="02000703000000020004" pitchFamily="50" charset="-127"/>
                </a:rPr>
                <a:t>영업단</a:t>
              </a:r>
              <a:endPara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/>
                <a:ea typeface="페이퍼로지 5 Medium"/>
                <a:cs typeface="페이퍼로지 5 Medium" panose="02000703000000020004" pitchFamily="50" charset="-127"/>
              </a:endParaRPr>
            </a:p>
          </p:txBody>
        </p:sp>
        <p:sp>
          <p:nvSpPr>
            <p:cNvPr id="23" name="사각형: 둥근 모서리 4">
              <a:extLst>
                <a:ext uri="{FF2B5EF4-FFF2-40B4-BE49-F238E27FC236}">
                  <a16:creationId xmlns:a16="http://schemas.microsoft.com/office/drawing/2014/main" id="{F7E63D5F-4DC8-C44E-5610-2A40A0324162}"/>
                </a:ext>
              </a:extLst>
            </p:cNvPr>
            <p:cNvSpPr/>
            <p:nvPr/>
          </p:nvSpPr>
          <p:spPr>
            <a:xfrm>
              <a:off x="3793135" y="2831306"/>
              <a:ext cx="1386286" cy="320670"/>
            </a:xfrm>
            <a:prstGeom prst="roundRect">
              <a:avLst>
                <a:gd name="adj" fmla="val 14786"/>
              </a:avLst>
            </a:prstGeom>
            <a:solidFill>
              <a:srgbClr val="F6F5F2"/>
            </a:solidFill>
            <a:ln w="12700">
              <a:solidFill>
                <a:srgbClr val="5D544B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10000"/>
                </a:lnSpc>
              </a:pPr>
              <a:r>
                <a:rPr lang="en-US" altLang="ko-KR" sz="1100" spc="-16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ea typeface="페이퍼로지 5 Medium"/>
                  <a:cs typeface="페이퍼로지 5 Medium" panose="02000703000000020004" pitchFamily="50" charset="-127"/>
                </a:rPr>
                <a:t>AICC </a:t>
              </a:r>
              <a:r>
                <a:rPr lang="ko-KR" altLang="en-US" sz="1100" spc="-16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ea typeface="페이퍼로지 5 Medium"/>
                  <a:cs typeface="페이퍼로지 5 Medium" panose="02000703000000020004" pitchFamily="50" charset="-127"/>
                </a:rPr>
                <a:t>솔루션사업단</a:t>
              </a:r>
              <a:endParaRPr lang="id-ID" altLang="ko-KR" sz="1100" spc="-16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/>
                <a:ea typeface="페이퍼로지 5 Medium"/>
                <a:cs typeface="페이퍼로지 5 Medium" panose="02000703000000020004" pitchFamily="50" charset="-127"/>
              </a:endParaRPr>
            </a:p>
          </p:txBody>
        </p:sp>
        <p:sp>
          <p:nvSpPr>
            <p:cNvPr id="24" name="사각형: 둥근 모서리 4">
              <a:extLst>
                <a:ext uri="{FF2B5EF4-FFF2-40B4-BE49-F238E27FC236}">
                  <a16:creationId xmlns:a16="http://schemas.microsoft.com/office/drawing/2014/main" id="{DBE64FC4-F26A-BCA6-256B-7AA120E89DCA}"/>
                </a:ext>
              </a:extLst>
            </p:cNvPr>
            <p:cNvSpPr/>
            <p:nvPr/>
          </p:nvSpPr>
          <p:spPr>
            <a:xfrm>
              <a:off x="3793135" y="3510024"/>
              <a:ext cx="1386286" cy="320670"/>
            </a:xfrm>
            <a:prstGeom prst="roundRect">
              <a:avLst>
                <a:gd name="adj" fmla="val 14143"/>
              </a:avLst>
            </a:prstGeom>
            <a:solidFill>
              <a:srgbClr val="E30C60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bg1"/>
                  </a:solidFill>
                  <a:latin typeface="페이퍼로지 5 Medium"/>
                  <a:ea typeface="페이퍼로지 5 Medium"/>
                  <a:cs typeface="페이퍼로지 5 Medium" panose="02000703000000020004" pitchFamily="50" charset="-127"/>
                </a:rPr>
                <a:t>AICC </a:t>
              </a:r>
              <a:r>
                <a:rPr lang="ko-KR" altLang="en-US" sz="1100" dirty="0">
                  <a:solidFill>
                    <a:schemeClr val="bg1"/>
                  </a:solidFill>
                  <a:latin typeface="페이퍼로지 5 Medium"/>
                  <a:ea typeface="페이퍼로지 5 Medium"/>
                  <a:cs typeface="페이퍼로지 5 Medium" panose="02000703000000020004" pitchFamily="50" charset="-127"/>
                </a:rPr>
                <a:t>사업단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44E608D-E473-6766-0D78-DCDEE436A376}"/>
                </a:ext>
              </a:extLst>
            </p:cNvPr>
            <p:cNvSpPr txBox="1"/>
            <p:nvPr/>
          </p:nvSpPr>
          <p:spPr>
            <a:xfrm>
              <a:off x="8346160" y="1849943"/>
              <a:ext cx="1230191" cy="461024"/>
            </a:xfrm>
            <a:prstGeom prst="rect">
              <a:avLst/>
            </a:prstGeom>
            <a:noFill/>
          </p:spPr>
          <p:txBody>
            <a:bodyPr wrap="none" lIns="72000" rIns="72000" rtlCol="0">
              <a:spAutoFit/>
            </a:bodyPr>
            <a:lstStyle/>
            <a:p>
              <a:pPr algn="ctr" latinLnBrk="0">
                <a:lnSpc>
                  <a:spcPct val="120000"/>
                </a:lnSpc>
              </a:pPr>
              <a:r>
                <a:rPr lang="en-US" altLang="ko-KR" sz="1050" spc="-16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페이퍼로지 5 Medium"/>
                  <a:ea typeface="페이퍼로지 5 Medium"/>
                  <a:cs typeface="페이퍼로지 5 Medium" panose="02000703000000020004" pitchFamily="50" charset="-127"/>
                </a:rPr>
                <a:t>’26</a:t>
              </a:r>
              <a:r>
                <a:rPr lang="ko-KR" altLang="en-US" sz="1050" spc="-16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페이퍼로지 5 Medium"/>
                  <a:ea typeface="페이퍼로지 5 Medium"/>
                  <a:cs typeface="페이퍼로지 5 Medium" panose="02000703000000020004" pitchFamily="50" charset="-127"/>
                </a:rPr>
                <a:t>년</a:t>
              </a:r>
              <a:r>
                <a:rPr lang="ko-KR" altLang="en-US" sz="1050" dirty="0">
                  <a:ln>
                    <a:solidFill>
                      <a:srgbClr val="D9D9D9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페이퍼로지 5 Medium"/>
                  <a:ea typeface="페이퍼로지 5 Medium"/>
                  <a:cs typeface="페이퍼로지 5 Medium" panose="02000703000000020004" pitchFamily="50" charset="-127"/>
                </a:rPr>
                <a:t> </a:t>
              </a:r>
              <a:r>
                <a:rPr lang="ko-KR" altLang="en-US" sz="1050" b="1" dirty="0">
                  <a:ln>
                    <a:solidFill>
                      <a:srgbClr val="D9D9D9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페이퍼로지 7 Bold"/>
                  <a:ea typeface="페이퍼로지 7 Bold"/>
                  <a:cs typeface="페이퍼로지 7 Bold" panose="02000703000000020004" pitchFamily="50" charset="-127"/>
                </a:rPr>
                <a:t>現</a:t>
              </a:r>
              <a:r>
                <a:rPr lang="ko-KR" altLang="en-US" sz="1050" dirty="0">
                  <a:ln>
                    <a:solidFill>
                      <a:srgbClr val="D9D9D9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페이퍼로지 5 Medium"/>
                  <a:ea typeface="페이퍼로지 5 Medium"/>
                  <a:cs typeface="페이퍼로지 5 Medium" panose="02000703000000020004" pitchFamily="50" charset="-127"/>
                </a:rPr>
                <a:t> </a:t>
              </a:r>
              <a:r>
                <a:rPr lang="en-US" altLang="ko-KR" sz="1050" dirty="0">
                  <a:ln>
                    <a:solidFill>
                      <a:srgbClr val="D9D9D9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페이퍼로지 5 Medium"/>
                  <a:ea typeface="페이퍼로지 5 Medium"/>
                  <a:cs typeface="페이퍼로지 5 Medium" panose="02000703000000020004" pitchFamily="50" charset="-127"/>
                </a:rPr>
                <a:t>167</a:t>
              </a:r>
              <a:r>
                <a:rPr lang="ko-KR" altLang="en-US" sz="1050" dirty="0">
                  <a:ln>
                    <a:solidFill>
                      <a:srgbClr val="D9D9D9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페이퍼로지 5 Medium"/>
                  <a:ea typeface="페이퍼로지 5 Medium"/>
                  <a:cs typeface="페이퍼로지 5 Medium" panose="02000703000000020004" pitchFamily="50" charset="-127"/>
                </a:rPr>
                <a:t>개 </a:t>
              </a:r>
              <a:endParaRPr lang="en-US" altLang="ko-KR" sz="105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bg1"/>
                </a:solidFill>
                <a:latin typeface="페이퍼로지 5 Medium"/>
                <a:ea typeface="페이퍼로지 5 Medium"/>
                <a:cs typeface="페이퍼로지 5 Medium" panose="02000703000000020004" pitchFamily="50" charset="-127"/>
              </a:endParaRPr>
            </a:p>
            <a:p>
              <a:pPr algn="ctr" latinLnBrk="0">
                <a:lnSpc>
                  <a:spcPct val="120000"/>
                </a:lnSpc>
              </a:pPr>
              <a:r>
                <a:rPr lang="ko-KR" altLang="en-US" sz="1050" dirty="0">
                  <a:ln>
                    <a:solidFill>
                      <a:srgbClr val="D9D9D9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페이퍼로지 5 Medium"/>
                  <a:ea typeface="페이퍼로지 5 Medium"/>
                  <a:cs typeface="페이퍼로지 5 Medium" panose="02000703000000020004" pitchFamily="50" charset="-127"/>
                </a:rPr>
                <a:t>상담센터 운영 중</a:t>
              </a:r>
              <a:r>
                <a:rPr lang="ko-KR" altLang="en-US" sz="1050" spc="-16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페이퍼로지 5 Medium"/>
                  <a:ea typeface="페이퍼로지 5 Medium"/>
                  <a:cs typeface="페이퍼로지 5 Medium" panose="02000703000000020004" pitchFamily="50" charset="-127"/>
                </a:rPr>
                <a:t> </a:t>
              </a:r>
              <a:endParaRPr lang="id-ID" altLang="ko-KR" sz="1050" spc="-16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bg1"/>
                </a:solidFill>
                <a:latin typeface="페이퍼로지 5 Medium"/>
                <a:ea typeface="페이퍼로지 5 Medium"/>
                <a:cs typeface="페이퍼로지 5 Medium" panose="02000703000000020004" pitchFamily="50" charset="-127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A46BE58-DF80-F55E-F9C8-550DFEC6A33F}"/>
                </a:ext>
              </a:extLst>
            </p:cNvPr>
            <p:cNvSpPr txBox="1"/>
            <p:nvPr/>
          </p:nvSpPr>
          <p:spPr>
            <a:xfrm>
              <a:off x="8516562" y="3369130"/>
              <a:ext cx="893956" cy="3801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rIns="0" rtlCol="0" anchor="ctr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ko-KR" altLang="en-US" sz="900" spc="-16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603000000020004" pitchFamily="50" charset="-127"/>
                </a:rPr>
                <a:t>유통</a:t>
              </a:r>
              <a:r>
                <a:rPr lang="en-US" altLang="ko-KR" sz="900" spc="-16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603000000020004" pitchFamily="50" charset="-127"/>
                </a:rPr>
                <a:t>/</a:t>
              </a:r>
              <a:r>
                <a:rPr lang="ko-KR" altLang="en-US" sz="900" spc="-16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603000000020004" pitchFamily="50" charset="-127"/>
                </a:rPr>
                <a:t>기타 부문</a:t>
              </a:r>
              <a:endParaRPr lang="en-US" altLang="ko-KR" sz="900" spc="-16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/>
                <a:cs typeface="페이퍼로지 5 Medium" panose="02000603000000020004" pitchFamily="50" charset="-127"/>
              </a:endParaRPr>
            </a:p>
            <a:p>
              <a:pPr algn="ctr">
                <a:lnSpc>
                  <a:spcPct val="110000"/>
                </a:lnSpc>
              </a:pPr>
              <a:r>
                <a:rPr lang="en-US" altLang="ko-KR" sz="900" spc="-16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603000000020004" pitchFamily="50" charset="-127"/>
                </a:rPr>
                <a:t>(43</a:t>
              </a:r>
              <a:r>
                <a:rPr lang="ko-KR" altLang="en-US" sz="900" spc="-16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603000000020004" pitchFamily="50" charset="-127"/>
                </a:rPr>
                <a:t>개</a:t>
              </a:r>
              <a:r>
                <a:rPr lang="en-US" altLang="ko-KR" sz="900" spc="-16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603000000020004" pitchFamily="50" charset="-127"/>
                </a:rPr>
                <a:t>)</a:t>
              </a:r>
              <a:endParaRPr lang="id-ID" altLang="ko-KR" sz="900" spc="-16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/>
                <a:cs typeface="페이퍼로지 5 Medium" panose="02000603000000020004" pitchFamily="50" charset="-127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9B48AB2-E9F4-041B-492B-1BDD9B946AEB}"/>
                </a:ext>
              </a:extLst>
            </p:cNvPr>
            <p:cNvSpPr txBox="1"/>
            <p:nvPr/>
          </p:nvSpPr>
          <p:spPr>
            <a:xfrm>
              <a:off x="8488349" y="3818572"/>
              <a:ext cx="947311" cy="3686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ctr">
              <a:spAutoFit/>
            </a:bodyPr>
            <a:lstStyle/>
            <a:p>
              <a:pPr algn="ctr" latinLnBrk="0">
                <a:lnSpc>
                  <a:spcPct val="110000"/>
                </a:lnSpc>
              </a:pPr>
              <a:r>
                <a:rPr lang="ko-KR" altLang="en-US" sz="900" spc="-16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603000000020004" pitchFamily="50" charset="-127"/>
                </a:rPr>
                <a:t>병원</a:t>
              </a:r>
              <a:r>
                <a:rPr lang="en-US" altLang="ko-KR" sz="900" spc="-16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603000000020004" pitchFamily="50" charset="-127"/>
                </a:rPr>
                <a:t>/</a:t>
              </a:r>
              <a:r>
                <a:rPr lang="ko-KR" altLang="en-US" sz="900" spc="-16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603000000020004" pitchFamily="50" charset="-127"/>
                </a:rPr>
                <a:t>의료 부문</a:t>
              </a:r>
              <a:endParaRPr lang="en-US" altLang="ko-KR" sz="900" spc="-16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/>
                <a:cs typeface="페이퍼로지 5 Medium" panose="02000603000000020004" pitchFamily="50" charset="-127"/>
              </a:endParaRPr>
            </a:p>
            <a:p>
              <a:pPr algn="ctr" latinLnBrk="0">
                <a:lnSpc>
                  <a:spcPct val="110000"/>
                </a:lnSpc>
              </a:pPr>
              <a:r>
                <a:rPr lang="en-US" altLang="ko-KR" sz="900" spc="-16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603000000020004" pitchFamily="50" charset="-127"/>
                </a:rPr>
                <a:t>(33</a:t>
              </a:r>
              <a:r>
                <a:rPr lang="ko-KR" altLang="en-US" sz="900" spc="-16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603000000020004" pitchFamily="50" charset="-127"/>
                </a:rPr>
                <a:t>개</a:t>
              </a:r>
              <a:r>
                <a:rPr lang="en-US" altLang="ko-KR" sz="900" spc="-16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603000000020004" pitchFamily="50" charset="-127"/>
                </a:rPr>
                <a:t>)</a:t>
              </a:r>
              <a:endParaRPr lang="id-ID" altLang="ko-KR" sz="900" spc="-16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/>
                <a:cs typeface="페이퍼로지 5 Medium" panose="02000603000000020004" pitchFamily="50" charset="-127"/>
              </a:endParaRPr>
            </a:p>
          </p:txBody>
        </p:sp>
        <p:sp>
          <p:nvSpPr>
            <p:cNvPr id="28" name="사각형: 둥근 모서리 41">
              <a:extLst>
                <a:ext uri="{FF2B5EF4-FFF2-40B4-BE49-F238E27FC236}">
                  <a16:creationId xmlns:a16="http://schemas.microsoft.com/office/drawing/2014/main" id="{65BBFD34-E1C5-5EDE-0B27-3C66ABEA612D}"/>
                </a:ext>
              </a:extLst>
            </p:cNvPr>
            <p:cNvSpPr/>
            <p:nvPr/>
          </p:nvSpPr>
          <p:spPr>
            <a:xfrm>
              <a:off x="699655" y="1886114"/>
              <a:ext cx="908166" cy="289865"/>
            </a:xfrm>
            <a:prstGeom prst="roundRect">
              <a:avLst>
                <a:gd name="adj" fmla="val 20895"/>
              </a:avLst>
            </a:prstGeom>
            <a:solidFill>
              <a:srgbClr val="E30C60"/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bg1"/>
                  </a:solidFill>
                  <a:latin typeface="페이퍼로지 5 Medium"/>
                  <a:ea typeface="페이퍼로지 5 Medium"/>
                  <a:cs typeface="페이퍼로지 5 Medium" panose="02000703000000020004" pitchFamily="50" charset="-127"/>
                </a:rPr>
                <a:t>감사실 </a:t>
              </a:r>
              <a:r>
                <a:rPr lang="en-US" altLang="ko-KR" sz="1000" dirty="0">
                  <a:solidFill>
                    <a:schemeClr val="bg1"/>
                  </a:solidFill>
                  <a:latin typeface="페이퍼로지 5 Medium"/>
                  <a:ea typeface="페이퍼로지 5 Medium"/>
                  <a:cs typeface="페이퍼로지 5 Medium" panose="02000703000000020004" pitchFamily="50" charset="-127"/>
                </a:rPr>
                <a:t>(</a:t>
              </a:r>
              <a:r>
                <a:rPr lang="ko-KR" altLang="en-US" sz="1000" dirty="0">
                  <a:solidFill>
                    <a:schemeClr val="bg1"/>
                  </a:solidFill>
                  <a:latin typeface="페이퍼로지 5 Medium"/>
                  <a:ea typeface="페이퍼로지 5 Medium"/>
                  <a:cs typeface="페이퍼로지 5 Medium" panose="02000703000000020004" pitchFamily="50" charset="-127"/>
                </a:rPr>
                <a:t>법무</a:t>
              </a:r>
              <a:r>
                <a:rPr lang="en-US" altLang="ko-KR" sz="1000" dirty="0">
                  <a:solidFill>
                    <a:schemeClr val="bg1"/>
                  </a:solidFill>
                  <a:latin typeface="페이퍼로지 5 Medium"/>
                  <a:ea typeface="페이퍼로지 5 Medium"/>
                  <a:cs typeface="페이퍼로지 5 Medium" panose="02000703000000020004" pitchFamily="50" charset="-127"/>
                </a:rPr>
                <a:t>)</a:t>
              </a:r>
              <a:endParaRPr lang="ko-KR" altLang="en-US" sz="1000" dirty="0">
                <a:solidFill>
                  <a:schemeClr val="bg1"/>
                </a:solidFill>
                <a:latin typeface="페이퍼로지 5 Medium"/>
                <a:ea typeface="페이퍼로지 5 Medium"/>
                <a:cs typeface="페이퍼로지 5 Medium" panose="02000703000000020004" pitchFamily="50" charset="-127"/>
              </a:endParaRPr>
            </a:p>
          </p:txBody>
        </p:sp>
        <p:sp>
          <p:nvSpPr>
            <p:cNvPr id="29" name="사각형: 둥근 모서리 41">
              <a:extLst>
                <a:ext uri="{FF2B5EF4-FFF2-40B4-BE49-F238E27FC236}">
                  <a16:creationId xmlns:a16="http://schemas.microsoft.com/office/drawing/2014/main" id="{7464C1A3-7051-4129-E1B2-3B4EDF160A7B}"/>
                </a:ext>
              </a:extLst>
            </p:cNvPr>
            <p:cNvSpPr/>
            <p:nvPr/>
          </p:nvSpPr>
          <p:spPr>
            <a:xfrm>
              <a:off x="1908195" y="2643038"/>
              <a:ext cx="1508914" cy="288000"/>
            </a:xfrm>
            <a:prstGeom prst="roundRect">
              <a:avLst>
                <a:gd name="adj" fmla="val 15119"/>
              </a:avLst>
            </a:prstGeom>
            <a:solidFill>
              <a:srgbClr val="6C6F74"/>
            </a:solidFill>
            <a:ln w="9525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>
                  <a:solidFill>
                    <a:schemeClr val="bg1"/>
                  </a:solidFill>
                  <a:latin typeface="페이퍼로지 5 Medium"/>
                  <a:ea typeface="페이퍼로지 5 Medium"/>
                  <a:cs typeface="페이퍼로지 5 Medium" panose="02000703000000020004" pitchFamily="50" charset="-127"/>
                </a:rPr>
                <a:t>고객본부</a:t>
              </a:r>
            </a:p>
          </p:txBody>
        </p:sp>
        <p:sp>
          <p:nvSpPr>
            <p:cNvPr id="30" name="사각형: 둥근 모서리 41">
              <a:extLst>
                <a:ext uri="{FF2B5EF4-FFF2-40B4-BE49-F238E27FC236}">
                  <a16:creationId xmlns:a16="http://schemas.microsoft.com/office/drawing/2014/main" id="{E2161A57-8F9B-3078-487C-AFEFA031EEF4}"/>
                </a:ext>
              </a:extLst>
            </p:cNvPr>
            <p:cNvSpPr/>
            <p:nvPr/>
          </p:nvSpPr>
          <p:spPr>
            <a:xfrm>
              <a:off x="1908195" y="3101816"/>
              <a:ext cx="1508914" cy="288000"/>
            </a:xfrm>
            <a:prstGeom prst="roundRect">
              <a:avLst>
                <a:gd name="adj" fmla="val 14174"/>
              </a:avLst>
            </a:prstGeom>
            <a:solidFill>
              <a:srgbClr val="6C6F74"/>
            </a:solidFill>
            <a:ln w="9525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>
                  <a:solidFill>
                    <a:schemeClr val="bg1"/>
                  </a:solidFill>
                  <a:latin typeface="페이퍼로지 5 Medium"/>
                  <a:ea typeface="페이퍼로지 5 Medium"/>
                  <a:cs typeface="페이퍼로지 5 Medium" panose="02000703000000020004" pitchFamily="50" charset="-127"/>
                </a:rPr>
                <a:t>마케팅본부</a:t>
              </a:r>
            </a:p>
          </p:txBody>
        </p:sp>
        <p:sp>
          <p:nvSpPr>
            <p:cNvPr id="31" name="사각형: 둥근 모서리 41">
              <a:extLst>
                <a:ext uri="{FF2B5EF4-FFF2-40B4-BE49-F238E27FC236}">
                  <a16:creationId xmlns:a16="http://schemas.microsoft.com/office/drawing/2014/main" id="{8C6E90E1-416E-2CEC-5485-5674A6F5C019}"/>
                </a:ext>
              </a:extLst>
            </p:cNvPr>
            <p:cNvSpPr/>
            <p:nvPr/>
          </p:nvSpPr>
          <p:spPr>
            <a:xfrm>
              <a:off x="1906388" y="2154693"/>
              <a:ext cx="1512527" cy="317567"/>
            </a:xfrm>
            <a:prstGeom prst="roundRect">
              <a:avLst>
                <a:gd name="adj" fmla="val 17139"/>
              </a:avLst>
            </a:prstGeom>
            <a:solidFill>
              <a:srgbClr val="E30C60"/>
            </a:solidFill>
            <a:ln w="15875">
              <a:noFill/>
            </a:ln>
            <a:effectLst>
              <a:outerShdw blurRad="38100" algn="ctr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latin typeface="페이퍼로지 5 Medium"/>
                  <a:ea typeface="페이퍼로지 5 Medium"/>
                  <a:cs typeface="페이퍼로지 5 Medium" panose="02000703000000020004" pitchFamily="50" charset="-127"/>
                </a:rPr>
                <a:t>AICC </a:t>
              </a:r>
              <a:r>
                <a:rPr lang="ko-KR" altLang="en-US" sz="1000" dirty="0">
                  <a:latin typeface="페이퍼로지 5 Medium"/>
                  <a:ea typeface="페이퍼로지 5 Medium"/>
                  <a:cs typeface="페이퍼로지 5 Medium" panose="02000703000000020004" pitchFamily="50" charset="-127"/>
                </a:rPr>
                <a:t>사업본부</a:t>
              </a:r>
            </a:p>
          </p:txBody>
        </p:sp>
        <p:cxnSp>
          <p:nvCxnSpPr>
            <p:cNvPr id="32" name="꺾인 연결선 50">
              <a:extLst>
                <a:ext uri="{FF2B5EF4-FFF2-40B4-BE49-F238E27FC236}">
                  <a16:creationId xmlns:a16="http://schemas.microsoft.com/office/drawing/2014/main" id="{D0B10696-73C0-E590-FE6F-9C7CA9549EFC}"/>
                </a:ext>
              </a:extLst>
            </p:cNvPr>
            <p:cNvCxnSpPr>
              <a:cxnSpLocks/>
              <a:endCxn id="24" idx="1"/>
            </p:cNvCxnSpPr>
            <p:nvPr/>
          </p:nvCxnSpPr>
          <p:spPr>
            <a:xfrm rot="16200000" flipH="1">
              <a:off x="3031831" y="2909055"/>
              <a:ext cx="1357436" cy="165172"/>
            </a:xfrm>
            <a:prstGeom prst="bentConnector2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5223167A-14CA-58F5-3D7B-635AF22852D6}"/>
                </a:ext>
              </a:extLst>
            </p:cNvPr>
            <p:cNvCxnSpPr>
              <a:cxnSpLocks/>
              <a:stCxn id="31" idx="3"/>
              <a:endCxn id="22" idx="1"/>
            </p:cNvCxnSpPr>
            <p:nvPr/>
          </p:nvCxnSpPr>
          <p:spPr>
            <a:xfrm flipV="1">
              <a:off x="3418915" y="2312923"/>
              <a:ext cx="374220" cy="554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08A56DE-6CED-7EE6-E183-9B8798679326}"/>
                </a:ext>
              </a:extLst>
            </p:cNvPr>
            <p:cNvSpPr txBox="1"/>
            <p:nvPr/>
          </p:nvSpPr>
          <p:spPr>
            <a:xfrm>
              <a:off x="8623933" y="2444694"/>
              <a:ext cx="676147" cy="3686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ctr">
              <a:spAutoFit/>
            </a:bodyPr>
            <a:lstStyle/>
            <a:p>
              <a:pPr algn="ctr" latinLnBrk="0">
                <a:lnSpc>
                  <a:spcPct val="110000"/>
                </a:lnSpc>
              </a:pPr>
              <a:r>
                <a:rPr lang="ko-KR" altLang="en-US" sz="900" spc="-16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603000000020004" pitchFamily="50" charset="-127"/>
                </a:rPr>
                <a:t>공공 부문</a:t>
              </a:r>
              <a:endParaRPr lang="en-US" altLang="ko-KR" sz="900" spc="-16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/>
                <a:cs typeface="페이퍼로지 5 Medium" panose="02000603000000020004" pitchFamily="50" charset="-127"/>
              </a:endParaRPr>
            </a:p>
            <a:p>
              <a:pPr algn="ctr" latinLnBrk="0">
                <a:lnSpc>
                  <a:spcPct val="110000"/>
                </a:lnSpc>
              </a:pPr>
              <a:r>
                <a:rPr lang="en-US" altLang="ko-KR" sz="900" spc="-16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603000000020004" pitchFamily="50" charset="-127"/>
                </a:rPr>
                <a:t>(28</a:t>
              </a:r>
              <a:r>
                <a:rPr lang="ko-KR" altLang="en-US" sz="900" spc="-16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603000000020004" pitchFamily="50" charset="-127"/>
                </a:rPr>
                <a:t>개</a:t>
              </a:r>
              <a:r>
                <a:rPr lang="en-US" altLang="ko-KR" sz="900" spc="-16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603000000020004" pitchFamily="50" charset="-127"/>
                </a:rPr>
                <a:t>)</a:t>
              </a:r>
              <a:endParaRPr lang="id-ID" altLang="ko-KR" sz="900" spc="-16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/>
                <a:cs typeface="페이퍼로지 5 Medium" panose="02000603000000020004" pitchFamily="50" charset="-127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1BF1DA8-8282-80BD-B5D5-3D81E36141F9}"/>
                </a:ext>
              </a:extLst>
            </p:cNvPr>
            <p:cNvSpPr txBox="1"/>
            <p:nvPr/>
          </p:nvSpPr>
          <p:spPr>
            <a:xfrm>
              <a:off x="8444130" y="2829774"/>
              <a:ext cx="1035750" cy="52097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ko-KR" altLang="en-US" sz="900" spc="-16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603000000020004" pitchFamily="50" charset="-127"/>
                </a:rPr>
                <a:t>금융</a:t>
              </a:r>
              <a:r>
                <a:rPr lang="en-US" altLang="ko-KR" sz="900" spc="-16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603000000020004" pitchFamily="50" charset="-127"/>
                </a:rPr>
                <a:t>/</a:t>
              </a:r>
              <a:r>
                <a:rPr lang="ko-KR" altLang="en-US" sz="900" spc="-16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603000000020004" pitchFamily="50" charset="-127"/>
                </a:rPr>
                <a:t>계열사 부문</a:t>
              </a:r>
              <a:endParaRPr lang="en-US" altLang="ko-KR" sz="900" spc="-16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/>
                <a:cs typeface="페이퍼로지 5 Medium" panose="02000603000000020004" pitchFamily="50" charset="-127"/>
              </a:endParaRPr>
            </a:p>
            <a:p>
              <a:pPr algn="ctr">
                <a:lnSpc>
                  <a:spcPct val="110000"/>
                </a:lnSpc>
              </a:pPr>
              <a:r>
                <a:rPr lang="en-US" altLang="ko-KR" sz="900" spc="-16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603000000020004" pitchFamily="50" charset="-127"/>
                </a:rPr>
                <a:t>(63</a:t>
              </a:r>
              <a:r>
                <a:rPr lang="ko-KR" altLang="en-US" sz="900" spc="-16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603000000020004" pitchFamily="50" charset="-127"/>
                </a:rPr>
                <a:t>개</a:t>
              </a:r>
              <a:r>
                <a:rPr lang="en-US" altLang="ko-KR" sz="900" spc="-16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603000000020004" pitchFamily="50" charset="-127"/>
                </a:rPr>
                <a:t>)</a:t>
              </a: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369A6E2C-46B9-4CC6-6E49-7BBAC6A505D1}"/>
                </a:ext>
              </a:extLst>
            </p:cNvPr>
            <p:cNvSpPr/>
            <p:nvPr/>
          </p:nvSpPr>
          <p:spPr>
            <a:xfrm>
              <a:off x="5407300" y="1771301"/>
              <a:ext cx="2280093" cy="524695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marL="171450" indent="-1440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703000000020004" pitchFamily="50" charset="-127"/>
                </a:rPr>
                <a:t>AICC </a:t>
              </a: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703000000020004" pitchFamily="50" charset="-127"/>
                </a:rPr>
                <a:t>고객센터 영업망 관리</a:t>
              </a: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703000000020004" pitchFamily="50" charset="-127"/>
                </a:rPr>
                <a:t>(20</a:t>
              </a: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703000000020004" pitchFamily="50" charset="-127"/>
                </a:rPr>
                <a:t>명</a:t>
              </a: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703000000020004" pitchFamily="50" charset="-127"/>
                </a:rPr>
                <a:t>)</a:t>
              </a: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703000000020004" pitchFamily="50" charset="-127"/>
                </a:rPr>
                <a:t> </a:t>
              </a:r>
              <a:endPara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/>
                <a:cs typeface="페이퍼로지 5 Medium" panose="02000703000000020004" pitchFamily="50" charset="-127"/>
              </a:endParaRPr>
            </a:p>
            <a:p>
              <a:pPr marL="171450" indent="-1440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703000000020004" pitchFamily="50" charset="-127"/>
                </a:rPr>
                <a:t>AICC</a:t>
              </a: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703000000020004" pitchFamily="50" charset="-127"/>
                </a:rPr>
                <a:t>솔루션 컨설팅</a:t>
              </a: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703000000020004" pitchFamily="50" charset="-127"/>
                </a:rPr>
                <a:t>·</a:t>
              </a: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703000000020004" pitchFamily="50" charset="-127"/>
                </a:rPr>
                <a:t>구축</a:t>
              </a: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703000000020004" pitchFamily="50" charset="-127"/>
                </a:rPr>
                <a:t>(15</a:t>
              </a: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703000000020004" pitchFamily="50" charset="-127"/>
                </a:rPr>
                <a:t>명</a:t>
              </a: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703000000020004" pitchFamily="50" charset="-127"/>
                </a:rPr>
                <a:t>)</a:t>
              </a:r>
            </a:p>
          </p:txBody>
        </p:sp>
        <p:sp>
          <p:nvSpPr>
            <p:cNvPr id="38" name="사각형: 둥근 모서리 4">
              <a:extLst>
                <a:ext uri="{FF2B5EF4-FFF2-40B4-BE49-F238E27FC236}">
                  <a16:creationId xmlns:a16="http://schemas.microsoft.com/office/drawing/2014/main" id="{5495F132-D346-CECB-5CBB-DB249D5FE12D}"/>
                </a:ext>
              </a:extLst>
            </p:cNvPr>
            <p:cNvSpPr/>
            <p:nvPr/>
          </p:nvSpPr>
          <p:spPr>
            <a:xfrm>
              <a:off x="7392222" y="1766395"/>
              <a:ext cx="722040" cy="534507"/>
            </a:xfrm>
            <a:prstGeom prst="roundRect">
              <a:avLst>
                <a:gd name="adj" fmla="val 16293"/>
              </a:avLst>
            </a:prstGeom>
            <a:solidFill>
              <a:schemeClr val="bg1"/>
            </a:solidFill>
            <a:ln w="12700">
              <a:solidFill>
                <a:srgbClr val="6E645A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ko-KR" altLang="en-US" sz="900" dirty="0">
                  <a:solidFill>
                    <a:srgbClr val="5D544B"/>
                  </a:solidFill>
                  <a:latin typeface="페이퍼로지 5 Medium"/>
                  <a:ea typeface="페이퍼로지 5 Medium"/>
                  <a:cs typeface="페이퍼로지 5 Medium" panose="02000703000000020004" pitchFamily="50" charset="-127"/>
                </a:rPr>
                <a:t>운영인력</a:t>
              </a:r>
              <a:endParaRPr lang="en-US" altLang="ko-KR" sz="900" dirty="0">
                <a:solidFill>
                  <a:srgbClr val="5D544B"/>
                </a:solidFill>
                <a:latin typeface="페이퍼로지 5 Medium"/>
                <a:ea typeface="페이퍼로지 5 Medium"/>
                <a:cs typeface="페이퍼로지 5 Medium" panose="02000703000000020004" pitchFamily="50" charset="-127"/>
              </a:endParaRPr>
            </a:p>
            <a:p>
              <a:pPr algn="ctr">
                <a:lnSpc>
                  <a:spcPct val="120000"/>
                </a:lnSpc>
              </a:pPr>
              <a:r>
                <a:rPr lang="en-US" altLang="ko-KR" sz="1500" dirty="0">
                  <a:solidFill>
                    <a:srgbClr val="5D544B"/>
                  </a:solidFill>
                  <a:latin typeface="페이퍼로지 5 Medium"/>
                  <a:ea typeface="페이퍼로지 5 Medium"/>
                  <a:cs typeface="페이퍼로지 5 Medium" panose="02000703000000020004" pitchFamily="50" charset="-127"/>
                </a:rPr>
                <a:t>35</a:t>
              </a:r>
              <a:r>
                <a:rPr lang="ko-KR" altLang="en-US" sz="1500" dirty="0">
                  <a:solidFill>
                    <a:srgbClr val="5D544B"/>
                  </a:solidFill>
                  <a:latin typeface="페이퍼로지 5 Medium"/>
                  <a:ea typeface="페이퍼로지 5 Medium"/>
                  <a:cs typeface="페이퍼로지 5 Medium" panose="02000703000000020004" pitchFamily="50" charset="-127"/>
                </a:rPr>
                <a:t>명</a:t>
              </a: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E9E3CE65-F56A-7C4F-2347-6EDC4F05BC59}"/>
                </a:ext>
              </a:extLst>
            </p:cNvPr>
            <p:cNvSpPr/>
            <p:nvPr/>
          </p:nvSpPr>
          <p:spPr>
            <a:xfrm>
              <a:off x="5407300" y="2515422"/>
              <a:ext cx="2280093" cy="524695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marL="171450" indent="-1440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703000000020004" pitchFamily="50" charset="-127"/>
                </a:rPr>
                <a:t>AICC</a:t>
              </a: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703000000020004" pitchFamily="50" charset="-127"/>
                </a:rPr>
                <a:t>솔루션 개발 기술인력</a:t>
              </a: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703000000020004" pitchFamily="50" charset="-127"/>
                </a:rPr>
                <a:t>(15</a:t>
              </a: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703000000020004" pitchFamily="50" charset="-127"/>
                </a:rPr>
                <a:t>명</a:t>
              </a: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703000000020004" pitchFamily="50" charset="-127"/>
                </a:rPr>
                <a:t>)</a:t>
              </a: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703000000020004" pitchFamily="50" charset="-127"/>
                </a:rPr>
                <a:t> </a:t>
              </a:r>
              <a:endPara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/>
                <a:cs typeface="페이퍼로지 5 Medium" panose="02000703000000020004" pitchFamily="50" charset="-127"/>
              </a:endParaRPr>
            </a:p>
            <a:p>
              <a:pPr marL="171450" indent="-1440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703000000020004" pitchFamily="50" charset="-127"/>
                </a:rPr>
                <a:t>AICC</a:t>
              </a: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703000000020004" pitchFamily="50" charset="-127"/>
                </a:rPr>
                <a:t>솔루션 유지보수 인력</a:t>
              </a: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703000000020004" pitchFamily="50" charset="-127"/>
                </a:rPr>
                <a:t>(24</a:t>
              </a: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703000000020004" pitchFamily="50" charset="-127"/>
                </a:rPr>
                <a:t>명</a:t>
              </a: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703000000020004" pitchFamily="50" charset="-127"/>
                </a:rPr>
                <a:t>)</a:t>
              </a:r>
            </a:p>
          </p:txBody>
        </p:sp>
        <p:sp>
          <p:nvSpPr>
            <p:cNvPr id="40" name="사각형: 둥근 모서리 4">
              <a:extLst>
                <a:ext uri="{FF2B5EF4-FFF2-40B4-BE49-F238E27FC236}">
                  <a16:creationId xmlns:a16="http://schemas.microsoft.com/office/drawing/2014/main" id="{429BC276-A325-090A-38D8-1318FEC14F71}"/>
                </a:ext>
              </a:extLst>
            </p:cNvPr>
            <p:cNvSpPr/>
            <p:nvPr/>
          </p:nvSpPr>
          <p:spPr>
            <a:xfrm>
              <a:off x="7392222" y="2510516"/>
              <a:ext cx="722040" cy="534507"/>
            </a:xfrm>
            <a:prstGeom prst="roundRect">
              <a:avLst>
                <a:gd name="adj" fmla="val 12220"/>
              </a:avLst>
            </a:prstGeom>
            <a:solidFill>
              <a:schemeClr val="bg1"/>
            </a:solidFill>
            <a:ln w="12700">
              <a:solidFill>
                <a:srgbClr val="6E645A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ko-KR" altLang="en-US" sz="900" dirty="0">
                  <a:solidFill>
                    <a:srgbClr val="5D544B"/>
                  </a:solidFill>
                  <a:latin typeface="페이퍼로지 5 Medium"/>
                  <a:ea typeface="페이퍼로지 5 Medium"/>
                  <a:cs typeface="페이퍼로지 5 Medium" panose="02000703000000020004" pitchFamily="50" charset="-127"/>
                </a:rPr>
                <a:t>기술인력</a:t>
              </a:r>
              <a:endParaRPr lang="en-US" altLang="ko-KR" sz="900" dirty="0">
                <a:solidFill>
                  <a:srgbClr val="5D544B"/>
                </a:solidFill>
                <a:latin typeface="페이퍼로지 5 Medium"/>
                <a:ea typeface="페이퍼로지 5 Medium"/>
                <a:cs typeface="페이퍼로지 5 Medium" panose="02000703000000020004" pitchFamily="50" charset="-127"/>
              </a:endParaRPr>
            </a:p>
            <a:p>
              <a:pPr algn="ctr">
                <a:lnSpc>
                  <a:spcPct val="120000"/>
                </a:lnSpc>
              </a:pPr>
              <a:r>
                <a:rPr lang="en-US" altLang="ko-KR" sz="1500" dirty="0">
                  <a:solidFill>
                    <a:srgbClr val="5D544B"/>
                  </a:solidFill>
                  <a:latin typeface="페이퍼로지 5 Medium"/>
                  <a:ea typeface="페이퍼로지 5 Medium"/>
                  <a:cs typeface="페이퍼로지 5 Medium" panose="02000703000000020004" pitchFamily="50" charset="-127"/>
                </a:rPr>
                <a:t>39</a:t>
              </a:r>
              <a:r>
                <a:rPr lang="ko-KR" altLang="en-US" sz="1500" dirty="0">
                  <a:solidFill>
                    <a:srgbClr val="5D544B"/>
                  </a:solidFill>
                  <a:latin typeface="페이퍼로지 5 Medium"/>
                  <a:ea typeface="페이퍼로지 5 Medium"/>
                  <a:cs typeface="페이퍼로지 5 Medium" panose="02000703000000020004" pitchFamily="50" charset="-127"/>
                </a:rPr>
                <a:t>명</a:t>
              </a: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8BE27107-FCB1-BD13-8E3D-42A849A1DC40}"/>
                </a:ext>
              </a:extLst>
            </p:cNvPr>
            <p:cNvSpPr/>
            <p:nvPr/>
          </p:nvSpPr>
          <p:spPr>
            <a:xfrm>
              <a:off x="5407300" y="3250954"/>
              <a:ext cx="2280093" cy="986873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marL="171450" indent="-1440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703000000020004" pitchFamily="50" charset="-127"/>
                </a:rPr>
                <a:t>분야별 </a:t>
              </a:r>
              <a:r>
                <a:rPr lang="ko-KR" altLang="en-US" sz="9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703000000020004" pitchFamily="50" charset="-127"/>
                </a:rPr>
                <a:t>컨택센터</a:t>
              </a: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703000000020004" pitchFamily="50" charset="-127"/>
                </a:rPr>
                <a:t> 운영인력</a:t>
              </a: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703000000020004" pitchFamily="50" charset="-127"/>
                </a:rPr>
                <a:t>(28</a:t>
              </a: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703000000020004" pitchFamily="50" charset="-127"/>
                </a:rPr>
                <a:t>명</a:t>
              </a: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703000000020004" pitchFamily="50" charset="-127"/>
                </a:rPr>
                <a:t>)</a:t>
              </a:r>
            </a:p>
            <a:p>
              <a:pPr marL="171450" indent="-1440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900" dirty="0">
                  <a:solidFill>
                    <a:srgbClr val="E30C60"/>
                  </a:solidFill>
                  <a:latin typeface="페이퍼로지 5 Medium"/>
                  <a:cs typeface="페이퍼로지 5 Medium" panose="02000703000000020004" pitchFamily="50" charset="-127"/>
                </a:rPr>
                <a:t>KS</a:t>
              </a:r>
              <a:r>
                <a:rPr lang="ko-KR" altLang="en-US" sz="900" dirty="0">
                  <a:solidFill>
                    <a:srgbClr val="E30C60"/>
                  </a:solidFill>
                  <a:latin typeface="페이퍼로지 5 Medium"/>
                  <a:cs typeface="페이퍼로지 5 Medium" panose="02000703000000020004" pitchFamily="50" charset="-127"/>
                </a:rPr>
                <a:t>기준 품질평가 전문가</a:t>
              </a:r>
              <a:r>
                <a:rPr lang="en-US" altLang="ko-KR" sz="900" dirty="0">
                  <a:solidFill>
                    <a:srgbClr val="E30C60"/>
                  </a:solidFill>
                  <a:latin typeface="페이퍼로지 5 Medium"/>
                  <a:cs typeface="페이퍼로지 5 Medium" panose="02000703000000020004" pitchFamily="50" charset="-127"/>
                </a:rPr>
                <a:t>(10</a:t>
              </a:r>
              <a:r>
                <a:rPr lang="ko-KR" altLang="en-US" sz="900" dirty="0">
                  <a:solidFill>
                    <a:srgbClr val="E30C60"/>
                  </a:solidFill>
                  <a:latin typeface="페이퍼로지 5 Medium"/>
                  <a:cs typeface="페이퍼로지 5 Medium" panose="02000703000000020004" pitchFamily="50" charset="-127"/>
                </a:rPr>
                <a:t>명</a:t>
              </a:r>
              <a:r>
                <a:rPr lang="en-US" altLang="ko-KR" sz="900" dirty="0">
                  <a:solidFill>
                    <a:srgbClr val="E30C60"/>
                  </a:solidFill>
                  <a:latin typeface="페이퍼로지 5 Medium"/>
                  <a:cs typeface="페이퍼로지 5 Medium" panose="02000703000000020004" pitchFamily="50" charset="-127"/>
                </a:rPr>
                <a:t>)</a:t>
              </a:r>
              <a:r>
                <a:rPr lang="ko-KR" altLang="en-US" sz="900" dirty="0">
                  <a:solidFill>
                    <a:srgbClr val="E30C60"/>
                  </a:solidFill>
                  <a:latin typeface="페이퍼로지 5 Medium"/>
                  <a:cs typeface="페이퍼로지 5 Medium" panose="02000703000000020004" pitchFamily="50" charset="-127"/>
                </a:rPr>
                <a:t> </a:t>
              </a:r>
              <a:endParaRPr lang="en-US" altLang="ko-KR" sz="1000" dirty="0">
                <a:solidFill>
                  <a:srgbClr val="E30C60"/>
                </a:solidFill>
                <a:latin typeface="페이퍼로지 5 Medium"/>
                <a:cs typeface="페이퍼로지 5 Medium" panose="02000703000000020004" pitchFamily="50" charset="-127"/>
              </a:endParaRPr>
            </a:p>
            <a:p>
              <a:pPr marL="171450" indent="-1440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703000000020004" pitchFamily="50" charset="-127"/>
                </a:rPr>
                <a:t>AI 큐레이터 및 A’cen 시나리오 저작 기술인력(66명) </a:t>
              </a:r>
              <a:b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703000000020004" pitchFamily="50" charset="-127"/>
                </a:rPr>
              </a:br>
              <a:endPara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/>
                <a:cs typeface="페이퍼로지 5 Medium" panose="02000703000000020004" pitchFamily="50" charset="-127"/>
              </a:endParaRPr>
            </a:p>
          </p:txBody>
        </p:sp>
        <p:sp>
          <p:nvSpPr>
            <p:cNvPr id="42" name="사각형: 둥근 모서리 4">
              <a:extLst>
                <a:ext uri="{FF2B5EF4-FFF2-40B4-BE49-F238E27FC236}">
                  <a16:creationId xmlns:a16="http://schemas.microsoft.com/office/drawing/2014/main" id="{8DFA44AB-15F3-3394-0CCA-A7B42F70B862}"/>
                </a:ext>
              </a:extLst>
            </p:cNvPr>
            <p:cNvSpPr/>
            <p:nvPr/>
          </p:nvSpPr>
          <p:spPr>
            <a:xfrm>
              <a:off x="7392222" y="3294274"/>
              <a:ext cx="722040" cy="900232"/>
            </a:xfrm>
            <a:prstGeom prst="roundRect">
              <a:avLst>
                <a:gd name="adj" fmla="val 10177"/>
              </a:avLst>
            </a:prstGeom>
            <a:solidFill>
              <a:schemeClr val="bg1"/>
            </a:solidFill>
            <a:ln w="12700">
              <a:solidFill>
                <a:srgbClr val="6E645A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/>
            <a:lstStyle/>
            <a:p>
              <a:pPr algn="ctr">
                <a:lnSpc>
                  <a:spcPct val="120000"/>
                </a:lnSpc>
              </a:pP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ea typeface="페이퍼로지 5 Medium"/>
                  <a:cs typeface="페이퍼로지 5 Medium" panose="02000703000000020004" pitchFamily="50" charset="-127"/>
                </a:rPr>
                <a:t>전문인력</a:t>
              </a:r>
              <a:endPara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/>
                <a:ea typeface="페이퍼로지 5 Medium"/>
                <a:cs typeface="페이퍼로지 5 Medium" panose="02000703000000020004" pitchFamily="50" charset="-127"/>
              </a:endParaRPr>
            </a:p>
            <a:p>
              <a:pPr algn="ctr">
                <a:lnSpc>
                  <a:spcPct val="120000"/>
                </a:lnSpc>
              </a:pPr>
              <a:r>
                <a:rPr lang="en-US" altLang="ko-KR" sz="1500" dirty="0">
                  <a:solidFill>
                    <a:srgbClr val="E30C60"/>
                  </a:solidFill>
                  <a:latin typeface="페이퍼로지 5 Medium"/>
                  <a:ea typeface="페이퍼로지 5 Medium"/>
                  <a:cs typeface="페이퍼로지 5 Medium" panose="02000703000000020004" pitchFamily="50" charset="-127"/>
                </a:rPr>
                <a:t>104</a:t>
              </a:r>
              <a:r>
                <a:rPr lang="ko-KR" altLang="en-US" sz="1500" dirty="0">
                  <a:solidFill>
                    <a:srgbClr val="E30C60"/>
                  </a:solidFill>
                  <a:latin typeface="페이퍼로지 5 Medium"/>
                  <a:ea typeface="페이퍼로지 5 Medium"/>
                  <a:cs typeface="페이퍼로지 5 Medium" panose="02000703000000020004" pitchFamily="50" charset="-127"/>
                </a:rPr>
                <a:t>명</a:t>
              </a:r>
            </a:p>
          </p:txBody>
        </p:sp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CEA99CC8-5072-6E99-2074-6199D63368B2}"/>
                </a:ext>
              </a:extLst>
            </p:cNvPr>
            <p:cNvCxnSpPr>
              <a:cxnSpLocks/>
            </p:cNvCxnSpPr>
            <p:nvPr/>
          </p:nvCxnSpPr>
          <p:spPr>
            <a:xfrm>
              <a:off x="3625967" y="2991641"/>
              <a:ext cx="167168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사각형: 둥근 모서리 41">
              <a:extLst>
                <a:ext uri="{FF2B5EF4-FFF2-40B4-BE49-F238E27FC236}">
                  <a16:creationId xmlns:a16="http://schemas.microsoft.com/office/drawing/2014/main" id="{53B566B1-150E-63C8-C1C6-E50FF13A3D7A}"/>
                </a:ext>
              </a:extLst>
            </p:cNvPr>
            <p:cNvSpPr/>
            <p:nvPr/>
          </p:nvSpPr>
          <p:spPr>
            <a:xfrm>
              <a:off x="699655" y="3787826"/>
              <a:ext cx="908166" cy="226909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ea typeface="페이퍼로지 5 Medium"/>
                  <a:cs typeface="페이퍼로지 5 Medium" panose="02000703000000020004" pitchFamily="50" charset="-127"/>
                </a:rPr>
                <a:t>ERM</a:t>
              </a: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ea typeface="페이퍼로지 5 Medium"/>
                  <a:cs typeface="페이퍼로지 5 Medium" panose="02000703000000020004" pitchFamily="50" charset="-127"/>
                </a:rPr>
                <a:t>팀</a:t>
              </a:r>
            </a:p>
          </p:txBody>
        </p: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D3937A4B-EA89-76F1-513E-FBE06F9B3B3B}"/>
                </a:ext>
              </a:extLst>
            </p:cNvPr>
            <p:cNvCxnSpPr>
              <a:cxnSpLocks/>
              <a:endCxn id="44" idx="0"/>
            </p:cNvCxnSpPr>
            <p:nvPr/>
          </p:nvCxnSpPr>
          <p:spPr>
            <a:xfrm flipH="1">
              <a:off x="1153738" y="2166411"/>
              <a:ext cx="7785" cy="1621415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D996430C-6B9E-7B20-8381-2A8234A8BC41}"/>
                </a:ext>
              </a:extLst>
            </p:cNvPr>
            <p:cNvSpPr txBox="1"/>
            <p:nvPr/>
          </p:nvSpPr>
          <p:spPr>
            <a:xfrm>
              <a:off x="696341" y="2313348"/>
              <a:ext cx="901273" cy="2262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latinLnBrk="0">
                <a:lnSpc>
                  <a:spcPct val="110000"/>
                </a:lnSpc>
              </a:pPr>
              <a:r>
                <a:rPr lang="ko-KR" altLang="en-US" sz="900" spc="-16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페이퍼로지 5 Medium" panose="02000703000000020004" pitchFamily="50" charset="-127"/>
                  <a:ea typeface="페이퍼로지 5 Medium" panose="02000703000000020004" pitchFamily="50" charset="-127"/>
                  <a:cs typeface="페이퍼로지 5 Medium" panose="02000703000000020004" pitchFamily="50" charset="-127"/>
                </a:rPr>
                <a:t>경영기획 총괄</a:t>
              </a:r>
              <a:endParaRPr lang="id-ID" altLang="ko-KR" sz="900" spc="-16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bg1"/>
                </a:solidFill>
                <a:latin typeface="페이퍼로지 5 Medium" panose="02000703000000020004" pitchFamily="50" charset="-127"/>
                <a:ea typeface="페이퍼로지 5 Medium" panose="02000703000000020004" pitchFamily="50" charset="-127"/>
                <a:cs typeface="페이퍼로지 5 Medium" panose="02000703000000020004" pitchFamily="50" charset="-127"/>
              </a:endParaRPr>
            </a:p>
          </p:txBody>
        </p:sp>
        <p:sp>
          <p:nvSpPr>
            <p:cNvPr id="47" name="사각형: 둥근 모서리 41">
              <a:extLst>
                <a:ext uri="{FF2B5EF4-FFF2-40B4-BE49-F238E27FC236}">
                  <a16:creationId xmlns:a16="http://schemas.microsoft.com/office/drawing/2014/main" id="{901981F9-B8F6-FC8C-4E5C-8A0E812B4629}"/>
                </a:ext>
              </a:extLst>
            </p:cNvPr>
            <p:cNvSpPr/>
            <p:nvPr/>
          </p:nvSpPr>
          <p:spPr>
            <a:xfrm>
              <a:off x="699655" y="2567839"/>
              <a:ext cx="908166" cy="226909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ea typeface="페이퍼로지 5 Medium"/>
                  <a:cs typeface="페이퍼로지 5 Medium" panose="02000703000000020004" pitchFamily="50" charset="-127"/>
                </a:rPr>
                <a:t>재무회계팀</a:t>
              </a:r>
            </a:p>
          </p:txBody>
        </p:sp>
        <p:sp>
          <p:nvSpPr>
            <p:cNvPr id="48" name="사각형: 둥근 모서리 41">
              <a:extLst>
                <a:ext uri="{FF2B5EF4-FFF2-40B4-BE49-F238E27FC236}">
                  <a16:creationId xmlns:a16="http://schemas.microsoft.com/office/drawing/2014/main" id="{3D831FCA-F235-9764-470D-E453E50BEF30}"/>
                </a:ext>
              </a:extLst>
            </p:cNvPr>
            <p:cNvSpPr/>
            <p:nvPr/>
          </p:nvSpPr>
          <p:spPr>
            <a:xfrm>
              <a:off x="699655" y="2872836"/>
              <a:ext cx="908166" cy="226909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ea typeface="페이퍼로지 5 Medium"/>
                  <a:cs typeface="페이퍼로지 5 Medium" panose="02000703000000020004" pitchFamily="50" charset="-127"/>
                </a:rPr>
                <a:t>인재경영팀</a:t>
              </a:r>
            </a:p>
          </p:txBody>
        </p:sp>
        <p:sp>
          <p:nvSpPr>
            <p:cNvPr id="49" name="사각형: 둥근 모서리 41">
              <a:extLst>
                <a:ext uri="{FF2B5EF4-FFF2-40B4-BE49-F238E27FC236}">
                  <a16:creationId xmlns:a16="http://schemas.microsoft.com/office/drawing/2014/main" id="{C7C7A6C4-BC43-4F5D-2463-4D5C72216089}"/>
                </a:ext>
              </a:extLst>
            </p:cNvPr>
            <p:cNvSpPr/>
            <p:nvPr/>
          </p:nvSpPr>
          <p:spPr>
            <a:xfrm>
              <a:off x="699655" y="3177833"/>
              <a:ext cx="908166" cy="226909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ea typeface="페이퍼로지 5 Medium"/>
                  <a:cs typeface="페이퍼로지 5 Medium" panose="02000703000000020004" pitchFamily="50" charset="-127"/>
                </a:rPr>
                <a:t>경영지원팀</a:t>
              </a:r>
            </a:p>
          </p:txBody>
        </p:sp>
        <p:sp>
          <p:nvSpPr>
            <p:cNvPr id="50" name="사각형: 둥근 모서리 41">
              <a:extLst>
                <a:ext uri="{FF2B5EF4-FFF2-40B4-BE49-F238E27FC236}">
                  <a16:creationId xmlns:a16="http://schemas.microsoft.com/office/drawing/2014/main" id="{513717BD-4418-7865-CC40-A6F964D66EFE}"/>
                </a:ext>
              </a:extLst>
            </p:cNvPr>
            <p:cNvSpPr/>
            <p:nvPr/>
          </p:nvSpPr>
          <p:spPr>
            <a:xfrm>
              <a:off x="699655" y="3482830"/>
              <a:ext cx="908166" cy="226909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ea typeface="페이퍼로지 5 Medium"/>
                  <a:cs typeface="페이퍼로지 5 Medium" panose="02000703000000020004" pitchFamily="50" charset="-127"/>
                </a:rPr>
                <a:t>IT/</a:t>
              </a:r>
              <a:r>
                <a:rPr lang="ko-KR" altLang="en-US" sz="90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ea typeface="페이퍼로지 5 Medium"/>
                  <a:cs typeface="페이퍼로지 5 Medium" panose="02000703000000020004" pitchFamily="50" charset="-127"/>
                </a:rPr>
                <a:t>정보보안팀</a:t>
              </a:r>
            </a:p>
          </p:txBody>
        </p:sp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1BFFB4AA-9594-4EF8-3AD3-6B11C3A960BB}"/>
                </a:ext>
              </a:extLst>
            </p:cNvPr>
            <p:cNvSpPr/>
            <p:nvPr/>
          </p:nvSpPr>
          <p:spPr>
            <a:xfrm>
              <a:off x="699655" y="2255707"/>
              <a:ext cx="908166" cy="238163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ea typeface="페이퍼로지 5 Medium"/>
                  <a:cs typeface="페이퍼로지 5 Medium" panose="02000703000000020004" pitchFamily="50" charset="-127"/>
                </a:rPr>
                <a:t>경영기획 총괄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847854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Rectangle 2">
            <a:extLst>
              <a:ext uri="{FF2B5EF4-FFF2-40B4-BE49-F238E27FC236}">
                <a16:creationId xmlns:a16="http://schemas.microsoft.com/office/drawing/2014/main" id="{66282572-5816-422F-A5F6-6F46198BC839}"/>
              </a:ext>
            </a:extLst>
          </p:cNvPr>
          <p:cNvSpPr/>
          <p:nvPr/>
        </p:nvSpPr>
        <p:spPr>
          <a:xfrm>
            <a:off x="1929606" y="381000"/>
            <a:ext cx="61912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altLang="ko-KR" sz="900" b="0" dirty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2-3. 재무 현황</a:t>
            </a:r>
            <a:endParaRPr lang="ko-KR" sz="900" b="0" dirty="0">
              <a:solidFill>
                <a:srgbClr val="A50034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179" name="Rectangle 3">
            <a:extLst>
              <a:ext uri="{FF2B5EF4-FFF2-40B4-BE49-F238E27FC236}">
                <a16:creationId xmlns:a16="http://schemas.microsoft.com/office/drawing/2014/main" id="{32FA807B-A07A-47B7-8748-91F14EE4A93C}"/>
              </a:ext>
            </a:extLst>
          </p:cNvPr>
          <p:cNvSpPr/>
          <p:nvPr/>
        </p:nvSpPr>
        <p:spPr>
          <a:xfrm>
            <a:off x="846138" y="660400"/>
            <a:ext cx="8461375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안정적인 재무 구조로 </a:t>
            </a:r>
            <a:r>
              <a:rPr lang="ko-KR" sz="20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계약 기간 내내</a:t>
            </a:r>
            <a:r>
              <a:rPr lang="ko-KR" sz="2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 흔들림 없이 운영합니다</a:t>
            </a:r>
          </a:p>
        </p:txBody>
      </p:sp>
      <p:sp>
        <p:nvSpPr>
          <p:cNvPr id="180" name="Rectangle 4">
            <a:extLst>
              <a:ext uri="{FF2B5EF4-FFF2-40B4-BE49-F238E27FC236}">
                <a16:creationId xmlns:a16="http://schemas.microsoft.com/office/drawing/2014/main" id="{AFA34CF8-6FC8-470E-A633-424A91EECBE9}"/>
              </a:ext>
            </a:extLst>
          </p:cNvPr>
          <p:cNvSpPr/>
          <p:nvPr/>
        </p:nvSpPr>
        <p:spPr>
          <a:xfrm>
            <a:off x="846138" y="1079500"/>
            <a:ext cx="84613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최근 3개년 재무 지표로 사업 수행의 안정성을 확인하실 수 있습니다.</a:t>
            </a:r>
          </a:p>
        </p:txBody>
      </p:sp>
      <p:sp>
        <p:nvSpPr>
          <p:cNvPr id="181" name="Rectangle 78">
            <a:extLst>
              <a:ext uri="{FF2B5EF4-FFF2-40B4-BE49-F238E27FC236}">
                <a16:creationId xmlns:a16="http://schemas.microsoft.com/office/drawing/2014/main" id="{7D347CCC-3F77-43D2-A599-83BD1A2ACE74}"/>
              </a:ext>
            </a:extLst>
          </p:cNvPr>
          <p:cNvSpPr/>
          <p:nvPr/>
        </p:nvSpPr>
        <p:spPr>
          <a:xfrm>
            <a:off x="4540250" y="64770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fld id="{B6F15528-21DE-4FAA-801E-634DDDAF4B2B}" type="slidenum"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15</a:t>
            </a:fld>
            <a:r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 / 49</a:t>
            </a:r>
            <a:endParaRPr lang="ko-KR" sz="600" b="0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pic>
        <p:nvPicPr>
          <p:cNvPr id="329" name="Picture 3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  <p:sp>
        <p:nvSpPr>
          <p:cNvPr id="330" name="Rectangle 329"/>
          <p:cNvSpPr/>
          <p:nvPr/>
        </p:nvSpPr>
        <p:spPr>
          <a:xfrm>
            <a:off x="660400" y="1447800"/>
            <a:ext cx="38100" cy="177800"/>
          </a:xfrm>
          <a:prstGeom prst="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1" name="Rectangle 330"/>
          <p:cNvSpPr/>
          <p:nvPr/>
        </p:nvSpPr>
        <p:spPr>
          <a:xfrm>
            <a:off x="774700" y="1422400"/>
            <a:ext cx="3810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최근 3년 재무현황표</a:t>
            </a:r>
          </a:p>
        </p:txBody>
      </p:sp>
      <p:sp>
        <p:nvSpPr>
          <p:cNvPr id="332" name="Rectangle 331"/>
          <p:cNvSpPr/>
          <p:nvPr/>
        </p:nvSpPr>
        <p:spPr>
          <a:xfrm>
            <a:off x="3791338" y="1534372"/>
            <a:ext cx="1397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[단위: 백만원]</a:t>
            </a:r>
          </a:p>
        </p:txBody>
      </p:sp>
      <p:graphicFrame>
        <p:nvGraphicFramePr>
          <p:cNvPr id="333" name="Table 3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5366950"/>
              </p:ext>
            </p:extLst>
          </p:nvPr>
        </p:nvGraphicFramePr>
        <p:xfrm>
          <a:off x="660400" y="1727200"/>
          <a:ext cx="4546600" cy="377001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4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8335">
                <a:tc>
                  <a:txBody>
                    <a:bodyPr/>
                    <a:lstStyle/>
                    <a:p>
                      <a:pPr algn="ctr"/>
                      <a:r>
                        <a:rPr lang="ko-KR" sz="1200" b="1" dirty="0">
                          <a:solidFill>
                            <a:schemeClr val="tx1"/>
                          </a:solidFill>
                          <a:latin typeface="페이퍼로지 7 Bold"/>
                          <a:ea typeface="페이퍼로지 7 Bold"/>
                          <a:cs typeface="페이퍼로지 7 Bold"/>
                        </a:rPr>
                        <a:t>구분</a:t>
                      </a:r>
                    </a:p>
                  </a:txBody>
                  <a:tcPr marL="63500" marR="63500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 cap="flat" cmpd="sng" algn="ctr">
                      <a:solidFill>
                        <a:srgbClr val="D7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 dirty="0">
                          <a:solidFill>
                            <a:schemeClr val="tx1"/>
                          </a:solidFill>
                          <a:latin typeface="페이퍼로지 7 Bold"/>
                          <a:ea typeface="페이퍼로지 7 Bold"/>
                          <a:cs typeface="페이퍼로지 7 Bold"/>
                        </a:rPr>
                        <a:t>2023년</a:t>
                      </a:r>
                    </a:p>
                  </a:txBody>
                  <a:tcPr marL="63500" marR="63500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 cap="flat" cmpd="sng" algn="ctr">
                      <a:solidFill>
                        <a:srgbClr val="D7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 dirty="0">
                          <a:solidFill>
                            <a:schemeClr val="tx1"/>
                          </a:solidFill>
                          <a:latin typeface="페이퍼로지 7 Bold"/>
                          <a:ea typeface="페이퍼로지 7 Bold"/>
                          <a:cs typeface="페이퍼로지 7 Bold"/>
                        </a:rPr>
                        <a:t>2024년</a:t>
                      </a:r>
                    </a:p>
                  </a:txBody>
                  <a:tcPr marL="63500" marR="63500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 cap="flat" cmpd="sng" algn="ctr">
                      <a:solidFill>
                        <a:srgbClr val="D7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 dirty="0">
                          <a:solidFill>
                            <a:schemeClr val="tx1"/>
                          </a:solidFill>
                          <a:latin typeface="페이퍼로지 7 Bold"/>
                          <a:ea typeface="페이퍼로지 7 Bold"/>
                          <a:cs typeface="페이퍼로지 7 Bold"/>
                        </a:rPr>
                        <a:t>2025년</a:t>
                      </a:r>
                    </a:p>
                  </a:txBody>
                  <a:tcPr marL="63500" marR="63500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 cap="flat" cmpd="sng" algn="ctr">
                      <a:solidFill>
                        <a:srgbClr val="D7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335">
                <a:tc>
                  <a:txBody>
                    <a:bodyPr/>
                    <a:lstStyle/>
                    <a:p>
                      <a:pPr algn="ctr"/>
                      <a:r>
                        <a:rPr lang="ko-KR" sz="1000" b="1" dirty="0">
                          <a:solidFill>
                            <a:srgbClr val="10151F"/>
                          </a:solidFill>
                          <a:latin typeface="페이퍼로지 7 Bold"/>
                          <a:ea typeface="페이퍼로지 7 Bold"/>
                          <a:cs typeface="페이퍼로지 7 Bold"/>
                        </a:rPr>
                        <a:t>총자산</a:t>
                      </a:r>
                    </a:p>
                  </a:txBody>
                  <a:tcPr marL="63500" marR="63500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447,609</a:t>
                      </a:r>
                    </a:p>
                  </a:txBody>
                  <a:tcPr marL="63500" marR="63500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469,932</a:t>
                      </a:r>
                    </a:p>
                  </a:txBody>
                  <a:tcPr marL="63500" marR="63500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449,824</a:t>
                      </a:r>
                    </a:p>
                  </a:txBody>
                  <a:tcPr marL="63500" marR="63500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335">
                <a:tc>
                  <a:txBody>
                    <a:bodyPr/>
                    <a:lstStyle/>
                    <a:p>
                      <a:pPr algn="ctr"/>
                      <a:r>
                        <a:rPr lang="ko-KR" sz="1000" b="1" dirty="0" err="1">
                          <a:solidFill>
                            <a:srgbClr val="10151F"/>
                          </a:solidFill>
                          <a:latin typeface="페이퍼로지 7 Bold"/>
                          <a:ea typeface="페이퍼로지 7 Bold"/>
                          <a:cs typeface="페이퍼로지 7 Bold"/>
                        </a:rPr>
                        <a:t>총부채</a:t>
                      </a:r>
                      <a:endParaRPr lang="ko-KR" sz="1000" b="1" dirty="0">
                        <a:solidFill>
                          <a:srgbClr val="10151F"/>
                        </a:solidFill>
                        <a:latin typeface="페이퍼로지 7 Bold"/>
                        <a:ea typeface="페이퍼로지 7 Bold"/>
                        <a:cs typeface="페이퍼로지 7 Bold"/>
                      </a:endParaRPr>
                    </a:p>
                  </a:txBody>
                  <a:tcPr marL="63500" marR="63500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243,519</a:t>
                      </a:r>
                    </a:p>
                  </a:txBody>
                  <a:tcPr marL="63500" marR="63500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261,826</a:t>
                      </a:r>
                    </a:p>
                  </a:txBody>
                  <a:tcPr marL="63500" marR="63500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211,338</a:t>
                      </a:r>
                    </a:p>
                  </a:txBody>
                  <a:tcPr marL="63500" marR="63500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335">
                <a:tc>
                  <a:txBody>
                    <a:bodyPr/>
                    <a:lstStyle/>
                    <a:p>
                      <a:pPr algn="ctr"/>
                      <a:r>
                        <a:rPr lang="ko-KR" sz="1000" b="1" dirty="0">
                          <a:solidFill>
                            <a:srgbClr val="10151F"/>
                          </a:solidFill>
                          <a:latin typeface="페이퍼로지 7 Bold"/>
                          <a:ea typeface="페이퍼로지 7 Bold"/>
                          <a:cs typeface="페이퍼로지 7 Bold"/>
                        </a:rPr>
                        <a:t>총자본</a:t>
                      </a:r>
                    </a:p>
                  </a:txBody>
                  <a:tcPr marL="63500" marR="63500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204,090</a:t>
                      </a:r>
                    </a:p>
                  </a:txBody>
                  <a:tcPr marL="63500" marR="63500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208,105</a:t>
                      </a:r>
                    </a:p>
                  </a:txBody>
                  <a:tcPr marL="63500" marR="63500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238,486</a:t>
                      </a:r>
                    </a:p>
                  </a:txBody>
                  <a:tcPr marL="63500" marR="63500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335">
                <a:tc>
                  <a:txBody>
                    <a:bodyPr/>
                    <a:lstStyle/>
                    <a:p>
                      <a:pPr marL="0" algn="ctr">
                        <a:buNone/>
                      </a:pPr>
                      <a:r>
                        <a:rPr lang="ko-KR" altLang="en-US" sz="1000" b="1" dirty="0">
                          <a:solidFill>
                            <a:srgbClr val="10151F"/>
                          </a:solidFill>
                          <a:latin typeface="페이퍼로지 7 Bold"/>
                          <a:ea typeface="페이퍼로지 7 Bold"/>
                          <a:cs typeface="페이퍼로지 7 Bold"/>
                        </a:rPr>
                        <a:t>매출액</a:t>
                      </a:r>
                      <a:r>
                        <a:rPr lang="en-US" altLang="ko-KR" sz="1000" b="1" dirty="0">
                          <a:solidFill>
                            <a:srgbClr val="10151F"/>
                          </a:solidFill>
                          <a:latin typeface="페이퍼로지 7 Bold"/>
                          <a:ea typeface="페이퍼로지 7 Bold"/>
                          <a:cs typeface="페이퍼로지 7 Bold"/>
                        </a:rPr>
                        <a:t>(</a:t>
                      </a:r>
                      <a:r>
                        <a:rPr lang="ko-KR" altLang="en-US" sz="1000" b="1" dirty="0">
                          <a:solidFill>
                            <a:srgbClr val="10151F"/>
                          </a:solidFill>
                          <a:latin typeface="페이퍼로지 7 Bold"/>
                          <a:ea typeface="페이퍼로지 7 Bold"/>
                          <a:cs typeface="페이퍼로지 7 Bold"/>
                        </a:rPr>
                        <a:t>영업수익</a:t>
                      </a:r>
                      <a:r>
                        <a:rPr lang="en-US" altLang="ko-KR" sz="1000" b="1" dirty="0">
                          <a:solidFill>
                            <a:srgbClr val="10151F"/>
                          </a:solidFill>
                          <a:latin typeface="페이퍼로지 7 Bold"/>
                          <a:ea typeface="페이퍼로지 7 Bold"/>
                          <a:cs typeface="페이퍼로지 7 Bold"/>
                        </a:rPr>
                        <a:t>)</a:t>
                      </a:r>
                    </a:p>
                  </a:txBody>
                  <a:tcPr marL="63500" marR="63500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buNone/>
                      </a:pPr>
                      <a:r>
                        <a:rPr lang="en-US" altLang="ko-KR" sz="1000" b="1" dirty="0">
                          <a:solidFill>
                            <a:srgbClr val="10151F"/>
                          </a:solidFill>
                          <a:latin typeface="페이퍼로지 7 Bold"/>
                          <a:ea typeface="페이퍼로지 7 Bold"/>
                          <a:cs typeface="페이퍼로지 5 Medium"/>
                        </a:rPr>
                        <a:t>560,149</a:t>
                      </a:r>
                    </a:p>
                  </a:txBody>
                  <a:tcPr marL="63500" marR="63500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buNone/>
                      </a:pPr>
                      <a:r>
                        <a:rPr lang="en-US" altLang="ko-KR" sz="1000" b="1" dirty="0">
                          <a:solidFill>
                            <a:srgbClr val="10151F"/>
                          </a:solidFill>
                          <a:latin typeface="페이퍼로지 7 Bold"/>
                          <a:ea typeface="페이퍼로지 7 Bold"/>
                          <a:cs typeface="페이퍼로지 5 Medium"/>
                        </a:rPr>
                        <a:t>544,410</a:t>
                      </a:r>
                    </a:p>
                  </a:txBody>
                  <a:tcPr marL="63500" marR="63500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buNone/>
                      </a:pPr>
                      <a:r>
                        <a:rPr lang="en-US" altLang="ko-KR" sz="1000" b="1" dirty="0">
                          <a:solidFill>
                            <a:srgbClr val="10151F"/>
                          </a:solidFill>
                          <a:latin typeface="페이퍼로지 7 Bold"/>
                          <a:ea typeface="페이퍼로지 7 Bold"/>
                          <a:cs typeface="페이퍼로지 5 Medium"/>
                        </a:rPr>
                        <a:t>588,760</a:t>
                      </a:r>
                    </a:p>
                  </a:txBody>
                  <a:tcPr marL="63500" marR="63500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8335">
                <a:tc>
                  <a:txBody>
                    <a:bodyPr/>
                    <a:lstStyle/>
                    <a:p>
                      <a:pPr algn="ctr"/>
                      <a:r>
                        <a:rPr lang="ko-KR" sz="1000" b="1" dirty="0">
                          <a:solidFill>
                            <a:srgbClr val="10151F"/>
                          </a:solidFill>
                          <a:latin typeface="페이퍼로지 7 Bold"/>
                          <a:ea typeface="페이퍼로지 7 Bold"/>
                          <a:cs typeface="페이퍼로지 7 Bold"/>
                        </a:rPr>
                        <a:t>당기순이익</a:t>
                      </a:r>
                    </a:p>
                  </a:txBody>
                  <a:tcPr marL="63500" marR="63500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B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13,922</a:t>
                      </a:r>
                    </a:p>
                  </a:txBody>
                  <a:tcPr marL="63500" marR="63500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B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11,862</a:t>
                      </a:r>
                    </a:p>
                  </a:txBody>
                  <a:tcPr marL="63500" marR="63500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B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36,366</a:t>
                      </a:r>
                    </a:p>
                  </a:txBody>
                  <a:tcPr marL="63500" marR="63500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BE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34" name="Rectangle 333"/>
          <p:cNvSpPr/>
          <p:nvPr/>
        </p:nvSpPr>
        <p:spPr>
          <a:xfrm>
            <a:off x="660400" y="5613400"/>
            <a:ext cx="4546600" cy="584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· 부정당업자 입찰 참가 자격 제한(최근 3년 내 </a:t>
            </a:r>
            <a:r>
              <a:rPr lang="ko-KR" sz="900" b="0" dirty="0" err="1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공정위</a:t>
            </a: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 시정명령): 해당 없음</a:t>
            </a:r>
          </a:p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· 공고일 기준 2년 이내 계약조건 불이행 관련 처벌 조치: 해당 없음</a:t>
            </a:r>
          </a:p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· 출처: 표준재무제표증명서(전자공시시스템, 사업보고서 기준)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5410200" y="1447800"/>
            <a:ext cx="38100" cy="177800"/>
          </a:xfrm>
          <a:prstGeom prst="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6" name="Rectangle 335"/>
          <p:cNvSpPr/>
          <p:nvPr/>
        </p:nvSpPr>
        <p:spPr>
          <a:xfrm>
            <a:off x="5524500" y="1422400"/>
            <a:ext cx="3810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자본금 및 매출규모</a:t>
            </a:r>
          </a:p>
        </p:txBody>
      </p:sp>
      <p:sp>
        <p:nvSpPr>
          <p:cNvPr id="337" name="Oval 336"/>
          <p:cNvSpPr/>
          <p:nvPr/>
        </p:nvSpPr>
        <p:spPr>
          <a:xfrm>
            <a:off x="5609255" y="1848503"/>
            <a:ext cx="1574800" cy="1574800"/>
          </a:xfrm>
          <a:prstGeom prst="ellipse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ko-KR" sz="1100" b="0" dirty="0">
                <a:solidFill>
                  <a:schemeClr val="tx1"/>
                </a:solidFill>
                <a:latin typeface="페이퍼로지 5 Medium"/>
                <a:ea typeface="페이퍼로지 5 Medium"/>
                <a:cs typeface="페이퍼로지 5 Medium"/>
              </a:rPr>
              <a:t>자본금</a:t>
            </a:r>
          </a:p>
          <a:p>
            <a:pPr algn="ctr">
              <a:lnSpc>
                <a:spcPct val="120000"/>
              </a:lnSpc>
            </a:pPr>
            <a:r>
              <a:rPr lang="ko-KR" sz="2200" b="1" dirty="0">
                <a:solidFill>
                  <a:schemeClr val="tx1"/>
                </a:solidFill>
                <a:latin typeface="페이퍼로지 9 Black"/>
                <a:ea typeface="페이퍼로지 9 Black"/>
                <a:cs typeface="페이퍼로지 9 Black"/>
              </a:rPr>
              <a:t>174</a:t>
            </a:r>
            <a:r>
              <a:rPr lang="ko-KR" sz="1200" b="1" dirty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억</a:t>
            </a:r>
          </a:p>
        </p:txBody>
      </p:sp>
      <p:sp>
        <p:nvSpPr>
          <p:cNvPr id="338" name="Oval 337"/>
          <p:cNvSpPr/>
          <p:nvPr/>
        </p:nvSpPr>
        <p:spPr>
          <a:xfrm>
            <a:off x="7594600" y="1839172"/>
            <a:ext cx="1574800" cy="1574800"/>
          </a:xfrm>
          <a:prstGeom prst="ellipse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ko-KR" sz="1100" b="0" dirty="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매출액 (2025)</a:t>
            </a:r>
          </a:p>
          <a:p>
            <a:pPr algn="ctr">
              <a:lnSpc>
                <a:spcPct val="120000"/>
              </a:lnSpc>
            </a:pPr>
            <a:r>
              <a:rPr lang="ko-KR" sz="2200" b="1" dirty="0">
                <a:solidFill>
                  <a:srgbClr val="FFFFFF"/>
                </a:solidFill>
                <a:latin typeface="페이퍼로지 9 Black"/>
                <a:ea typeface="페이퍼로지 9 Black"/>
                <a:cs typeface="페이퍼로지 9 Black"/>
              </a:rPr>
              <a:t>5,888</a:t>
            </a:r>
            <a:r>
              <a:rPr lang="ko-KR" sz="1200" b="1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억</a:t>
            </a:r>
          </a:p>
        </p:txBody>
      </p:sp>
      <p:sp>
        <p:nvSpPr>
          <p:cNvPr id="340" name="Rectangle 339"/>
          <p:cNvSpPr/>
          <p:nvPr/>
        </p:nvSpPr>
        <p:spPr>
          <a:xfrm>
            <a:off x="5410200" y="3733800"/>
            <a:ext cx="38100" cy="177800"/>
          </a:xfrm>
          <a:prstGeom prst="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1" name="Rectangle 340"/>
          <p:cNvSpPr/>
          <p:nvPr/>
        </p:nvSpPr>
        <p:spPr>
          <a:xfrm>
            <a:off x="5524500" y="3708400"/>
            <a:ext cx="3810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신용평가등급 확인서</a:t>
            </a:r>
          </a:p>
        </p:txBody>
      </p:sp>
      <p:pic>
        <p:nvPicPr>
          <p:cNvPr id="342" name="Picture 34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4013200"/>
            <a:ext cx="1397000" cy="2006600"/>
          </a:xfrm>
          <a:prstGeom prst="rect">
            <a:avLst/>
          </a:prstGeom>
        </p:spPr>
      </p:pic>
      <p:graphicFrame>
        <p:nvGraphicFramePr>
          <p:cNvPr id="343" name="Table 3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145174"/>
              </p:ext>
            </p:extLst>
          </p:nvPr>
        </p:nvGraphicFramePr>
        <p:xfrm>
          <a:off x="7010400" y="4013200"/>
          <a:ext cx="2311400" cy="2006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8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1650">
                <a:tc>
                  <a:txBody>
                    <a:bodyPr/>
                    <a:lstStyle/>
                    <a:p>
                      <a:pPr algn="ctr"/>
                      <a:r>
                        <a:rPr lang="ko-KR" sz="1200" b="1" dirty="0">
                          <a:solidFill>
                            <a:schemeClr val="tx1"/>
                          </a:solidFill>
                          <a:latin typeface="페이퍼로지 7 Bold"/>
                          <a:ea typeface="페이퍼로지 7 Bold"/>
                          <a:cs typeface="페이퍼로지 7 Bold"/>
                        </a:rPr>
                        <a:t>평가기관</a:t>
                      </a:r>
                    </a:p>
                  </a:txBody>
                  <a:tcPr marL="63500" marR="63500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 dirty="0" err="1">
                          <a:solidFill>
                            <a:schemeClr val="tx1"/>
                          </a:solidFill>
                          <a:latin typeface="페이퍼로지 7 Bold"/>
                          <a:ea typeface="페이퍼로지 7 Bold"/>
                          <a:cs typeface="페이퍼로지 7 Bold"/>
                        </a:rPr>
                        <a:t>이크레더블</a:t>
                      </a:r>
                      <a:endParaRPr lang="ko-KR" sz="1200" b="1" dirty="0">
                        <a:solidFill>
                          <a:schemeClr val="tx1"/>
                        </a:solidFill>
                        <a:latin typeface="페이퍼로지 7 Bold"/>
                        <a:ea typeface="페이퍼로지 7 Bold"/>
                        <a:cs typeface="페이퍼로지 7 Bold"/>
                      </a:endParaRPr>
                    </a:p>
                  </a:txBody>
                  <a:tcPr marL="63500" marR="63500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1650">
                <a:tc>
                  <a:txBody>
                    <a:bodyPr/>
                    <a:lstStyle/>
                    <a:p>
                      <a:pPr algn="ctr"/>
                      <a:r>
                        <a:rPr lang="ko-KR" sz="1000" b="1" dirty="0">
                          <a:solidFill>
                            <a:srgbClr val="10151F"/>
                          </a:solidFill>
                          <a:latin typeface="페이퍼로지 7 Bold"/>
                          <a:ea typeface="페이퍼로지 7 Bold"/>
                          <a:cs typeface="페이퍼로지 7 Bold"/>
                        </a:rPr>
                        <a:t>평가일</a:t>
                      </a:r>
                    </a:p>
                  </a:txBody>
                  <a:tcPr marL="63500" marR="63500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000" b="0" dirty="0">
                          <a:solidFill>
                            <a:srgbClr val="10151F"/>
                          </a:solidFill>
                          <a:latin typeface="+mn-lt"/>
                          <a:ea typeface="+mn-ea"/>
                          <a:cs typeface="페이퍼로지 5 Medium"/>
                        </a:rPr>
                        <a:t>202</a:t>
                      </a:r>
                      <a:r>
                        <a:rPr lang="en-US" altLang="ko-KR" sz="1000" b="0" dirty="0">
                          <a:solidFill>
                            <a:srgbClr val="10151F"/>
                          </a:solidFill>
                          <a:latin typeface="+mn-lt"/>
                          <a:ea typeface="+mn-ea"/>
                          <a:cs typeface="페이퍼로지 5 Medium"/>
                        </a:rPr>
                        <a:t>6</a:t>
                      </a:r>
                      <a:r>
                        <a:rPr lang="ko-KR" altLang="ko-KR" sz="1000" b="0" dirty="0">
                          <a:solidFill>
                            <a:srgbClr val="10151F"/>
                          </a:solidFill>
                          <a:latin typeface="+mn-lt"/>
                          <a:ea typeface="+mn-ea"/>
                          <a:cs typeface="페이퍼로지 5 Medium"/>
                        </a:rPr>
                        <a:t>.06.</a:t>
                      </a:r>
                      <a:r>
                        <a:rPr lang="en-US" altLang="ko-KR" sz="1000" b="0" dirty="0">
                          <a:solidFill>
                            <a:srgbClr val="10151F"/>
                          </a:solidFill>
                          <a:latin typeface="+mn-lt"/>
                          <a:ea typeface="+mn-ea"/>
                          <a:cs typeface="페이퍼로지 5 Medium"/>
                        </a:rPr>
                        <a:t>26</a:t>
                      </a:r>
                      <a:endParaRPr lang="ko-KR" altLang="ko-KR" sz="1000" b="0" dirty="0">
                        <a:solidFill>
                          <a:srgbClr val="10151F"/>
                        </a:solidFill>
                        <a:latin typeface="+mn-lt"/>
                        <a:ea typeface="+mn-ea"/>
                        <a:cs typeface="페이퍼로지 5 Medium"/>
                      </a:endParaRPr>
                    </a:p>
                  </a:txBody>
                  <a:tcPr marL="63500" marR="63500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1650">
                <a:tc>
                  <a:txBody>
                    <a:bodyPr/>
                    <a:lstStyle/>
                    <a:p>
                      <a:pPr algn="ctr"/>
                      <a:r>
                        <a:rPr lang="ko-KR" sz="1000" b="1" dirty="0">
                          <a:solidFill>
                            <a:srgbClr val="10151F"/>
                          </a:solidFill>
                          <a:latin typeface="페이퍼로지 7 Bold"/>
                          <a:ea typeface="페이퍼로지 7 Bold"/>
                          <a:cs typeface="페이퍼로지 7 Bold"/>
                        </a:rPr>
                        <a:t>유효기간</a:t>
                      </a:r>
                    </a:p>
                  </a:txBody>
                  <a:tcPr marL="63500" marR="63500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2027.06.25</a:t>
                      </a:r>
                    </a:p>
                  </a:txBody>
                  <a:tcPr marL="63500" marR="63500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1650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0151F"/>
                          </a:solidFill>
                          <a:latin typeface="페이퍼로지 7 Bold"/>
                          <a:ea typeface="페이퍼로지 7 Bold"/>
                          <a:cs typeface="페이퍼로지 7 Bold"/>
                        </a:rPr>
                        <a:t>평가등급</a:t>
                      </a:r>
                    </a:p>
                  </a:txBody>
                  <a:tcPr marL="63500" marR="63500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AA</a:t>
                      </a:r>
                    </a:p>
                  </a:txBody>
                  <a:tcPr marL="63500" marR="63500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" name="그룹 1">
            <a:extLst>
              <a:ext uri="{FF2B5EF4-FFF2-40B4-BE49-F238E27FC236}">
                <a16:creationId xmlns:a16="http://schemas.microsoft.com/office/drawing/2014/main" id="{00E9FA67-8F0B-4B35-9682-7D5CBC4975AA}"/>
              </a:ext>
            </a:extLst>
          </p:cNvPr>
          <p:cNvGrpSpPr/>
          <p:nvPr/>
        </p:nvGrpSpPr>
        <p:grpSpPr>
          <a:xfrm>
            <a:off x="5734743" y="4518164"/>
            <a:ext cx="1116035" cy="1109530"/>
            <a:chOff x="5734743" y="4536826"/>
            <a:chExt cx="1116035" cy="1109530"/>
          </a:xfrm>
        </p:grpSpPr>
        <p:pic>
          <p:nvPicPr>
            <p:cNvPr id="22" name="그림 21" descr="원, 레드, 다채로움, 그래픽이(가) 표시된 사진&#10;&#10;자동 생성된 설명">
              <a:extLst>
                <a:ext uri="{FF2B5EF4-FFF2-40B4-BE49-F238E27FC236}">
                  <a16:creationId xmlns:a16="http://schemas.microsoft.com/office/drawing/2014/main" id="{ECC195CA-CE4A-4DD7-8BF3-159FAFD04D2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935912">
              <a:off x="5734743" y="4536826"/>
              <a:ext cx="1116035" cy="110953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2157160-982C-48A1-855A-FC780736C3BD}"/>
                </a:ext>
              </a:extLst>
            </p:cNvPr>
            <p:cNvSpPr txBox="1"/>
            <p:nvPr/>
          </p:nvSpPr>
          <p:spPr>
            <a:xfrm rot="20935912">
              <a:off x="5915418" y="4841737"/>
              <a:ext cx="673261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ctr">
              <a:spAutoFit/>
            </a:bodyPr>
            <a:lstStyle>
              <a:defPPr>
                <a:defRPr lang="ko-KR"/>
              </a:defPPr>
              <a:lvl1pPr>
                <a:defRPr sz="2000" b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2C578A"/>
                  </a:solidFill>
                  <a:latin typeface="페이퍼로지 5 Medium" pitchFamily="50" charset="-127"/>
                  <a:ea typeface="페이퍼로지 5 Medium" pitchFamily="50" charset="-127"/>
                  <a:cs typeface="페이퍼로지 5 Medium" pitchFamily="50" charset="-127"/>
                </a:defRPr>
              </a:lvl1pPr>
            </a:lstStyle>
            <a:p>
              <a:pPr algn="ctr"/>
              <a:r>
                <a:rPr lang="ko-KR" altLang="en-US" sz="1000" dirty="0">
                  <a:solidFill>
                    <a:schemeClr val="bg1"/>
                  </a:solidFill>
                  <a:latin typeface="페이퍼로지 7 Bold"/>
                  <a:ea typeface="페이퍼로지 7 Bold"/>
                </a:rPr>
                <a:t>신용평가등급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D1BCF3E-336E-493F-99EC-D0323C474712}"/>
                </a:ext>
              </a:extLst>
            </p:cNvPr>
            <p:cNvSpPr txBox="1"/>
            <p:nvPr/>
          </p:nvSpPr>
          <p:spPr>
            <a:xfrm rot="20935912">
              <a:off x="6050136" y="5008357"/>
              <a:ext cx="504754" cy="384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ctr">
              <a:spAutoFit/>
            </a:bodyPr>
            <a:lstStyle>
              <a:defPPr>
                <a:defRPr lang="ko-KR"/>
              </a:defPPr>
              <a:lvl1pPr>
                <a:defRPr sz="2000" b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2C578A"/>
                  </a:solidFill>
                  <a:latin typeface="페이퍼로지 5 Medium" pitchFamily="50" charset="-127"/>
                  <a:ea typeface="페이퍼로지 5 Medium" pitchFamily="50" charset="-127"/>
                  <a:cs typeface="페이퍼로지 5 Medium" pitchFamily="50" charset="-127"/>
                </a:defRPr>
              </a:lvl1pPr>
            </a:lstStyle>
            <a:p>
              <a:pPr algn="ctr"/>
              <a:r>
                <a:rPr lang="en-US" altLang="ko-KR" sz="2500" dirty="0">
                  <a:solidFill>
                    <a:schemeClr val="bg1"/>
                  </a:solidFill>
                  <a:latin typeface="페이퍼로지 7 Bold"/>
                  <a:ea typeface="페이퍼로지 7 Bold"/>
                </a:rPr>
                <a:t>AA</a:t>
              </a:r>
              <a:endParaRPr lang="ko-KR" altLang="en-US" sz="2500" dirty="0">
                <a:solidFill>
                  <a:schemeClr val="bg1"/>
                </a:solidFill>
                <a:latin typeface="페이퍼로지 7 Bold"/>
                <a:ea typeface="페이퍼로지 7 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88453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Rectangle 2">
            <a:extLst>
              <a:ext uri="{FF2B5EF4-FFF2-40B4-BE49-F238E27FC236}">
                <a16:creationId xmlns:a16="http://schemas.microsoft.com/office/drawing/2014/main" id="{66282572-5816-422F-A5F6-6F46198BC839}"/>
              </a:ext>
            </a:extLst>
          </p:cNvPr>
          <p:cNvSpPr/>
          <p:nvPr/>
        </p:nvSpPr>
        <p:spPr>
          <a:xfrm>
            <a:off x="1929606" y="381000"/>
            <a:ext cx="61912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altLang="ko-KR" sz="900" b="0" dirty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2-4. 사업 현황 · 2-5. 유사 사업 수행 실적</a:t>
            </a:r>
            <a:endParaRPr lang="ko-KR" sz="900" b="0" dirty="0">
              <a:solidFill>
                <a:srgbClr val="A50034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179" name="Rectangle 3">
            <a:extLst>
              <a:ext uri="{FF2B5EF4-FFF2-40B4-BE49-F238E27FC236}">
                <a16:creationId xmlns:a16="http://schemas.microsoft.com/office/drawing/2014/main" id="{32FA807B-A07A-47B7-8748-91F14EE4A93C}"/>
              </a:ext>
            </a:extLst>
          </p:cNvPr>
          <p:cNvSpPr/>
          <p:nvPr/>
        </p:nvSpPr>
        <p:spPr>
          <a:xfrm>
            <a:off x="846138" y="660400"/>
            <a:ext cx="8461375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0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여러 산업의 고객센터를 운영하며 쌓은 </a:t>
            </a:r>
            <a:r>
              <a:rPr lang="ko-KR" sz="20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사업 기반</a:t>
            </a:r>
          </a:p>
        </p:txBody>
      </p:sp>
      <p:sp>
        <p:nvSpPr>
          <p:cNvPr id="180" name="Rectangle 4">
            <a:extLst>
              <a:ext uri="{FF2B5EF4-FFF2-40B4-BE49-F238E27FC236}">
                <a16:creationId xmlns:a16="http://schemas.microsoft.com/office/drawing/2014/main" id="{AFA34CF8-6FC8-470E-A633-424A91EECBE9}"/>
              </a:ext>
            </a:extLst>
          </p:cNvPr>
          <p:cNvSpPr/>
          <p:nvPr/>
        </p:nvSpPr>
        <p:spPr>
          <a:xfrm>
            <a:off x="846138" y="1079500"/>
            <a:ext cx="84613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여러 산업의 고객사와 함께하며 운영 역량을 넓혀 왔습니다.</a:t>
            </a:r>
          </a:p>
        </p:txBody>
      </p:sp>
      <p:sp>
        <p:nvSpPr>
          <p:cNvPr id="181" name="Rectangle 78">
            <a:extLst>
              <a:ext uri="{FF2B5EF4-FFF2-40B4-BE49-F238E27FC236}">
                <a16:creationId xmlns:a16="http://schemas.microsoft.com/office/drawing/2014/main" id="{7D347CCC-3F77-43D2-A599-83BD1A2ACE74}"/>
              </a:ext>
            </a:extLst>
          </p:cNvPr>
          <p:cNvSpPr/>
          <p:nvPr/>
        </p:nvSpPr>
        <p:spPr>
          <a:xfrm>
            <a:off x="4540250" y="64770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16 / 49</a:t>
            </a:r>
            <a:endParaRPr lang="ko-KR" sz="600" b="0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pic>
        <p:nvPicPr>
          <p:cNvPr id="329" name="Picture 3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  <p:sp>
        <p:nvSpPr>
          <p:cNvPr id="330" name="Rounded Rectangle 329"/>
          <p:cNvSpPr/>
          <p:nvPr/>
        </p:nvSpPr>
        <p:spPr>
          <a:xfrm>
            <a:off x="660400" y="1422400"/>
            <a:ext cx="6070600" cy="3200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1" name="Rectangle 330"/>
          <p:cNvSpPr/>
          <p:nvPr/>
        </p:nvSpPr>
        <p:spPr>
          <a:xfrm>
            <a:off x="660400" y="1422400"/>
            <a:ext cx="6070600" cy="304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2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유통·제조·대형 사업 수행현황</a:t>
            </a:r>
          </a:p>
        </p:txBody>
      </p:sp>
      <p:sp>
        <p:nvSpPr>
          <p:cNvPr id="332" name="Rounded Rectangle 331"/>
          <p:cNvSpPr/>
          <p:nvPr/>
        </p:nvSpPr>
        <p:spPr>
          <a:xfrm>
            <a:off x="736600" y="1803400"/>
            <a:ext cx="1143000" cy="1320800"/>
          </a:xfrm>
          <a:prstGeom prst="roundRect">
            <a:avLst>
              <a:gd name="adj" fmla="val 5000"/>
            </a:avLst>
          </a:prstGeom>
          <a:solidFill>
            <a:srgbClr val="FBE8EF"/>
          </a:solidFill>
          <a:ln w="9525">
            <a:solidFill>
              <a:srgbClr val="E30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3" name="Picture 332" descr="image.png"/>
          <p:cNvPicPr>
            <a:picLocks noChangeAspect="1"/>
          </p:cNvPicPr>
          <p:nvPr/>
        </p:nvPicPr>
        <p:blipFill>
          <a:blip r:embed="rId4"/>
          <a:srcRect t="-310" b="-310"/>
          <a:stretch>
            <a:fillRect/>
          </a:stretch>
        </p:blipFill>
        <p:spPr>
          <a:xfrm>
            <a:off x="988551" y="1911350"/>
            <a:ext cx="639097" cy="190500"/>
          </a:xfrm>
          <a:prstGeom prst="rect">
            <a:avLst/>
          </a:prstGeom>
        </p:spPr>
      </p:pic>
      <p:sp>
        <p:nvSpPr>
          <p:cNvPr id="334" name="Rectangle 333"/>
          <p:cNvSpPr/>
          <p:nvPr/>
        </p:nvSpPr>
        <p:spPr>
          <a:xfrm>
            <a:off x="736600" y="2184400"/>
            <a:ext cx="1143000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altLang="ko-KR" sz="10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LG</a:t>
            </a:r>
            <a:r>
              <a:rPr lang="ko-KR" altLang="en-US" sz="10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전자 고객센터</a:t>
            </a:r>
            <a:endParaRPr lang="ko-KR" sz="1000" b="1" dirty="0">
              <a:solidFill>
                <a:srgbClr val="E30C60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335" name="Rectangle 334"/>
          <p:cNvSpPr/>
          <p:nvPr/>
        </p:nvSpPr>
        <p:spPr>
          <a:xfrm>
            <a:off x="787400" y="2438400"/>
            <a:ext cx="1041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1750" rIns="63500" bIns="31750" rtlCol="0" anchor="ctr"/>
          <a:lstStyle/>
          <a:p>
            <a:pPr algn="l">
              <a:lnSpc>
                <a:spcPct val="125000"/>
              </a:lnSpc>
            </a:pPr>
            <a:r>
              <a:rPr lang="ko-KR" sz="900" b="1" dirty="0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· </a:t>
            </a:r>
            <a:r>
              <a:rPr lang="ko-KR" altLang="en-US" sz="900" b="1" dirty="0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제품</a:t>
            </a:r>
            <a:r>
              <a:rPr lang="en-US" altLang="ko-KR" sz="900" b="1" dirty="0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AS </a:t>
            </a:r>
            <a:r>
              <a:rPr lang="ko-KR" altLang="en-US" sz="900" b="1" dirty="0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문의</a:t>
            </a:r>
            <a:r>
              <a:rPr lang="en-US" altLang="ko-KR" sz="900" b="1" dirty="0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 </a:t>
            </a:r>
            <a:r>
              <a:rPr lang="ko-KR" altLang="en-US" sz="900" b="1" dirty="0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접수</a:t>
            </a:r>
            <a:endParaRPr lang="ko-KR" sz="900" b="1" dirty="0">
              <a:solidFill>
                <a:srgbClr val="10151F"/>
              </a:solidFill>
              <a:latin typeface="페이퍼로지 7 Bold"/>
              <a:ea typeface="페이퍼로지 7 Bold"/>
              <a:cs typeface="페이퍼로지 7 Bold"/>
            </a:endParaRPr>
          </a:p>
          <a:p>
            <a:pPr algn="l">
              <a:lnSpc>
                <a:spcPct val="125000"/>
              </a:lnSpc>
            </a:pPr>
            <a:r>
              <a:rPr lang="ko-KR" sz="900" b="1" dirty="0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· 주4일제 22석</a:t>
            </a:r>
          </a:p>
          <a:p>
            <a:pPr algn="l">
              <a:lnSpc>
                <a:spcPct val="125000"/>
              </a:lnSpc>
            </a:pPr>
            <a:r>
              <a:rPr lang="ko-KR" sz="900" b="1" dirty="0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· 성수기 35석</a:t>
            </a:r>
          </a:p>
        </p:txBody>
      </p:sp>
      <p:sp>
        <p:nvSpPr>
          <p:cNvPr id="336" name="Rounded Rectangle 335"/>
          <p:cNvSpPr/>
          <p:nvPr/>
        </p:nvSpPr>
        <p:spPr>
          <a:xfrm>
            <a:off x="1935480" y="1803400"/>
            <a:ext cx="1143000" cy="1320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7" name="Picture 336" descr="image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113278" y="1911350"/>
            <a:ext cx="787402" cy="190500"/>
          </a:xfrm>
          <a:prstGeom prst="rect">
            <a:avLst/>
          </a:prstGeom>
        </p:spPr>
      </p:pic>
      <p:sp>
        <p:nvSpPr>
          <p:cNvPr id="338" name="Rectangle 337"/>
          <p:cNvSpPr/>
          <p:nvPr/>
        </p:nvSpPr>
        <p:spPr>
          <a:xfrm>
            <a:off x="1935480" y="2184400"/>
            <a:ext cx="1143000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국민건강보험</a:t>
            </a:r>
          </a:p>
        </p:txBody>
      </p:sp>
      <p:sp>
        <p:nvSpPr>
          <p:cNvPr id="339" name="Rectangle 338"/>
          <p:cNvSpPr/>
          <p:nvPr/>
        </p:nvSpPr>
        <p:spPr>
          <a:xfrm>
            <a:off x="1986280" y="2438400"/>
            <a:ext cx="1041400" cy="6096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1750" rIns="63500" bIns="31750" rtlCol="0" anchor="ctr"/>
          <a:lstStyle/>
          <a:p>
            <a:pPr algn="l">
              <a:lnSpc>
                <a:spcPct val="12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본부 및 대구 지역</a:t>
            </a:r>
          </a:p>
          <a:p>
            <a:pPr algn="l">
              <a:lnSpc>
                <a:spcPct val="12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규모: 341석</a:t>
            </a:r>
          </a:p>
        </p:txBody>
      </p:sp>
      <p:sp>
        <p:nvSpPr>
          <p:cNvPr id="340" name="Rounded Rectangle 339"/>
          <p:cNvSpPr/>
          <p:nvPr/>
        </p:nvSpPr>
        <p:spPr>
          <a:xfrm>
            <a:off x="3134360" y="1803400"/>
            <a:ext cx="1143000" cy="1320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1" name="Picture 340" descr="image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3312158" y="1911350"/>
            <a:ext cx="787402" cy="190500"/>
          </a:xfrm>
          <a:prstGeom prst="rect">
            <a:avLst/>
          </a:prstGeom>
        </p:spPr>
      </p:pic>
      <p:sp>
        <p:nvSpPr>
          <p:cNvPr id="342" name="Rectangle 341"/>
          <p:cNvSpPr/>
          <p:nvPr/>
        </p:nvSpPr>
        <p:spPr>
          <a:xfrm>
            <a:off x="3134360" y="2184400"/>
            <a:ext cx="1143000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세브란스병원</a:t>
            </a:r>
          </a:p>
        </p:txBody>
      </p:sp>
      <p:sp>
        <p:nvSpPr>
          <p:cNvPr id="343" name="Rectangle 342"/>
          <p:cNvSpPr/>
          <p:nvPr/>
        </p:nvSpPr>
        <p:spPr>
          <a:xfrm>
            <a:off x="3185160" y="2438400"/>
            <a:ext cx="1041400" cy="6096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1750" rIns="63500" bIns="31750" rtlCol="0" anchor="ctr"/>
          <a:lstStyle/>
          <a:p>
            <a:pPr algn="l">
              <a:lnSpc>
                <a:spcPct val="12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진료 접수 및 상담</a:t>
            </a:r>
          </a:p>
          <a:p>
            <a:pPr algn="l">
              <a:lnSpc>
                <a:spcPct val="12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규모: 286석</a:t>
            </a:r>
          </a:p>
        </p:txBody>
      </p:sp>
      <p:sp>
        <p:nvSpPr>
          <p:cNvPr id="344" name="Rounded Rectangle 343"/>
          <p:cNvSpPr/>
          <p:nvPr/>
        </p:nvSpPr>
        <p:spPr>
          <a:xfrm>
            <a:off x="4333240" y="1803400"/>
            <a:ext cx="1143000" cy="1320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5" name="Picture 344" descr="image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4511038" y="1911350"/>
            <a:ext cx="787402" cy="190500"/>
          </a:xfrm>
          <a:prstGeom prst="rect">
            <a:avLst/>
          </a:prstGeom>
        </p:spPr>
      </p:pic>
      <p:sp>
        <p:nvSpPr>
          <p:cNvPr id="346" name="Rectangle 345"/>
          <p:cNvSpPr/>
          <p:nvPr/>
        </p:nvSpPr>
        <p:spPr>
          <a:xfrm>
            <a:off x="4333240" y="2184400"/>
            <a:ext cx="1143000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KB손해보험</a:t>
            </a:r>
          </a:p>
        </p:txBody>
      </p:sp>
      <p:sp>
        <p:nvSpPr>
          <p:cNvPr id="347" name="Rectangle 346"/>
          <p:cNvSpPr/>
          <p:nvPr/>
        </p:nvSpPr>
        <p:spPr>
          <a:xfrm>
            <a:off x="4384040" y="2438400"/>
            <a:ext cx="1041400" cy="6096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1750" rIns="63500" bIns="31750" rtlCol="0" anchor="ctr"/>
          <a:lstStyle/>
          <a:p>
            <a:pPr algn="l">
              <a:lnSpc>
                <a:spcPct val="12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보험료 </a:t>
            </a:r>
            <a:r>
              <a:rPr lang="ko-KR" sz="9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납입·안내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</a:p>
          <a:p>
            <a:pPr algn="l">
              <a:lnSpc>
                <a:spcPct val="12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규모: 193석</a:t>
            </a:r>
          </a:p>
        </p:txBody>
      </p:sp>
      <p:sp>
        <p:nvSpPr>
          <p:cNvPr id="348" name="Rounded Rectangle 347"/>
          <p:cNvSpPr/>
          <p:nvPr/>
        </p:nvSpPr>
        <p:spPr>
          <a:xfrm>
            <a:off x="5532120" y="1803400"/>
            <a:ext cx="1143000" cy="1320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9" name="Picture 348" descr="image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5709918" y="1911350"/>
            <a:ext cx="787402" cy="190500"/>
          </a:xfrm>
          <a:prstGeom prst="rect">
            <a:avLst/>
          </a:prstGeom>
        </p:spPr>
      </p:pic>
      <p:sp>
        <p:nvSpPr>
          <p:cNvPr id="350" name="Rectangle 349"/>
          <p:cNvSpPr/>
          <p:nvPr/>
        </p:nvSpPr>
        <p:spPr>
          <a:xfrm>
            <a:off x="5532120" y="2184400"/>
            <a:ext cx="1143000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BC카드</a:t>
            </a:r>
          </a:p>
        </p:txBody>
      </p:sp>
      <p:sp>
        <p:nvSpPr>
          <p:cNvPr id="351" name="Rectangle 350"/>
          <p:cNvSpPr/>
          <p:nvPr/>
        </p:nvSpPr>
        <p:spPr>
          <a:xfrm>
            <a:off x="5582920" y="2438400"/>
            <a:ext cx="1041400" cy="6096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1750" rIns="63500" bIns="31750" rtlCol="0" anchor="ctr"/>
          <a:lstStyle/>
          <a:p>
            <a:pPr algn="l">
              <a:lnSpc>
                <a:spcPct val="12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카드 </a:t>
            </a:r>
            <a:r>
              <a:rPr lang="ko-KR" sz="9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배송·접수</a:t>
            </a:r>
            <a:endParaRPr lang="ko-KR" sz="900" b="0" dirty="0">
              <a:solidFill>
                <a:srgbClr val="10151F"/>
              </a:solidFill>
              <a:latin typeface="페이퍼로지 5 Medium"/>
              <a:ea typeface="페이퍼로지 5 Medium"/>
              <a:cs typeface="페이퍼로지 5 Medium"/>
            </a:endParaRPr>
          </a:p>
          <a:p>
            <a:pPr algn="l">
              <a:lnSpc>
                <a:spcPct val="12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규모: 172석</a:t>
            </a:r>
          </a:p>
        </p:txBody>
      </p:sp>
      <p:sp>
        <p:nvSpPr>
          <p:cNvPr id="352" name="Rounded Rectangle 351"/>
          <p:cNvSpPr/>
          <p:nvPr/>
        </p:nvSpPr>
        <p:spPr>
          <a:xfrm>
            <a:off x="736600" y="3200400"/>
            <a:ext cx="1143000" cy="1320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3" name="Picture 352" descr="image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914398" y="3308350"/>
            <a:ext cx="787402" cy="190500"/>
          </a:xfrm>
          <a:prstGeom prst="rect">
            <a:avLst/>
          </a:prstGeom>
        </p:spPr>
      </p:pic>
      <p:sp>
        <p:nvSpPr>
          <p:cNvPr id="354" name="Rectangle 353"/>
          <p:cNvSpPr/>
          <p:nvPr/>
        </p:nvSpPr>
        <p:spPr>
          <a:xfrm>
            <a:off x="736600" y="3581400"/>
            <a:ext cx="1143000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롯데홈쇼핑</a:t>
            </a:r>
          </a:p>
        </p:txBody>
      </p:sp>
      <p:sp>
        <p:nvSpPr>
          <p:cNvPr id="355" name="Rectangle 354"/>
          <p:cNvSpPr/>
          <p:nvPr/>
        </p:nvSpPr>
        <p:spPr>
          <a:xfrm>
            <a:off x="787400" y="3835400"/>
            <a:ext cx="1041400" cy="6096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1750" rIns="63500" bIns="31750" rtlCol="0" anchor="ctr"/>
          <a:lstStyle/>
          <a:p>
            <a:pPr algn="l">
              <a:lnSpc>
                <a:spcPct val="12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롯데홈쇼핑 VOC</a:t>
            </a:r>
          </a:p>
          <a:p>
            <a:pPr algn="l">
              <a:lnSpc>
                <a:spcPct val="12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규모: 113석</a:t>
            </a:r>
          </a:p>
        </p:txBody>
      </p:sp>
      <p:sp>
        <p:nvSpPr>
          <p:cNvPr id="356" name="Rounded Rectangle 355"/>
          <p:cNvSpPr/>
          <p:nvPr/>
        </p:nvSpPr>
        <p:spPr>
          <a:xfrm>
            <a:off x="1935480" y="3200400"/>
            <a:ext cx="1143000" cy="1320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7" name="Picture 356" descr="image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2113278" y="3308350"/>
            <a:ext cx="787402" cy="190500"/>
          </a:xfrm>
          <a:prstGeom prst="rect">
            <a:avLst/>
          </a:prstGeom>
        </p:spPr>
      </p:pic>
      <p:sp>
        <p:nvSpPr>
          <p:cNvPr id="358" name="Rectangle 357"/>
          <p:cNvSpPr/>
          <p:nvPr/>
        </p:nvSpPr>
        <p:spPr>
          <a:xfrm>
            <a:off x="1935480" y="3581400"/>
            <a:ext cx="1143000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파킹클라우드</a:t>
            </a:r>
          </a:p>
        </p:txBody>
      </p:sp>
      <p:sp>
        <p:nvSpPr>
          <p:cNvPr id="359" name="Rectangle 358"/>
          <p:cNvSpPr/>
          <p:nvPr/>
        </p:nvSpPr>
        <p:spPr>
          <a:xfrm>
            <a:off x="1986280" y="3835400"/>
            <a:ext cx="1041400" cy="6096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1750" rIns="63500" bIns="31750" rtlCol="0" anchor="ctr"/>
          <a:lstStyle/>
          <a:p>
            <a:pPr algn="l">
              <a:lnSpc>
                <a:spcPct val="12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주차 및 AS 관련 </a:t>
            </a:r>
          </a:p>
          <a:p>
            <a:pPr algn="l">
              <a:lnSpc>
                <a:spcPct val="12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규모: 110석</a:t>
            </a:r>
          </a:p>
        </p:txBody>
      </p:sp>
      <p:sp>
        <p:nvSpPr>
          <p:cNvPr id="360" name="Rounded Rectangle 359"/>
          <p:cNvSpPr/>
          <p:nvPr/>
        </p:nvSpPr>
        <p:spPr>
          <a:xfrm>
            <a:off x="3134360" y="3200400"/>
            <a:ext cx="1143000" cy="1320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1" name="Picture 360" descr="image.png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3312158" y="3308350"/>
            <a:ext cx="787402" cy="190500"/>
          </a:xfrm>
          <a:prstGeom prst="rect">
            <a:avLst/>
          </a:prstGeom>
        </p:spPr>
      </p:pic>
      <p:sp>
        <p:nvSpPr>
          <p:cNvPr id="362" name="Rectangle 361"/>
          <p:cNvSpPr/>
          <p:nvPr/>
        </p:nvSpPr>
        <p:spPr>
          <a:xfrm>
            <a:off x="3134360" y="3581400"/>
            <a:ext cx="1143000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농협은행</a:t>
            </a:r>
          </a:p>
        </p:txBody>
      </p:sp>
      <p:sp>
        <p:nvSpPr>
          <p:cNvPr id="363" name="Rectangle 362"/>
          <p:cNvSpPr/>
          <p:nvPr/>
        </p:nvSpPr>
        <p:spPr>
          <a:xfrm>
            <a:off x="3185160" y="3835400"/>
            <a:ext cx="1041400" cy="6096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1750" rIns="63500" bIns="31750" rtlCol="0" anchor="ctr"/>
          <a:lstStyle/>
          <a:p>
            <a:pPr algn="l">
              <a:lnSpc>
                <a:spcPct val="12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직원 교육</a:t>
            </a:r>
          </a:p>
          <a:p>
            <a:pPr algn="l">
              <a:lnSpc>
                <a:spcPct val="12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규모: 110석</a:t>
            </a:r>
          </a:p>
        </p:txBody>
      </p:sp>
      <p:sp>
        <p:nvSpPr>
          <p:cNvPr id="364" name="Rounded Rectangle 363"/>
          <p:cNvSpPr/>
          <p:nvPr/>
        </p:nvSpPr>
        <p:spPr>
          <a:xfrm>
            <a:off x="4333240" y="3200400"/>
            <a:ext cx="1143000" cy="1320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5" name="Picture 364" descr="image.png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4511038" y="3308350"/>
            <a:ext cx="787402" cy="190500"/>
          </a:xfrm>
          <a:prstGeom prst="rect">
            <a:avLst/>
          </a:prstGeom>
        </p:spPr>
      </p:pic>
      <p:sp>
        <p:nvSpPr>
          <p:cNvPr id="366" name="Rectangle 365"/>
          <p:cNvSpPr/>
          <p:nvPr/>
        </p:nvSpPr>
        <p:spPr>
          <a:xfrm>
            <a:off x="4333240" y="3581400"/>
            <a:ext cx="1143000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롯데글로벌로지스</a:t>
            </a:r>
          </a:p>
        </p:txBody>
      </p:sp>
      <p:sp>
        <p:nvSpPr>
          <p:cNvPr id="367" name="Rectangle 366"/>
          <p:cNvSpPr/>
          <p:nvPr/>
        </p:nvSpPr>
        <p:spPr>
          <a:xfrm>
            <a:off x="4384040" y="3835400"/>
            <a:ext cx="1041400" cy="6096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1750" rIns="63500" bIns="31750" rtlCol="0" anchor="ctr"/>
          <a:lstStyle/>
          <a:p>
            <a:pPr algn="l">
              <a:lnSpc>
                <a:spcPct val="12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</a:t>
            </a:r>
            <a:r>
              <a:rPr lang="ko-KR" sz="9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배송·취소·VOC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</a:p>
          <a:p>
            <a:pPr algn="l">
              <a:lnSpc>
                <a:spcPct val="12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규모: 104석</a:t>
            </a:r>
          </a:p>
        </p:txBody>
      </p:sp>
      <p:sp>
        <p:nvSpPr>
          <p:cNvPr id="368" name="Rounded Rectangle 367"/>
          <p:cNvSpPr/>
          <p:nvPr/>
        </p:nvSpPr>
        <p:spPr>
          <a:xfrm>
            <a:off x="5532120" y="3200400"/>
            <a:ext cx="1143000" cy="1320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9" name="Picture 368" descr="image.png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5709918" y="3308350"/>
            <a:ext cx="787402" cy="190500"/>
          </a:xfrm>
          <a:prstGeom prst="rect">
            <a:avLst/>
          </a:prstGeom>
        </p:spPr>
      </p:pic>
      <p:sp>
        <p:nvSpPr>
          <p:cNvPr id="370" name="Rectangle 369"/>
          <p:cNvSpPr/>
          <p:nvPr/>
        </p:nvSpPr>
        <p:spPr>
          <a:xfrm>
            <a:off x="5532120" y="3581400"/>
            <a:ext cx="1143000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서울아산병원</a:t>
            </a:r>
          </a:p>
        </p:txBody>
      </p:sp>
      <p:sp>
        <p:nvSpPr>
          <p:cNvPr id="371" name="Rectangle 370"/>
          <p:cNvSpPr/>
          <p:nvPr/>
        </p:nvSpPr>
        <p:spPr>
          <a:xfrm>
            <a:off x="5582920" y="3835400"/>
            <a:ext cx="1041400" cy="6096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1750" rIns="63500" bIns="31750" rtlCol="0" anchor="ctr"/>
          <a:lstStyle/>
          <a:p>
            <a:pPr algn="l">
              <a:lnSpc>
                <a:spcPct val="12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진료 예약 접수 등</a:t>
            </a:r>
          </a:p>
          <a:p>
            <a:pPr algn="l">
              <a:lnSpc>
                <a:spcPct val="12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규모: 100석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AA2E6C86-AF14-4C63-B60B-5DA9A938D9B3}"/>
              </a:ext>
            </a:extLst>
          </p:cNvPr>
          <p:cNvGrpSpPr/>
          <p:nvPr/>
        </p:nvGrpSpPr>
        <p:grpSpPr>
          <a:xfrm>
            <a:off x="6883400" y="1422400"/>
            <a:ext cx="2438400" cy="3200400"/>
            <a:chOff x="6883400" y="1219200"/>
            <a:chExt cx="2438400" cy="3403600"/>
          </a:xfrm>
        </p:grpSpPr>
        <p:sp>
          <p:nvSpPr>
            <p:cNvPr id="372" name="Rounded Rectangle 371"/>
            <p:cNvSpPr/>
            <p:nvPr/>
          </p:nvSpPr>
          <p:spPr>
            <a:xfrm>
              <a:off x="6883400" y="1219200"/>
              <a:ext cx="2438400" cy="3403600"/>
            </a:xfrm>
            <a:prstGeom prst="roundRect">
              <a:avLst>
                <a:gd name="adj" fmla="val 3000"/>
              </a:avLst>
            </a:prstGeom>
            <a:solidFill>
              <a:srgbClr val="E30C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3" name="Rectangle 372"/>
            <p:cNvSpPr/>
            <p:nvPr/>
          </p:nvSpPr>
          <p:spPr>
            <a:xfrm>
              <a:off x="6883400" y="1270000"/>
              <a:ext cx="2438400" cy="482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1500" b="1" dirty="0">
                  <a:solidFill>
                    <a:srgbClr val="FFFFFF"/>
                  </a:solidFill>
                  <a:latin typeface="페이퍼로지 9 Black"/>
                  <a:ea typeface="페이퍼로지 9 Black"/>
                  <a:cs typeface="페이퍼로지 9 Black"/>
                </a:rPr>
                <a:t>대형센터</a:t>
              </a:r>
            </a:p>
            <a:p>
              <a:pPr algn="ctr">
                <a:lnSpc>
                  <a:spcPct val="110000"/>
                </a:lnSpc>
              </a:pPr>
              <a:r>
                <a:rPr lang="ko-KR" sz="1100" b="1" dirty="0">
                  <a:solidFill>
                    <a:srgbClr val="FFFFFF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단기운영 수행현황</a:t>
              </a:r>
            </a:p>
          </p:txBody>
        </p:sp>
        <p:sp>
          <p:nvSpPr>
            <p:cNvPr id="374" name="Rounded Rectangle 373"/>
            <p:cNvSpPr/>
            <p:nvPr/>
          </p:nvSpPr>
          <p:spPr>
            <a:xfrm>
              <a:off x="6985000" y="1803400"/>
              <a:ext cx="2235200" cy="8636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375" name="Picture 374" descr="image.png"/>
            <p:cNvPicPr>
              <a:picLocks noChangeAspect="1"/>
            </p:cNvPicPr>
            <p:nvPr/>
          </p:nvPicPr>
          <p:blipFill>
            <a:blip r:embed="rId14"/>
            <a:srcRect/>
            <a:stretch>
              <a:fillRect/>
            </a:stretch>
          </p:blipFill>
          <p:spPr>
            <a:xfrm>
              <a:off x="7018381" y="1822450"/>
              <a:ext cx="1168401" cy="308327"/>
            </a:xfrm>
            <a:prstGeom prst="rect">
              <a:avLst/>
            </a:prstGeom>
          </p:spPr>
        </p:pic>
        <p:sp>
          <p:nvSpPr>
            <p:cNvPr id="376" name="Rectangle 375"/>
            <p:cNvSpPr/>
            <p:nvPr/>
          </p:nvSpPr>
          <p:spPr>
            <a:xfrm>
              <a:off x="8204200" y="1879600"/>
              <a:ext cx="965200" cy="2032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l">
                <a:lnSpc>
                  <a:spcPct val="110000"/>
                </a:lnSpc>
              </a:pPr>
              <a:r>
                <a:rPr lang="ko-KR" sz="900" b="1">
                  <a:solidFill>
                    <a:srgbClr val="10151F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한국방송공사</a:t>
              </a:r>
            </a:p>
          </p:txBody>
        </p:sp>
        <p:sp>
          <p:nvSpPr>
            <p:cNvPr id="377" name="Rectangle 376"/>
            <p:cNvSpPr/>
            <p:nvPr/>
          </p:nvSpPr>
          <p:spPr>
            <a:xfrm>
              <a:off x="7086600" y="2133600"/>
              <a:ext cx="2032000" cy="482600"/>
            </a:xfrm>
            <a:prstGeom prst="rect">
              <a:avLst/>
            </a:prstGeom>
            <a:solidFill>
              <a:srgbClr val="F4F5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0800" tIns="25400" rIns="50800" bIns="25400" rtlCol="0" anchor="ctr"/>
            <a:lstStyle/>
            <a:p>
              <a:pPr algn="l">
                <a:lnSpc>
                  <a:spcPct val="120000"/>
                </a:lnSpc>
              </a:pPr>
              <a:r>
                <a:rPr lang="ko-KR" sz="900" b="0">
                  <a:solidFill>
                    <a:srgbClr val="10151F"/>
                  </a:solidFill>
                  <a:latin typeface="페이퍼로지 5 Medium"/>
                  <a:ea typeface="페이퍼로지 5 Medium"/>
                  <a:cs typeface="페이퍼로지 5 Medium"/>
                </a:rPr>
                <a:t>· 2025.08.14 ~ 2026.03.31</a:t>
              </a:r>
            </a:p>
            <a:p>
              <a:pPr algn="l">
                <a:lnSpc>
                  <a:spcPct val="120000"/>
                </a:lnSpc>
              </a:pPr>
              <a:r>
                <a:rPr lang="ko-KR" sz="900" b="0">
                  <a:solidFill>
                    <a:srgbClr val="10151F"/>
                  </a:solidFill>
                  <a:latin typeface="페이퍼로지 5 Medium"/>
                  <a:ea typeface="페이퍼로지 5 Medium"/>
                  <a:cs typeface="페이퍼로지 5 Medium"/>
                </a:rPr>
                <a:t>· 240석 · 제2 수신료 관련 VOC 상담</a:t>
              </a:r>
            </a:p>
          </p:txBody>
        </p:sp>
        <p:sp>
          <p:nvSpPr>
            <p:cNvPr id="378" name="Rounded Rectangle 377"/>
            <p:cNvSpPr/>
            <p:nvPr/>
          </p:nvSpPr>
          <p:spPr>
            <a:xfrm>
              <a:off x="6985000" y="2743200"/>
              <a:ext cx="2235200" cy="8636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379" name="Picture 378" descr="image.png"/>
            <p:cNvPicPr>
              <a:picLocks noChangeAspect="1"/>
            </p:cNvPicPr>
            <p:nvPr/>
          </p:nvPicPr>
          <p:blipFill>
            <a:blip r:embed="rId15"/>
            <a:srcRect/>
            <a:stretch>
              <a:fillRect/>
            </a:stretch>
          </p:blipFill>
          <p:spPr>
            <a:xfrm>
              <a:off x="7053217" y="2764118"/>
              <a:ext cx="1117601" cy="281060"/>
            </a:xfrm>
            <a:prstGeom prst="rect">
              <a:avLst/>
            </a:prstGeom>
          </p:spPr>
        </p:pic>
        <p:sp>
          <p:nvSpPr>
            <p:cNvPr id="380" name="Rectangle 379"/>
            <p:cNvSpPr/>
            <p:nvPr/>
          </p:nvSpPr>
          <p:spPr>
            <a:xfrm>
              <a:off x="8204200" y="2819400"/>
              <a:ext cx="965200" cy="2032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l">
                <a:lnSpc>
                  <a:spcPct val="110000"/>
                </a:lnSpc>
              </a:pPr>
              <a:r>
                <a:rPr lang="ko-KR" sz="900" b="1">
                  <a:solidFill>
                    <a:srgbClr val="10151F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컨선월드와이드</a:t>
              </a:r>
            </a:p>
          </p:txBody>
        </p:sp>
        <p:sp>
          <p:nvSpPr>
            <p:cNvPr id="381" name="Rectangle 380"/>
            <p:cNvSpPr/>
            <p:nvPr/>
          </p:nvSpPr>
          <p:spPr>
            <a:xfrm>
              <a:off x="7086600" y="3073400"/>
              <a:ext cx="2032000" cy="482600"/>
            </a:xfrm>
            <a:prstGeom prst="rect">
              <a:avLst/>
            </a:prstGeom>
            <a:solidFill>
              <a:srgbClr val="F4F5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0800" tIns="25400" rIns="50800" bIns="25400" rtlCol="0" anchor="ctr"/>
            <a:lstStyle/>
            <a:p>
              <a:pPr algn="l">
                <a:lnSpc>
                  <a:spcPct val="120000"/>
                </a:lnSpc>
              </a:pPr>
              <a:r>
                <a:rPr lang="ko-KR" sz="900" b="0">
                  <a:solidFill>
                    <a:srgbClr val="10151F"/>
                  </a:solidFill>
                  <a:latin typeface="페이퍼로지 5 Medium"/>
                  <a:ea typeface="페이퍼로지 5 Medium"/>
                  <a:cs typeface="페이퍼로지 5 Medium"/>
                </a:rPr>
                <a:t>· 2024.09.09 ~ 2024.10.21</a:t>
              </a:r>
            </a:p>
            <a:p>
              <a:pPr algn="l">
                <a:lnSpc>
                  <a:spcPct val="120000"/>
                </a:lnSpc>
              </a:pPr>
              <a:r>
                <a:rPr lang="ko-KR" sz="900" b="0">
                  <a:solidFill>
                    <a:srgbClr val="10151F"/>
                  </a:solidFill>
                  <a:latin typeface="페이퍼로지 5 Medium"/>
                  <a:ea typeface="페이퍼로지 5 Medium"/>
                  <a:cs typeface="페이퍼로지 5 Medium"/>
                </a:rPr>
                <a:t>· 90석 · 모금방송 후원 결제 상담</a:t>
              </a:r>
            </a:p>
          </p:txBody>
        </p:sp>
        <p:sp>
          <p:nvSpPr>
            <p:cNvPr id="382" name="Rounded Rectangle 381"/>
            <p:cNvSpPr/>
            <p:nvPr/>
          </p:nvSpPr>
          <p:spPr>
            <a:xfrm>
              <a:off x="6985000" y="3683000"/>
              <a:ext cx="2235200" cy="8636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383" name="Picture 382" descr="image.png"/>
            <p:cNvPicPr>
              <a:picLocks noChangeAspect="1"/>
            </p:cNvPicPr>
            <p:nvPr/>
          </p:nvPicPr>
          <p:blipFill>
            <a:blip r:embed="rId16"/>
            <a:srcRect/>
            <a:stretch>
              <a:fillRect/>
            </a:stretch>
          </p:blipFill>
          <p:spPr>
            <a:xfrm>
              <a:off x="7053217" y="3728357"/>
              <a:ext cx="1092201" cy="254959"/>
            </a:xfrm>
            <a:prstGeom prst="rect">
              <a:avLst/>
            </a:prstGeom>
          </p:spPr>
        </p:pic>
        <p:sp>
          <p:nvSpPr>
            <p:cNvPr id="384" name="Rectangle 383"/>
            <p:cNvSpPr/>
            <p:nvPr/>
          </p:nvSpPr>
          <p:spPr>
            <a:xfrm>
              <a:off x="8204200" y="3759200"/>
              <a:ext cx="965200" cy="2032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l">
                <a:lnSpc>
                  <a:spcPct val="110000"/>
                </a:lnSpc>
              </a:pPr>
              <a:r>
                <a:rPr lang="ko-KR" sz="900" b="1">
                  <a:solidFill>
                    <a:srgbClr val="10151F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국가보훈부</a:t>
              </a:r>
            </a:p>
          </p:txBody>
        </p:sp>
        <p:sp>
          <p:nvSpPr>
            <p:cNvPr id="385" name="Rectangle 384"/>
            <p:cNvSpPr/>
            <p:nvPr/>
          </p:nvSpPr>
          <p:spPr>
            <a:xfrm>
              <a:off x="7086600" y="4013200"/>
              <a:ext cx="2032000" cy="482600"/>
            </a:xfrm>
            <a:prstGeom prst="rect">
              <a:avLst/>
            </a:prstGeom>
            <a:solidFill>
              <a:srgbClr val="F4F5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0800" tIns="25400" rIns="50800" bIns="25400" rtlCol="0" anchor="ctr"/>
            <a:lstStyle/>
            <a:p>
              <a:pPr algn="l">
                <a:lnSpc>
                  <a:spcPct val="120000"/>
                </a:lnSpc>
              </a:pPr>
              <a:r>
                <a:rPr lang="ko-KR" sz="900" b="0">
                  <a:solidFill>
                    <a:srgbClr val="10151F"/>
                  </a:solidFill>
                  <a:latin typeface="페이퍼로지 5 Medium"/>
                  <a:ea typeface="페이퍼로지 5 Medium"/>
                  <a:cs typeface="페이퍼로지 5 Medium"/>
                </a:rPr>
                <a:t>· 2024.05.20 ~ 2024.09.30</a:t>
              </a:r>
            </a:p>
            <a:p>
              <a:pPr algn="l">
                <a:lnSpc>
                  <a:spcPct val="120000"/>
                </a:lnSpc>
              </a:pPr>
              <a:r>
                <a:rPr lang="ko-KR" sz="900" b="0">
                  <a:solidFill>
                    <a:srgbClr val="10151F"/>
                  </a:solidFill>
                  <a:latin typeface="페이퍼로지 5 Medium"/>
                  <a:ea typeface="페이퍼로지 5 Medium"/>
                  <a:cs typeface="페이퍼로지 5 Medium"/>
                </a:rPr>
                <a:t>· 60석 · 월남참전 유공자 제복 배송 상담</a:t>
              </a:r>
            </a:p>
          </p:txBody>
        </p:sp>
      </p:grpSp>
      <p:sp>
        <p:nvSpPr>
          <p:cNvPr id="386" name="Rounded Rectangle 385"/>
          <p:cNvSpPr/>
          <p:nvPr/>
        </p:nvSpPr>
        <p:spPr>
          <a:xfrm>
            <a:off x="660400" y="4724400"/>
            <a:ext cx="8661400" cy="1524000"/>
          </a:xfrm>
          <a:prstGeom prst="roundRect">
            <a:avLst>
              <a:gd name="adj" fmla="val 2000"/>
            </a:avLst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7" name="Rectangle 386"/>
          <p:cNvSpPr/>
          <p:nvPr/>
        </p:nvSpPr>
        <p:spPr>
          <a:xfrm>
            <a:off x="660400" y="4724400"/>
            <a:ext cx="1524000" cy="1524000"/>
          </a:xfrm>
          <a:prstGeom prst="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ko-KR" sz="12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검증된</a:t>
            </a:r>
          </a:p>
          <a:p>
            <a:pPr algn="ctr">
              <a:lnSpc>
                <a:spcPct val="120000"/>
              </a:lnSpc>
            </a:pPr>
            <a:r>
              <a:rPr lang="ko-KR" sz="1800" b="1">
                <a:solidFill>
                  <a:srgbClr val="FFFFFF"/>
                </a:solidFill>
                <a:latin typeface="페이퍼로지 9 Black"/>
                <a:ea typeface="페이퍼로지 9 Black"/>
                <a:cs typeface="페이퍼로지 9 Black"/>
              </a:rPr>
              <a:t>KS 인증</a:t>
            </a:r>
          </a:p>
          <a:p>
            <a:pPr algn="ctr">
              <a:lnSpc>
                <a:spcPct val="120000"/>
              </a:lnSpc>
            </a:pPr>
            <a:r>
              <a:rPr lang="ko-KR" sz="900" b="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KS 기준 사업장</a:t>
            </a:r>
          </a:p>
          <a:p>
            <a:pPr algn="ctr">
              <a:lnSpc>
                <a:spcPct val="120000"/>
              </a:lnSpc>
            </a:pPr>
            <a:r>
              <a:rPr lang="ko-KR" sz="900" b="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117개 인증완료</a:t>
            </a:r>
          </a:p>
        </p:txBody>
      </p:sp>
      <p:pic>
        <p:nvPicPr>
          <p:cNvPr id="388" name="Picture 387" descr="image.png"/>
          <p:cNvPicPr>
            <a:picLocks noChangeAspect="1"/>
          </p:cNvPicPr>
          <p:nvPr/>
        </p:nvPicPr>
        <p:blipFill>
          <a:blip r:embed="rId17"/>
          <a:srcRect/>
          <a:stretch>
            <a:fillRect/>
          </a:stretch>
        </p:blipFill>
        <p:spPr>
          <a:xfrm>
            <a:off x="2286000" y="5031783"/>
            <a:ext cx="3048000" cy="909232"/>
          </a:xfrm>
          <a:prstGeom prst="rect">
            <a:avLst/>
          </a:prstGeom>
        </p:spPr>
      </p:pic>
      <p:sp>
        <p:nvSpPr>
          <p:cNvPr id="389" name="Rectangle 388"/>
          <p:cNvSpPr/>
          <p:nvPr/>
        </p:nvSpPr>
        <p:spPr>
          <a:xfrm>
            <a:off x="5486400" y="4724400"/>
            <a:ext cx="1778000" cy="1524000"/>
          </a:xfrm>
          <a:prstGeom prst="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ko-KR" sz="12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업계 최초</a:t>
            </a:r>
          </a:p>
          <a:p>
            <a:pPr algn="ctr">
              <a:lnSpc>
                <a:spcPct val="120000"/>
              </a:lnSpc>
            </a:pPr>
            <a:r>
              <a:rPr lang="ko-KR" sz="1500" b="1">
                <a:solidFill>
                  <a:srgbClr val="FFFFFF"/>
                </a:solidFill>
                <a:latin typeface="페이퍼로지 9 Black"/>
                <a:ea typeface="페이퍼로지 9 Black"/>
                <a:cs typeface="페이퍼로지 9 Black"/>
              </a:rPr>
              <a:t>클라우드 서비스</a:t>
            </a:r>
          </a:p>
          <a:p>
            <a:pPr algn="ctr">
              <a:lnSpc>
                <a:spcPct val="120000"/>
              </a:lnSpc>
            </a:pPr>
            <a:r>
              <a:rPr lang="ko-KR" sz="900" b="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KISA 심의인증</a:t>
            </a:r>
          </a:p>
          <a:p>
            <a:pPr algn="ctr">
              <a:lnSpc>
                <a:spcPct val="120000"/>
              </a:lnSpc>
            </a:pPr>
            <a:r>
              <a:rPr lang="ko-KR" sz="900" b="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(CSAP) 획득</a:t>
            </a:r>
          </a:p>
        </p:txBody>
      </p:sp>
      <p:pic>
        <p:nvPicPr>
          <p:cNvPr id="390" name="Picture 389" descr="image.png"/>
          <p:cNvPicPr>
            <a:picLocks noChangeAspect="1"/>
          </p:cNvPicPr>
          <p:nvPr/>
        </p:nvPicPr>
        <p:blipFill>
          <a:blip r:embed="rId18"/>
          <a:srcRect/>
          <a:stretch>
            <a:fillRect/>
          </a:stretch>
        </p:blipFill>
        <p:spPr>
          <a:xfrm>
            <a:off x="7558313" y="4800600"/>
            <a:ext cx="1469572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9375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3">
            <a:extLst>
              <a:ext uri="{FF2B5EF4-FFF2-40B4-BE49-F238E27FC236}">
                <a16:creationId xmlns:a16="http://schemas.microsoft.com/office/drawing/2014/main" id="{C6807522-730A-4479-8C96-26C8BF887E82}"/>
              </a:ext>
            </a:extLst>
          </p:cNvPr>
          <p:cNvSpPr/>
          <p:nvPr/>
        </p:nvSpPr>
        <p:spPr>
          <a:xfrm>
            <a:off x="5200650" y="1734840"/>
            <a:ext cx="4166298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500"/>
              </a:lnSpc>
              <a:buNone/>
            </a:pPr>
            <a:r>
              <a:rPr lang="en-US" sz="5400" b="0" kern="0" spc="-300" dirty="0">
                <a:solidFill>
                  <a:srgbClr val="E60059"/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  <a:endParaRPr lang="en-US" sz="5400" dirty="0">
              <a:solidFill>
                <a:srgbClr val="E60059"/>
              </a:solidFill>
              <a:latin typeface="+mn-ea"/>
            </a:endParaRPr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8B642D3E-B4CC-4337-A9E5-AB58B732E7A1}"/>
              </a:ext>
            </a:extLst>
          </p:cNvPr>
          <p:cNvSpPr/>
          <p:nvPr/>
        </p:nvSpPr>
        <p:spPr>
          <a:xfrm>
            <a:off x="5200650" y="2852440"/>
            <a:ext cx="4166298" cy="573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10"/>
              </a:lnSpc>
              <a:buNone/>
            </a:pPr>
            <a:r>
              <a:rPr lang="en-US" sz="2900" b="0" kern="0" spc="-50" dirty="0">
                <a:solidFill>
                  <a:srgbClr val="0F131F"/>
                </a:solidFill>
                <a:latin typeface="페이퍼로지 8 ExtraBold"/>
                <a:ea typeface="페이퍼로지 8 ExtraBold"/>
                <a:cs typeface="페이퍼로지 8 ExtraBold"/>
              </a:rPr>
              <a:t>사업관리 방안</a:t>
            </a:r>
            <a:endParaRPr lang="en-US" sz="2900" dirty="0">
              <a:latin typeface="+mn-ea"/>
            </a:endParaRPr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ADBADF35-665A-4360-8EDE-877E717128C1}"/>
              </a:ext>
            </a:extLst>
          </p:cNvPr>
          <p:cNvSpPr/>
          <p:nvPr/>
        </p:nvSpPr>
        <p:spPr>
          <a:xfrm>
            <a:off x="5200650" y="3460104"/>
            <a:ext cx="416629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9"/>
              </a:lnSpc>
              <a:buNone/>
            </a:pPr>
            <a:r>
              <a:rPr lang="en-US" sz="1100" kern="0" spc="50" dirty="0">
                <a:solidFill>
                  <a:srgbClr val="8A8F99"/>
                </a:solidFill>
                <a:latin typeface="페이퍼로지 5 Medium"/>
                <a:ea typeface="페이퍼로지 5 Medium"/>
                <a:cs typeface="페이퍼로지 5 Medium"/>
              </a:rPr>
              <a:t>p.18–43</a:t>
            </a:r>
            <a:endParaRPr lang="en-US" sz="1100" dirty="0">
              <a:latin typeface="+mn-ea"/>
            </a:endParaRPr>
          </a:p>
        </p:txBody>
      </p:sp>
      <p:sp>
        <p:nvSpPr>
          <p:cNvPr id="26" name="Shape 6">
            <a:extLst>
              <a:ext uri="{FF2B5EF4-FFF2-40B4-BE49-F238E27FC236}">
                <a16:creationId xmlns:a16="http://schemas.microsoft.com/office/drawing/2014/main" id="{8191E20C-5FED-4839-9B88-D5243BDCD445}"/>
              </a:ext>
            </a:extLst>
          </p:cNvPr>
          <p:cNvSpPr/>
          <p:nvPr/>
        </p:nvSpPr>
        <p:spPr>
          <a:xfrm>
            <a:off x="5200650" y="3917851"/>
            <a:ext cx="4044950" cy="0"/>
          </a:xfrm>
          <a:prstGeom prst="line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solid"/>
          </a:ln>
        </p:spPr>
        <p:txBody>
          <a:bodyPr lIns="74295" rIns="74295"/>
          <a:lstStyle/>
          <a:p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230668" y="4038600"/>
            <a:ext cx="3939886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3-1  업무 수행 및 운영 전략 ①~⑦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30668" y="4445000"/>
            <a:ext cx="3939886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     운영 · 조직 · 인력 · 품질 · 교육 · 보안 · 안전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30668" y="4851400"/>
            <a:ext cx="3939886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3-2  긴급상황 대응 전략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929606" y="381000"/>
            <a:ext cx="61912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 dirty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3-1 ① 운영 전략 · 2027 운영 모델</a:t>
            </a:r>
          </a:p>
        </p:txBody>
      </p:sp>
      <p:sp>
        <p:nvSpPr>
          <p:cNvPr id="4" name="Rectangle 3"/>
          <p:cNvSpPr/>
          <p:nvPr/>
        </p:nvSpPr>
        <p:spPr>
          <a:xfrm>
            <a:off x="846138" y="660400"/>
            <a:ext cx="8461375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altLang="en-US" sz="2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주</a:t>
            </a:r>
            <a:r>
              <a:rPr lang="en-US" altLang="ko-KR" sz="2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5</a:t>
            </a:r>
            <a:r>
              <a:rPr lang="ko-KR" altLang="en-US" sz="2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일 </a:t>
            </a:r>
            <a:r>
              <a:rPr lang="ko-KR" sz="2000" b="0" dirty="0" err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Core</a:t>
            </a:r>
            <a:r>
              <a:rPr lang="ko-KR" sz="2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 조직 기반, </a:t>
            </a:r>
            <a:r>
              <a:rPr lang="ko-KR" sz="20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성수기 최대 100명까지 확장</a:t>
            </a:r>
            <a:r>
              <a:rPr lang="ko-KR" sz="2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하는 통합 운영체계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138" y="1079500"/>
            <a:ext cx="84613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혼자서도 운영이 가능한 50석을 기본 조직으로 두고, 성수기 수요에 맞춰 최대 100명까지 유연하게 늘려 운영하겠습니다.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40250" y="64770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fld id="{B6F15528-21DE-4FAA-801E-634DDDAF4B2B}" type="slidenum"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18</a:t>
            </a:fld>
            <a:r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 / 49</a:t>
            </a:r>
            <a:endParaRPr lang="ko-KR" sz="600" b="0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14914" y="1419908"/>
            <a:ext cx="5015284" cy="21661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02136" y="1560462"/>
            <a:ext cx="392500" cy="392500"/>
          </a:xfrm>
          <a:prstGeom prst="ellipse">
            <a:avLst/>
          </a:prstGeom>
          <a:solidFill>
            <a:srgbClr val="0F1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2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1330921" y="1525572"/>
            <a:ext cx="1880731" cy="277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4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평시 </a:t>
            </a:r>
            <a:r>
              <a:rPr lang="ko-KR" sz="1400" b="0" dirty="0" err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Core</a:t>
            </a:r>
            <a:r>
              <a:rPr lang="ko-KR" sz="14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 조직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30921" y="1829356"/>
            <a:ext cx="1019410" cy="184912"/>
          </a:xfrm>
          <a:prstGeom prst="roundRect">
            <a:avLst>
              <a:gd name="adj" fmla="val 50000"/>
            </a:avLst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최소 독립 운영단위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38908" y="1538307"/>
            <a:ext cx="1" cy="369823"/>
          </a:xfrm>
          <a:prstGeom prst="line">
            <a:avLst/>
          </a:prstGeom>
          <a:ln w="12700">
            <a:solidFill>
              <a:srgbClr val="D7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387810" y="1578404"/>
            <a:ext cx="2304228" cy="409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3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파트장, QA, 강사 등 전담 관리 체계가</a:t>
            </a:r>
          </a:p>
          <a:p>
            <a:pPr algn="l">
              <a:lnSpc>
                <a:spcPct val="13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독립적으로 운영 가능한 최소 단위입니다.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136" y="2199180"/>
            <a:ext cx="2213266" cy="1281176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11164" y="2278428"/>
            <a:ext cx="2027919" cy="2113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0" dirty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50석 산정 근거</a:t>
            </a:r>
          </a:p>
        </p:txBody>
      </p:sp>
      <p:sp>
        <p:nvSpPr>
          <p:cNvPr id="15" name="Oval 14"/>
          <p:cNvSpPr/>
          <p:nvPr/>
        </p:nvSpPr>
        <p:spPr>
          <a:xfrm>
            <a:off x="949323" y="2620885"/>
            <a:ext cx="147188" cy="14718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 dirty="0">
                <a:solidFill>
                  <a:schemeClr val="bg1"/>
                </a:solidFill>
                <a:latin typeface="페이퍼로지 8 ExtraBold"/>
                <a:ea typeface="페이퍼로지 8 ExtraBold"/>
                <a:cs typeface="페이퍼로지 8 ExtraBold"/>
              </a:rPr>
              <a:t>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83734" y="2567480"/>
            <a:ext cx="4333875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 dirty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파트장 1명당 10명 관리 가능</a:t>
            </a:r>
          </a:p>
        </p:txBody>
      </p:sp>
      <p:sp>
        <p:nvSpPr>
          <p:cNvPr id="17" name="Oval 16"/>
          <p:cNvSpPr/>
          <p:nvPr/>
        </p:nvSpPr>
        <p:spPr>
          <a:xfrm>
            <a:off x="949323" y="2891649"/>
            <a:ext cx="147188" cy="14718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chemeClr val="bg1"/>
                </a:solidFill>
                <a:latin typeface="페이퍼로지 8 ExtraBold"/>
                <a:ea typeface="페이퍼로지 8 ExtraBold"/>
                <a:cs typeface="페이퍼로지 8 ExtraBold"/>
              </a:rPr>
              <a:t>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83734" y="2838244"/>
            <a:ext cx="4333875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 dirty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QA 1명당 </a:t>
            </a:r>
            <a:r>
              <a:rPr lang="en-US" altLang="ko-KR" sz="900" b="0" dirty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30</a:t>
            </a:r>
            <a:r>
              <a:rPr lang="ko-KR" sz="900" b="0" dirty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명 품질 관리 가능</a:t>
            </a:r>
          </a:p>
        </p:txBody>
      </p:sp>
      <p:sp>
        <p:nvSpPr>
          <p:cNvPr id="19" name="Oval 18"/>
          <p:cNvSpPr/>
          <p:nvPr/>
        </p:nvSpPr>
        <p:spPr>
          <a:xfrm>
            <a:off x="949323" y="3162413"/>
            <a:ext cx="147188" cy="14718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chemeClr val="bg1"/>
                </a:solidFill>
                <a:latin typeface="페이퍼로지 8 ExtraBold"/>
                <a:ea typeface="페이퍼로지 8 ExtraBold"/>
                <a:cs typeface="페이퍼로지 8 ExtraBold"/>
              </a:rPr>
              <a:t>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83734" y="3109008"/>
            <a:ext cx="4333875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 dirty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강사 1명당 50명 교육 운영 가능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02625" y="2199180"/>
            <a:ext cx="2534898" cy="1281176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211652" y="2278428"/>
            <a:ext cx="2126044" cy="2113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0" dirty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조직 구성 (예시)</a:t>
            </a:r>
          </a:p>
        </p:txBody>
      </p:sp>
      <p:pic>
        <p:nvPicPr>
          <p:cNvPr id="23" name="Picture 22" descr="e77b_E30C60.png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262599" y="2596246"/>
            <a:ext cx="236093" cy="236093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3118979" y="2912412"/>
            <a:ext cx="523334" cy="1717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 dirty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상담사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18979" y="3110532"/>
            <a:ext cx="523334" cy="2245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000" b="0" dirty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50명</a:t>
            </a:r>
          </a:p>
        </p:txBody>
      </p:sp>
      <p:pic>
        <p:nvPicPr>
          <p:cNvPr id="26" name="Picture 25" descr="e77b_E30C60.png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791385" y="2596246"/>
            <a:ext cx="236093" cy="236093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3647764" y="2912412"/>
            <a:ext cx="523334" cy="1717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파트장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47764" y="3110532"/>
            <a:ext cx="523334" cy="2245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000" b="0" dirty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5명</a:t>
            </a:r>
          </a:p>
        </p:txBody>
      </p:sp>
      <p:pic>
        <p:nvPicPr>
          <p:cNvPr id="29" name="Picture 28" descr="e721_E30C60.png"/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276559" y="2596246"/>
            <a:ext cx="236093" cy="236093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4132939" y="2912412"/>
            <a:ext cx="523334" cy="1717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QA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32939" y="3110532"/>
            <a:ext cx="523334" cy="2245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altLang="ko-KR" sz="1000" b="0" dirty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2</a:t>
            </a:r>
            <a:r>
              <a:rPr lang="ko-KR" sz="1000" b="0" dirty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명</a:t>
            </a:r>
          </a:p>
        </p:txBody>
      </p:sp>
      <p:pic>
        <p:nvPicPr>
          <p:cNvPr id="32" name="Picture 31" descr="e7be_E30C60.png"/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734476" y="2596246"/>
            <a:ext cx="236093" cy="236093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4590856" y="2912412"/>
            <a:ext cx="523334" cy="1717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강사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90856" y="3110532"/>
            <a:ext cx="523334" cy="2245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000" b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1명</a:t>
            </a:r>
          </a:p>
        </p:txBody>
      </p:sp>
      <p:pic>
        <p:nvPicPr>
          <p:cNvPr id="35" name="Picture 34" descr="e713_E30C60.png"/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225102" y="2596246"/>
            <a:ext cx="236093" cy="236093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5081481" y="2912412"/>
            <a:ext cx="523334" cy="1717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운영관리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81481" y="3110532"/>
            <a:ext cx="523334" cy="2245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000" b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1명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647764" y="2925620"/>
            <a:ext cx="1" cy="409448"/>
          </a:xfrm>
          <a:prstGeom prst="line">
            <a:avLst/>
          </a:prstGeom>
          <a:ln w="12700">
            <a:solidFill>
              <a:srgbClr val="D7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171099" y="2925620"/>
            <a:ext cx="1" cy="409448"/>
          </a:xfrm>
          <a:prstGeom prst="line">
            <a:avLst/>
          </a:prstGeom>
          <a:ln w="12700">
            <a:solidFill>
              <a:srgbClr val="D7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629016" y="2925620"/>
            <a:ext cx="1" cy="409448"/>
          </a:xfrm>
          <a:prstGeom prst="line">
            <a:avLst/>
          </a:prstGeom>
          <a:ln w="12700">
            <a:solidFill>
              <a:srgbClr val="D7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5076030" y="2925620"/>
            <a:ext cx="1" cy="409448"/>
          </a:xfrm>
          <a:prstGeom prst="line">
            <a:avLst/>
          </a:prstGeom>
          <a:ln w="12700">
            <a:solidFill>
              <a:srgbClr val="D7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714914" y="3698288"/>
            <a:ext cx="5015284" cy="18068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802136" y="3838842"/>
            <a:ext cx="392500" cy="392500"/>
          </a:xfrm>
          <a:prstGeom prst="ellipse">
            <a:avLst/>
          </a:prstGeom>
          <a:solidFill>
            <a:srgbClr val="0F1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2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330921" y="3803951"/>
            <a:ext cx="1935245" cy="277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4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성수기 Peak 최대 100명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330921" y="4087924"/>
            <a:ext cx="981251" cy="184912"/>
          </a:xfrm>
          <a:prstGeom prst="roundRect">
            <a:avLst>
              <a:gd name="adj" fmla="val 50000"/>
            </a:avLst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최대 수요 대응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3293424" y="3876596"/>
            <a:ext cx="1" cy="369824"/>
          </a:xfrm>
          <a:prstGeom prst="line">
            <a:avLst/>
          </a:prstGeom>
          <a:ln w="12700">
            <a:solidFill>
              <a:srgbClr val="D7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3380647" y="3877888"/>
            <a:ext cx="2311392" cy="409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성수기 폭주 콜에도 안정적인 서비스가 가능하도록</a:t>
            </a:r>
          </a:p>
          <a:p>
            <a:pPr algn="l">
              <a:lnSpc>
                <a:spcPct val="10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단계적 확장 체계를 운영합니다.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2136" y="4424728"/>
            <a:ext cx="4835387" cy="102482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9" name="Oval 48"/>
          <p:cNvSpPr/>
          <p:nvPr/>
        </p:nvSpPr>
        <p:spPr>
          <a:xfrm>
            <a:off x="960226" y="4516233"/>
            <a:ext cx="147188" cy="14718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 dirty="0">
                <a:solidFill>
                  <a:schemeClr val="bg1"/>
                </a:solidFill>
                <a:latin typeface="페이퍼로지 8 ExtraBold"/>
                <a:ea typeface="페이퍼로지 8 ExtraBold"/>
                <a:cs typeface="페이퍼로지 8 ExtraBold"/>
              </a:rPr>
              <a:t>✓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194637" y="4462828"/>
            <a:ext cx="4333875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altLang="ko-KR" sz="900" b="0" dirty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(</a:t>
            </a:r>
            <a:r>
              <a:rPr lang="ko-KR" altLang="en-US" sz="900" b="0" dirty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성수기</a:t>
            </a:r>
            <a:r>
              <a:rPr lang="en-US" altLang="ko-KR" sz="900" b="0" dirty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)</a:t>
            </a:r>
            <a:r>
              <a:rPr lang="ko-KR" sz="900" b="0" dirty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한시 인력으로 최대 100명까지 운영</a:t>
            </a:r>
          </a:p>
        </p:txBody>
      </p:sp>
      <p:sp>
        <p:nvSpPr>
          <p:cNvPr id="51" name="Oval 50"/>
          <p:cNvSpPr/>
          <p:nvPr/>
        </p:nvSpPr>
        <p:spPr>
          <a:xfrm>
            <a:off x="960226" y="4740769"/>
            <a:ext cx="147188" cy="14718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chemeClr val="bg1"/>
                </a:solidFill>
                <a:latin typeface="페이퍼로지 8 ExtraBold"/>
                <a:ea typeface="페이퍼로지 8 ExtraBold"/>
                <a:cs typeface="페이퍼로지 8 ExtraBold"/>
              </a:rPr>
              <a:t>✓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94637" y="4687364"/>
            <a:ext cx="4333875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 dirty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숙련 인력 리더 배치로 품질 및 생산성 확보</a:t>
            </a:r>
          </a:p>
        </p:txBody>
      </p:sp>
      <p:sp>
        <p:nvSpPr>
          <p:cNvPr id="53" name="Oval 52"/>
          <p:cNvSpPr/>
          <p:nvPr/>
        </p:nvSpPr>
        <p:spPr>
          <a:xfrm>
            <a:off x="960226" y="4983778"/>
            <a:ext cx="147188" cy="14718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chemeClr val="bg1"/>
                </a:solidFill>
                <a:latin typeface="페이퍼로지 8 ExtraBold"/>
                <a:ea typeface="페이퍼로지 8 ExtraBold"/>
                <a:cs typeface="페이퍼로지 8 ExtraBold"/>
              </a:rPr>
              <a:t>✓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94637" y="4930373"/>
            <a:ext cx="4333875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 dirty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선발 </a:t>
            </a:r>
            <a:r>
              <a:rPr lang="ko-KR" sz="9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Pool</a:t>
            </a:r>
            <a:r>
              <a:rPr lang="ko-KR" sz="900" b="0" dirty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 및 예비인력의 신속 투입</a:t>
            </a:r>
          </a:p>
        </p:txBody>
      </p:sp>
      <p:sp>
        <p:nvSpPr>
          <p:cNvPr id="55" name="Oval 54"/>
          <p:cNvSpPr/>
          <p:nvPr/>
        </p:nvSpPr>
        <p:spPr>
          <a:xfrm>
            <a:off x="960226" y="5208314"/>
            <a:ext cx="147188" cy="14718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chemeClr val="bg1"/>
                </a:solidFill>
                <a:latin typeface="페이퍼로지 8 ExtraBold"/>
                <a:ea typeface="페이퍼로지 8 ExtraBold"/>
                <a:cs typeface="페이퍼로지 8 ExtraBold"/>
              </a:rPr>
              <a:t>✓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94637" y="5154909"/>
            <a:ext cx="4333875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교육·QA·관리자</a:t>
            </a:r>
            <a:r>
              <a:rPr lang="ko-KR" sz="900" b="0" dirty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 등 지원 인력의 유기적 지원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839225" y="1415350"/>
            <a:ext cx="3434379" cy="4089802"/>
          </a:xfrm>
          <a:prstGeom prst="roundRect">
            <a:avLst>
              <a:gd name="adj" fmla="val 4000"/>
            </a:avLst>
          </a:prstGeom>
          <a:solidFill>
            <a:srgbClr val="FBEFF3"/>
          </a:solidFill>
          <a:ln w="158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dirty="0"/>
          </a:p>
        </p:txBody>
      </p:sp>
      <p:pic>
        <p:nvPicPr>
          <p:cNvPr id="58" name="Picture 57" descr="e716_E30C60.png"/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004481" y="1613697"/>
            <a:ext cx="214630" cy="214630"/>
          </a:xfrm>
          <a:prstGeom prst="rect">
            <a:avLst/>
          </a:prstGeom>
        </p:spPr>
      </p:pic>
      <p:sp>
        <p:nvSpPr>
          <p:cNvPr id="59" name="Rectangle 58"/>
          <p:cNvSpPr/>
          <p:nvPr/>
        </p:nvSpPr>
        <p:spPr>
          <a:xfrm>
            <a:off x="6273984" y="1575724"/>
            <a:ext cx="2796566" cy="2905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3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인력 · 노하우 순환 구조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50930" y="1861729"/>
            <a:ext cx="3243580" cy="29971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축적된 운영 노하우를 유기적으로 전환하여 안정적인 서비스와 </a:t>
            </a:r>
            <a:endParaRPr lang="en-US" altLang="ko-KR" sz="900" b="0" dirty="0">
              <a:solidFill>
                <a:srgbClr val="10151F"/>
              </a:solidFill>
              <a:latin typeface="페이퍼로지 5 Medium"/>
              <a:ea typeface="페이퍼로지 5 Medium"/>
              <a:cs typeface="페이퍼로지 5 Medium"/>
            </a:endParaRPr>
          </a:p>
          <a:p>
            <a:pPr algn="l">
              <a:lnSpc>
                <a:spcPct val="10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지속적인 인력 성장을 지원합니다.</a:t>
            </a:r>
          </a:p>
        </p:txBody>
      </p:sp>
      <p:sp>
        <p:nvSpPr>
          <p:cNvPr id="61" name="Arc 60"/>
          <p:cNvSpPr/>
          <p:nvPr/>
        </p:nvSpPr>
        <p:spPr>
          <a:xfrm>
            <a:off x="6222490" y="2451867"/>
            <a:ext cx="2703892" cy="2703892"/>
          </a:xfrm>
          <a:prstGeom prst="arc">
            <a:avLst>
              <a:gd name="adj1" fmla="val 12180000"/>
              <a:gd name="adj2" fmla="val 13560000"/>
            </a:avLst>
          </a:prstGeom>
          <a:noFill/>
          <a:ln w="19050">
            <a:solidFill>
              <a:srgbClr val="E30C6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62" name="Arc 61"/>
          <p:cNvSpPr/>
          <p:nvPr/>
        </p:nvSpPr>
        <p:spPr>
          <a:xfrm>
            <a:off x="6204018" y="2407256"/>
            <a:ext cx="2714048" cy="2703892"/>
          </a:xfrm>
          <a:prstGeom prst="arc">
            <a:avLst>
              <a:gd name="adj1" fmla="val 18876386"/>
              <a:gd name="adj2" fmla="val 20340000"/>
            </a:avLst>
          </a:prstGeom>
          <a:noFill/>
          <a:ln w="19050">
            <a:solidFill>
              <a:srgbClr val="E30C6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63" name="Arc 62"/>
          <p:cNvSpPr/>
          <p:nvPr/>
        </p:nvSpPr>
        <p:spPr>
          <a:xfrm>
            <a:off x="6167838" y="2524788"/>
            <a:ext cx="2703892" cy="2703892"/>
          </a:xfrm>
          <a:prstGeom prst="arc">
            <a:avLst>
              <a:gd name="adj1" fmla="val 1200000"/>
              <a:gd name="adj2" fmla="val 2580000"/>
            </a:avLst>
          </a:prstGeom>
          <a:noFill/>
          <a:ln w="19050">
            <a:solidFill>
              <a:srgbClr val="E30C6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64" name="Arc 63"/>
          <p:cNvSpPr/>
          <p:nvPr/>
        </p:nvSpPr>
        <p:spPr>
          <a:xfrm>
            <a:off x="6276865" y="2503359"/>
            <a:ext cx="2703892" cy="2703892"/>
          </a:xfrm>
          <a:prstGeom prst="arc">
            <a:avLst>
              <a:gd name="adj1" fmla="val 8160000"/>
              <a:gd name="adj2" fmla="val 9540000"/>
            </a:avLst>
          </a:prstGeom>
          <a:noFill/>
          <a:ln w="19050">
            <a:solidFill>
              <a:srgbClr val="E30C6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7097439" y="3345287"/>
            <a:ext cx="953994" cy="953994"/>
          </a:xfrm>
          <a:prstGeom prst="ellipse">
            <a:avLst/>
          </a:prstGeom>
          <a:solidFill>
            <a:srgbClr val="E30C60"/>
          </a:solidFill>
          <a:ln w="15875">
            <a:solidFill>
              <a:srgbClr val="F3B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7160130" y="3498828"/>
            <a:ext cx="828612" cy="68533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ko-KR" sz="1200" b="0" dirty="0" err="1">
                <a:solidFill>
                  <a:schemeClr val="bg1"/>
                </a:solidFill>
                <a:latin typeface="페이퍼로지 8 ExtraBold"/>
                <a:ea typeface="페이퍼로지 8 ExtraBold"/>
                <a:cs typeface="페이퍼로지 8 ExtraBold"/>
              </a:rPr>
              <a:t>인력·노하우</a:t>
            </a:r>
            <a:endParaRPr lang="ko-KR" sz="1200" b="0" dirty="0">
              <a:solidFill>
                <a:schemeClr val="bg1"/>
              </a:solidFill>
              <a:latin typeface="페이퍼로지 8 ExtraBold"/>
              <a:ea typeface="페이퍼로지 8 ExtraBold"/>
              <a:cs typeface="페이퍼로지 8 ExtraBold"/>
            </a:endParaRPr>
          </a:p>
          <a:p>
            <a:pPr algn="ctr">
              <a:lnSpc>
                <a:spcPct val="115000"/>
              </a:lnSpc>
            </a:pPr>
            <a:r>
              <a:rPr lang="ko-KR" sz="1200" b="0" dirty="0">
                <a:solidFill>
                  <a:schemeClr val="bg1"/>
                </a:solidFill>
                <a:latin typeface="페이퍼로지 8 ExtraBold"/>
                <a:ea typeface="페이퍼로지 8 ExtraBold"/>
                <a:cs typeface="페이퍼로지 8 ExtraBold"/>
              </a:rPr>
              <a:t>순환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658601" y="2356197"/>
            <a:ext cx="1831668" cy="726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69" name="Picture 68" descr="e902_E30C60.png"/>
          <p:cNvPicPr>
            <a:picLocks noChangeAspect="1"/>
          </p:cNvPicPr>
          <p:nvPr/>
        </p:nvPicPr>
        <p:blipFill>
          <a:blip r:embed="rId9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780059" y="2537449"/>
            <a:ext cx="363436" cy="363436"/>
          </a:xfrm>
          <a:prstGeom prst="rect">
            <a:avLst/>
          </a:prstGeom>
        </p:spPr>
      </p:pic>
      <p:sp>
        <p:nvSpPr>
          <p:cNvPr id="70" name="Rectangle 69"/>
          <p:cNvSpPr/>
          <p:nvPr/>
        </p:nvSpPr>
        <p:spPr>
          <a:xfrm>
            <a:off x="7247353" y="2422237"/>
            <a:ext cx="1221112" cy="2113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 dirty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주5일 상시 → 성수기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247353" y="2673189"/>
            <a:ext cx="1199307" cy="3698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ko-KR" sz="900" b="0" dirty="0">
                <a:solidFill>
                  <a:schemeClr val="bg1">
                    <a:lumMod val="50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•  숙련 상담사 리더 배치</a:t>
            </a:r>
          </a:p>
          <a:p>
            <a:pPr algn="l">
              <a:lnSpc>
                <a:spcPct val="140000"/>
              </a:lnSpc>
            </a:pPr>
            <a:r>
              <a:rPr lang="ko-KR" sz="900" b="0" dirty="0">
                <a:solidFill>
                  <a:schemeClr val="bg1">
                    <a:lumMod val="50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•  OJT 및 현장 지원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917212" y="3260945"/>
            <a:ext cx="1065747" cy="10434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73" name="Picture 72" descr="e731_E30C60.png"/>
          <p:cNvPicPr>
            <a:picLocks noChangeAspect="1"/>
          </p:cNvPicPr>
          <p:nvPr/>
        </p:nvPicPr>
        <p:blipFill>
          <a:blip r:embed="rId10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004434" y="3374147"/>
            <a:ext cx="196250" cy="196250"/>
          </a:xfrm>
          <a:prstGeom prst="rect">
            <a:avLst/>
          </a:prstGeom>
        </p:spPr>
      </p:pic>
      <p:sp>
        <p:nvSpPr>
          <p:cNvPr id="74" name="Rectangle 73"/>
          <p:cNvSpPr/>
          <p:nvPr/>
        </p:nvSpPr>
        <p:spPr>
          <a:xfrm>
            <a:off x="6244295" y="3360005"/>
            <a:ext cx="768646" cy="2113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 dirty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본사 → 현장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015337" y="3610957"/>
            <a:ext cx="975800" cy="6537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ko-KR" sz="900" b="0" dirty="0">
                <a:solidFill>
                  <a:schemeClr val="bg1">
                    <a:lumMod val="50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•  </a:t>
            </a:r>
            <a:r>
              <a:rPr lang="ko-KR" sz="900" b="0" dirty="0" err="1">
                <a:solidFill>
                  <a:schemeClr val="bg1">
                    <a:lumMod val="50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채용·노무</a:t>
            </a:r>
            <a:r>
              <a:rPr lang="ko-KR" sz="900" b="0" dirty="0">
                <a:solidFill>
                  <a:schemeClr val="bg1">
                    <a:lumMod val="50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 지원</a:t>
            </a:r>
          </a:p>
          <a:p>
            <a:pPr algn="l">
              <a:lnSpc>
                <a:spcPct val="140000"/>
              </a:lnSpc>
            </a:pPr>
            <a:r>
              <a:rPr lang="ko-KR" sz="900" b="0" dirty="0">
                <a:solidFill>
                  <a:schemeClr val="bg1">
                    <a:lumMod val="50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•  QA 품질 지원</a:t>
            </a:r>
          </a:p>
          <a:p>
            <a:pPr algn="l">
              <a:lnSpc>
                <a:spcPct val="140000"/>
              </a:lnSpc>
            </a:pPr>
            <a:r>
              <a:rPr lang="ko-KR" sz="900" b="0" dirty="0">
                <a:solidFill>
                  <a:schemeClr val="bg1">
                    <a:lumMod val="50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•  교육 프로그램 지원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135930" y="3267550"/>
            <a:ext cx="1073923" cy="103859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77" name="Picture 76" descr="e77b_E30C60.png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206798" y="3429284"/>
            <a:ext cx="218056" cy="218056"/>
          </a:xfrm>
          <a:prstGeom prst="rect">
            <a:avLst/>
          </a:prstGeom>
        </p:spPr>
      </p:pic>
      <p:sp>
        <p:nvSpPr>
          <p:cNvPr id="78" name="Rectangle 77"/>
          <p:cNvSpPr/>
          <p:nvPr/>
        </p:nvSpPr>
        <p:spPr>
          <a:xfrm>
            <a:off x="8457562" y="3412837"/>
            <a:ext cx="730486" cy="2113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성수기 → 상시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160460" y="3663789"/>
            <a:ext cx="1131635" cy="3169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•  </a:t>
            </a:r>
            <a:r>
              <a:rPr lang="ko-KR" sz="900" b="0" dirty="0">
                <a:solidFill>
                  <a:schemeClr val="bg1">
                    <a:lumMod val="50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우수인력 상시 전환</a:t>
            </a:r>
          </a:p>
          <a:p>
            <a:pPr algn="l">
              <a:lnSpc>
                <a:spcPct val="100000"/>
              </a:lnSpc>
            </a:pPr>
            <a:r>
              <a:rPr lang="ko-KR" sz="900" b="0" dirty="0">
                <a:solidFill>
                  <a:schemeClr val="bg1">
                    <a:lumMod val="50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•  핵심 인력 </a:t>
            </a:r>
            <a:r>
              <a:rPr lang="ko-KR" sz="900" b="0" dirty="0" err="1">
                <a:solidFill>
                  <a:schemeClr val="bg1">
                    <a:lumMod val="50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Pool</a:t>
            </a:r>
            <a:r>
              <a:rPr lang="ko-KR" sz="900" b="0" dirty="0">
                <a:solidFill>
                  <a:schemeClr val="bg1">
                    <a:lumMod val="50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 확보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658602" y="4570047"/>
            <a:ext cx="1809864" cy="7726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81" name="Picture 80" descr="e895_E30C60.png"/>
          <p:cNvPicPr>
            <a:picLocks noChangeAspect="1"/>
          </p:cNvPicPr>
          <p:nvPr/>
        </p:nvPicPr>
        <p:blipFill>
          <a:blip r:embed="rId11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840079" y="4795867"/>
            <a:ext cx="311214" cy="311214"/>
          </a:xfrm>
          <a:prstGeom prst="rect">
            <a:avLst/>
          </a:prstGeom>
        </p:spPr>
      </p:pic>
      <p:sp>
        <p:nvSpPr>
          <p:cNvPr id="82" name="Rectangle 81"/>
          <p:cNvSpPr/>
          <p:nvPr/>
        </p:nvSpPr>
        <p:spPr>
          <a:xfrm>
            <a:off x="7318220" y="4654389"/>
            <a:ext cx="1024862" cy="2113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주4일 ↔ 주5일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318220" y="4905341"/>
            <a:ext cx="1003056" cy="396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•  </a:t>
            </a:r>
            <a:r>
              <a:rPr lang="ko-KR" sz="900" b="0" dirty="0">
                <a:solidFill>
                  <a:schemeClr val="bg1">
                    <a:lumMod val="50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공통 교육 운영</a:t>
            </a:r>
          </a:p>
          <a:p>
            <a:pPr algn="l">
              <a:lnSpc>
                <a:spcPct val="140000"/>
              </a:lnSpc>
            </a:pPr>
            <a:r>
              <a:rPr lang="ko-KR" sz="900" b="0" dirty="0">
                <a:solidFill>
                  <a:schemeClr val="bg1">
                    <a:lumMod val="50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•  인력 교차지원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7574436" y="3095845"/>
            <a:ext cx="1" cy="145288"/>
          </a:xfrm>
          <a:prstGeom prst="line">
            <a:avLst/>
          </a:prstGeom>
          <a:ln w="15875">
            <a:solidFill>
              <a:srgbClr val="E30C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7045650" y="3822285"/>
            <a:ext cx="49063" cy="0"/>
          </a:xfrm>
          <a:prstGeom prst="line">
            <a:avLst/>
          </a:prstGeom>
          <a:ln w="15875">
            <a:solidFill>
              <a:srgbClr val="E30C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H="1">
            <a:off x="8054159" y="3822285"/>
            <a:ext cx="49063" cy="0"/>
          </a:xfrm>
          <a:prstGeom prst="line">
            <a:avLst/>
          </a:prstGeom>
          <a:ln w="15875">
            <a:solidFill>
              <a:srgbClr val="E30C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7574436" y="4403437"/>
            <a:ext cx="1" cy="151892"/>
          </a:xfrm>
          <a:prstGeom prst="line">
            <a:avLst/>
          </a:prstGeom>
          <a:ln w="15875">
            <a:solidFill>
              <a:srgbClr val="E30C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Rounded Rectangle 87"/>
          <p:cNvSpPr/>
          <p:nvPr/>
        </p:nvSpPr>
        <p:spPr>
          <a:xfrm>
            <a:off x="660400" y="5700500"/>
            <a:ext cx="8667718" cy="58115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F3B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89" name="Picture 88" descr="e902_E30C60.png"/>
          <p:cNvPicPr>
            <a:picLocks noChangeAspect="1"/>
          </p:cNvPicPr>
          <p:nvPr/>
        </p:nvPicPr>
        <p:blipFill>
          <a:blip r:embed="rId9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658005" y="5822082"/>
            <a:ext cx="337986" cy="337986"/>
          </a:xfrm>
          <a:prstGeom prst="rect">
            <a:avLst/>
          </a:prstGeom>
        </p:spPr>
      </p:pic>
      <p:sp>
        <p:nvSpPr>
          <p:cNvPr id="90" name="Rectangle 89"/>
          <p:cNvSpPr/>
          <p:nvPr/>
        </p:nvSpPr>
        <p:spPr>
          <a:xfrm>
            <a:off x="2173893" y="5726916"/>
            <a:ext cx="2289586" cy="528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 dirty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50석</a:t>
            </a:r>
          </a:p>
          <a:p>
            <a:pPr algn="l">
              <a:lnSpc>
                <a:spcPct val="110000"/>
              </a:lnSpc>
            </a:pPr>
            <a:r>
              <a:rPr lang="ko-KR" sz="900" b="0" dirty="0">
                <a:solidFill>
                  <a:schemeClr val="tx1"/>
                </a:solidFill>
                <a:latin typeface="페이퍼로지 5 Medium"/>
                <a:ea typeface="페이퍼로지 5 Medium"/>
                <a:cs typeface="페이퍼로지 5 Medium"/>
              </a:rPr>
              <a:t>= 최소 독립 운영단위</a:t>
            </a:r>
          </a:p>
        </p:txBody>
      </p:sp>
      <p:pic>
        <p:nvPicPr>
          <p:cNvPr id="91" name="Picture 90" descr="e908_E30C60.png"/>
          <p:cNvPicPr>
            <a:picLocks noChangeAspect="1"/>
          </p:cNvPicPr>
          <p:nvPr/>
        </p:nvPicPr>
        <p:blipFill>
          <a:blip r:embed="rId12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258321" y="5822082"/>
            <a:ext cx="337986" cy="33798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819814" y="5726916"/>
            <a:ext cx="2289586" cy="528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최대 100명</a:t>
            </a:r>
          </a:p>
          <a:p>
            <a:pPr algn="l">
              <a:lnSpc>
                <a:spcPct val="110000"/>
              </a:lnSpc>
            </a:pPr>
            <a:r>
              <a:rPr lang="ko-KR" sz="900" b="0">
                <a:solidFill>
                  <a:schemeClr val="tx1"/>
                </a:solidFill>
                <a:latin typeface="페이퍼로지 5 Medium"/>
                <a:ea typeface="페이퍼로지 5 Medium"/>
                <a:cs typeface="페이퍼로지 5 Medium"/>
              </a:rPr>
              <a:t>= 성수기 Peak 대응 가능</a:t>
            </a:r>
          </a:p>
        </p:txBody>
      </p:sp>
      <p:pic>
        <p:nvPicPr>
          <p:cNvPr id="93" name="Picture 92" descr="e713_E30C60.png"/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918602" y="5822082"/>
            <a:ext cx="337986" cy="337986"/>
          </a:xfrm>
          <a:prstGeom prst="rect">
            <a:avLst/>
          </a:prstGeom>
        </p:spPr>
      </p:pic>
      <p:sp>
        <p:nvSpPr>
          <p:cNvPr id="94" name="Rectangle 93"/>
          <p:cNvSpPr/>
          <p:nvPr/>
        </p:nvSpPr>
        <p:spPr>
          <a:xfrm>
            <a:off x="7463741" y="5726916"/>
            <a:ext cx="2289586" cy="528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 dirty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사전 </a:t>
            </a:r>
            <a:r>
              <a:rPr lang="ko-KR" sz="1200" b="0" dirty="0" err="1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Pool</a:t>
            </a:r>
            <a:r>
              <a:rPr lang="ko-KR" sz="1200" b="0" dirty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 기반</a:t>
            </a:r>
          </a:p>
          <a:p>
            <a:pPr algn="l">
              <a:lnSpc>
                <a:spcPct val="110000"/>
              </a:lnSpc>
            </a:pPr>
            <a:r>
              <a:rPr lang="ko-KR" sz="900" b="0" dirty="0">
                <a:solidFill>
                  <a:schemeClr val="tx1"/>
                </a:solidFill>
                <a:latin typeface="페이퍼로지 5 Medium"/>
                <a:ea typeface="페이퍼로지 5 Medium"/>
                <a:cs typeface="페이퍼로지 5 Medium"/>
              </a:rPr>
              <a:t>= 단계적 확장 운영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3767695" y="5792956"/>
            <a:ext cx="1" cy="396240"/>
          </a:xfrm>
          <a:prstGeom prst="line">
            <a:avLst/>
          </a:prstGeom>
          <a:ln w="12700">
            <a:solidFill>
              <a:srgbClr val="D7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6509747" y="5792956"/>
            <a:ext cx="1" cy="396240"/>
          </a:xfrm>
          <a:prstGeom prst="line">
            <a:avLst/>
          </a:prstGeom>
          <a:ln w="12700">
            <a:solidFill>
              <a:srgbClr val="D7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7" name="Picture 9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929606" y="381000"/>
            <a:ext cx="61912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3-1 ① 운영 전략 · 운영 장소 및 시설환경</a:t>
            </a:r>
          </a:p>
        </p:txBody>
      </p:sp>
      <p:sp>
        <p:nvSpPr>
          <p:cNvPr id="4" name="Rectangle 3"/>
          <p:cNvSpPr/>
          <p:nvPr/>
        </p:nvSpPr>
        <p:spPr>
          <a:xfrm>
            <a:off x="846138" y="660400"/>
            <a:ext cx="8461375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운영장소 및 </a:t>
            </a:r>
            <a:r>
              <a:rPr lang="ko-KR" sz="20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시설환경 경쟁력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138" y="1079500"/>
            <a:ext cx="84613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구로디지털단지 핵심 입지와 충분한 좌석, 교육·운영 공간을 갖추고 있어 안정적으로 운영하고 필요할 때 바로 늘릴 수 있습니다.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40250" y="64770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fld id="{B6F15528-21DE-4FAA-801E-634DDDAF4B2B}" type="slidenum"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19</a:t>
            </a:fld>
            <a:r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 / 49</a:t>
            </a:r>
            <a:endParaRPr lang="ko-KR" sz="600" b="0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60400" y="1403924"/>
            <a:ext cx="4213928" cy="22235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58525" y="1435238"/>
            <a:ext cx="305277" cy="296218"/>
          </a:xfrm>
          <a:prstGeom prst="ellipse">
            <a:avLst/>
          </a:prstGeom>
          <a:solidFill>
            <a:srgbClr val="0F1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1161928" y="1455188"/>
            <a:ext cx="2104238" cy="26913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핵심 입지 및 접근성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7622" y="1788405"/>
            <a:ext cx="1820765" cy="397298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34845" y="1849525"/>
            <a:ext cx="283472" cy="27506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12" name="Picture 11" descr="e731_E30C60.png"/>
          <p:cNvPicPr>
            <a:picLocks noChangeAspect="1"/>
          </p:cNvPicPr>
          <p:nvPr/>
        </p:nvPicPr>
        <p:blipFill>
          <a:blip r:embed="rId3">
            <a:biLevel thresh="50000"/>
          </a:blip>
          <a:stretch>
            <a:fillRect/>
          </a:stretch>
        </p:blipFill>
        <p:spPr>
          <a:xfrm>
            <a:off x="899850" y="1912601"/>
            <a:ext cx="153460" cy="15346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3" name="Rectangle 12"/>
          <p:cNvSpPr/>
          <p:nvPr/>
        </p:nvSpPr>
        <p:spPr>
          <a:xfrm>
            <a:off x="1205540" y="1788405"/>
            <a:ext cx="1351946" cy="39729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운영 위치</a:t>
            </a:r>
          </a:p>
          <a:p>
            <a:pPr algn="l">
              <a:lnSpc>
                <a:spcPct val="120000"/>
              </a:lnSpc>
            </a:pPr>
            <a:r>
              <a:rPr lang="ko-KR" sz="900" b="0" dirty="0" err="1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대륭포스트타워</a:t>
            </a: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 2차 14층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7622" y="2236968"/>
            <a:ext cx="1820765" cy="365258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34845" y="2282067"/>
            <a:ext cx="283472" cy="27506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16" name="Picture 15" descr="e7c0_E30C60.png"/>
          <p:cNvPicPr>
            <a:picLocks noChangeAspect="1"/>
          </p:cNvPicPr>
          <p:nvPr/>
        </p:nvPicPr>
        <p:blipFill>
          <a:blip r:embed="rId4">
            <a:biLevel thresh="50000"/>
          </a:blip>
          <a:stretch>
            <a:fillRect/>
          </a:stretch>
        </p:blipFill>
        <p:spPr>
          <a:xfrm>
            <a:off x="899850" y="2345143"/>
            <a:ext cx="153460" cy="15346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7" name="Rectangle 16"/>
          <p:cNvSpPr/>
          <p:nvPr/>
        </p:nvSpPr>
        <p:spPr>
          <a:xfrm>
            <a:off x="1205540" y="2236968"/>
            <a:ext cx="1351946" cy="36525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구로디지털단지역 도보 5분 거리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7622" y="2647083"/>
            <a:ext cx="1820765" cy="384482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34845" y="2701794"/>
            <a:ext cx="283472" cy="27506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20" name="Picture 19" descr="e806_E30C60.png"/>
          <p:cNvPicPr>
            <a:picLocks noChangeAspect="1"/>
          </p:cNvPicPr>
          <p:nvPr/>
        </p:nvPicPr>
        <p:blipFill>
          <a:blip r:embed="rId5">
            <a:biLevel thresh="50000"/>
          </a:blip>
          <a:stretch>
            <a:fillRect/>
          </a:stretch>
        </p:blipFill>
        <p:spPr>
          <a:xfrm>
            <a:off x="899850" y="2764870"/>
            <a:ext cx="153460" cy="15346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1" name="Rectangle 20"/>
          <p:cNvSpPr/>
          <p:nvPr/>
        </p:nvSpPr>
        <p:spPr>
          <a:xfrm>
            <a:off x="1205540" y="2647083"/>
            <a:ext cx="1351946" cy="3844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대중교통 접근성 우수</a:t>
            </a:r>
          </a:p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출퇴근 편의성 확보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7622" y="3121277"/>
            <a:ext cx="1820765" cy="397298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34845" y="3182396"/>
            <a:ext cx="283472" cy="27506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24" name="Picture 23" descr="e707_E30C60.png"/>
          <p:cNvPicPr>
            <a:picLocks noChangeAspect="1"/>
          </p:cNvPicPr>
          <p:nvPr/>
        </p:nvPicPr>
        <p:blipFill>
          <a:blip r:embed="rId6">
            <a:biLevel thresh="50000"/>
          </a:blip>
          <a:stretch>
            <a:fillRect/>
          </a:stretch>
        </p:blipFill>
        <p:spPr>
          <a:xfrm>
            <a:off x="899850" y="3245472"/>
            <a:ext cx="153460" cy="15346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5" name="Rectangle 24"/>
          <p:cNvSpPr/>
          <p:nvPr/>
        </p:nvSpPr>
        <p:spPr>
          <a:xfrm>
            <a:off x="1205540" y="3121277"/>
            <a:ext cx="1351946" cy="39729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서울디지털산업단지</a:t>
            </a:r>
          </a:p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업무권역 중심 입지</a:t>
            </a:r>
          </a:p>
        </p:txBody>
      </p:sp>
      <p:pic>
        <p:nvPicPr>
          <p:cNvPr id="26" name="PART_map" descr="map.png"/>
          <p:cNvPicPr>
            <a:picLocks noChangeAspect="1"/>
          </p:cNvPicPr>
          <p:nvPr/>
        </p:nvPicPr>
        <p:blipFill>
          <a:blip r:embed="rId7"/>
          <a:srcRect l="4931" t="786" r="4931" b="786"/>
          <a:stretch>
            <a:fillRect/>
          </a:stretch>
        </p:blipFill>
        <p:spPr>
          <a:xfrm>
            <a:off x="2655611" y="1455188"/>
            <a:ext cx="2142398" cy="2108244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4928843" y="1403924"/>
            <a:ext cx="4399276" cy="22235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021517" y="1435238"/>
            <a:ext cx="305277" cy="296218"/>
          </a:xfrm>
          <a:prstGeom prst="ellipse">
            <a:avLst/>
          </a:prstGeom>
          <a:solidFill>
            <a:srgbClr val="0F1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24920" y="1455188"/>
            <a:ext cx="2038822" cy="26913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수용 규모 및 확장성</a:t>
            </a:r>
          </a:p>
        </p:txBody>
      </p:sp>
      <p:sp>
        <p:nvSpPr>
          <p:cNvPr id="30" name="Block Arc 29"/>
          <p:cNvSpPr/>
          <p:nvPr/>
        </p:nvSpPr>
        <p:spPr>
          <a:xfrm>
            <a:off x="5441273" y="1762504"/>
            <a:ext cx="1559099" cy="1512835"/>
          </a:xfrm>
          <a:prstGeom prst="blockArc">
            <a:avLst>
              <a:gd name="adj1" fmla="val 4200000"/>
              <a:gd name="adj2" fmla="val 16200000"/>
              <a:gd name="adj3" fmla="val 26200"/>
            </a:avLst>
          </a:prstGeom>
          <a:solidFill>
            <a:srgbClr val="E30C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31" name="Block Arc 30"/>
          <p:cNvSpPr/>
          <p:nvPr/>
        </p:nvSpPr>
        <p:spPr>
          <a:xfrm>
            <a:off x="5441273" y="1762504"/>
            <a:ext cx="1559099" cy="1512835"/>
          </a:xfrm>
          <a:prstGeom prst="blockArc">
            <a:avLst>
              <a:gd name="adj1" fmla="val 16200000"/>
              <a:gd name="adj2" fmla="val 4200000"/>
              <a:gd name="adj3" fmla="val 26200"/>
            </a:avLst>
          </a:prstGeom>
          <a:solidFill>
            <a:srgbClr val="7D869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435822" y="2349109"/>
            <a:ext cx="457917" cy="41652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sz="8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LG 확보</a:t>
            </a:r>
          </a:p>
          <a:p>
            <a:pPr algn="ctr">
              <a:lnSpc>
                <a:spcPct val="100000"/>
              </a:lnSpc>
            </a:pPr>
            <a:r>
              <a:rPr lang="ko-KR" sz="8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150석</a:t>
            </a:r>
          </a:p>
          <a:p>
            <a:pPr algn="ctr">
              <a:lnSpc>
                <a:spcPct val="100000"/>
              </a:lnSpc>
            </a:pPr>
            <a:r>
              <a:rPr lang="ko-KR" sz="800" b="0" dirty="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(55.6%)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58810" y="2349109"/>
            <a:ext cx="447014" cy="41652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sz="8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기타</a:t>
            </a:r>
          </a:p>
          <a:p>
            <a:pPr algn="ctr">
              <a:lnSpc>
                <a:spcPct val="100000"/>
              </a:lnSpc>
            </a:pPr>
            <a:r>
              <a:rPr lang="ko-KR" sz="8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120석</a:t>
            </a:r>
          </a:p>
          <a:p>
            <a:pPr algn="ctr">
              <a:lnSpc>
                <a:spcPct val="100000"/>
              </a:lnSpc>
            </a:pPr>
            <a:r>
              <a:rPr lang="ko-KR" sz="800" b="0" dirty="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(44.4%)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93739" y="2262600"/>
            <a:ext cx="654167" cy="51264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ko-KR" sz="9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총 좌석</a:t>
            </a:r>
          </a:p>
          <a:p>
            <a:pPr algn="ctr">
              <a:lnSpc>
                <a:spcPct val="105000"/>
              </a:lnSpc>
            </a:pPr>
            <a:r>
              <a:rPr lang="ko-KR" sz="15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270</a:t>
            </a:r>
            <a:r>
              <a:rPr lang="ko-KR" sz="9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석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80095" y="1621797"/>
            <a:ext cx="1771703" cy="448562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512802" y="1647429"/>
            <a:ext cx="1732797" cy="19864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현재 사용 좌석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6449" y="1814038"/>
            <a:ext cx="1749150" cy="24350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3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30</a:t>
            </a:r>
            <a:r>
              <a:rPr lang="ko-KR" sz="9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석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80095" y="2121624"/>
            <a:ext cx="1771703" cy="448562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512802" y="2147256"/>
            <a:ext cx="1732798" cy="1537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추가 활용 가능 좌석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12803" y="2313865"/>
            <a:ext cx="1706288" cy="24350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3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120</a:t>
            </a:r>
            <a:r>
              <a:rPr lang="ko-KR" sz="9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석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480095" y="2634267"/>
            <a:ext cx="1771703" cy="615171"/>
          </a:xfrm>
          <a:prstGeom prst="roundRect">
            <a:avLst>
              <a:gd name="adj" fmla="val 12000"/>
            </a:avLst>
          </a:prstGeom>
          <a:solidFill>
            <a:srgbClr val="FBEFF3"/>
          </a:solidFill>
          <a:ln w="9525">
            <a:solidFill>
              <a:srgbClr val="F3B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7485547" y="2677823"/>
            <a:ext cx="1782604" cy="2066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200" b="0" dirty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LG 고객센터 확보 좌석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85547" y="2864956"/>
            <a:ext cx="1733543" cy="37166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8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150</a:t>
            </a:r>
            <a:r>
              <a:rPr lang="ko-KR" sz="10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석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951310" y="2262600"/>
            <a:ext cx="272569" cy="0"/>
          </a:xfrm>
          <a:prstGeom prst="line">
            <a:avLst/>
          </a:prstGeom>
          <a:ln w="12700">
            <a:solidFill>
              <a:srgbClr val="9AA0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7223880" y="1846078"/>
            <a:ext cx="1" cy="416522"/>
          </a:xfrm>
          <a:prstGeom prst="line">
            <a:avLst/>
          </a:prstGeom>
          <a:ln w="12700">
            <a:solidFill>
              <a:srgbClr val="9AA0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223880" y="1846078"/>
            <a:ext cx="239861" cy="0"/>
          </a:xfrm>
          <a:prstGeom prst="line">
            <a:avLst/>
          </a:prstGeom>
          <a:ln w="12700">
            <a:solidFill>
              <a:srgbClr val="9AA0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000372" y="2570186"/>
            <a:ext cx="310730" cy="0"/>
          </a:xfrm>
          <a:prstGeom prst="line">
            <a:avLst/>
          </a:prstGeom>
          <a:ln w="12700">
            <a:solidFill>
              <a:srgbClr val="9AA0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7311102" y="2345905"/>
            <a:ext cx="1" cy="224281"/>
          </a:xfrm>
          <a:prstGeom prst="line">
            <a:avLst/>
          </a:prstGeom>
          <a:ln w="12700">
            <a:solidFill>
              <a:srgbClr val="9AA0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311102" y="2345905"/>
            <a:ext cx="152639" cy="0"/>
          </a:xfrm>
          <a:prstGeom prst="line">
            <a:avLst/>
          </a:prstGeom>
          <a:ln w="12700">
            <a:solidFill>
              <a:srgbClr val="9AA0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6962213" y="2941852"/>
            <a:ext cx="501529" cy="0"/>
          </a:xfrm>
          <a:prstGeom prst="line">
            <a:avLst/>
          </a:prstGeom>
          <a:ln w="12700">
            <a:solidFill>
              <a:srgbClr val="E30C6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4999711" y="3313519"/>
            <a:ext cx="4252088" cy="269137"/>
          </a:xfrm>
          <a:prstGeom prst="roundRect">
            <a:avLst>
              <a:gd name="adj" fmla="val 40000"/>
            </a:avLst>
          </a:prstGeom>
          <a:solidFill>
            <a:srgbClr val="FB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/>
            <a:endParaRPr/>
          </a:p>
        </p:txBody>
      </p:sp>
      <p:pic>
        <p:nvPicPr>
          <p:cNvPr id="55" name="Picture 54" descr="e908_E30C6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35232" y="3369990"/>
            <a:ext cx="160972" cy="160972"/>
          </a:xfrm>
          <a:prstGeom prst="rect">
            <a:avLst/>
          </a:prstGeom>
        </p:spPr>
      </p:pic>
      <p:sp>
        <p:nvSpPr>
          <p:cNvPr id="56" name="Rectangle 55"/>
          <p:cNvSpPr/>
          <p:nvPr/>
        </p:nvSpPr>
        <p:spPr>
          <a:xfrm>
            <a:off x="5773809" y="3313519"/>
            <a:ext cx="3477990" cy="26913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총 270석 기반 / 현재 30석 운영 중 / 추가 120석 즉시 활용 가능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60400" y="3710817"/>
            <a:ext cx="8667718" cy="21146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758525" y="3742131"/>
            <a:ext cx="305277" cy="296218"/>
          </a:xfrm>
          <a:prstGeom prst="ellipse">
            <a:avLst/>
          </a:prstGeom>
          <a:solidFill>
            <a:srgbClr val="0F1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161928" y="3762081"/>
            <a:ext cx="3085490" cy="26913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시설환경 및 인력수급 적합성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738706" y="3800529"/>
            <a:ext cx="2513093" cy="1986491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65" name="Picture 64" descr="e902_E30C6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70995" y="3897851"/>
            <a:ext cx="182436" cy="182436"/>
          </a:xfrm>
          <a:prstGeom prst="rect">
            <a:avLst/>
          </a:prstGeom>
        </p:spPr>
      </p:pic>
      <p:sp>
        <p:nvSpPr>
          <p:cNvPr id="66" name="Rectangle 65"/>
          <p:cNvSpPr/>
          <p:nvPr/>
        </p:nvSpPr>
        <p:spPr>
          <a:xfrm>
            <a:off x="7147560" y="3864610"/>
            <a:ext cx="2060627" cy="24350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구로디지털단지 인력수급 경쟁력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798671" y="4133747"/>
            <a:ext cx="2420420" cy="346033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6874990" y="4185102"/>
            <a:ext cx="250764" cy="243322"/>
          </a:xfrm>
          <a:prstGeom prst="ellipse">
            <a:avLst/>
          </a:prstGeom>
          <a:solidFill>
            <a:srgbClr val="FB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69" name="Picture 68" descr="e731_E30C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2496" y="4240901"/>
            <a:ext cx="135753" cy="135753"/>
          </a:xfrm>
          <a:prstGeom prst="rect">
            <a:avLst/>
          </a:prstGeom>
        </p:spPr>
      </p:pic>
      <p:sp>
        <p:nvSpPr>
          <p:cNvPr id="70" name="Rectangle 69"/>
          <p:cNvSpPr/>
          <p:nvPr/>
        </p:nvSpPr>
        <p:spPr>
          <a:xfrm>
            <a:off x="7212977" y="4133747"/>
            <a:ext cx="763195" cy="3460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대규모 업무권역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7987076" y="4210644"/>
            <a:ext cx="1" cy="192241"/>
          </a:xfrm>
          <a:prstGeom prst="line">
            <a:avLst/>
          </a:prstGeom>
          <a:ln w="12700">
            <a:solidFill>
              <a:srgbClr val="D7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angle 71"/>
          <p:cNvSpPr/>
          <p:nvPr/>
        </p:nvSpPr>
        <p:spPr>
          <a:xfrm>
            <a:off x="8085200" y="4133747"/>
            <a:ext cx="1112084" cy="3460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산업단지 중심</a:t>
            </a:r>
          </a:p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풍부한 채용 모수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798671" y="4505413"/>
            <a:ext cx="2420420" cy="346033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6874990" y="4556768"/>
            <a:ext cx="250764" cy="243322"/>
          </a:xfrm>
          <a:prstGeom prst="ellipse">
            <a:avLst/>
          </a:prstGeom>
          <a:solidFill>
            <a:srgbClr val="FB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75" name="Picture 74" descr="e7c0_E30C6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2496" y="4612568"/>
            <a:ext cx="135753" cy="135753"/>
          </a:xfrm>
          <a:prstGeom prst="rect">
            <a:avLst/>
          </a:prstGeom>
        </p:spPr>
      </p:pic>
      <p:sp>
        <p:nvSpPr>
          <p:cNvPr id="76" name="Rectangle 75"/>
          <p:cNvSpPr/>
          <p:nvPr/>
        </p:nvSpPr>
        <p:spPr>
          <a:xfrm>
            <a:off x="7212977" y="4505413"/>
            <a:ext cx="763195" cy="3460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우수한 접근성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7987076" y="4582310"/>
            <a:ext cx="1" cy="192241"/>
          </a:xfrm>
          <a:prstGeom prst="line">
            <a:avLst/>
          </a:prstGeom>
          <a:ln w="12700">
            <a:solidFill>
              <a:srgbClr val="D7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tangle 77"/>
          <p:cNvSpPr/>
          <p:nvPr/>
        </p:nvSpPr>
        <p:spPr>
          <a:xfrm>
            <a:off x="8085200" y="4505413"/>
            <a:ext cx="1112084" cy="3460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2호선·버스 연계</a:t>
            </a:r>
          </a:p>
          <a:p>
            <a:pPr algn="l">
              <a:lnSpc>
                <a:spcPct val="12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출퇴근 편의 우수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798671" y="4877080"/>
            <a:ext cx="2420420" cy="346033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6874990" y="4928434"/>
            <a:ext cx="250764" cy="243322"/>
          </a:xfrm>
          <a:prstGeom prst="ellipse">
            <a:avLst/>
          </a:prstGeom>
          <a:solidFill>
            <a:srgbClr val="FB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81" name="Picture 80" descr="e908_E30C6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32496" y="4984234"/>
            <a:ext cx="135753" cy="135753"/>
          </a:xfrm>
          <a:prstGeom prst="rect">
            <a:avLst/>
          </a:prstGeom>
        </p:spPr>
      </p:pic>
      <p:sp>
        <p:nvSpPr>
          <p:cNvPr id="82" name="Rectangle 81"/>
          <p:cNvSpPr/>
          <p:nvPr/>
        </p:nvSpPr>
        <p:spPr>
          <a:xfrm>
            <a:off x="7212977" y="4877080"/>
            <a:ext cx="763195" cy="3460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사업체 집적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7987076" y="4953976"/>
            <a:ext cx="1" cy="192241"/>
          </a:xfrm>
          <a:prstGeom prst="line">
            <a:avLst/>
          </a:prstGeom>
          <a:ln w="12700">
            <a:solidFill>
              <a:srgbClr val="D7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angle 83"/>
          <p:cNvSpPr/>
          <p:nvPr/>
        </p:nvSpPr>
        <p:spPr>
          <a:xfrm>
            <a:off x="8085200" y="4877080"/>
            <a:ext cx="1112084" cy="3460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사업체 57,715개</a:t>
            </a:r>
          </a:p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(구로구, 2025)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798671" y="5248746"/>
            <a:ext cx="2420420" cy="346033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6874990" y="5300100"/>
            <a:ext cx="250764" cy="243322"/>
          </a:xfrm>
          <a:prstGeom prst="ellipse">
            <a:avLst/>
          </a:prstGeom>
          <a:solidFill>
            <a:srgbClr val="FB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87" name="Picture 86" descr="e716_E30C6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32496" y="5355900"/>
            <a:ext cx="135753" cy="135753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7212977" y="5248746"/>
            <a:ext cx="763195" cy="3460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채용 용이성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7987076" y="5325642"/>
            <a:ext cx="1" cy="192241"/>
          </a:xfrm>
          <a:prstGeom prst="line">
            <a:avLst/>
          </a:prstGeom>
          <a:ln w="12700">
            <a:solidFill>
              <a:srgbClr val="D7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8085200" y="5248746"/>
            <a:ext cx="1112084" cy="3460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상담 인력 채용</a:t>
            </a:r>
          </a:p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전환 채용 유리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800789" y="5606342"/>
            <a:ext cx="2469482" cy="1537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7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출처: 구로구청 2025 사업체조사 외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60400" y="5876733"/>
            <a:ext cx="8667718" cy="37166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F3B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93" name="Picture 92" descr="e805_E30C60.png"/>
          <p:cNvPicPr>
            <a:picLocks noChangeAspect="1"/>
          </p:cNvPicPr>
          <p:nvPr/>
        </p:nvPicPr>
        <p:blipFill>
          <a:blip r:embed="rId11">
            <a:biLevel thresh="50000"/>
          </a:blip>
          <a:stretch>
            <a:fillRect/>
          </a:stretch>
        </p:blipFill>
        <p:spPr>
          <a:xfrm>
            <a:off x="1179910" y="5963643"/>
            <a:ext cx="203898" cy="203898"/>
          </a:xfrm>
          <a:prstGeom prst="rect">
            <a:avLst/>
          </a:prstGeom>
        </p:spPr>
      </p:pic>
      <p:sp>
        <p:nvSpPr>
          <p:cNvPr id="94" name="Rectangle 93"/>
          <p:cNvSpPr/>
          <p:nvPr/>
        </p:nvSpPr>
        <p:spPr>
          <a:xfrm>
            <a:off x="1548977" y="5902365"/>
            <a:ext cx="2289586" cy="32040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0" dirty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도보 5분 접근성</a:t>
            </a:r>
          </a:p>
          <a:p>
            <a:pPr algn="l">
              <a:lnSpc>
                <a:spcPct val="110000"/>
              </a:lnSpc>
            </a:pPr>
            <a:r>
              <a:rPr lang="ko-KR" sz="900" b="0" dirty="0">
                <a:solidFill>
                  <a:schemeClr val="tx1"/>
                </a:solidFill>
                <a:latin typeface="페이퍼로지 5 Medium"/>
                <a:ea typeface="페이퍼로지 5 Medium"/>
                <a:cs typeface="페이퍼로지 5 Medium"/>
              </a:rPr>
              <a:t>구로디지털단지역 도보 5분 거리</a:t>
            </a:r>
          </a:p>
        </p:txBody>
      </p:sp>
      <p:pic>
        <p:nvPicPr>
          <p:cNvPr id="95" name="Picture 94" descr="e902_E30C60.png"/>
          <p:cNvPicPr>
            <a:picLocks noChangeAspect="1"/>
          </p:cNvPicPr>
          <p:nvPr/>
        </p:nvPicPr>
        <p:blipFill>
          <a:blip r:embed="rId9">
            <a:biLevel thresh="50000"/>
          </a:blip>
          <a:stretch>
            <a:fillRect/>
          </a:stretch>
        </p:blipFill>
        <p:spPr>
          <a:xfrm>
            <a:off x="4085504" y="5963643"/>
            <a:ext cx="203898" cy="203898"/>
          </a:xfrm>
          <a:prstGeom prst="rect">
            <a:avLst/>
          </a:prstGeom>
        </p:spPr>
      </p:pic>
      <p:sp>
        <p:nvSpPr>
          <p:cNvPr id="96" name="Rectangle 95"/>
          <p:cNvSpPr/>
          <p:nvPr/>
        </p:nvSpPr>
        <p:spPr>
          <a:xfrm>
            <a:off x="4509085" y="5902365"/>
            <a:ext cx="2289586" cy="32040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LG 전용 150석 확보</a:t>
            </a:r>
          </a:p>
          <a:p>
            <a:pPr algn="l">
              <a:lnSpc>
                <a:spcPct val="110000"/>
              </a:lnSpc>
            </a:pPr>
            <a:r>
              <a:rPr lang="ko-KR" sz="900" b="0">
                <a:solidFill>
                  <a:schemeClr val="tx1"/>
                </a:solidFill>
                <a:latin typeface="페이퍼로지 5 Medium"/>
                <a:ea typeface="페이퍼로지 5 Medium"/>
                <a:cs typeface="페이퍼로지 5 Medium"/>
              </a:rPr>
              <a:t>현재 30석 운영 + 추가 120석 활용 가능</a:t>
            </a:r>
          </a:p>
        </p:txBody>
      </p:sp>
      <p:pic>
        <p:nvPicPr>
          <p:cNvPr id="97" name="Picture 96" descr="e908_E30C60.png"/>
          <p:cNvPicPr>
            <a:picLocks noChangeAspect="1"/>
          </p:cNvPicPr>
          <p:nvPr/>
        </p:nvPicPr>
        <p:blipFill>
          <a:blip r:embed="rId8">
            <a:biLevel thresh="50000"/>
          </a:blip>
          <a:stretch>
            <a:fillRect/>
          </a:stretch>
        </p:blipFill>
        <p:spPr>
          <a:xfrm>
            <a:off x="6958389" y="5963643"/>
            <a:ext cx="203898" cy="203898"/>
          </a:xfrm>
          <a:prstGeom prst="rect">
            <a:avLst/>
          </a:prstGeom>
        </p:spPr>
      </p:pic>
      <p:sp>
        <p:nvSpPr>
          <p:cNvPr id="98" name="Rectangle 97"/>
          <p:cNvSpPr/>
          <p:nvPr/>
        </p:nvSpPr>
        <p:spPr>
          <a:xfrm>
            <a:off x="7518255" y="5902365"/>
            <a:ext cx="2289586" cy="32040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총 270석 기반 확장 가능</a:t>
            </a:r>
          </a:p>
          <a:p>
            <a:pPr algn="l">
              <a:lnSpc>
                <a:spcPct val="110000"/>
              </a:lnSpc>
            </a:pPr>
            <a:r>
              <a:rPr lang="ko-KR" sz="900" b="0">
                <a:solidFill>
                  <a:schemeClr val="tx1"/>
                </a:solidFill>
                <a:latin typeface="페이퍼로지 5 Medium"/>
                <a:ea typeface="페이퍼로지 5 Medium"/>
                <a:cs typeface="페이퍼로지 5 Medium"/>
              </a:rPr>
              <a:t>성수기·증원·교육 운영까지 유연한 대응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3527834" y="5966446"/>
            <a:ext cx="1" cy="192241"/>
          </a:xfrm>
          <a:prstGeom prst="line">
            <a:avLst/>
          </a:prstGeom>
          <a:ln w="12700">
            <a:solidFill>
              <a:srgbClr val="D7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6482490" y="5966446"/>
            <a:ext cx="1" cy="192241"/>
          </a:xfrm>
          <a:prstGeom prst="line">
            <a:avLst/>
          </a:prstGeom>
          <a:ln w="12700">
            <a:solidFill>
              <a:srgbClr val="D7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" name="Picture 10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  <p:pic>
        <p:nvPicPr>
          <p:cNvPr id="103" name="Picture 102" descr="image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6600" y="4064000"/>
            <a:ext cx="1943100" cy="825500"/>
          </a:xfrm>
          <a:prstGeom prst="rect">
            <a:avLst/>
          </a:prstGeom>
        </p:spPr>
      </p:pic>
      <p:sp>
        <p:nvSpPr>
          <p:cNvPr id="104" name="Rectangle 103"/>
          <p:cNvSpPr/>
          <p:nvPr/>
        </p:nvSpPr>
        <p:spPr>
          <a:xfrm>
            <a:off x="736600" y="4686300"/>
            <a:ext cx="1943100" cy="203200"/>
          </a:xfrm>
          <a:prstGeom prst="rect">
            <a:avLst/>
          </a:prstGeom>
          <a:solidFill>
            <a:srgbClr val="101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상담실</a:t>
            </a:r>
          </a:p>
        </p:txBody>
      </p:sp>
      <p:pic>
        <p:nvPicPr>
          <p:cNvPr id="105" name="Picture 104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730500" y="4064000"/>
            <a:ext cx="1943100" cy="825500"/>
          </a:xfrm>
          <a:prstGeom prst="rect">
            <a:avLst/>
          </a:prstGeom>
        </p:spPr>
      </p:pic>
      <p:sp>
        <p:nvSpPr>
          <p:cNvPr id="106" name="Rectangle 105"/>
          <p:cNvSpPr/>
          <p:nvPr/>
        </p:nvSpPr>
        <p:spPr>
          <a:xfrm>
            <a:off x="2730500" y="4686300"/>
            <a:ext cx="1943100" cy="203200"/>
          </a:xfrm>
          <a:prstGeom prst="rect">
            <a:avLst/>
          </a:prstGeom>
          <a:solidFill>
            <a:srgbClr val="101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상담실 (개인 좌석)</a:t>
            </a:r>
          </a:p>
        </p:txBody>
      </p:sp>
      <p:pic>
        <p:nvPicPr>
          <p:cNvPr id="107" name="Picture 106" descr="image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24400" y="4064000"/>
            <a:ext cx="1943100" cy="825500"/>
          </a:xfrm>
          <a:prstGeom prst="rect">
            <a:avLst/>
          </a:prstGeom>
        </p:spPr>
      </p:pic>
      <p:sp>
        <p:nvSpPr>
          <p:cNvPr id="108" name="Rectangle 107"/>
          <p:cNvSpPr/>
          <p:nvPr/>
        </p:nvSpPr>
        <p:spPr>
          <a:xfrm>
            <a:off x="4724400" y="4686300"/>
            <a:ext cx="1943100" cy="203200"/>
          </a:xfrm>
          <a:prstGeom prst="rect">
            <a:avLst/>
          </a:prstGeom>
          <a:solidFill>
            <a:srgbClr val="101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대형 교육장</a:t>
            </a:r>
          </a:p>
        </p:txBody>
      </p:sp>
      <p:pic>
        <p:nvPicPr>
          <p:cNvPr id="109" name="Picture 108" descr="image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6600" y="4940300"/>
            <a:ext cx="1943100" cy="825500"/>
          </a:xfrm>
          <a:prstGeom prst="rect">
            <a:avLst/>
          </a:prstGeom>
        </p:spPr>
      </p:pic>
      <p:sp>
        <p:nvSpPr>
          <p:cNvPr id="110" name="Rectangle 109"/>
          <p:cNvSpPr/>
          <p:nvPr/>
        </p:nvSpPr>
        <p:spPr>
          <a:xfrm>
            <a:off x="736600" y="5562600"/>
            <a:ext cx="1943100" cy="203200"/>
          </a:xfrm>
          <a:prstGeom prst="rect">
            <a:avLst/>
          </a:prstGeom>
          <a:solidFill>
            <a:srgbClr val="101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실제 제품 체험존</a:t>
            </a:r>
          </a:p>
        </p:txBody>
      </p:sp>
      <p:pic>
        <p:nvPicPr>
          <p:cNvPr id="111" name="Picture 110" descr="image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730500" y="4940300"/>
            <a:ext cx="1943100" cy="825500"/>
          </a:xfrm>
          <a:prstGeom prst="rect">
            <a:avLst/>
          </a:prstGeom>
        </p:spPr>
      </p:pic>
      <p:sp>
        <p:nvSpPr>
          <p:cNvPr id="112" name="Rectangle 111"/>
          <p:cNvSpPr/>
          <p:nvPr/>
        </p:nvSpPr>
        <p:spPr>
          <a:xfrm>
            <a:off x="2730500" y="5562600"/>
            <a:ext cx="1943100" cy="203200"/>
          </a:xfrm>
          <a:prstGeom prst="rect">
            <a:avLst/>
          </a:prstGeom>
          <a:solidFill>
            <a:srgbClr val="101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휴게 라운지</a:t>
            </a:r>
          </a:p>
        </p:txBody>
      </p:sp>
      <p:pic>
        <p:nvPicPr>
          <p:cNvPr id="113" name="Picture 112" descr="image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724400" y="4940300"/>
            <a:ext cx="1943100" cy="825500"/>
          </a:xfrm>
          <a:prstGeom prst="rect">
            <a:avLst/>
          </a:prstGeom>
        </p:spPr>
      </p:pic>
      <p:sp>
        <p:nvSpPr>
          <p:cNvPr id="114" name="Rectangle 113"/>
          <p:cNvSpPr/>
          <p:nvPr/>
        </p:nvSpPr>
        <p:spPr>
          <a:xfrm>
            <a:off x="4724400" y="5562600"/>
            <a:ext cx="1943100" cy="203200"/>
          </a:xfrm>
          <a:prstGeom prst="rect">
            <a:avLst/>
          </a:prstGeom>
          <a:solidFill>
            <a:srgbClr val="101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안마의자 휴게실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929606" y="381000"/>
            <a:ext cx="61912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3-1 ① 운영 전략 · Call Peak 대응</a:t>
            </a:r>
          </a:p>
        </p:txBody>
      </p:sp>
      <p:sp>
        <p:nvSpPr>
          <p:cNvPr id="6" name="Rectangle 5"/>
          <p:cNvSpPr/>
          <p:nvPr/>
        </p:nvSpPr>
        <p:spPr>
          <a:xfrm>
            <a:off x="4540250" y="64770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fld id="{B6F15528-21DE-4FAA-801E-634DDDAF4B2B}" type="slidenum"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20</a:t>
            </a:fld>
            <a:r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 / 49</a:t>
            </a:r>
            <a:endParaRPr lang="ko-KR" sz="600" b="0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  <p:sp>
        <p:nvSpPr>
          <p:cNvPr id="74" name="Rectangle 89">
            <a:extLst>
              <a:ext uri="{FF2B5EF4-FFF2-40B4-BE49-F238E27FC236}">
                <a16:creationId xmlns:a16="http://schemas.microsoft.com/office/drawing/2014/main" id="{F1EF0F3E-3005-4460-B4F5-C3E2FDCABB28}"/>
              </a:ext>
            </a:extLst>
          </p:cNvPr>
          <p:cNvSpPr/>
          <p:nvPr/>
        </p:nvSpPr>
        <p:spPr>
          <a:xfrm>
            <a:off x="660400" y="3530600"/>
            <a:ext cx="38100" cy="177800"/>
          </a:xfrm>
          <a:prstGeom prst="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90">
            <a:extLst>
              <a:ext uri="{FF2B5EF4-FFF2-40B4-BE49-F238E27FC236}">
                <a16:creationId xmlns:a16="http://schemas.microsoft.com/office/drawing/2014/main" id="{A735560B-99AC-4FF5-B463-7168F91EE81D}"/>
              </a:ext>
            </a:extLst>
          </p:cNvPr>
          <p:cNvSpPr/>
          <p:nvPr/>
        </p:nvSpPr>
        <p:spPr>
          <a:xfrm>
            <a:off x="774700" y="3505200"/>
            <a:ext cx="85598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당일 비상 대응 플랜</a:t>
            </a: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   갑작스러운 콜 급증 시 단계에 따라 바로 움직입니다</a:t>
            </a:r>
          </a:p>
        </p:txBody>
      </p:sp>
      <p:sp>
        <p:nvSpPr>
          <p:cNvPr id="77" name="Rounded Rectangle 92">
            <a:extLst>
              <a:ext uri="{FF2B5EF4-FFF2-40B4-BE49-F238E27FC236}">
                <a16:creationId xmlns:a16="http://schemas.microsoft.com/office/drawing/2014/main" id="{69605E5C-8EF0-4DE9-8975-CE93315C88BA}"/>
              </a:ext>
            </a:extLst>
          </p:cNvPr>
          <p:cNvSpPr/>
          <p:nvPr/>
        </p:nvSpPr>
        <p:spPr>
          <a:xfrm>
            <a:off x="660400" y="4241800"/>
            <a:ext cx="2832100" cy="2006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93">
            <a:extLst>
              <a:ext uri="{FF2B5EF4-FFF2-40B4-BE49-F238E27FC236}">
                <a16:creationId xmlns:a16="http://schemas.microsoft.com/office/drawing/2014/main" id="{9F7F162D-D12C-4CC7-851B-C0C9EB3BD027}"/>
              </a:ext>
            </a:extLst>
          </p:cNvPr>
          <p:cNvSpPr/>
          <p:nvPr/>
        </p:nvSpPr>
        <p:spPr>
          <a:xfrm>
            <a:off x="787400" y="4373085"/>
            <a:ext cx="2578100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1" dirty="0">
                <a:solidFill>
                  <a:srgbClr val="6A7180"/>
                </a:solidFill>
                <a:latin typeface="페이퍼로지 7 Bold"/>
                <a:ea typeface="페이퍼로지 7 Bold"/>
                <a:cs typeface="페이퍼로지 7 Bold"/>
              </a:rPr>
              <a:t>판단  </a:t>
            </a:r>
            <a:r>
              <a:rPr lang="ko-KR" sz="1000" b="1" dirty="0">
                <a:solidFill>
                  <a:srgbClr val="E30C60"/>
                </a:solidFill>
                <a:latin typeface="페이퍼로지 7 Bold"/>
                <a:ea typeface="페이퍼로지 7 Bold"/>
                <a:cs typeface="페이퍼로지 7 Bold"/>
              </a:rPr>
              <a:t>대기 콜이 늘기 시작</a:t>
            </a:r>
          </a:p>
        </p:txBody>
      </p:sp>
      <p:sp>
        <p:nvSpPr>
          <p:cNvPr id="79" name="Rectangle 94">
            <a:extLst>
              <a:ext uri="{FF2B5EF4-FFF2-40B4-BE49-F238E27FC236}">
                <a16:creationId xmlns:a16="http://schemas.microsoft.com/office/drawing/2014/main" id="{75CAF567-7024-4716-BDCD-0079B7B8010A}"/>
              </a:ext>
            </a:extLst>
          </p:cNvPr>
          <p:cNvSpPr/>
          <p:nvPr/>
        </p:nvSpPr>
        <p:spPr>
          <a:xfrm>
            <a:off x="787400" y="4627085"/>
            <a:ext cx="2578100" cy="12700"/>
          </a:xfrm>
          <a:prstGeom prst="rect">
            <a:avLst/>
          </a:prstGeom>
          <a:solidFill>
            <a:srgbClr val="E3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95">
            <a:extLst>
              <a:ext uri="{FF2B5EF4-FFF2-40B4-BE49-F238E27FC236}">
                <a16:creationId xmlns:a16="http://schemas.microsoft.com/office/drawing/2014/main" id="{75DB0E33-AE83-4A71-A154-6254D4836338}"/>
              </a:ext>
            </a:extLst>
          </p:cNvPr>
          <p:cNvSpPr/>
          <p:nvPr/>
        </p:nvSpPr>
        <p:spPr>
          <a:xfrm>
            <a:off x="787400" y="4783770"/>
            <a:ext cx="2578100" cy="1066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</a:t>
            </a:r>
            <a:r>
              <a:rPr lang="ko-KR" sz="9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이석·휴식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자제, </a:t>
            </a:r>
            <a:r>
              <a:rPr lang="ko-KR" sz="9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교육·면담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연기</a:t>
            </a:r>
          </a:p>
          <a:p>
            <a:pPr algn="l">
              <a:lnSpc>
                <a:spcPct val="20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긴 통화(</a:t>
            </a:r>
            <a:r>
              <a:rPr lang="ko-KR" sz="9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장콜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) 관리자 이관</a:t>
            </a:r>
          </a:p>
          <a:p>
            <a:pPr algn="l">
              <a:lnSpc>
                <a:spcPct val="20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후처리 시간 최소화</a:t>
            </a:r>
          </a:p>
        </p:txBody>
      </p:sp>
      <p:sp>
        <p:nvSpPr>
          <p:cNvPr id="81" name="Rounded Rectangle 96">
            <a:extLst>
              <a:ext uri="{FF2B5EF4-FFF2-40B4-BE49-F238E27FC236}">
                <a16:creationId xmlns:a16="http://schemas.microsoft.com/office/drawing/2014/main" id="{ED9BBB84-262D-457D-8524-1980685D1CBA}"/>
              </a:ext>
            </a:extLst>
          </p:cNvPr>
          <p:cNvSpPr/>
          <p:nvPr/>
        </p:nvSpPr>
        <p:spPr>
          <a:xfrm>
            <a:off x="762000" y="5816600"/>
            <a:ext cx="2628900" cy="330200"/>
          </a:xfrm>
          <a:prstGeom prst="roundRect">
            <a:avLst>
              <a:gd name="adj" fmla="val 30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altLang="ko-KR" sz="900" b="1" dirty="0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[</a:t>
            </a:r>
            <a:r>
              <a:rPr lang="ko-KR" sz="900" b="1" dirty="0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보고</a:t>
            </a:r>
            <a:r>
              <a:rPr lang="en-US" altLang="ko-KR" sz="900" b="1" dirty="0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]</a:t>
            </a:r>
            <a:r>
              <a:rPr lang="ko-KR" sz="900" b="1" dirty="0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  파트장 → 매니저 공유</a:t>
            </a:r>
          </a:p>
        </p:txBody>
      </p:sp>
      <p:sp>
        <p:nvSpPr>
          <p:cNvPr id="84" name="Rounded Rectangle 99">
            <a:extLst>
              <a:ext uri="{FF2B5EF4-FFF2-40B4-BE49-F238E27FC236}">
                <a16:creationId xmlns:a16="http://schemas.microsoft.com/office/drawing/2014/main" id="{78073A99-AA3C-478C-A57D-7233BA04EFFA}"/>
              </a:ext>
            </a:extLst>
          </p:cNvPr>
          <p:cNvSpPr/>
          <p:nvPr/>
        </p:nvSpPr>
        <p:spPr>
          <a:xfrm>
            <a:off x="3581400" y="4241800"/>
            <a:ext cx="2832100" cy="2006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100">
            <a:extLst>
              <a:ext uri="{FF2B5EF4-FFF2-40B4-BE49-F238E27FC236}">
                <a16:creationId xmlns:a16="http://schemas.microsoft.com/office/drawing/2014/main" id="{B2B7D3FC-9837-4E48-A99C-A8547DE2BD78}"/>
              </a:ext>
            </a:extLst>
          </p:cNvPr>
          <p:cNvSpPr/>
          <p:nvPr/>
        </p:nvSpPr>
        <p:spPr>
          <a:xfrm>
            <a:off x="3708400" y="4373085"/>
            <a:ext cx="2578100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1">
                <a:solidFill>
                  <a:srgbClr val="6A7180"/>
                </a:solidFill>
                <a:latin typeface="페이퍼로지 7 Bold"/>
                <a:ea typeface="페이퍼로지 7 Bold"/>
                <a:cs typeface="페이퍼로지 7 Bold"/>
              </a:rPr>
              <a:t>판단  </a:t>
            </a:r>
            <a:r>
              <a:rPr lang="ko-KR" sz="1000" b="1">
                <a:solidFill>
                  <a:srgbClr val="E30C60"/>
                </a:solidFill>
                <a:latin typeface="페이퍼로지 7 Bold"/>
                <a:ea typeface="페이퍼로지 7 Bold"/>
                <a:cs typeface="페이퍼로지 7 Bold"/>
              </a:rPr>
              <a:t>대기 콜이 계속 쌓임</a:t>
            </a:r>
          </a:p>
        </p:txBody>
      </p:sp>
      <p:sp>
        <p:nvSpPr>
          <p:cNvPr id="86" name="Rectangle 101">
            <a:extLst>
              <a:ext uri="{FF2B5EF4-FFF2-40B4-BE49-F238E27FC236}">
                <a16:creationId xmlns:a16="http://schemas.microsoft.com/office/drawing/2014/main" id="{9FE1FDCE-8C95-4449-9621-1695DC92A4AA}"/>
              </a:ext>
            </a:extLst>
          </p:cNvPr>
          <p:cNvSpPr/>
          <p:nvPr/>
        </p:nvSpPr>
        <p:spPr>
          <a:xfrm>
            <a:off x="3708400" y="4627085"/>
            <a:ext cx="2578100" cy="12700"/>
          </a:xfrm>
          <a:prstGeom prst="rect">
            <a:avLst/>
          </a:prstGeom>
          <a:solidFill>
            <a:srgbClr val="E3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102">
            <a:extLst>
              <a:ext uri="{FF2B5EF4-FFF2-40B4-BE49-F238E27FC236}">
                <a16:creationId xmlns:a16="http://schemas.microsoft.com/office/drawing/2014/main" id="{A6615872-92CE-455E-8B32-D9D4463898A3}"/>
              </a:ext>
            </a:extLst>
          </p:cNvPr>
          <p:cNvSpPr/>
          <p:nvPr/>
        </p:nvSpPr>
        <p:spPr>
          <a:xfrm>
            <a:off x="3708400" y="4783770"/>
            <a:ext cx="2578100" cy="1066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스크립트 간소화 (고객사 협의)</a:t>
            </a:r>
          </a:p>
          <a:p>
            <a:pPr algn="l">
              <a:lnSpc>
                <a:spcPct val="20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관리자(</a:t>
            </a:r>
            <a:r>
              <a:rPr lang="ko-KR" sz="9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파트장·QA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) 상담 투입</a:t>
            </a:r>
          </a:p>
          <a:p>
            <a:pPr algn="l">
              <a:lnSpc>
                <a:spcPct val="20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</a:t>
            </a:r>
            <a:r>
              <a:rPr lang="ko-KR" sz="9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아웃바운드·콜백은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피크 이후</a:t>
            </a:r>
            <a:r>
              <a:rPr lang="en-US" alt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lang="ko-KR" altLang="en-US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처리</a:t>
            </a:r>
            <a:endParaRPr lang="ko-KR" sz="900" b="0" dirty="0">
              <a:solidFill>
                <a:srgbClr val="10151F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88" name="Rounded Rectangle 103">
            <a:extLst>
              <a:ext uri="{FF2B5EF4-FFF2-40B4-BE49-F238E27FC236}">
                <a16:creationId xmlns:a16="http://schemas.microsoft.com/office/drawing/2014/main" id="{FB0548AB-28F1-49B5-A779-3B37B46C6921}"/>
              </a:ext>
            </a:extLst>
          </p:cNvPr>
          <p:cNvSpPr/>
          <p:nvPr/>
        </p:nvSpPr>
        <p:spPr>
          <a:xfrm>
            <a:off x="3683000" y="5816600"/>
            <a:ext cx="2628900" cy="330200"/>
          </a:xfrm>
          <a:prstGeom prst="roundRect">
            <a:avLst>
              <a:gd name="adj" fmla="val 30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altLang="ko-KR" sz="900" b="1" dirty="0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[</a:t>
            </a:r>
            <a:r>
              <a:rPr lang="ko-KR" sz="900" b="1" dirty="0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보고</a:t>
            </a:r>
            <a:r>
              <a:rPr lang="en-US" altLang="ko-KR" sz="900" b="1" dirty="0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]</a:t>
            </a:r>
            <a:r>
              <a:rPr lang="ko-KR" sz="900" b="1" dirty="0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  매니저 → </a:t>
            </a:r>
            <a:r>
              <a:rPr lang="ko-KR" altLang="en-US" sz="900" b="1" dirty="0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고객사와 대응 협의</a:t>
            </a:r>
            <a:endParaRPr lang="ko-KR" sz="900" b="1" dirty="0">
              <a:solidFill>
                <a:srgbClr val="10151F"/>
              </a:solidFill>
              <a:latin typeface="페이퍼로지 7 Bold"/>
              <a:ea typeface="페이퍼로지 7 Bold"/>
              <a:cs typeface="페이퍼로지 7 Bold"/>
            </a:endParaRPr>
          </a:p>
        </p:txBody>
      </p:sp>
      <p:sp>
        <p:nvSpPr>
          <p:cNvPr id="91" name="Rounded Rectangle 106">
            <a:extLst>
              <a:ext uri="{FF2B5EF4-FFF2-40B4-BE49-F238E27FC236}">
                <a16:creationId xmlns:a16="http://schemas.microsoft.com/office/drawing/2014/main" id="{4F19EDC3-BA76-432A-8A0E-AEA36CEFDAA9}"/>
              </a:ext>
            </a:extLst>
          </p:cNvPr>
          <p:cNvSpPr/>
          <p:nvPr/>
        </p:nvSpPr>
        <p:spPr>
          <a:xfrm>
            <a:off x="6502400" y="4241800"/>
            <a:ext cx="2832100" cy="2006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107">
            <a:extLst>
              <a:ext uri="{FF2B5EF4-FFF2-40B4-BE49-F238E27FC236}">
                <a16:creationId xmlns:a16="http://schemas.microsoft.com/office/drawing/2014/main" id="{4BE271C9-75DB-45EC-99C2-E25A06C419E3}"/>
              </a:ext>
            </a:extLst>
          </p:cNvPr>
          <p:cNvSpPr/>
          <p:nvPr/>
        </p:nvSpPr>
        <p:spPr>
          <a:xfrm>
            <a:off x="6629400" y="4373085"/>
            <a:ext cx="2578100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1">
                <a:solidFill>
                  <a:srgbClr val="6A7180"/>
                </a:solidFill>
                <a:latin typeface="페이퍼로지 7 Bold"/>
                <a:ea typeface="페이퍼로지 7 Bold"/>
                <a:cs typeface="페이퍼로지 7 Bold"/>
              </a:rPr>
              <a:t>판단  </a:t>
            </a:r>
            <a:r>
              <a:rPr lang="ko-KR" sz="1000" b="1">
                <a:solidFill>
                  <a:srgbClr val="E30C60"/>
                </a:solidFill>
                <a:latin typeface="페이퍼로지 7 Bold"/>
                <a:ea typeface="페이퍼로지 7 Bold"/>
                <a:cs typeface="페이퍼로지 7 Bold"/>
              </a:rPr>
              <a:t>장시간 대기 누적 · 폭주 지속</a:t>
            </a:r>
          </a:p>
        </p:txBody>
      </p:sp>
      <p:sp>
        <p:nvSpPr>
          <p:cNvPr id="93" name="Rectangle 108">
            <a:extLst>
              <a:ext uri="{FF2B5EF4-FFF2-40B4-BE49-F238E27FC236}">
                <a16:creationId xmlns:a16="http://schemas.microsoft.com/office/drawing/2014/main" id="{CCFC980A-CBF5-4BF4-841F-ABD4482B7ED2}"/>
              </a:ext>
            </a:extLst>
          </p:cNvPr>
          <p:cNvSpPr/>
          <p:nvPr/>
        </p:nvSpPr>
        <p:spPr>
          <a:xfrm>
            <a:off x="6629400" y="4627085"/>
            <a:ext cx="2578100" cy="12700"/>
          </a:xfrm>
          <a:prstGeom prst="rect">
            <a:avLst/>
          </a:prstGeom>
          <a:solidFill>
            <a:srgbClr val="E3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109">
            <a:extLst>
              <a:ext uri="{FF2B5EF4-FFF2-40B4-BE49-F238E27FC236}">
                <a16:creationId xmlns:a16="http://schemas.microsoft.com/office/drawing/2014/main" id="{3E75852F-6E15-4F4E-9E15-3588B2065EB0}"/>
              </a:ext>
            </a:extLst>
          </p:cNvPr>
          <p:cNvSpPr/>
          <p:nvPr/>
        </p:nvSpPr>
        <p:spPr>
          <a:xfrm>
            <a:off x="6629400" y="4783770"/>
            <a:ext cx="2578100" cy="1066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당일 연장근무 즉시 편성</a:t>
            </a:r>
          </a:p>
          <a:p>
            <a:pPr algn="l">
              <a:lnSpc>
                <a:spcPct val="20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점심시간 단축 · 시차 교대</a:t>
            </a:r>
          </a:p>
          <a:p>
            <a:pPr algn="l">
              <a:lnSpc>
                <a:spcPct val="20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</a:t>
            </a:r>
            <a:r>
              <a:rPr lang="ko-KR" altLang="en-US" sz="90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대응방안 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</a:t>
            </a:r>
            <a:r>
              <a:rPr lang="ko-KR" sz="9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안내멘트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협의</a:t>
            </a:r>
          </a:p>
        </p:txBody>
      </p:sp>
      <p:sp>
        <p:nvSpPr>
          <p:cNvPr id="95" name="Rounded Rectangle 110">
            <a:extLst>
              <a:ext uri="{FF2B5EF4-FFF2-40B4-BE49-F238E27FC236}">
                <a16:creationId xmlns:a16="http://schemas.microsoft.com/office/drawing/2014/main" id="{DBA87D2E-6D29-4767-8822-EF5D1768434F}"/>
              </a:ext>
            </a:extLst>
          </p:cNvPr>
          <p:cNvSpPr/>
          <p:nvPr/>
        </p:nvSpPr>
        <p:spPr>
          <a:xfrm>
            <a:off x="6604000" y="5816600"/>
            <a:ext cx="2628900" cy="330200"/>
          </a:xfrm>
          <a:prstGeom prst="roundRect">
            <a:avLst>
              <a:gd name="adj" fmla="val 30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altLang="ko-KR" sz="900" b="1" dirty="0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[</a:t>
            </a:r>
            <a:r>
              <a:rPr lang="ko-KR" sz="900" b="1" dirty="0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보고</a:t>
            </a:r>
            <a:r>
              <a:rPr lang="en-US" altLang="ko-KR" sz="900" b="1" dirty="0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]</a:t>
            </a:r>
            <a:r>
              <a:rPr lang="ko-KR" sz="900" b="1" dirty="0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  총괄매니저 → </a:t>
            </a:r>
            <a:r>
              <a:rPr lang="ko-KR" altLang="en-US" sz="900" b="1" dirty="0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고객사와 대응 협의</a:t>
            </a:r>
            <a:endParaRPr lang="ko-KR" sz="900" b="1" dirty="0">
              <a:solidFill>
                <a:srgbClr val="10151F"/>
              </a:solidFill>
              <a:latin typeface="페이퍼로지 7 Bold"/>
              <a:ea typeface="페이퍼로지 7 Bold"/>
              <a:cs typeface="페이퍼로지 7 Bold"/>
            </a:endParaRPr>
          </a:p>
        </p:txBody>
      </p:sp>
      <p:sp>
        <p:nvSpPr>
          <p:cNvPr id="96" name="Rectangle 3">
            <a:extLst>
              <a:ext uri="{FF2B5EF4-FFF2-40B4-BE49-F238E27FC236}">
                <a16:creationId xmlns:a16="http://schemas.microsoft.com/office/drawing/2014/main" id="{0BEC58E7-313D-4A4E-B3B1-EB03661D6CDC}"/>
              </a:ext>
            </a:extLst>
          </p:cNvPr>
          <p:cNvSpPr/>
          <p:nvPr/>
        </p:nvSpPr>
        <p:spPr>
          <a:xfrm>
            <a:off x="846138" y="660400"/>
            <a:ext cx="8461375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콜 피크는 미리 맞추고, 갑작스러운 급증은 </a:t>
            </a:r>
            <a:r>
              <a:rPr lang="ko-KR" sz="20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단계별로 대응</a:t>
            </a:r>
            <a:r>
              <a:rPr lang="ko-KR" sz="2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합니다</a:t>
            </a:r>
          </a:p>
        </p:txBody>
      </p:sp>
      <p:sp>
        <p:nvSpPr>
          <p:cNvPr id="97" name="Rectangle 4">
            <a:extLst>
              <a:ext uri="{FF2B5EF4-FFF2-40B4-BE49-F238E27FC236}">
                <a16:creationId xmlns:a16="http://schemas.microsoft.com/office/drawing/2014/main" id="{CE2BA5CA-CBFB-4FC1-B844-7B7F73A9DEB7}"/>
              </a:ext>
            </a:extLst>
          </p:cNvPr>
          <p:cNvSpPr/>
          <p:nvPr/>
        </p:nvSpPr>
        <p:spPr>
          <a:xfrm>
            <a:off x="846138" y="1079500"/>
            <a:ext cx="84613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요일별 콜 패턴에 맞춰 근무를 미리 편성하고, 당일 콜이 급증하면 주의·경계·심각 단계에 따라 바로 움직이겠습니다.</a:t>
            </a:r>
          </a:p>
        </p:txBody>
      </p:sp>
      <p:sp>
        <p:nvSpPr>
          <p:cNvPr id="98" name="Rectangle 72">
            <a:extLst>
              <a:ext uri="{FF2B5EF4-FFF2-40B4-BE49-F238E27FC236}">
                <a16:creationId xmlns:a16="http://schemas.microsoft.com/office/drawing/2014/main" id="{0461F50C-9F22-49C3-9EA7-EA6FE936CA5A}"/>
              </a:ext>
            </a:extLst>
          </p:cNvPr>
          <p:cNvSpPr/>
          <p:nvPr/>
        </p:nvSpPr>
        <p:spPr>
          <a:xfrm>
            <a:off x="660400" y="1447800"/>
            <a:ext cx="38100" cy="177800"/>
          </a:xfrm>
          <a:prstGeom prst="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73">
            <a:extLst>
              <a:ext uri="{FF2B5EF4-FFF2-40B4-BE49-F238E27FC236}">
                <a16:creationId xmlns:a16="http://schemas.microsoft.com/office/drawing/2014/main" id="{F7F3978A-D41C-4F4E-89B7-F5497621A880}"/>
              </a:ext>
            </a:extLst>
          </p:cNvPr>
          <p:cNvSpPr/>
          <p:nvPr/>
        </p:nvSpPr>
        <p:spPr>
          <a:xfrm>
            <a:off x="774700" y="1422400"/>
            <a:ext cx="85598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평소 · 사전 대응</a:t>
            </a: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   콜이 몰리는 날을 미리 읽고 근무를 맞춥니다</a:t>
            </a:r>
          </a:p>
        </p:txBody>
      </p:sp>
      <p:sp>
        <p:nvSpPr>
          <p:cNvPr id="100" name="Rounded Rectangle 74">
            <a:extLst>
              <a:ext uri="{FF2B5EF4-FFF2-40B4-BE49-F238E27FC236}">
                <a16:creationId xmlns:a16="http://schemas.microsoft.com/office/drawing/2014/main" id="{4C336E21-6AF1-4A61-B3BB-12A851AF9A9B}"/>
              </a:ext>
            </a:extLst>
          </p:cNvPr>
          <p:cNvSpPr/>
          <p:nvPr/>
        </p:nvSpPr>
        <p:spPr>
          <a:xfrm>
            <a:off x="660400" y="1701800"/>
            <a:ext cx="3810000" cy="167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75">
            <a:extLst>
              <a:ext uri="{FF2B5EF4-FFF2-40B4-BE49-F238E27FC236}">
                <a16:creationId xmlns:a16="http://schemas.microsoft.com/office/drawing/2014/main" id="{1F286323-1477-4D97-B3DB-9D47A339E3B2}"/>
              </a:ext>
            </a:extLst>
          </p:cNvPr>
          <p:cNvSpPr/>
          <p:nvPr/>
        </p:nvSpPr>
        <p:spPr>
          <a:xfrm>
            <a:off x="787400" y="1752600"/>
            <a:ext cx="3556000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요일별 인입 예측 · 인력 운영 계획 </a:t>
            </a: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(예시)</a:t>
            </a:r>
          </a:p>
        </p:txBody>
      </p:sp>
      <p:sp>
        <p:nvSpPr>
          <p:cNvPr id="102" name="Rectangle 76">
            <a:extLst>
              <a:ext uri="{FF2B5EF4-FFF2-40B4-BE49-F238E27FC236}">
                <a16:creationId xmlns:a16="http://schemas.microsoft.com/office/drawing/2014/main" id="{2AFBB091-0085-4A4A-9532-15703F58A88E}"/>
              </a:ext>
            </a:extLst>
          </p:cNvPr>
          <p:cNvSpPr/>
          <p:nvPr/>
        </p:nvSpPr>
        <p:spPr>
          <a:xfrm>
            <a:off x="787400" y="2006600"/>
            <a:ext cx="6604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월</a:t>
            </a:r>
          </a:p>
        </p:txBody>
      </p:sp>
      <p:sp>
        <p:nvSpPr>
          <p:cNvPr id="103" name="Rectangle 77">
            <a:extLst>
              <a:ext uri="{FF2B5EF4-FFF2-40B4-BE49-F238E27FC236}">
                <a16:creationId xmlns:a16="http://schemas.microsoft.com/office/drawing/2014/main" id="{BE5D8B8A-AEEC-4A58-93F9-734FC604CDBF}"/>
              </a:ext>
            </a:extLst>
          </p:cNvPr>
          <p:cNvSpPr/>
          <p:nvPr/>
        </p:nvSpPr>
        <p:spPr>
          <a:xfrm>
            <a:off x="787400" y="2260600"/>
            <a:ext cx="660400" cy="508000"/>
          </a:xfrm>
          <a:prstGeom prst="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인입</a:t>
            </a:r>
          </a:p>
          <a:p>
            <a:pPr algn="ctr">
              <a:lnSpc>
                <a:spcPct val="110000"/>
              </a:lnSpc>
            </a:pPr>
            <a:r>
              <a:rPr lang="ko-KR" sz="10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최다</a:t>
            </a:r>
          </a:p>
        </p:txBody>
      </p:sp>
      <p:sp>
        <p:nvSpPr>
          <p:cNvPr id="104" name="Rectangle 78">
            <a:extLst>
              <a:ext uri="{FF2B5EF4-FFF2-40B4-BE49-F238E27FC236}">
                <a16:creationId xmlns:a16="http://schemas.microsoft.com/office/drawing/2014/main" id="{5DE8077E-2150-4693-8574-57C902F139BC}"/>
              </a:ext>
            </a:extLst>
          </p:cNvPr>
          <p:cNvSpPr/>
          <p:nvPr/>
        </p:nvSpPr>
        <p:spPr>
          <a:xfrm>
            <a:off x="787400" y="2806700"/>
            <a:ext cx="6604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가동 100%</a:t>
            </a:r>
          </a:p>
        </p:txBody>
      </p:sp>
      <p:sp>
        <p:nvSpPr>
          <p:cNvPr id="105" name="Rectangle 79">
            <a:extLst>
              <a:ext uri="{FF2B5EF4-FFF2-40B4-BE49-F238E27FC236}">
                <a16:creationId xmlns:a16="http://schemas.microsoft.com/office/drawing/2014/main" id="{BA45F9AA-D223-4E14-834E-EE16E5E315F1}"/>
              </a:ext>
            </a:extLst>
          </p:cNvPr>
          <p:cNvSpPr/>
          <p:nvPr/>
        </p:nvSpPr>
        <p:spPr>
          <a:xfrm>
            <a:off x="787400" y="3035300"/>
            <a:ext cx="66040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휴가 제한</a:t>
            </a:r>
          </a:p>
        </p:txBody>
      </p:sp>
      <p:sp>
        <p:nvSpPr>
          <p:cNvPr id="106" name="Rectangle 80">
            <a:extLst>
              <a:ext uri="{FF2B5EF4-FFF2-40B4-BE49-F238E27FC236}">
                <a16:creationId xmlns:a16="http://schemas.microsoft.com/office/drawing/2014/main" id="{73AA6274-C0F9-4417-B112-FE5B1F612A85}"/>
              </a:ext>
            </a:extLst>
          </p:cNvPr>
          <p:cNvSpPr/>
          <p:nvPr/>
        </p:nvSpPr>
        <p:spPr>
          <a:xfrm>
            <a:off x="1498600" y="2006600"/>
            <a:ext cx="6604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화</a:t>
            </a:r>
          </a:p>
        </p:txBody>
      </p:sp>
      <p:sp>
        <p:nvSpPr>
          <p:cNvPr id="107" name="Rectangle 81">
            <a:extLst>
              <a:ext uri="{FF2B5EF4-FFF2-40B4-BE49-F238E27FC236}">
                <a16:creationId xmlns:a16="http://schemas.microsoft.com/office/drawing/2014/main" id="{3FBC8C90-0D4A-4F1A-B8FB-C85E54565D13}"/>
              </a:ext>
            </a:extLst>
          </p:cNvPr>
          <p:cNvSpPr/>
          <p:nvPr/>
        </p:nvSpPr>
        <p:spPr>
          <a:xfrm>
            <a:off x="1498600" y="2260600"/>
            <a:ext cx="660400" cy="508000"/>
          </a:xfrm>
          <a:prstGeom prst="rect">
            <a:avLst/>
          </a:prstGeom>
          <a:solidFill>
            <a:srgbClr val="EC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인입</a:t>
            </a:r>
          </a:p>
          <a:p>
            <a:pPr algn="ctr">
              <a:lnSpc>
                <a:spcPct val="110000"/>
              </a:lnSpc>
            </a:pPr>
            <a:r>
              <a:rPr lang="ko-KR" sz="10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많음</a:t>
            </a:r>
          </a:p>
        </p:txBody>
      </p:sp>
      <p:sp>
        <p:nvSpPr>
          <p:cNvPr id="108" name="Rectangle 82">
            <a:extLst>
              <a:ext uri="{FF2B5EF4-FFF2-40B4-BE49-F238E27FC236}">
                <a16:creationId xmlns:a16="http://schemas.microsoft.com/office/drawing/2014/main" id="{4E69AA1A-97CF-4287-9E43-576FE0BB6BC8}"/>
              </a:ext>
            </a:extLst>
          </p:cNvPr>
          <p:cNvSpPr/>
          <p:nvPr/>
        </p:nvSpPr>
        <p:spPr>
          <a:xfrm>
            <a:off x="1498600" y="2806700"/>
            <a:ext cx="6604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가동 95%</a:t>
            </a:r>
          </a:p>
        </p:txBody>
      </p:sp>
      <p:sp>
        <p:nvSpPr>
          <p:cNvPr id="109" name="Rectangle 83">
            <a:extLst>
              <a:ext uri="{FF2B5EF4-FFF2-40B4-BE49-F238E27FC236}">
                <a16:creationId xmlns:a16="http://schemas.microsoft.com/office/drawing/2014/main" id="{1AB092F0-06D7-4B12-A3CD-814D062B5510}"/>
              </a:ext>
            </a:extLst>
          </p:cNvPr>
          <p:cNvSpPr/>
          <p:nvPr/>
        </p:nvSpPr>
        <p:spPr>
          <a:xfrm>
            <a:off x="1498600" y="3035300"/>
            <a:ext cx="66040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업무 집중</a:t>
            </a:r>
          </a:p>
        </p:txBody>
      </p:sp>
      <p:sp>
        <p:nvSpPr>
          <p:cNvPr id="110" name="Rectangle 84">
            <a:extLst>
              <a:ext uri="{FF2B5EF4-FFF2-40B4-BE49-F238E27FC236}">
                <a16:creationId xmlns:a16="http://schemas.microsoft.com/office/drawing/2014/main" id="{FF7B2317-99C3-4190-8EF1-389F3D39BDC5}"/>
              </a:ext>
            </a:extLst>
          </p:cNvPr>
          <p:cNvSpPr/>
          <p:nvPr/>
        </p:nvSpPr>
        <p:spPr>
          <a:xfrm>
            <a:off x="2209800" y="2006600"/>
            <a:ext cx="6604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수</a:t>
            </a:r>
          </a:p>
        </p:txBody>
      </p:sp>
      <p:sp>
        <p:nvSpPr>
          <p:cNvPr id="111" name="Rectangle 85">
            <a:extLst>
              <a:ext uri="{FF2B5EF4-FFF2-40B4-BE49-F238E27FC236}">
                <a16:creationId xmlns:a16="http://schemas.microsoft.com/office/drawing/2014/main" id="{29A14ECA-A021-416D-B441-DB6A874FCBD1}"/>
              </a:ext>
            </a:extLst>
          </p:cNvPr>
          <p:cNvSpPr/>
          <p:nvPr/>
        </p:nvSpPr>
        <p:spPr>
          <a:xfrm>
            <a:off x="2209800" y="2260600"/>
            <a:ext cx="660400" cy="508000"/>
          </a:xfrm>
          <a:prstGeom prst="rect">
            <a:avLst/>
          </a:prstGeom>
          <a:solidFill>
            <a:srgbClr val="F08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인입</a:t>
            </a:r>
          </a:p>
          <a:p>
            <a:pPr algn="ctr">
              <a:lnSpc>
                <a:spcPct val="110000"/>
              </a:lnSpc>
            </a:pPr>
            <a:r>
              <a:rPr lang="ko-KR" sz="10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보통</a:t>
            </a:r>
          </a:p>
        </p:txBody>
      </p:sp>
      <p:sp>
        <p:nvSpPr>
          <p:cNvPr id="112" name="Rectangle 86">
            <a:extLst>
              <a:ext uri="{FF2B5EF4-FFF2-40B4-BE49-F238E27FC236}">
                <a16:creationId xmlns:a16="http://schemas.microsoft.com/office/drawing/2014/main" id="{B851B95F-E088-4E5C-B8FB-D46CF4957773}"/>
              </a:ext>
            </a:extLst>
          </p:cNvPr>
          <p:cNvSpPr/>
          <p:nvPr/>
        </p:nvSpPr>
        <p:spPr>
          <a:xfrm>
            <a:off x="2209800" y="2806700"/>
            <a:ext cx="6604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가동 90%</a:t>
            </a:r>
          </a:p>
        </p:txBody>
      </p:sp>
      <p:sp>
        <p:nvSpPr>
          <p:cNvPr id="113" name="Rectangle 87">
            <a:extLst>
              <a:ext uri="{FF2B5EF4-FFF2-40B4-BE49-F238E27FC236}">
                <a16:creationId xmlns:a16="http://schemas.microsoft.com/office/drawing/2014/main" id="{E3E5A725-9660-49DA-A630-0EAD3ABBB933}"/>
              </a:ext>
            </a:extLst>
          </p:cNvPr>
          <p:cNvSpPr/>
          <p:nvPr/>
        </p:nvSpPr>
        <p:spPr>
          <a:xfrm>
            <a:off x="2209800" y="3035300"/>
            <a:ext cx="66040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sz="900" b="0" dirty="0" err="1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교육·면담</a:t>
            </a:r>
            <a:endParaRPr lang="ko-KR" sz="900" b="0" dirty="0">
              <a:solidFill>
                <a:srgbClr val="6A7180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114" name="Rectangle 88">
            <a:extLst>
              <a:ext uri="{FF2B5EF4-FFF2-40B4-BE49-F238E27FC236}">
                <a16:creationId xmlns:a16="http://schemas.microsoft.com/office/drawing/2014/main" id="{EF03D9AD-E859-4BF2-A613-8EC9F9175469}"/>
              </a:ext>
            </a:extLst>
          </p:cNvPr>
          <p:cNvSpPr/>
          <p:nvPr/>
        </p:nvSpPr>
        <p:spPr>
          <a:xfrm>
            <a:off x="2921000" y="2006600"/>
            <a:ext cx="6604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목</a:t>
            </a:r>
          </a:p>
        </p:txBody>
      </p:sp>
      <p:sp>
        <p:nvSpPr>
          <p:cNvPr id="115" name="Rectangle 89">
            <a:extLst>
              <a:ext uri="{FF2B5EF4-FFF2-40B4-BE49-F238E27FC236}">
                <a16:creationId xmlns:a16="http://schemas.microsoft.com/office/drawing/2014/main" id="{EFAC96E9-F8EF-4D52-BD36-628B310A1651}"/>
              </a:ext>
            </a:extLst>
          </p:cNvPr>
          <p:cNvSpPr/>
          <p:nvPr/>
        </p:nvSpPr>
        <p:spPr>
          <a:xfrm>
            <a:off x="2921000" y="2260600"/>
            <a:ext cx="660400" cy="508000"/>
          </a:xfrm>
          <a:prstGeom prst="rect">
            <a:avLst/>
          </a:prstGeom>
          <a:solidFill>
            <a:srgbClr val="F3B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인입</a:t>
            </a:r>
          </a:p>
          <a:p>
            <a:pPr algn="ctr">
              <a:lnSpc>
                <a:spcPct val="110000"/>
              </a:lnSpc>
            </a:pPr>
            <a:r>
              <a:rPr lang="ko-KR" sz="1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감소</a:t>
            </a:r>
          </a:p>
        </p:txBody>
      </p:sp>
      <p:sp>
        <p:nvSpPr>
          <p:cNvPr id="116" name="Rectangle 90">
            <a:extLst>
              <a:ext uri="{FF2B5EF4-FFF2-40B4-BE49-F238E27FC236}">
                <a16:creationId xmlns:a16="http://schemas.microsoft.com/office/drawing/2014/main" id="{A4D59F3F-315C-47D2-82D4-AEC945D3BA15}"/>
              </a:ext>
            </a:extLst>
          </p:cNvPr>
          <p:cNvSpPr/>
          <p:nvPr/>
        </p:nvSpPr>
        <p:spPr>
          <a:xfrm>
            <a:off x="2921000" y="2806700"/>
            <a:ext cx="6604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가동 85%</a:t>
            </a:r>
          </a:p>
        </p:txBody>
      </p:sp>
      <p:sp>
        <p:nvSpPr>
          <p:cNvPr id="117" name="Rectangle 91">
            <a:extLst>
              <a:ext uri="{FF2B5EF4-FFF2-40B4-BE49-F238E27FC236}">
                <a16:creationId xmlns:a16="http://schemas.microsoft.com/office/drawing/2014/main" id="{374B340D-C9B0-4774-9A61-C676E4059C60}"/>
              </a:ext>
            </a:extLst>
          </p:cNvPr>
          <p:cNvSpPr/>
          <p:nvPr/>
        </p:nvSpPr>
        <p:spPr>
          <a:xfrm>
            <a:off x="2921000" y="3035300"/>
            <a:ext cx="66040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sz="900" b="0" dirty="0" err="1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휴가·교육</a:t>
            </a:r>
            <a:endParaRPr lang="ko-KR" sz="900" b="0" dirty="0">
              <a:solidFill>
                <a:srgbClr val="6A7180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118" name="Rectangle 92">
            <a:extLst>
              <a:ext uri="{FF2B5EF4-FFF2-40B4-BE49-F238E27FC236}">
                <a16:creationId xmlns:a16="http://schemas.microsoft.com/office/drawing/2014/main" id="{249FFF2C-811F-495F-B6EC-655968B8E4CA}"/>
              </a:ext>
            </a:extLst>
          </p:cNvPr>
          <p:cNvSpPr/>
          <p:nvPr/>
        </p:nvSpPr>
        <p:spPr>
          <a:xfrm>
            <a:off x="3632200" y="2006600"/>
            <a:ext cx="6604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금</a:t>
            </a:r>
          </a:p>
        </p:txBody>
      </p:sp>
      <p:sp>
        <p:nvSpPr>
          <p:cNvPr id="119" name="Rectangle 93">
            <a:extLst>
              <a:ext uri="{FF2B5EF4-FFF2-40B4-BE49-F238E27FC236}">
                <a16:creationId xmlns:a16="http://schemas.microsoft.com/office/drawing/2014/main" id="{5B4C43E0-F21F-49A1-849C-0E2060CCD7D0}"/>
              </a:ext>
            </a:extLst>
          </p:cNvPr>
          <p:cNvSpPr/>
          <p:nvPr/>
        </p:nvSpPr>
        <p:spPr>
          <a:xfrm>
            <a:off x="3632200" y="2260600"/>
            <a:ext cx="660400" cy="508000"/>
          </a:xfrm>
          <a:prstGeom prst="rect">
            <a:avLst/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인입</a:t>
            </a:r>
          </a:p>
          <a:p>
            <a:pPr algn="ctr">
              <a:lnSpc>
                <a:spcPct val="110000"/>
              </a:lnSpc>
            </a:pPr>
            <a:r>
              <a:rPr lang="ko-KR" sz="1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최소</a:t>
            </a:r>
          </a:p>
        </p:txBody>
      </p:sp>
      <p:sp>
        <p:nvSpPr>
          <p:cNvPr id="120" name="Rectangle 94">
            <a:extLst>
              <a:ext uri="{FF2B5EF4-FFF2-40B4-BE49-F238E27FC236}">
                <a16:creationId xmlns:a16="http://schemas.microsoft.com/office/drawing/2014/main" id="{331C72E6-9F07-4E33-A562-9AED0E078185}"/>
              </a:ext>
            </a:extLst>
          </p:cNvPr>
          <p:cNvSpPr/>
          <p:nvPr/>
        </p:nvSpPr>
        <p:spPr>
          <a:xfrm>
            <a:off x="3632200" y="2806700"/>
            <a:ext cx="6604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가동 85%</a:t>
            </a:r>
          </a:p>
        </p:txBody>
      </p:sp>
      <p:sp>
        <p:nvSpPr>
          <p:cNvPr id="121" name="Rectangle 95">
            <a:extLst>
              <a:ext uri="{FF2B5EF4-FFF2-40B4-BE49-F238E27FC236}">
                <a16:creationId xmlns:a16="http://schemas.microsoft.com/office/drawing/2014/main" id="{F0C336B2-1AC2-46EB-A02C-FDF7BDC33B1B}"/>
              </a:ext>
            </a:extLst>
          </p:cNvPr>
          <p:cNvSpPr/>
          <p:nvPr/>
        </p:nvSpPr>
        <p:spPr>
          <a:xfrm>
            <a:off x="3632200" y="3035300"/>
            <a:ext cx="66040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sz="900" b="0" dirty="0" err="1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휴가·교육</a:t>
            </a:r>
            <a:endParaRPr lang="ko-KR" sz="900" b="0" dirty="0">
              <a:solidFill>
                <a:srgbClr val="6A7180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122" name="Rounded Rectangle 96">
            <a:extLst>
              <a:ext uri="{FF2B5EF4-FFF2-40B4-BE49-F238E27FC236}">
                <a16:creationId xmlns:a16="http://schemas.microsoft.com/office/drawing/2014/main" id="{A2E61669-1A57-41FE-A201-DD3CE753E468}"/>
              </a:ext>
            </a:extLst>
          </p:cNvPr>
          <p:cNvSpPr/>
          <p:nvPr/>
        </p:nvSpPr>
        <p:spPr>
          <a:xfrm>
            <a:off x="4572000" y="1701800"/>
            <a:ext cx="4762500" cy="52070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ectangle 97">
            <a:extLst>
              <a:ext uri="{FF2B5EF4-FFF2-40B4-BE49-F238E27FC236}">
                <a16:creationId xmlns:a16="http://schemas.microsoft.com/office/drawing/2014/main" id="{CE300836-3339-4648-9A70-A7C1A6164F08}"/>
              </a:ext>
            </a:extLst>
          </p:cNvPr>
          <p:cNvSpPr/>
          <p:nvPr/>
        </p:nvSpPr>
        <p:spPr>
          <a:xfrm>
            <a:off x="4673600" y="1701800"/>
            <a:ext cx="330200" cy="520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400" b="1">
                <a:solidFill>
                  <a:srgbClr val="E30C60"/>
                </a:solidFill>
                <a:latin typeface="페이퍼로지 9 Black"/>
                <a:ea typeface="페이퍼로지 9 Black"/>
                <a:cs typeface="페이퍼로지 9 Black"/>
              </a:rPr>
              <a:t>01</a:t>
            </a:r>
          </a:p>
        </p:txBody>
      </p:sp>
      <p:sp>
        <p:nvSpPr>
          <p:cNvPr id="124" name="Rectangle 98">
            <a:extLst>
              <a:ext uri="{FF2B5EF4-FFF2-40B4-BE49-F238E27FC236}">
                <a16:creationId xmlns:a16="http://schemas.microsoft.com/office/drawing/2014/main" id="{31168FB2-2F44-4C13-8A03-18BE934C58E3}"/>
              </a:ext>
            </a:extLst>
          </p:cNvPr>
          <p:cNvSpPr/>
          <p:nvPr/>
        </p:nvSpPr>
        <p:spPr>
          <a:xfrm>
            <a:off x="5029200" y="1701800"/>
            <a:ext cx="1016000" cy="520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예측</a:t>
            </a:r>
          </a:p>
        </p:txBody>
      </p:sp>
      <p:sp>
        <p:nvSpPr>
          <p:cNvPr id="125" name="Rectangle 99">
            <a:extLst>
              <a:ext uri="{FF2B5EF4-FFF2-40B4-BE49-F238E27FC236}">
                <a16:creationId xmlns:a16="http://schemas.microsoft.com/office/drawing/2014/main" id="{75274115-6744-40EB-A56D-8C436AF6A363}"/>
              </a:ext>
            </a:extLst>
          </p:cNvPr>
          <p:cNvSpPr/>
          <p:nvPr/>
        </p:nvSpPr>
        <p:spPr>
          <a:xfrm>
            <a:off x="6070600" y="1701800"/>
            <a:ext cx="3200400" cy="520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ko-KR" sz="1000" b="1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요일별 콜 패턴 분석</a:t>
            </a:r>
          </a:p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월요일 최다 → 금요일로 갈수록 인입 감소</a:t>
            </a:r>
          </a:p>
        </p:txBody>
      </p:sp>
      <p:sp>
        <p:nvSpPr>
          <p:cNvPr id="126" name="Rounded Rectangle 100">
            <a:extLst>
              <a:ext uri="{FF2B5EF4-FFF2-40B4-BE49-F238E27FC236}">
                <a16:creationId xmlns:a16="http://schemas.microsoft.com/office/drawing/2014/main" id="{B3205B12-DDA2-49EE-B557-6EBF0E90573C}"/>
              </a:ext>
            </a:extLst>
          </p:cNvPr>
          <p:cNvSpPr/>
          <p:nvPr/>
        </p:nvSpPr>
        <p:spPr>
          <a:xfrm>
            <a:off x="4572000" y="2273300"/>
            <a:ext cx="4762500" cy="52070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ectangle 101">
            <a:extLst>
              <a:ext uri="{FF2B5EF4-FFF2-40B4-BE49-F238E27FC236}">
                <a16:creationId xmlns:a16="http://schemas.microsoft.com/office/drawing/2014/main" id="{6706D321-262F-4BA2-AB5F-37ADEBBAB2C3}"/>
              </a:ext>
            </a:extLst>
          </p:cNvPr>
          <p:cNvSpPr/>
          <p:nvPr/>
        </p:nvSpPr>
        <p:spPr>
          <a:xfrm>
            <a:off x="4673600" y="2273300"/>
            <a:ext cx="330200" cy="520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400" b="1">
                <a:solidFill>
                  <a:srgbClr val="E30C60"/>
                </a:solidFill>
                <a:latin typeface="페이퍼로지 9 Black"/>
                <a:ea typeface="페이퍼로지 9 Black"/>
                <a:cs typeface="페이퍼로지 9 Black"/>
              </a:rPr>
              <a:t>02</a:t>
            </a:r>
          </a:p>
        </p:txBody>
      </p:sp>
      <p:sp>
        <p:nvSpPr>
          <p:cNvPr id="128" name="Rectangle 102">
            <a:extLst>
              <a:ext uri="{FF2B5EF4-FFF2-40B4-BE49-F238E27FC236}">
                <a16:creationId xmlns:a16="http://schemas.microsoft.com/office/drawing/2014/main" id="{96CCF199-27AC-4172-A22F-506DF8FCD77B}"/>
              </a:ext>
            </a:extLst>
          </p:cNvPr>
          <p:cNvSpPr/>
          <p:nvPr/>
        </p:nvSpPr>
        <p:spPr>
          <a:xfrm>
            <a:off x="5029200" y="2273300"/>
            <a:ext cx="1016000" cy="520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가동률 계획</a:t>
            </a:r>
          </a:p>
        </p:txBody>
      </p:sp>
      <p:sp>
        <p:nvSpPr>
          <p:cNvPr id="129" name="Rectangle 103">
            <a:extLst>
              <a:ext uri="{FF2B5EF4-FFF2-40B4-BE49-F238E27FC236}">
                <a16:creationId xmlns:a16="http://schemas.microsoft.com/office/drawing/2014/main" id="{2543DC4D-333C-45D3-9B3B-7C6F4C967423}"/>
              </a:ext>
            </a:extLst>
          </p:cNvPr>
          <p:cNvSpPr/>
          <p:nvPr/>
        </p:nvSpPr>
        <p:spPr>
          <a:xfrm>
            <a:off x="6070600" y="2273300"/>
            <a:ext cx="3200400" cy="520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ko-KR" sz="1000" b="1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인입 예측에 맞춰 인력 가동률 사전 계획</a:t>
            </a:r>
          </a:p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휴가·교육은 인입이 적은 요일로 배치</a:t>
            </a:r>
          </a:p>
        </p:txBody>
      </p:sp>
      <p:sp>
        <p:nvSpPr>
          <p:cNvPr id="130" name="Rounded Rectangle 104">
            <a:extLst>
              <a:ext uri="{FF2B5EF4-FFF2-40B4-BE49-F238E27FC236}">
                <a16:creationId xmlns:a16="http://schemas.microsoft.com/office/drawing/2014/main" id="{12E34EA4-08E1-4E50-A525-40C9E2AAA49B}"/>
              </a:ext>
            </a:extLst>
          </p:cNvPr>
          <p:cNvSpPr/>
          <p:nvPr/>
        </p:nvSpPr>
        <p:spPr>
          <a:xfrm>
            <a:off x="4572000" y="2844800"/>
            <a:ext cx="4762500" cy="52070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Rectangle 105">
            <a:extLst>
              <a:ext uri="{FF2B5EF4-FFF2-40B4-BE49-F238E27FC236}">
                <a16:creationId xmlns:a16="http://schemas.microsoft.com/office/drawing/2014/main" id="{ACE41873-F594-48FA-96F2-E1E334A321EB}"/>
              </a:ext>
            </a:extLst>
          </p:cNvPr>
          <p:cNvSpPr/>
          <p:nvPr/>
        </p:nvSpPr>
        <p:spPr>
          <a:xfrm>
            <a:off x="4673600" y="2844800"/>
            <a:ext cx="330200" cy="520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400" b="1">
                <a:solidFill>
                  <a:srgbClr val="E30C60"/>
                </a:solidFill>
                <a:latin typeface="페이퍼로지 9 Black"/>
                <a:ea typeface="페이퍼로지 9 Black"/>
                <a:cs typeface="페이퍼로지 9 Black"/>
              </a:rPr>
              <a:t>03</a:t>
            </a:r>
          </a:p>
        </p:txBody>
      </p:sp>
      <p:sp>
        <p:nvSpPr>
          <p:cNvPr id="132" name="Rectangle 106">
            <a:extLst>
              <a:ext uri="{FF2B5EF4-FFF2-40B4-BE49-F238E27FC236}">
                <a16:creationId xmlns:a16="http://schemas.microsoft.com/office/drawing/2014/main" id="{4D6FF6D6-F46C-48C6-8416-522CE3C52B3D}"/>
              </a:ext>
            </a:extLst>
          </p:cNvPr>
          <p:cNvSpPr/>
          <p:nvPr/>
        </p:nvSpPr>
        <p:spPr>
          <a:xfrm>
            <a:off x="5029200" y="2844800"/>
            <a:ext cx="1016000" cy="520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연장근무 예고</a:t>
            </a:r>
          </a:p>
        </p:txBody>
      </p:sp>
      <p:sp>
        <p:nvSpPr>
          <p:cNvPr id="133" name="Rectangle 107">
            <a:extLst>
              <a:ext uri="{FF2B5EF4-FFF2-40B4-BE49-F238E27FC236}">
                <a16:creationId xmlns:a16="http://schemas.microsoft.com/office/drawing/2014/main" id="{71A39A57-F796-4A9E-B837-053948A52DC9}"/>
              </a:ext>
            </a:extLst>
          </p:cNvPr>
          <p:cNvSpPr/>
          <p:nvPr/>
        </p:nvSpPr>
        <p:spPr>
          <a:xfrm>
            <a:off x="6070600" y="2844800"/>
            <a:ext cx="3200400" cy="520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ko-KR" sz="1000" b="1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Peak 요일 기준 사전 공지</a:t>
            </a:r>
          </a:p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Peak일 100% · 다음날 80% · 수 60% · 목금 50%</a:t>
            </a:r>
          </a:p>
        </p:txBody>
      </p:sp>
      <p:sp>
        <p:nvSpPr>
          <p:cNvPr id="134" name="Rounded Rectangle 110">
            <a:extLst>
              <a:ext uri="{FF2B5EF4-FFF2-40B4-BE49-F238E27FC236}">
                <a16:creationId xmlns:a16="http://schemas.microsoft.com/office/drawing/2014/main" id="{DCF55C3D-1425-4A19-99C1-006A650F9E48}"/>
              </a:ext>
            </a:extLst>
          </p:cNvPr>
          <p:cNvSpPr/>
          <p:nvPr/>
        </p:nvSpPr>
        <p:spPr>
          <a:xfrm>
            <a:off x="660400" y="3810000"/>
            <a:ext cx="2832100" cy="381000"/>
          </a:xfrm>
          <a:prstGeom prst="roundRect">
            <a:avLst>
              <a:gd name="adj" fmla="val 15000"/>
            </a:avLst>
          </a:prstGeom>
          <a:solidFill>
            <a:srgbClr val="EE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>
              <a:lnSpc>
                <a:spcPct val="110000"/>
              </a:lnSpc>
            </a:pPr>
            <a:r>
              <a:rPr lang="ko-KR" sz="14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주의  </a:t>
            </a:r>
            <a:r>
              <a:rPr lang="ko-KR" sz="1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자리를 지킵니다</a:t>
            </a:r>
          </a:p>
        </p:txBody>
      </p:sp>
      <p:sp>
        <p:nvSpPr>
          <p:cNvPr id="135" name="Rectangle 115">
            <a:extLst>
              <a:ext uri="{FF2B5EF4-FFF2-40B4-BE49-F238E27FC236}">
                <a16:creationId xmlns:a16="http://schemas.microsoft.com/office/drawing/2014/main" id="{77D608F6-07B1-4B8B-8D9A-D254489BD54A}"/>
              </a:ext>
            </a:extLst>
          </p:cNvPr>
          <p:cNvSpPr/>
          <p:nvPr/>
        </p:nvSpPr>
        <p:spPr>
          <a:xfrm>
            <a:off x="3479800" y="3860800"/>
            <a:ext cx="114300" cy="279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400" b="1">
                <a:solidFill>
                  <a:srgbClr val="9AA0AA"/>
                </a:solidFill>
                <a:latin typeface="페이퍼로지 8 ExtraBold"/>
                <a:ea typeface="페이퍼로지 8 ExtraBold"/>
                <a:cs typeface="페이퍼로지 8 ExtraBold"/>
              </a:rPr>
              <a:t>›</a:t>
            </a:r>
          </a:p>
        </p:txBody>
      </p:sp>
      <p:sp>
        <p:nvSpPr>
          <p:cNvPr id="136" name="Rounded Rectangle 116">
            <a:extLst>
              <a:ext uri="{FF2B5EF4-FFF2-40B4-BE49-F238E27FC236}">
                <a16:creationId xmlns:a16="http://schemas.microsoft.com/office/drawing/2014/main" id="{C5F4C00E-7A18-4F05-AD1F-E72AC262DCAA}"/>
              </a:ext>
            </a:extLst>
          </p:cNvPr>
          <p:cNvSpPr/>
          <p:nvPr/>
        </p:nvSpPr>
        <p:spPr>
          <a:xfrm>
            <a:off x="3581400" y="3810000"/>
            <a:ext cx="2832100" cy="381000"/>
          </a:xfrm>
          <a:prstGeom prst="roundRect">
            <a:avLst>
              <a:gd name="adj" fmla="val 15000"/>
            </a:avLst>
          </a:prstGeom>
          <a:solidFill>
            <a:srgbClr val="C9C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>
              <a:lnSpc>
                <a:spcPct val="110000"/>
              </a:lnSpc>
            </a:pPr>
            <a:r>
              <a:rPr lang="ko-KR" sz="14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경계  </a:t>
            </a:r>
            <a:r>
              <a:rPr lang="ko-KR" sz="1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응대 속도를 높입니다</a:t>
            </a:r>
          </a:p>
        </p:txBody>
      </p:sp>
      <p:sp>
        <p:nvSpPr>
          <p:cNvPr id="137" name="Rectangle 121">
            <a:extLst>
              <a:ext uri="{FF2B5EF4-FFF2-40B4-BE49-F238E27FC236}">
                <a16:creationId xmlns:a16="http://schemas.microsoft.com/office/drawing/2014/main" id="{3C2C6E25-F6EC-4EAB-8422-44E93D66AE50}"/>
              </a:ext>
            </a:extLst>
          </p:cNvPr>
          <p:cNvSpPr/>
          <p:nvPr/>
        </p:nvSpPr>
        <p:spPr>
          <a:xfrm>
            <a:off x="6400800" y="3860800"/>
            <a:ext cx="114300" cy="279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400" b="1">
                <a:solidFill>
                  <a:srgbClr val="9AA0AA"/>
                </a:solidFill>
                <a:latin typeface="페이퍼로지 8 ExtraBold"/>
                <a:ea typeface="페이퍼로지 8 ExtraBold"/>
                <a:cs typeface="페이퍼로지 8 ExtraBold"/>
              </a:rPr>
              <a:t>›</a:t>
            </a:r>
          </a:p>
        </p:txBody>
      </p:sp>
      <p:sp>
        <p:nvSpPr>
          <p:cNvPr id="138" name="Rounded Rectangle 122">
            <a:extLst>
              <a:ext uri="{FF2B5EF4-FFF2-40B4-BE49-F238E27FC236}">
                <a16:creationId xmlns:a16="http://schemas.microsoft.com/office/drawing/2014/main" id="{F3B5CCCE-805C-42D7-913D-DFFB3A27EC72}"/>
              </a:ext>
            </a:extLst>
          </p:cNvPr>
          <p:cNvSpPr/>
          <p:nvPr/>
        </p:nvSpPr>
        <p:spPr>
          <a:xfrm>
            <a:off x="6502400" y="3810000"/>
            <a:ext cx="2832100" cy="381000"/>
          </a:xfrm>
          <a:prstGeom prst="roundRect">
            <a:avLst>
              <a:gd name="adj" fmla="val 15000"/>
            </a:avLst>
          </a:prstGeom>
          <a:solidFill>
            <a:srgbClr val="8A90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>
              <a:lnSpc>
                <a:spcPct val="110000"/>
              </a:lnSpc>
            </a:pPr>
            <a:r>
              <a:rPr lang="ko-KR" sz="14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심각  </a:t>
            </a:r>
            <a:r>
              <a:rPr lang="ko-KR" sz="10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근무 시간을 늘립니다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ounded Rectangle 41"/>
          <p:cNvSpPr/>
          <p:nvPr/>
        </p:nvSpPr>
        <p:spPr>
          <a:xfrm>
            <a:off x="5037870" y="1987992"/>
            <a:ext cx="2126044" cy="22119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30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86" name="그림 85">
            <a:extLst>
              <a:ext uri="{FF2B5EF4-FFF2-40B4-BE49-F238E27FC236}">
                <a16:creationId xmlns:a16="http://schemas.microsoft.com/office/drawing/2014/main" id="{C002A051-F8C8-4C2D-8E0A-4C3E8F7AB38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389" b="1254"/>
          <a:stretch/>
        </p:blipFill>
        <p:spPr>
          <a:xfrm rot="222522">
            <a:off x="5411324" y="2562347"/>
            <a:ext cx="1268732" cy="60222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929606" y="381000"/>
            <a:ext cx="61912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3-1 ① 운영 전략 · 초기 인력 투자</a:t>
            </a:r>
          </a:p>
        </p:txBody>
      </p:sp>
      <p:sp>
        <p:nvSpPr>
          <p:cNvPr id="4" name="Rectangle 3"/>
          <p:cNvSpPr/>
          <p:nvPr/>
        </p:nvSpPr>
        <p:spPr>
          <a:xfrm>
            <a:off x="846138" y="660400"/>
            <a:ext cx="8461375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초기 120% 이상 인력 확보를 통해 빠르게 안정화하겠습니다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138" y="1079500"/>
            <a:ext cx="84613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주5일 50석을 시작할 때 정원보다 여유 있게 인력을 확보해, 초기 이탈과 적응 기간을 흡수하고 안정화를 앞당기겠습니다.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40250" y="64770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fld id="{B6F15528-21DE-4FAA-801E-634DDDAF4B2B}" type="slidenum"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21</a:t>
            </a:fld>
            <a:r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 / 49</a:t>
            </a:r>
            <a:endParaRPr lang="ko-KR" sz="600" b="0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7" name="Pentagon 6"/>
          <p:cNvSpPr/>
          <p:nvPr/>
        </p:nvSpPr>
        <p:spPr>
          <a:xfrm>
            <a:off x="660400" y="1505712"/>
            <a:ext cx="2087884" cy="422656"/>
          </a:xfrm>
          <a:prstGeom prst="homePlate">
            <a:avLst>
              <a:gd name="adj" fmla="val 40625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/>
            <a:endParaRPr sz="1000"/>
          </a:p>
        </p:txBody>
      </p:sp>
      <p:pic>
        <p:nvPicPr>
          <p:cNvPr id="8" name="Picture 7" descr="e787_E30C60.png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98312" y="1621695"/>
            <a:ext cx="203898" cy="20389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161928" y="1505712"/>
            <a:ext cx="1422814" cy="4226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0" dirty="0">
                <a:solidFill>
                  <a:sysClr val="windowText" lastClr="000000"/>
                </a:solidFill>
                <a:latin typeface="페이퍼로지 8 ExtraBold"/>
                <a:ea typeface="페이퍼로지 8 ExtraBold"/>
                <a:cs typeface="페이퍼로지 8 ExtraBold"/>
              </a:rPr>
              <a:t>01   런칭 2개월 전</a:t>
            </a:r>
          </a:p>
        </p:txBody>
      </p:sp>
      <p:sp>
        <p:nvSpPr>
          <p:cNvPr id="10" name="Pentagon 9"/>
          <p:cNvSpPr/>
          <p:nvPr/>
        </p:nvSpPr>
        <p:spPr>
          <a:xfrm>
            <a:off x="2884569" y="1505712"/>
            <a:ext cx="2006113" cy="422656"/>
          </a:xfrm>
          <a:prstGeom prst="homePlate">
            <a:avLst>
              <a:gd name="adj" fmla="val 40625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/>
            <a:endParaRPr sz="1000"/>
          </a:p>
        </p:txBody>
      </p:sp>
      <p:pic>
        <p:nvPicPr>
          <p:cNvPr id="11" name="Picture 10" descr="e70f_E30C60.png"/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022482" y="1621695"/>
            <a:ext cx="203898" cy="20389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3386097" y="1505712"/>
            <a:ext cx="1341043" cy="4226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0">
                <a:solidFill>
                  <a:sysClr val="windowText" lastClr="000000"/>
                </a:solidFill>
                <a:latin typeface="페이퍼로지 8 ExtraBold"/>
                <a:ea typeface="페이퍼로지 8 ExtraBold"/>
                <a:cs typeface="페이퍼로지 8 ExtraBold"/>
              </a:rPr>
              <a:t>02   런칭 1개월 전</a:t>
            </a:r>
          </a:p>
        </p:txBody>
      </p:sp>
      <p:sp>
        <p:nvSpPr>
          <p:cNvPr id="13" name="Pentagon 12"/>
          <p:cNvSpPr/>
          <p:nvPr/>
        </p:nvSpPr>
        <p:spPr>
          <a:xfrm>
            <a:off x="5032419" y="1505712"/>
            <a:ext cx="2175106" cy="422656"/>
          </a:xfrm>
          <a:prstGeom prst="homePlate">
            <a:avLst>
              <a:gd name="adj" fmla="val 40625"/>
            </a:avLst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/>
            <a:endParaRPr sz="1000"/>
          </a:p>
        </p:txBody>
      </p:sp>
      <p:pic>
        <p:nvPicPr>
          <p:cNvPr id="14" name="Picture 13" descr="e902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0331" y="1621695"/>
            <a:ext cx="203898" cy="20389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533947" y="1505712"/>
            <a:ext cx="1510036" cy="4226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03   런칭 시점</a:t>
            </a:r>
          </a:p>
        </p:txBody>
      </p:sp>
      <p:sp>
        <p:nvSpPr>
          <p:cNvPr id="16" name="Pentagon 15"/>
          <p:cNvSpPr/>
          <p:nvPr/>
        </p:nvSpPr>
        <p:spPr>
          <a:xfrm>
            <a:off x="7343810" y="1505712"/>
            <a:ext cx="2000662" cy="422656"/>
          </a:xfrm>
          <a:prstGeom prst="homePlate">
            <a:avLst>
              <a:gd name="adj" fmla="val 40625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/>
            <a:endParaRPr sz="1000"/>
          </a:p>
        </p:txBody>
      </p:sp>
      <p:pic>
        <p:nvPicPr>
          <p:cNvPr id="17" name="Picture 16" descr="e908_E30C60.png"/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481723" y="1621695"/>
            <a:ext cx="203898" cy="203898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7845339" y="1505712"/>
            <a:ext cx="1335592" cy="4226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0">
                <a:solidFill>
                  <a:sysClr val="windowText" lastClr="000000"/>
                </a:solidFill>
                <a:latin typeface="페이퍼로지 8 ExtraBold"/>
                <a:ea typeface="페이퍼로지 8 ExtraBold"/>
                <a:cs typeface="페이퍼로지 8 ExtraBold"/>
              </a:rPr>
              <a:t>04   런칭 후 안정화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0400" y="1994408"/>
            <a:ext cx="2033370" cy="22321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60400" y="2060448"/>
            <a:ext cx="203337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채용 시작</a:t>
            </a:r>
          </a:p>
        </p:txBody>
      </p:sp>
      <p:sp>
        <p:nvSpPr>
          <p:cNvPr id="21" name="Oval 20"/>
          <p:cNvSpPr/>
          <p:nvPr/>
        </p:nvSpPr>
        <p:spPr>
          <a:xfrm>
            <a:off x="843022" y="2445364"/>
            <a:ext cx="49062" cy="49062"/>
          </a:xfrm>
          <a:prstGeom prst="ellipse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965677" y="2370836"/>
            <a:ext cx="1673578" cy="198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필요 시 고용승계 인력 수용</a:t>
            </a:r>
          </a:p>
        </p:txBody>
      </p:sp>
      <p:sp>
        <p:nvSpPr>
          <p:cNvPr id="23" name="Oval 22"/>
          <p:cNvSpPr/>
          <p:nvPr/>
        </p:nvSpPr>
        <p:spPr>
          <a:xfrm>
            <a:off x="843022" y="2650088"/>
            <a:ext cx="49062" cy="49062"/>
          </a:xfrm>
          <a:prstGeom prst="ellipse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965677" y="2575560"/>
            <a:ext cx="1673578" cy="198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초기 Pool 확보</a:t>
            </a:r>
          </a:p>
        </p:txBody>
      </p:sp>
      <p:pic>
        <p:nvPicPr>
          <p:cNvPr id="25" name="PART_photo" descr="c1.png"/>
          <p:cNvPicPr>
            <a:picLocks noChangeAspect="1"/>
          </p:cNvPicPr>
          <p:nvPr/>
        </p:nvPicPr>
        <p:blipFill>
          <a:blip r:embed="rId8"/>
          <a:srcRect l="4931" t="907" r="4931" b="907"/>
          <a:stretch>
            <a:fillRect/>
          </a:stretch>
        </p:blipFill>
        <p:spPr>
          <a:xfrm>
            <a:off x="725816" y="2938780"/>
            <a:ext cx="1907988" cy="1234948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2895472" y="1987992"/>
            <a:ext cx="1951599" cy="22321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895472" y="2060448"/>
            <a:ext cx="1951599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0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교육 대상자 선발</a:t>
            </a:r>
          </a:p>
        </p:txBody>
      </p:sp>
      <p:sp>
        <p:nvSpPr>
          <p:cNvPr id="28" name="Oval 27"/>
          <p:cNvSpPr/>
          <p:nvPr/>
        </p:nvSpPr>
        <p:spPr>
          <a:xfrm>
            <a:off x="3078094" y="2445364"/>
            <a:ext cx="49062" cy="49062"/>
          </a:xfrm>
          <a:prstGeom prst="ellipse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3200750" y="2370836"/>
            <a:ext cx="1591807" cy="198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사전 교육 · OJT 준비</a:t>
            </a:r>
          </a:p>
        </p:txBody>
      </p:sp>
      <p:sp>
        <p:nvSpPr>
          <p:cNvPr id="30" name="Oval 29"/>
          <p:cNvSpPr/>
          <p:nvPr/>
        </p:nvSpPr>
        <p:spPr>
          <a:xfrm>
            <a:off x="3078094" y="2650088"/>
            <a:ext cx="49062" cy="49062"/>
          </a:xfrm>
          <a:prstGeom prst="ellipse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3200750" y="2575560"/>
            <a:ext cx="1591807" cy="198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정착지원 운영</a:t>
            </a:r>
          </a:p>
        </p:txBody>
      </p:sp>
      <p:pic>
        <p:nvPicPr>
          <p:cNvPr id="32" name="PART_photo" descr="c2.png"/>
          <p:cNvPicPr>
            <a:picLocks noChangeAspect="1"/>
          </p:cNvPicPr>
          <p:nvPr/>
        </p:nvPicPr>
        <p:blipFill>
          <a:blip r:embed="rId9"/>
          <a:srcRect l="4931" t="1047" r="4931" b="1047"/>
          <a:stretch>
            <a:fillRect/>
          </a:stretch>
        </p:blipFill>
        <p:spPr>
          <a:xfrm>
            <a:off x="2960889" y="2938780"/>
            <a:ext cx="1831668" cy="1234948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7354713" y="1987992"/>
            <a:ext cx="1962502" cy="218573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354713" y="2060448"/>
            <a:ext cx="1962502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0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초기 이탈 흡수</a:t>
            </a:r>
          </a:p>
        </p:txBody>
      </p:sp>
      <p:sp>
        <p:nvSpPr>
          <p:cNvPr id="35" name="Oval 34"/>
          <p:cNvSpPr/>
          <p:nvPr/>
        </p:nvSpPr>
        <p:spPr>
          <a:xfrm>
            <a:off x="7537335" y="2445364"/>
            <a:ext cx="49062" cy="49062"/>
          </a:xfrm>
          <a:prstGeom prst="ellipse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7659992" y="2370836"/>
            <a:ext cx="1602710" cy="198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altLang="en-US" sz="9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보수 </a:t>
            </a:r>
            <a:r>
              <a:rPr lang="ko-KR" sz="9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교육 병행</a:t>
            </a:r>
          </a:p>
        </p:txBody>
      </p:sp>
      <p:sp>
        <p:nvSpPr>
          <p:cNvPr id="37" name="Oval 36"/>
          <p:cNvSpPr/>
          <p:nvPr/>
        </p:nvSpPr>
        <p:spPr>
          <a:xfrm>
            <a:off x="7537335" y="2650088"/>
            <a:ext cx="49062" cy="49062"/>
          </a:xfrm>
          <a:prstGeom prst="ellipse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7659992" y="2575560"/>
            <a:ext cx="1602710" cy="198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조기 안정화</a:t>
            </a:r>
          </a:p>
        </p:txBody>
      </p:sp>
      <p:sp>
        <p:nvSpPr>
          <p:cNvPr id="39" name="Oval 38"/>
          <p:cNvSpPr/>
          <p:nvPr/>
        </p:nvSpPr>
        <p:spPr>
          <a:xfrm>
            <a:off x="7537335" y="2854812"/>
            <a:ext cx="49062" cy="49062"/>
          </a:xfrm>
          <a:prstGeom prst="ellipse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7659992" y="2780284"/>
            <a:ext cx="1602710" cy="198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우수인력 유지</a:t>
            </a:r>
          </a:p>
        </p:txBody>
      </p:sp>
      <p:pic>
        <p:nvPicPr>
          <p:cNvPr id="41" name="PART_photo" descr="c4.png"/>
          <p:cNvPicPr>
            <a:picLocks noChangeAspect="1"/>
          </p:cNvPicPr>
          <p:nvPr/>
        </p:nvPicPr>
        <p:blipFill>
          <a:blip r:embed="rId10"/>
          <a:srcRect l="4931" t="906" r="4931" b="906"/>
          <a:stretch>
            <a:fillRect/>
          </a:stretch>
        </p:blipFill>
        <p:spPr>
          <a:xfrm>
            <a:off x="7420130" y="2951988"/>
            <a:ext cx="1853474" cy="1178560"/>
          </a:xfrm>
          <a:prstGeom prst="rect">
            <a:avLst/>
          </a:prstGeom>
        </p:spPr>
      </p:pic>
      <p:sp>
        <p:nvSpPr>
          <p:cNvPr id="43" name="Rectangle 42"/>
          <p:cNvSpPr/>
          <p:nvPr/>
        </p:nvSpPr>
        <p:spPr>
          <a:xfrm>
            <a:off x="5065127" y="2078716"/>
            <a:ext cx="2071530" cy="2113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0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정원 50명 대비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65127" y="2349433"/>
            <a:ext cx="2071530" cy="2641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2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60~65명 </a:t>
            </a:r>
            <a:r>
              <a:rPr lang="ko-KR" sz="1200" b="0" dirty="0" err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선확보</a:t>
            </a:r>
            <a:r>
              <a:rPr lang="ko-KR" sz="12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  <a:r>
              <a:rPr lang="ko-KR" sz="11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(120~130%)</a:t>
            </a:r>
          </a:p>
        </p:txBody>
      </p:sp>
      <p:pic>
        <p:nvPicPr>
          <p:cNvPr id="45" name="Picture 44" descr="e902_A9AEB8.png"/>
          <p:cNvPicPr>
            <a:picLocks noChangeAspect="1"/>
          </p:cNvPicPr>
          <p:nvPr/>
        </p:nvPicPr>
        <p:blipFill>
          <a:blip r:embed="rId11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199729" y="3164966"/>
            <a:ext cx="472186" cy="472186"/>
          </a:xfrm>
          <a:prstGeom prst="rect">
            <a:avLst/>
          </a:prstGeom>
        </p:spPr>
      </p:pic>
      <p:sp>
        <p:nvSpPr>
          <p:cNvPr id="46" name="Rectangle 45"/>
          <p:cNvSpPr/>
          <p:nvPr/>
        </p:nvSpPr>
        <p:spPr>
          <a:xfrm>
            <a:off x="5152349" y="3678428"/>
            <a:ext cx="566945" cy="217932"/>
          </a:xfrm>
          <a:prstGeom prst="rect">
            <a:avLst/>
          </a:prstGeom>
          <a:solidFill>
            <a:srgbClr val="0F1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50명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152349" y="3935984"/>
            <a:ext cx="566945" cy="1717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 dirty="0">
                <a:solidFill>
                  <a:srgbClr val="0F131F"/>
                </a:solidFill>
                <a:latin typeface="페이퍼로지 8 ExtraBold"/>
                <a:ea typeface="페이퍼로지 8 ExtraBold"/>
                <a:cs typeface="페이퍼로지 8 ExtraBold"/>
              </a:rPr>
              <a:t>정원</a:t>
            </a:r>
          </a:p>
        </p:txBody>
      </p:sp>
      <p:pic>
        <p:nvPicPr>
          <p:cNvPr id="48" name="Picture 47" descr="e902_F07EA3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00411" y="2994468"/>
            <a:ext cx="600964" cy="600964"/>
          </a:xfrm>
          <a:prstGeom prst="rect">
            <a:avLst/>
          </a:prstGeom>
        </p:spPr>
      </p:pic>
      <p:sp>
        <p:nvSpPr>
          <p:cNvPr id="49" name="Rectangle 48"/>
          <p:cNvSpPr/>
          <p:nvPr/>
        </p:nvSpPr>
        <p:spPr>
          <a:xfrm>
            <a:off x="5806517" y="3678428"/>
            <a:ext cx="577848" cy="217932"/>
          </a:xfrm>
          <a:prstGeom prst="rect">
            <a:avLst/>
          </a:prstGeom>
          <a:solidFill>
            <a:srgbClr val="F07E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60명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806517" y="3935984"/>
            <a:ext cx="577848" cy="1717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120%</a:t>
            </a:r>
          </a:p>
        </p:txBody>
      </p:sp>
      <p:pic>
        <p:nvPicPr>
          <p:cNvPr id="51" name="Picture 50" descr="e902_E30C60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49782" y="2888305"/>
            <a:ext cx="610556" cy="610556"/>
          </a:xfrm>
          <a:prstGeom prst="rect">
            <a:avLst/>
          </a:prstGeom>
        </p:spPr>
      </p:pic>
      <p:sp>
        <p:nvSpPr>
          <p:cNvPr id="52" name="Rectangle 51"/>
          <p:cNvSpPr/>
          <p:nvPr/>
        </p:nvSpPr>
        <p:spPr>
          <a:xfrm>
            <a:off x="6466136" y="3678428"/>
            <a:ext cx="588750" cy="217932"/>
          </a:xfrm>
          <a:prstGeom prst="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65명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66136" y="3935984"/>
            <a:ext cx="588750" cy="1717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130%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26479" y="2918968"/>
            <a:ext cx="130833" cy="2641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500" b="0">
                <a:solidFill>
                  <a:srgbClr val="9AA0AA"/>
                </a:solidFill>
                <a:latin typeface="페이퍼로지 8 ExtraBold"/>
                <a:ea typeface="페이퍼로지 8 ExtraBold"/>
                <a:cs typeface="페이퍼로지 8 ExtraBold"/>
              </a:rPr>
              <a:t>›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879780" y="2918968"/>
            <a:ext cx="130833" cy="2641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500" b="0">
                <a:solidFill>
                  <a:srgbClr val="9AA0AA"/>
                </a:solidFill>
                <a:latin typeface="페이퍼로지 8 ExtraBold"/>
                <a:ea typeface="페이퍼로지 8 ExtraBold"/>
                <a:cs typeface="페이퍼로지 8 ExtraBold"/>
              </a:rPr>
              <a:t>›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191172" y="2918968"/>
            <a:ext cx="130833" cy="2641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500" b="0">
                <a:solidFill>
                  <a:srgbClr val="9AA0AA"/>
                </a:solidFill>
                <a:latin typeface="페이퍼로지 8 ExtraBold"/>
                <a:ea typeface="페이퍼로지 8 ExtraBold"/>
                <a:cs typeface="페이퍼로지 8 ExtraBold"/>
              </a:rPr>
              <a:t>›</a:t>
            </a:r>
          </a:p>
        </p:txBody>
      </p: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7A743797-814D-47B3-80FE-886FD6F0FAE0}"/>
              </a:ext>
            </a:extLst>
          </p:cNvPr>
          <p:cNvGrpSpPr/>
          <p:nvPr/>
        </p:nvGrpSpPr>
        <p:grpSpPr>
          <a:xfrm>
            <a:off x="660400" y="4371848"/>
            <a:ext cx="8667718" cy="1275534"/>
            <a:chOff x="660400" y="4371848"/>
            <a:chExt cx="8667718" cy="1023620"/>
          </a:xfrm>
        </p:grpSpPr>
        <p:sp>
          <p:nvSpPr>
            <p:cNvPr id="58" name="Rounded Rectangle 57"/>
            <p:cNvSpPr/>
            <p:nvPr/>
          </p:nvSpPr>
          <p:spPr>
            <a:xfrm>
              <a:off x="660400" y="4371848"/>
              <a:ext cx="8667718" cy="1023620"/>
            </a:xfrm>
            <a:prstGeom prst="roundRect">
              <a:avLst>
                <a:gd name="adj" fmla="val 8000"/>
              </a:avLst>
            </a:prstGeom>
            <a:solidFill>
              <a:srgbClr val="F3F4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4295" rIns="74295" rtlCol="0" anchor="ctr"/>
            <a:lstStyle/>
            <a:p>
              <a:pPr algn="ctr"/>
              <a:endParaRPr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747622" y="4503928"/>
              <a:ext cx="43611" cy="739648"/>
            </a:xfrm>
            <a:prstGeom prst="rect">
              <a:avLst/>
            </a:prstGeom>
            <a:solidFill>
              <a:srgbClr val="E30C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4295" rIns="74295" rtlCol="0" anchor="ctr"/>
            <a:lstStyle/>
            <a:p>
              <a:pPr algn="ctr"/>
              <a:endParaRPr/>
            </a:p>
          </p:txBody>
        </p:sp>
        <p:pic>
          <p:nvPicPr>
            <p:cNvPr id="60" name="Picture 59" descr="e713_E30C60.png"/>
            <p:cNvPicPr>
              <a:picLocks noChangeAspect="1"/>
            </p:cNvPicPr>
            <p:nvPr/>
          </p:nvPicPr>
          <p:blipFill>
            <a:blip r:embed="rId14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929231" y="4528693"/>
              <a:ext cx="214630" cy="214630"/>
            </a:xfrm>
            <a:prstGeom prst="rect">
              <a:avLst/>
            </a:prstGeom>
          </p:spPr>
        </p:pic>
        <p:sp>
          <p:nvSpPr>
            <p:cNvPr id="61" name="Rectangle 60"/>
            <p:cNvSpPr/>
            <p:nvPr/>
          </p:nvSpPr>
          <p:spPr>
            <a:xfrm>
              <a:off x="1227345" y="4517136"/>
              <a:ext cx="948543" cy="250952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l">
                <a:lnSpc>
                  <a:spcPct val="110000"/>
                </a:lnSpc>
              </a:pPr>
              <a:r>
                <a:rPr lang="ko-KR" sz="1100" b="0">
                  <a:solidFill>
                    <a:srgbClr val="10151F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운영 원칙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932969" y="4807712"/>
              <a:ext cx="1253821" cy="554736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/>
            <a:lstStyle/>
            <a:p>
              <a:pPr algn="l">
                <a:lnSpc>
                  <a:spcPct val="135000"/>
                </a:lnSpc>
              </a:pPr>
              <a:r>
                <a:rPr lang="ko-KR" sz="900" b="0" dirty="0">
                  <a:solidFill>
                    <a:srgbClr val="6A7180"/>
                  </a:solidFill>
                  <a:latin typeface="페이퍼로지 5 Medium"/>
                  <a:ea typeface="페이퍼로지 5 Medium"/>
                  <a:cs typeface="페이퍼로지 5 Medium"/>
                </a:rPr>
                <a:t>초기 안정화를 위한</a:t>
              </a:r>
            </a:p>
            <a:p>
              <a:pPr algn="l">
                <a:lnSpc>
                  <a:spcPct val="135000"/>
                </a:lnSpc>
              </a:pPr>
              <a:r>
                <a:rPr lang="ko-KR" sz="900" b="0" dirty="0">
                  <a:solidFill>
                    <a:srgbClr val="6A7180"/>
                  </a:solidFill>
                  <a:latin typeface="페이퍼로지 5 Medium"/>
                  <a:ea typeface="페이퍼로지 5 Medium"/>
                  <a:cs typeface="페이퍼로지 5 Medium"/>
                </a:rPr>
                <a:t>3가지 인력 지원 방안을</a:t>
              </a:r>
            </a:p>
            <a:p>
              <a:pPr algn="l">
                <a:lnSpc>
                  <a:spcPct val="135000"/>
                </a:lnSpc>
              </a:pPr>
              <a:r>
                <a:rPr lang="ko-KR" sz="900" b="0" dirty="0">
                  <a:solidFill>
                    <a:srgbClr val="6A7180"/>
                  </a:solidFill>
                  <a:latin typeface="페이퍼로지 5 Medium"/>
                  <a:ea typeface="페이퍼로지 5 Medium"/>
                  <a:cs typeface="페이퍼로지 5 Medium"/>
                </a:rPr>
                <a:t>중점적으로 운영합니다.</a:t>
              </a:r>
            </a:p>
          </p:txBody>
        </p:sp>
        <p:sp>
          <p:nvSpPr>
            <p:cNvPr id="63" name="Rounded Rectangle 62"/>
            <p:cNvSpPr/>
            <p:nvPr/>
          </p:nvSpPr>
          <p:spPr>
            <a:xfrm>
              <a:off x="2241304" y="4470908"/>
              <a:ext cx="2235072" cy="845312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4295" rIns="74295" rtlCol="0" anchor="ctr"/>
            <a:lstStyle/>
            <a:p>
              <a:pPr algn="ctr"/>
              <a:endParaRPr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2339430" y="4583176"/>
              <a:ext cx="228958" cy="19812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l">
                <a:lnSpc>
                  <a:spcPct val="110000"/>
                </a:lnSpc>
              </a:pPr>
              <a:r>
                <a:rPr lang="ko-KR" sz="1000" b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페이퍼로지 8 ExtraBold"/>
                  <a:ea typeface="페이퍼로지 8 ExtraBold"/>
                  <a:cs typeface="페이퍼로지 8 ExtraBold"/>
                </a:rPr>
                <a:t>01</a:t>
              </a:r>
            </a:p>
          </p:txBody>
        </p:sp>
        <p:sp>
          <p:nvSpPr>
            <p:cNvPr id="65" name="Oval 64"/>
            <p:cNvSpPr/>
            <p:nvPr/>
          </p:nvSpPr>
          <p:spPr>
            <a:xfrm>
              <a:off x="2568388" y="4642800"/>
              <a:ext cx="501528" cy="501528"/>
            </a:xfrm>
            <a:prstGeom prst="ellipse">
              <a:avLst/>
            </a:prstGeom>
            <a:solidFill>
              <a:srgbClr val="F3F4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4295" rIns="74295" rtlCol="0" anchor="ctr"/>
            <a:lstStyle/>
            <a:p>
              <a:pPr algn="ctr"/>
              <a:endParaRPr/>
            </a:p>
          </p:txBody>
        </p:sp>
        <p:pic>
          <p:nvPicPr>
            <p:cNvPr id="66" name="Picture 65" descr="e716_E30C60.png"/>
            <p:cNvPicPr>
              <a:picLocks noChangeAspect="1"/>
            </p:cNvPicPr>
            <p:nvPr/>
          </p:nvPicPr>
          <p:blipFill>
            <a:blip r:embed="rId15">
              <a:biLevel thresh="75000"/>
            </a:blip>
            <a:stretch>
              <a:fillRect/>
            </a:stretch>
          </p:blipFill>
          <p:spPr>
            <a:xfrm>
              <a:off x="2683399" y="4757810"/>
              <a:ext cx="271507" cy="271507"/>
            </a:xfrm>
            <a:prstGeom prst="rect">
              <a:avLst/>
            </a:prstGeom>
          </p:spPr>
        </p:pic>
        <p:sp>
          <p:nvSpPr>
            <p:cNvPr id="67" name="Rectangle 66"/>
            <p:cNvSpPr/>
            <p:nvPr/>
          </p:nvSpPr>
          <p:spPr>
            <a:xfrm>
              <a:off x="3157139" y="4583176"/>
              <a:ext cx="1275626" cy="211328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l">
                <a:lnSpc>
                  <a:spcPct val="110000"/>
                </a:lnSpc>
              </a:pPr>
              <a:r>
                <a:rPr lang="ko-KR" sz="1000" b="0" dirty="0">
                  <a:solidFill>
                    <a:srgbClr val="E30C60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고용승계 유연 수용</a:t>
              </a:r>
            </a:p>
          </p:txBody>
        </p:sp>
        <p:sp>
          <p:nvSpPr>
            <p:cNvPr id="68" name="Rectangle 67"/>
            <p:cNvSpPr/>
            <p:nvPr/>
          </p:nvSpPr>
          <p:spPr>
            <a:xfrm>
              <a:off x="3157139" y="4820920"/>
              <a:ext cx="1275626" cy="422656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/>
            <a:lstStyle/>
            <a:p>
              <a:pPr algn="l">
                <a:lnSpc>
                  <a:spcPct val="135000"/>
                </a:lnSpc>
              </a:pPr>
              <a:r>
                <a:rPr lang="ko-KR" sz="900" b="0" dirty="0">
                  <a:solidFill>
                    <a:srgbClr val="10151F"/>
                  </a:solidFill>
                  <a:latin typeface="페이퍼로지 5 Medium"/>
                  <a:ea typeface="페이퍼로지 5 Medium"/>
                  <a:cs typeface="페이퍼로지 5 Medium"/>
                </a:rPr>
                <a:t>필요 시 즉시 전력화 가능한</a:t>
              </a:r>
            </a:p>
            <a:p>
              <a:pPr algn="l">
                <a:lnSpc>
                  <a:spcPct val="135000"/>
                </a:lnSpc>
              </a:pPr>
              <a:r>
                <a:rPr lang="ko-KR" sz="900" b="0" dirty="0">
                  <a:solidFill>
                    <a:srgbClr val="10151F"/>
                  </a:solidFill>
                  <a:latin typeface="페이퍼로지 5 Medium"/>
                  <a:ea typeface="페이퍼로지 5 Medium"/>
                  <a:cs typeface="페이퍼로지 5 Medium"/>
                </a:rPr>
                <a:t>인력 기반 확보</a:t>
              </a:r>
            </a:p>
          </p:txBody>
        </p:sp>
        <p:sp>
          <p:nvSpPr>
            <p:cNvPr id="69" name="Rounded Rectangle 68"/>
            <p:cNvSpPr/>
            <p:nvPr/>
          </p:nvSpPr>
          <p:spPr>
            <a:xfrm>
              <a:off x="4585405" y="4470908"/>
              <a:ext cx="2333197" cy="845312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4295" rIns="74295" rtlCol="0" anchor="ctr"/>
            <a:lstStyle/>
            <a:p>
              <a:pPr algn="ctr"/>
              <a:endParaRPr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4683530" y="4583176"/>
              <a:ext cx="228958" cy="19812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l">
                <a:lnSpc>
                  <a:spcPct val="110000"/>
                </a:lnSpc>
              </a:pPr>
              <a:r>
                <a:rPr lang="ko-KR" sz="1000" b="0">
                  <a:solidFill>
                    <a:schemeClr val="tx1">
                      <a:lumMod val="50000"/>
                      <a:lumOff val="50000"/>
                    </a:schemeClr>
                  </a:solidFill>
                  <a:latin typeface="페이퍼로지 8 ExtraBold"/>
                  <a:ea typeface="페이퍼로지 8 ExtraBold"/>
                  <a:cs typeface="페이퍼로지 8 ExtraBold"/>
                </a:rPr>
                <a:t>02</a:t>
              </a:r>
            </a:p>
          </p:txBody>
        </p:sp>
        <p:sp>
          <p:nvSpPr>
            <p:cNvPr id="71" name="Oval 70"/>
            <p:cNvSpPr/>
            <p:nvPr/>
          </p:nvSpPr>
          <p:spPr>
            <a:xfrm>
              <a:off x="4912488" y="4642800"/>
              <a:ext cx="501528" cy="501528"/>
            </a:xfrm>
            <a:prstGeom prst="ellipse">
              <a:avLst/>
            </a:prstGeom>
            <a:solidFill>
              <a:srgbClr val="F3F4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4295" rIns="74295" rtlCol="0" anchor="ctr"/>
            <a:lstStyle/>
            <a:p>
              <a:pPr algn="ctr"/>
              <a:endParaRPr/>
            </a:p>
          </p:txBody>
        </p:sp>
        <p:pic>
          <p:nvPicPr>
            <p:cNvPr id="72" name="Picture 71" descr="e9f9_E30C60.png"/>
            <p:cNvPicPr>
              <a:picLocks noChangeAspect="1"/>
            </p:cNvPicPr>
            <p:nvPr/>
          </p:nvPicPr>
          <p:blipFill>
            <a:blip r:embed="rId16">
              <a:biLevel thresh="75000"/>
            </a:blip>
            <a:stretch>
              <a:fillRect/>
            </a:stretch>
          </p:blipFill>
          <p:spPr>
            <a:xfrm>
              <a:off x="5027499" y="4757810"/>
              <a:ext cx="271507" cy="271507"/>
            </a:xfrm>
            <a:prstGeom prst="rect">
              <a:avLst/>
            </a:prstGeom>
          </p:spPr>
        </p:pic>
        <p:sp>
          <p:nvSpPr>
            <p:cNvPr id="73" name="Rectangle 72"/>
            <p:cNvSpPr/>
            <p:nvPr/>
          </p:nvSpPr>
          <p:spPr>
            <a:xfrm>
              <a:off x="5501239" y="4583176"/>
              <a:ext cx="1373751" cy="211328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l">
                <a:lnSpc>
                  <a:spcPct val="110000"/>
                </a:lnSpc>
              </a:pPr>
              <a:r>
                <a:rPr lang="ko-KR" sz="1000" b="0" dirty="0">
                  <a:solidFill>
                    <a:srgbClr val="E30C60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정착지원</a:t>
              </a:r>
              <a:r>
                <a:rPr lang="ko-KR" altLang="en-US" sz="1000" b="0" dirty="0">
                  <a:solidFill>
                    <a:srgbClr val="E30C60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비용</a:t>
              </a:r>
              <a:r>
                <a:rPr lang="ko-KR" sz="1000" b="0" dirty="0">
                  <a:solidFill>
                    <a:srgbClr val="E30C60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 강화</a:t>
              </a: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5501239" y="4820920"/>
              <a:ext cx="1373751" cy="422656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/>
            <a:lstStyle/>
            <a:p>
              <a:pPr algn="l">
                <a:lnSpc>
                  <a:spcPct val="135000"/>
                </a:lnSpc>
              </a:pPr>
              <a:r>
                <a:rPr lang="ko-KR" sz="900" b="0" dirty="0">
                  <a:solidFill>
                    <a:srgbClr val="10151F"/>
                  </a:solidFill>
                  <a:latin typeface="페이퍼로지 5 Medium"/>
                  <a:ea typeface="페이퍼로지 5 Medium"/>
                  <a:cs typeface="페이퍼로지 5 Medium"/>
                </a:rPr>
                <a:t>초기 적응과 잔류 유도를 위한</a:t>
              </a:r>
            </a:p>
            <a:p>
              <a:pPr algn="l">
                <a:lnSpc>
                  <a:spcPct val="135000"/>
                </a:lnSpc>
              </a:pPr>
              <a:r>
                <a:rPr lang="ko-KR" sz="900" b="0" dirty="0">
                  <a:solidFill>
                    <a:srgbClr val="10151F"/>
                  </a:solidFill>
                  <a:latin typeface="페이퍼로지 5 Medium"/>
                  <a:ea typeface="페이퍼로지 5 Medium"/>
                  <a:cs typeface="페이퍼로지 5 Medium"/>
                </a:rPr>
                <a:t>운영 지원</a:t>
              </a:r>
            </a:p>
          </p:txBody>
        </p:sp>
        <p:sp>
          <p:nvSpPr>
            <p:cNvPr id="75" name="Rounded Rectangle 74"/>
            <p:cNvSpPr/>
            <p:nvPr/>
          </p:nvSpPr>
          <p:spPr>
            <a:xfrm>
              <a:off x="7027629" y="4470908"/>
              <a:ext cx="2207815" cy="845312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4295" rIns="74295" rtlCol="0" anchor="ctr"/>
            <a:lstStyle/>
            <a:p>
              <a:pPr algn="ctr"/>
              <a:endParaRPr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7125755" y="4583176"/>
              <a:ext cx="228958" cy="19812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l">
                <a:lnSpc>
                  <a:spcPct val="110000"/>
                </a:lnSpc>
              </a:pPr>
              <a:r>
                <a:rPr lang="ko-KR" sz="1000" b="0">
                  <a:solidFill>
                    <a:schemeClr val="tx1">
                      <a:lumMod val="50000"/>
                      <a:lumOff val="50000"/>
                    </a:schemeClr>
                  </a:solidFill>
                  <a:latin typeface="페이퍼로지 8 ExtraBold"/>
                  <a:ea typeface="페이퍼로지 8 ExtraBold"/>
                  <a:cs typeface="페이퍼로지 8 ExtraBold"/>
                </a:rPr>
                <a:t>03</a:t>
              </a:r>
            </a:p>
          </p:txBody>
        </p:sp>
        <p:sp>
          <p:nvSpPr>
            <p:cNvPr id="77" name="Oval 76"/>
            <p:cNvSpPr/>
            <p:nvPr/>
          </p:nvSpPr>
          <p:spPr>
            <a:xfrm>
              <a:off x="7354713" y="4642800"/>
              <a:ext cx="501528" cy="501528"/>
            </a:xfrm>
            <a:prstGeom prst="ellipse">
              <a:avLst/>
            </a:prstGeom>
            <a:solidFill>
              <a:srgbClr val="F3F4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4295" rIns="74295" rtlCol="0" anchor="ctr"/>
            <a:lstStyle/>
            <a:p>
              <a:pPr algn="ctr"/>
              <a:endParaRPr/>
            </a:p>
          </p:txBody>
        </p:sp>
        <p:pic>
          <p:nvPicPr>
            <p:cNvPr id="78" name="Picture 77" descr="e734_E30C60.png"/>
            <p:cNvPicPr>
              <a:picLocks noChangeAspect="1"/>
            </p:cNvPicPr>
            <p:nvPr/>
          </p:nvPicPr>
          <p:blipFill>
            <a:blip r:embed="rId17">
              <a:biLevel thresh="75000"/>
            </a:blip>
            <a:stretch>
              <a:fillRect/>
            </a:stretch>
          </p:blipFill>
          <p:spPr>
            <a:xfrm>
              <a:off x="7469724" y="4757810"/>
              <a:ext cx="271507" cy="271507"/>
            </a:xfrm>
            <a:prstGeom prst="rect">
              <a:avLst/>
            </a:prstGeom>
          </p:spPr>
        </p:pic>
        <p:sp>
          <p:nvSpPr>
            <p:cNvPr id="79" name="Rectangle 78"/>
            <p:cNvSpPr/>
            <p:nvPr/>
          </p:nvSpPr>
          <p:spPr>
            <a:xfrm>
              <a:off x="7943464" y="4583176"/>
              <a:ext cx="1248369" cy="211328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l">
                <a:lnSpc>
                  <a:spcPct val="110000"/>
                </a:lnSpc>
              </a:pPr>
              <a:r>
                <a:rPr lang="ko-KR" sz="1000" b="0" dirty="0">
                  <a:solidFill>
                    <a:srgbClr val="E30C60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포상제도 강화</a:t>
              </a:r>
            </a:p>
          </p:txBody>
        </p:sp>
        <p:sp>
          <p:nvSpPr>
            <p:cNvPr id="80" name="Rectangle 79"/>
            <p:cNvSpPr/>
            <p:nvPr/>
          </p:nvSpPr>
          <p:spPr>
            <a:xfrm>
              <a:off x="7943464" y="4820920"/>
              <a:ext cx="1248369" cy="422656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/>
            <a:lstStyle/>
            <a:p>
              <a:pPr algn="l">
                <a:lnSpc>
                  <a:spcPct val="135000"/>
                </a:lnSpc>
              </a:pPr>
              <a:r>
                <a:rPr lang="ko-KR" sz="900" b="0">
                  <a:solidFill>
                    <a:srgbClr val="10151F"/>
                  </a:solidFill>
                  <a:latin typeface="페이퍼로지 5 Medium"/>
                  <a:ea typeface="페이퍼로지 5 Medium"/>
                  <a:cs typeface="페이퍼로지 5 Medium"/>
                </a:rPr>
                <a:t>내부 동기부여를 통한</a:t>
              </a:r>
            </a:p>
            <a:p>
              <a:pPr algn="l">
                <a:lnSpc>
                  <a:spcPct val="135000"/>
                </a:lnSpc>
              </a:pPr>
              <a:r>
                <a:rPr lang="ko-KR" sz="900" b="0">
                  <a:solidFill>
                    <a:srgbClr val="10151F"/>
                  </a:solidFill>
                  <a:latin typeface="페이퍼로지 5 Medium"/>
                  <a:ea typeface="페이퍼로지 5 Medium"/>
                  <a:cs typeface="페이퍼로지 5 Medium"/>
                </a:rPr>
                <a:t>안정적 정착 유도</a:t>
              </a:r>
            </a:p>
          </p:txBody>
        </p:sp>
      </p:grpSp>
      <p:sp>
        <p:nvSpPr>
          <p:cNvPr id="84" name="Rectangle 83"/>
          <p:cNvSpPr/>
          <p:nvPr/>
        </p:nvSpPr>
        <p:spPr>
          <a:xfrm>
            <a:off x="725816" y="5692458"/>
            <a:ext cx="8536886" cy="5613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2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“필요 인원만 채우는 운영이 아니라, 런칭 초기 안정화를 위한 </a:t>
            </a:r>
            <a:r>
              <a:rPr lang="ko-KR" sz="12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선제적 인력 운영</a:t>
            </a:r>
            <a:r>
              <a:rPr lang="ko-KR" sz="12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”</a:t>
            </a:r>
          </a:p>
        </p:txBody>
      </p:sp>
      <p:pic>
        <p:nvPicPr>
          <p:cNvPr id="87" name="Picture 86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929606" y="381000"/>
            <a:ext cx="61912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 dirty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3-1 ① 운영 전략 · 고용승계 우수사례</a:t>
            </a:r>
          </a:p>
        </p:txBody>
      </p:sp>
      <p:sp>
        <p:nvSpPr>
          <p:cNvPr id="4" name="Rectangle 3"/>
          <p:cNvSpPr/>
          <p:nvPr/>
        </p:nvSpPr>
        <p:spPr>
          <a:xfrm>
            <a:off x="846138" y="660400"/>
            <a:ext cx="8461375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0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고용승계 운영 역량</a:t>
            </a:r>
            <a:r>
              <a:rPr lang="ko-KR" sz="2000" b="1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 및 인력 연속성 확보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138" y="1079500"/>
            <a:ext cx="84613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고용승계 조건이 있을 때도 검증된 승계 노하우로 초기 안정화와 인력 연속성을 함께 지켜 왔습니다.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40250" y="64770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fld id="{B6F15528-21DE-4FAA-801E-634DDDAF4B2B}" type="slidenum">
              <a:rPr lang="en-US" altLang="ko-KR" sz="600" b="1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22</a:t>
            </a:fld>
            <a:r>
              <a:rPr lang="en-US" altLang="ko-KR" sz="600" b="1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 / 49</a:t>
            </a:r>
            <a:endParaRPr lang="ko-KR" sz="600" b="1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pic>
        <p:nvPicPr>
          <p:cNvPr id="9" name="Picture 8" descr="e713_5F636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241" y="1529750"/>
            <a:ext cx="193167" cy="19316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976443" y="1439672"/>
            <a:ext cx="4317505" cy="37715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1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고용승계 핵심 운영 원칙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0400" y="1870705"/>
            <a:ext cx="4808130" cy="216864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12" name="PART_photo" descr="succ_photo.png"/>
          <p:cNvPicPr>
            <a:picLocks noChangeAspect="1"/>
          </p:cNvPicPr>
          <p:nvPr/>
        </p:nvPicPr>
        <p:blipFill>
          <a:blip r:embed="rId4"/>
          <a:srcRect l="5919" r="5919"/>
          <a:stretch>
            <a:fillRect/>
          </a:stretch>
        </p:blipFill>
        <p:spPr>
          <a:xfrm>
            <a:off x="714914" y="2800124"/>
            <a:ext cx="2120592" cy="1185344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14914" y="1911115"/>
            <a:ext cx="2120592" cy="848599"/>
          </a:xfrm>
          <a:prstGeom prst="rect">
            <a:avLst/>
          </a:prstGeom>
          <a:solidFill>
            <a:srgbClr val="0F1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3942" y="1938055"/>
            <a:ext cx="1984308" cy="79471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ko-KR" sz="1300" b="1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안정적 </a:t>
            </a:r>
            <a:r>
              <a:rPr lang="ko-KR" altLang="en-US" sz="1500" dirty="0">
                <a:solidFill>
                  <a:srgbClr val="FF6B9A"/>
                </a:solidFill>
                <a:latin typeface="페이퍼로지 8 ExtraBold"/>
                <a:ea typeface="페이퍼로지 8 ExtraBold"/>
              </a:rPr>
              <a:t>승계 운영</a:t>
            </a:r>
          </a:p>
          <a:p>
            <a:pPr algn="l">
              <a:lnSpc>
                <a:spcPct val="140000"/>
              </a:lnSpc>
            </a:pPr>
            <a:r>
              <a:rPr lang="ko-KR" sz="900" b="0" dirty="0">
                <a:solidFill>
                  <a:srgbClr val="D5D8DE"/>
                </a:solidFill>
                <a:latin typeface="페이퍼로지 5 Medium"/>
                <a:ea typeface="페이퍼로지 5 Medium"/>
                <a:cs typeface="페이퍼로지 5 Medium"/>
              </a:rPr>
              <a:t>연속성 확보와 초기 안정화를 동시에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95472" y="1911115"/>
            <a:ext cx="2518544" cy="66002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971791" y="1978465"/>
            <a:ext cx="185347" cy="20204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17" name="Oval 16"/>
          <p:cNvSpPr/>
          <p:nvPr/>
        </p:nvSpPr>
        <p:spPr>
          <a:xfrm>
            <a:off x="3184396" y="2035426"/>
            <a:ext cx="403403" cy="411399"/>
          </a:xfrm>
          <a:prstGeom prst="ellipse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18" name="Picture 17" descr="e77b_5F636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2861" y="2135843"/>
            <a:ext cx="206473" cy="206473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3680473" y="1991934"/>
            <a:ext cx="1722641" cy="242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경력 인정 및 연속근무 기반 마련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80473" y="2247861"/>
            <a:ext cx="1722641" cy="28286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기존 경력 인정으로 근속 단절 방지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95472" y="2611546"/>
            <a:ext cx="2518544" cy="66002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971791" y="2678896"/>
            <a:ext cx="185347" cy="20204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23" name="Oval 22"/>
          <p:cNvSpPr/>
          <p:nvPr/>
        </p:nvSpPr>
        <p:spPr>
          <a:xfrm>
            <a:off x="3184396" y="2735857"/>
            <a:ext cx="403403" cy="411399"/>
          </a:xfrm>
          <a:prstGeom prst="ellipse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24" name="Picture 23" descr="e8c7_5F636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82861" y="2836274"/>
            <a:ext cx="206473" cy="206473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3680473" y="2692365"/>
            <a:ext cx="1722641" cy="242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급여 · 복리후생 연계 검토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80473" y="2948292"/>
            <a:ext cx="1722641" cy="28286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기존 처우를 고려해 유연하게 연계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95472" y="3311977"/>
            <a:ext cx="2518544" cy="66002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971791" y="3379326"/>
            <a:ext cx="185347" cy="20204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29" name="Oval 28"/>
          <p:cNvSpPr/>
          <p:nvPr/>
        </p:nvSpPr>
        <p:spPr>
          <a:xfrm>
            <a:off x="3184396" y="3436288"/>
            <a:ext cx="403403" cy="411399"/>
          </a:xfrm>
          <a:prstGeom prst="ellipse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30" name="Picture 29" descr="e8bd_5F636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82861" y="3536705"/>
            <a:ext cx="206473" cy="206473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3680473" y="3392795"/>
            <a:ext cx="1722641" cy="242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초기 적응을 돕는 승계 커뮤니케이션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80473" y="3648723"/>
            <a:ext cx="1722641" cy="28286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사전 안내·개별 상담으로 불안감 해소</a:t>
            </a:r>
          </a:p>
        </p:txBody>
      </p:sp>
      <p:pic>
        <p:nvPicPr>
          <p:cNvPr id="35" name="Picture 34" descr="e908_5F636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47399" y="1529750"/>
            <a:ext cx="193167" cy="193167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5907073" y="1439672"/>
            <a:ext cx="3314448" cy="37715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고용승계 성과 지표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64227" y="1587450"/>
            <a:ext cx="1668127" cy="37715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다수 센터 승계 경험 기반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544850" y="1870705"/>
            <a:ext cx="3805074" cy="216864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5621170" y="1951525"/>
            <a:ext cx="1493682" cy="956357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719295" y="2018873"/>
            <a:ext cx="1362848" cy="20204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승계 성공률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19295" y="2234391"/>
            <a:ext cx="1362848" cy="3906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1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95%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19295" y="2705835"/>
            <a:ext cx="1297432" cy="67349"/>
          </a:xfrm>
          <a:prstGeom prst="rect">
            <a:avLst/>
          </a:prstGeom>
          <a:solidFill>
            <a:srgbClr val="E4E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719295" y="2705835"/>
            <a:ext cx="1232560" cy="67349"/>
          </a:xfrm>
          <a:prstGeom prst="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5621170" y="2975232"/>
            <a:ext cx="1493682" cy="956357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719295" y="3042581"/>
            <a:ext cx="1362848" cy="20204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altLang="en-US" sz="900" b="1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투입 후 </a:t>
            </a:r>
            <a:r>
              <a:rPr lang="ko-KR" sz="900" b="1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인원 </a:t>
            </a:r>
            <a:r>
              <a:rPr lang="ko-KR" sz="900" b="1" dirty="0" err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유지율</a:t>
            </a:r>
            <a:endParaRPr lang="ko-KR" sz="900" b="1" dirty="0">
              <a:solidFill>
                <a:srgbClr val="10151F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5719295" y="3258098"/>
            <a:ext cx="1362848" cy="3906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100" b="1">
                <a:solidFill>
                  <a:srgbClr val="5F6368"/>
                </a:solidFill>
                <a:latin typeface="페이퍼로지 8 ExtraBold"/>
                <a:ea typeface="페이퍼로지 8 ExtraBold"/>
                <a:cs typeface="페이퍼로지 8 ExtraBold"/>
              </a:rPr>
              <a:t>92%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719295" y="3729541"/>
            <a:ext cx="1297432" cy="67349"/>
          </a:xfrm>
          <a:prstGeom prst="rect">
            <a:avLst/>
          </a:prstGeom>
          <a:solidFill>
            <a:srgbClr val="E4E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719295" y="3729541"/>
            <a:ext cx="1193637" cy="67349"/>
          </a:xfrm>
          <a:prstGeom prst="rect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cxnSp>
        <p:nvCxnSpPr>
          <p:cNvPr id="49" name="Connector 48"/>
          <p:cNvCxnSpPr/>
          <p:nvPr/>
        </p:nvCxnSpPr>
        <p:spPr>
          <a:xfrm>
            <a:off x="7191172" y="2072753"/>
            <a:ext cx="1" cy="1818426"/>
          </a:xfrm>
          <a:prstGeom prst="line">
            <a:avLst/>
          </a:prstGeom>
          <a:ln w="12700">
            <a:solidFill>
              <a:srgbClr val="D7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7256589" y="1897646"/>
            <a:ext cx="2017016" cy="242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최근 주요 수행 사례</a:t>
            </a:r>
          </a:p>
        </p:txBody>
      </p:sp>
      <p:graphicFrame>
        <p:nvGraphicFramePr>
          <p:cNvPr id="51" name="Table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8284263"/>
              </p:ext>
            </p:extLst>
          </p:nvPr>
        </p:nvGraphicFramePr>
        <p:xfrm>
          <a:off x="7256589" y="2193982"/>
          <a:ext cx="2038820" cy="167741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795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9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95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483">
                <a:tc>
                  <a:txBody>
                    <a:bodyPr/>
                    <a:lstStyle/>
                    <a:p>
                      <a:pPr algn="ctr"/>
                      <a:r>
                        <a:rPr lang="ko-KR" sz="900" b="1" dirty="0">
                          <a:solidFill>
                            <a:srgbClr val="10151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센터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00" b="1" dirty="0" err="1">
                          <a:solidFill>
                            <a:srgbClr val="10151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승계율</a:t>
                      </a:r>
                      <a:endParaRPr lang="ko-KR" sz="900" b="1" dirty="0">
                        <a:solidFill>
                          <a:srgbClr val="10151F"/>
                        </a:solidFill>
                        <a:latin typeface="페이퍼로지 8 ExtraBold"/>
                        <a:ea typeface="페이퍼로지 8 ExtraBold"/>
                        <a:cs typeface="페이퍼로지 8 ExtraBold"/>
                      </a:endParaRP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00" b="1" dirty="0">
                          <a:solidFill>
                            <a:srgbClr val="10151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승계/총원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483">
                <a:tc>
                  <a:txBody>
                    <a:bodyPr/>
                    <a:lstStyle/>
                    <a:p>
                      <a:pPr algn="ctr"/>
                      <a:r>
                        <a:rPr lang="ko-KR" sz="900" b="1" dirty="0">
                          <a:solidFill>
                            <a:srgbClr val="10151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금융 </a:t>
                      </a:r>
                      <a:r>
                        <a:rPr lang="ko-KR" sz="900" b="1" dirty="0" err="1">
                          <a:solidFill>
                            <a:srgbClr val="10151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A</a:t>
                      </a:r>
                      <a:endParaRPr lang="ko-KR" sz="900" b="1" dirty="0">
                        <a:solidFill>
                          <a:srgbClr val="10151F"/>
                        </a:solidFill>
                        <a:latin typeface="페이퍼로지 8 ExtraBold"/>
                        <a:ea typeface="페이퍼로지 8 ExtraBold"/>
                        <a:cs typeface="페이퍼로지 8 ExtraBold"/>
                      </a:endParaRP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00" b="0">
                          <a:solidFill>
                            <a:srgbClr val="E30C60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96%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00" b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123/128명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483">
                <a:tc>
                  <a:txBody>
                    <a:bodyPr/>
                    <a:lstStyle/>
                    <a:p>
                      <a:pPr algn="ctr"/>
                      <a:r>
                        <a:rPr lang="ko-KR" sz="900" b="1" dirty="0">
                          <a:solidFill>
                            <a:srgbClr val="10151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보험 </a:t>
                      </a:r>
                      <a:r>
                        <a:rPr lang="ko-KR" sz="900" b="1" dirty="0" err="1">
                          <a:solidFill>
                            <a:srgbClr val="10151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B</a:t>
                      </a:r>
                      <a:endParaRPr lang="ko-KR" sz="900" b="1" dirty="0">
                        <a:solidFill>
                          <a:srgbClr val="10151F"/>
                        </a:solidFill>
                        <a:latin typeface="페이퍼로지 8 ExtraBold"/>
                        <a:ea typeface="페이퍼로지 8 ExtraBold"/>
                        <a:cs typeface="페이퍼로지 8 ExtraBold"/>
                      </a:endParaRP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00" b="0" dirty="0">
                          <a:solidFill>
                            <a:srgbClr val="E30C60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92%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00" b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182/197명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483">
                <a:tc>
                  <a:txBody>
                    <a:bodyPr/>
                    <a:lstStyle/>
                    <a:p>
                      <a:pPr algn="ctr"/>
                      <a:r>
                        <a:rPr lang="ko-KR" sz="900" b="1">
                          <a:solidFill>
                            <a:srgbClr val="10151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유통 C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00" b="0" dirty="0">
                          <a:solidFill>
                            <a:srgbClr val="E30C60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94%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00" b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94/100명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484">
                <a:tc>
                  <a:txBody>
                    <a:bodyPr/>
                    <a:lstStyle/>
                    <a:p>
                      <a:pPr algn="ctr"/>
                      <a:r>
                        <a:rPr lang="ko-KR" sz="900" b="1">
                          <a:solidFill>
                            <a:srgbClr val="10151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모빌리티 D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00" b="0" dirty="0">
                          <a:solidFill>
                            <a:srgbClr val="E30C60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100%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33/33명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4" name="Picture 53" descr="e81d_5F636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3648" y="4232135"/>
            <a:ext cx="150241" cy="150241"/>
          </a:xfrm>
          <a:prstGeom prst="rect">
            <a:avLst/>
          </a:prstGeom>
        </p:spPr>
      </p:pic>
      <p:sp>
        <p:nvSpPr>
          <p:cNvPr id="55" name="Rectangle 54"/>
          <p:cNvSpPr/>
          <p:nvPr/>
        </p:nvSpPr>
        <p:spPr>
          <a:xfrm>
            <a:off x="1004151" y="4147106"/>
            <a:ext cx="8198898" cy="3232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안정적 승계를 만든 실행 포인트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04011" y="4524262"/>
            <a:ext cx="1391923" cy="121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780331" y="4578141"/>
            <a:ext cx="305277" cy="18857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9AA0AA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58" name="Oval 57"/>
          <p:cNvSpPr/>
          <p:nvPr/>
        </p:nvSpPr>
        <p:spPr>
          <a:xfrm>
            <a:off x="1209173" y="4572136"/>
            <a:ext cx="381597" cy="389161"/>
          </a:xfrm>
          <a:prstGeom prst="ellipse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59" name="Picture 58" descr="e716_5F636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02316" y="4667126"/>
            <a:ext cx="195313" cy="195313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736719" y="5022645"/>
            <a:ext cx="1326506" cy="20204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1:1 승계자 안내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6719" y="5238163"/>
            <a:ext cx="1326506" cy="4579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개별 맞춤 안내로</a:t>
            </a:r>
          </a:p>
          <a:p>
            <a:pPr algn="ctr">
              <a:lnSpc>
                <a:spcPct val="13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정확한 정보 제공·신뢰 구축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139545" y="4524262"/>
            <a:ext cx="1391923" cy="121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2215865" y="4578141"/>
            <a:ext cx="305277" cy="18857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9AA0AA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64" name="Oval 63"/>
          <p:cNvSpPr/>
          <p:nvPr/>
        </p:nvSpPr>
        <p:spPr>
          <a:xfrm>
            <a:off x="2644708" y="4572136"/>
            <a:ext cx="381597" cy="389161"/>
          </a:xfrm>
          <a:prstGeom prst="ellipse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65" name="Picture 64" descr="e7f4_5F6368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37849" y="4667126"/>
            <a:ext cx="195313" cy="195313"/>
          </a:xfrm>
          <a:prstGeom prst="rect">
            <a:avLst/>
          </a:prstGeom>
        </p:spPr>
      </p:pic>
      <p:sp>
        <p:nvSpPr>
          <p:cNvPr id="66" name="Rectangle 65"/>
          <p:cNvSpPr/>
          <p:nvPr/>
        </p:nvSpPr>
        <p:spPr>
          <a:xfrm>
            <a:off x="2172254" y="5022645"/>
            <a:ext cx="1326506" cy="20204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현장 설명회 및 Q&amp;A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172254" y="5238163"/>
            <a:ext cx="1326506" cy="4579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설명회와 질의응답으로</a:t>
            </a:r>
          </a:p>
          <a:p>
            <a:pPr algn="ctr">
              <a:lnSpc>
                <a:spcPct val="13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궁금증 해소·수용성 제고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575079" y="4524262"/>
            <a:ext cx="1391923" cy="121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3651399" y="4578141"/>
            <a:ext cx="305277" cy="18857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9AA0AA"/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70" name="Oval 69"/>
          <p:cNvSpPr/>
          <p:nvPr/>
        </p:nvSpPr>
        <p:spPr>
          <a:xfrm>
            <a:off x="4080242" y="4572136"/>
            <a:ext cx="381597" cy="389161"/>
          </a:xfrm>
          <a:prstGeom prst="ellipse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71" name="Picture 70" descr="e8a5_5F6368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73384" y="4667126"/>
            <a:ext cx="195313" cy="195313"/>
          </a:xfrm>
          <a:prstGeom prst="rect">
            <a:avLst/>
          </a:prstGeom>
        </p:spPr>
      </p:pic>
      <p:sp>
        <p:nvSpPr>
          <p:cNvPr id="72" name="Rectangle 71"/>
          <p:cNvSpPr/>
          <p:nvPr/>
        </p:nvSpPr>
        <p:spPr>
          <a:xfrm>
            <a:off x="3607788" y="5022645"/>
            <a:ext cx="1326506" cy="20204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근로조건·복리후생 안내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607788" y="5238163"/>
            <a:ext cx="1326506" cy="4579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급여·복리후생·근무제도 등</a:t>
            </a:r>
          </a:p>
          <a:p>
            <a:pPr algn="ctr">
              <a:lnSpc>
                <a:spcPct val="13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주요 조건 상세 안내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010614" y="4524262"/>
            <a:ext cx="1391923" cy="121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5086932" y="4578141"/>
            <a:ext cx="305277" cy="18857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9AA0AA"/>
                </a:solidFill>
                <a:latin typeface="페이퍼로지 8 ExtraBold"/>
                <a:ea typeface="페이퍼로지 8 ExtraBold"/>
                <a:cs typeface="페이퍼로지 8 ExtraBold"/>
              </a:rPr>
              <a:t>04</a:t>
            </a:r>
          </a:p>
        </p:txBody>
      </p:sp>
      <p:sp>
        <p:nvSpPr>
          <p:cNvPr id="76" name="Oval 75"/>
          <p:cNvSpPr/>
          <p:nvPr/>
        </p:nvSpPr>
        <p:spPr>
          <a:xfrm>
            <a:off x="5515776" y="4572136"/>
            <a:ext cx="381597" cy="389161"/>
          </a:xfrm>
          <a:prstGeom prst="ellipse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77" name="Picture 76" descr="e902_5F6368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08918" y="4667126"/>
            <a:ext cx="195313" cy="195313"/>
          </a:xfrm>
          <a:prstGeom prst="rect">
            <a:avLst/>
          </a:prstGeom>
        </p:spPr>
      </p:pic>
      <p:sp>
        <p:nvSpPr>
          <p:cNvPr id="78" name="Rectangle 77"/>
          <p:cNvSpPr/>
          <p:nvPr/>
        </p:nvSpPr>
        <p:spPr>
          <a:xfrm>
            <a:off x="5043322" y="5022645"/>
            <a:ext cx="1326506" cy="20204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핵심인력 조기면담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043322" y="5238163"/>
            <a:ext cx="1326506" cy="4579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주요 인력 사전 면담으로</a:t>
            </a:r>
          </a:p>
          <a:p>
            <a:pPr algn="ctr">
              <a:lnSpc>
                <a:spcPct val="13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이탈 리스크 최소화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446148" y="4524262"/>
            <a:ext cx="1391923" cy="121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6522467" y="4578141"/>
            <a:ext cx="305277" cy="18857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9AA0AA"/>
                </a:solidFill>
                <a:latin typeface="페이퍼로지 8 ExtraBold"/>
                <a:ea typeface="페이퍼로지 8 ExtraBold"/>
                <a:cs typeface="페이퍼로지 8 ExtraBold"/>
              </a:rPr>
              <a:t>05</a:t>
            </a:r>
          </a:p>
        </p:txBody>
      </p:sp>
      <p:sp>
        <p:nvSpPr>
          <p:cNvPr id="82" name="Oval 81"/>
          <p:cNvSpPr/>
          <p:nvPr/>
        </p:nvSpPr>
        <p:spPr>
          <a:xfrm>
            <a:off x="6951310" y="4572136"/>
            <a:ext cx="381597" cy="389161"/>
          </a:xfrm>
          <a:prstGeom prst="ellipse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83" name="Picture 82" descr="e8f1_5F6368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44452" y="4667126"/>
            <a:ext cx="195313" cy="195313"/>
          </a:xfrm>
          <a:prstGeom prst="rect">
            <a:avLst/>
          </a:prstGeom>
        </p:spPr>
      </p:pic>
      <p:sp>
        <p:nvSpPr>
          <p:cNvPr id="84" name="Rectangle 83"/>
          <p:cNvSpPr/>
          <p:nvPr/>
        </p:nvSpPr>
        <p:spPr>
          <a:xfrm>
            <a:off x="6478856" y="5022645"/>
            <a:ext cx="1326506" cy="20204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센터장·관리자 사전 배치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478856" y="5238163"/>
            <a:ext cx="1326506" cy="4579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안정적 운영을 위한</a:t>
            </a:r>
          </a:p>
          <a:p>
            <a:pPr algn="ctr">
              <a:lnSpc>
                <a:spcPct val="13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사전 배치와 역할 정립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881681" y="4524262"/>
            <a:ext cx="1391923" cy="121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7958001" y="4578141"/>
            <a:ext cx="305277" cy="18857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9AA0AA"/>
                </a:solidFill>
                <a:latin typeface="페이퍼로지 8 ExtraBold"/>
                <a:ea typeface="페이퍼로지 8 ExtraBold"/>
                <a:cs typeface="페이퍼로지 8 ExtraBold"/>
              </a:rPr>
              <a:t>06</a:t>
            </a:r>
          </a:p>
        </p:txBody>
      </p:sp>
      <p:sp>
        <p:nvSpPr>
          <p:cNvPr id="88" name="Oval 87"/>
          <p:cNvSpPr/>
          <p:nvPr/>
        </p:nvSpPr>
        <p:spPr>
          <a:xfrm>
            <a:off x="8386844" y="4572136"/>
            <a:ext cx="381597" cy="389161"/>
          </a:xfrm>
          <a:prstGeom prst="ellipse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dirty="0"/>
          </a:p>
        </p:txBody>
      </p:sp>
      <p:pic>
        <p:nvPicPr>
          <p:cNvPr id="89" name="Picture 88" descr="e7be_5F6368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79986" y="4667126"/>
            <a:ext cx="195313" cy="195313"/>
          </a:xfrm>
          <a:prstGeom prst="rect">
            <a:avLst/>
          </a:prstGeom>
        </p:spPr>
      </p:pic>
      <p:sp>
        <p:nvSpPr>
          <p:cNvPr id="90" name="Rectangle 89"/>
          <p:cNvSpPr/>
          <p:nvPr/>
        </p:nvSpPr>
        <p:spPr>
          <a:xfrm>
            <a:off x="7914390" y="5022645"/>
            <a:ext cx="1326506" cy="20204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입사 전 적응지원 운영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914390" y="5238163"/>
            <a:ext cx="1326506" cy="4579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시스템 교육·업무 안내 등</a:t>
            </a:r>
          </a:p>
          <a:p>
            <a:pPr algn="ctr">
              <a:lnSpc>
                <a:spcPct val="13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사전 적응 프로그램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14914" y="5857775"/>
            <a:ext cx="8547788" cy="3906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200" b="1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필요할 때는 고용승계까지 유연하게 받아들이고, </a:t>
            </a:r>
            <a:r>
              <a:rPr lang="ko-KR" sz="12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검증된 승계 경험</a:t>
            </a:r>
            <a:r>
              <a:rPr lang="ko-KR" sz="1200" b="1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으로 </a:t>
            </a:r>
            <a:r>
              <a:rPr lang="ko-KR" sz="12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런칭 초기 안정화</a:t>
            </a:r>
            <a:r>
              <a:rPr lang="ko-KR" sz="1200" b="1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를 앞당기겠습니다.</a:t>
            </a:r>
          </a:p>
        </p:txBody>
      </p:sp>
      <p:pic>
        <p:nvPicPr>
          <p:cNvPr id="97" name="Picture 9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929606" y="381000"/>
            <a:ext cx="61912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3-1 ① 운영 전략 · 협력체계 (업무협조도)</a:t>
            </a:r>
          </a:p>
        </p:txBody>
      </p:sp>
      <p:sp>
        <p:nvSpPr>
          <p:cNvPr id="4" name="Rectangle 3"/>
          <p:cNvSpPr/>
          <p:nvPr/>
        </p:nvSpPr>
        <p:spPr>
          <a:xfrm>
            <a:off x="846138" y="660400"/>
            <a:ext cx="8461375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하이텔레서비스와 </a:t>
            </a:r>
            <a:r>
              <a:rPr lang="ko-KR" sz="20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한 팀으로 움직이는</a:t>
            </a:r>
            <a:r>
              <a:rPr lang="ko-KR" sz="2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 협력체계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40250" y="64770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fld id="{B6F15528-21DE-4FAA-801E-634DDDAF4B2B}" type="slidenum">
              <a:rPr lang="en-US" altLang="ko-KR" sz="600" b="1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23</a:t>
            </a:fld>
            <a:r>
              <a:rPr lang="en-US" altLang="ko-KR" sz="600" b="1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 / 49</a:t>
            </a:r>
            <a:endParaRPr lang="ko-KR" sz="600" b="1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54" name="Rectangle 7">
            <a:extLst>
              <a:ext uri="{FF2B5EF4-FFF2-40B4-BE49-F238E27FC236}">
                <a16:creationId xmlns:a16="http://schemas.microsoft.com/office/drawing/2014/main" id="{CB606F31-8F49-4F16-80E0-6A8142B6DA6E}"/>
              </a:ext>
            </a:extLst>
          </p:cNvPr>
          <p:cNvSpPr/>
          <p:nvPr/>
        </p:nvSpPr>
        <p:spPr>
          <a:xfrm>
            <a:off x="719498" y="1496288"/>
            <a:ext cx="29549" cy="177800"/>
          </a:xfrm>
          <a:prstGeom prst="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55" name="Picture 8" descr="e716_5F6368.png">
            <a:extLst>
              <a:ext uri="{FF2B5EF4-FFF2-40B4-BE49-F238E27FC236}">
                <a16:creationId xmlns:a16="http://schemas.microsoft.com/office/drawing/2014/main" id="{30DAF855-FFA5-400B-8989-65F859F478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995" y="1501772"/>
            <a:ext cx="157595" cy="157595"/>
          </a:xfrm>
          <a:prstGeom prst="rect">
            <a:avLst/>
          </a:prstGeom>
        </p:spPr>
      </p:pic>
      <p:sp>
        <p:nvSpPr>
          <p:cNvPr id="59" name="Rectangle 9">
            <a:extLst>
              <a:ext uri="{FF2B5EF4-FFF2-40B4-BE49-F238E27FC236}">
                <a16:creationId xmlns:a16="http://schemas.microsoft.com/office/drawing/2014/main" id="{D8AD4FFD-7260-4A7E-892F-E3CC51370528}"/>
              </a:ext>
            </a:extLst>
          </p:cNvPr>
          <p:cNvSpPr/>
          <p:nvPr/>
        </p:nvSpPr>
        <p:spPr>
          <a:xfrm>
            <a:off x="1034689" y="1420088"/>
            <a:ext cx="4688465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1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연장근무 협조 체계</a:t>
            </a:r>
          </a:p>
        </p:txBody>
      </p:sp>
      <p:sp>
        <p:nvSpPr>
          <p:cNvPr id="60" name="Rectangle 41">
            <a:extLst>
              <a:ext uri="{FF2B5EF4-FFF2-40B4-BE49-F238E27FC236}">
                <a16:creationId xmlns:a16="http://schemas.microsoft.com/office/drawing/2014/main" id="{66A7275A-553C-48D8-B7A7-6DB2359A795E}"/>
              </a:ext>
            </a:extLst>
          </p:cNvPr>
          <p:cNvSpPr/>
          <p:nvPr/>
        </p:nvSpPr>
        <p:spPr>
          <a:xfrm>
            <a:off x="5959547" y="1496288"/>
            <a:ext cx="29549" cy="177800"/>
          </a:xfrm>
          <a:prstGeom prst="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61" name="Picture 42" descr="e787_5F6368.png">
            <a:extLst>
              <a:ext uri="{FF2B5EF4-FFF2-40B4-BE49-F238E27FC236}">
                <a16:creationId xmlns:a16="http://schemas.microsoft.com/office/drawing/2014/main" id="{7F6B1987-E1C9-4352-B9E8-D5E862A336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8044" y="1501772"/>
            <a:ext cx="157595" cy="157595"/>
          </a:xfrm>
          <a:prstGeom prst="rect">
            <a:avLst/>
          </a:prstGeom>
        </p:spPr>
      </p:pic>
      <p:sp>
        <p:nvSpPr>
          <p:cNvPr id="62" name="Rectangle 57">
            <a:extLst>
              <a:ext uri="{FF2B5EF4-FFF2-40B4-BE49-F238E27FC236}">
                <a16:creationId xmlns:a16="http://schemas.microsoft.com/office/drawing/2014/main" id="{BB161263-6305-42F8-B556-17D9C9F47623}"/>
              </a:ext>
            </a:extLst>
          </p:cNvPr>
          <p:cNvSpPr/>
          <p:nvPr/>
        </p:nvSpPr>
        <p:spPr>
          <a:xfrm>
            <a:off x="6273800" y="1422400"/>
            <a:ext cx="2997200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성수기 연장근무 협조 실적 (2026.6~8월)</a:t>
            </a: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CDDF8F2B-E9A3-4423-A2FA-0560748ECF05}"/>
              </a:ext>
            </a:extLst>
          </p:cNvPr>
          <p:cNvSpPr/>
          <p:nvPr/>
        </p:nvSpPr>
        <p:spPr>
          <a:xfrm>
            <a:off x="5905500" y="2819400"/>
            <a:ext cx="3429000" cy="1803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B40C70A-FFC8-4404-B8EB-D9A0779B0D1B}"/>
              </a:ext>
            </a:extLst>
          </p:cNvPr>
          <p:cNvSpPr/>
          <p:nvPr/>
        </p:nvSpPr>
        <p:spPr>
          <a:xfrm>
            <a:off x="6032500" y="2870200"/>
            <a:ext cx="3175000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월별 연장근무 인원 (고객사 계획 vs 실제)</a:t>
            </a:r>
          </a:p>
        </p:txBody>
      </p:sp>
      <p:graphicFrame>
        <p:nvGraphicFramePr>
          <p:cNvPr id="65" name="Chart 64">
            <a:extLst>
              <a:ext uri="{FF2B5EF4-FFF2-40B4-BE49-F238E27FC236}">
                <a16:creationId xmlns:a16="http://schemas.microsoft.com/office/drawing/2014/main" id="{FB7E0814-98EB-4DD7-969C-1371245748AF}"/>
              </a:ext>
            </a:extLst>
          </p:cNvPr>
          <p:cNvGraphicFramePr>
            <a:graphicFrameLocks noGrp="1"/>
          </p:cNvGraphicFramePr>
          <p:nvPr/>
        </p:nvGraphicFramePr>
        <p:xfrm>
          <a:off x="5969000" y="3073400"/>
          <a:ext cx="3302000" cy="152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3C6BF2D6-8A12-4C8C-95E8-5665C9C313C6}"/>
              </a:ext>
            </a:extLst>
          </p:cNvPr>
          <p:cNvSpPr/>
          <p:nvPr/>
        </p:nvSpPr>
        <p:spPr>
          <a:xfrm>
            <a:off x="5905500" y="4699000"/>
            <a:ext cx="3429000" cy="154940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CF37EA64-2AC0-478A-9477-E786364F77FD}"/>
              </a:ext>
            </a:extLst>
          </p:cNvPr>
          <p:cNvSpPr/>
          <p:nvPr/>
        </p:nvSpPr>
        <p:spPr>
          <a:xfrm>
            <a:off x="6032500" y="4775200"/>
            <a:ext cx="3175000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대표 사례  </a:t>
            </a:r>
            <a:r>
              <a:rPr lang="ko-KR" sz="1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요청이 적은 날에도 먼저 남았습니다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5715C6A-2C9D-49BF-9C21-F07CDC57DB46}"/>
              </a:ext>
            </a:extLst>
          </p:cNvPr>
          <p:cNvSpPr/>
          <p:nvPr/>
        </p:nvSpPr>
        <p:spPr>
          <a:xfrm>
            <a:off x="6032500" y="5003800"/>
            <a:ext cx="31750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7/9(목) 고객사 요청 18명 → </a:t>
            </a:r>
            <a:r>
              <a:rPr lang="ko-KR" sz="10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31명 참여 (172%)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4C51B90C-D3AA-4573-89AC-3E3564BB1C3E}"/>
              </a:ext>
            </a:extLst>
          </p:cNvPr>
          <p:cNvSpPr/>
          <p:nvPr/>
        </p:nvSpPr>
        <p:spPr>
          <a:xfrm>
            <a:off x="660400" y="1828800"/>
            <a:ext cx="5118100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6A7180"/>
                </a:solidFill>
                <a:latin typeface="페이퍼로지 7 Bold"/>
                <a:ea typeface="페이퍼로지 7 Bold"/>
                <a:cs typeface="페이퍼로지 7 Bold"/>
              </a:rPr>
              <a:t>요청 상황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1CB8EA20-D7AB-48E6-AF3C-4E8D64B888BC}"/>
              </a:ext>
            </a:extLst>
          </p:cNvPr>
          <p:cNvSpPr/>
          <p:nvPr/>
        </p:nvSpPr>
        <p:spPr>
          <a:xfrm>
            <a:off x="660400" y="2057400"/>
            <a:ext cx="2501900" cy="55880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4207FD7D-8751-4DC1-9DC3-E2F238E273A9}"/>
              </a:ext>
            </a:extLst>
          </p:cNvPr>
          <p:cNvSpPr/>
          <p:nvPr/>
        </p:nvSpPr>
        <p:spPr>
          <a:xfrm>
            <a:off x="812800" y="2057400"/>
            <a:ext cx="2222500" cy="55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갑작스러운 콜 증가</a:t>
            </a:r>
          </a:p>
          <a:p>
            <a:pPr algn="l">
              <a:lnSpc>
                <a:spcPct val="125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당일 콜 급증 시 즉시 요청</a:t>
            </a:r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D6B5CE0B-A78C-4BCC-8D8A-D870401EFEC8}"/>
              </a:ext>
            </a:extLst>
          </p:cNvPr>
          <p:cNvSpPr/>
          <p:nvPr/>
        </p:nvSpPr>
        <p:spPr>
          <a:xfrm>
            <a:off x="3276600" y="2057400"/>
            <a:ext cx="2501900" cy="55880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9EAC707D-5F9E-43D3-A809-EC4A5717BA7E}"/>
              </a:ext>
            </a:extLst>
          </p:cNvPr>
          <p:cNvSpPr/>
          <p:nvPr/>
        </p:nvSpPr>
        <p:spPr>
          <a:xfrm>
            <a:off x="3429000" y="2057400"/>
            <a:ext cx="2222500" cy="55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성수기 콜 증가 예측</a:t>
            </a:r>
          </a:p>
          <a:p>
            <a:pPr algn="l">
              <a:lnSpc>
                <a:spcPct val="125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Peak 요일 기준 사전 계획</a:t>
            </a:r>
          </a:p>
        </p:txBody>
      </p:sp>
      <p:cxnSp>
        <p:nvCxnSpPr>
          <p:cNvPr id="74" name="Connector 73">
            <a:extLst>
              <a:ext uri="{FF2B5EF4-FFF2-40B4-BE49-F238E27FC236}">
                <a16:creationId xmlns:a16="http://schemas.microsoft.com/office/drawing/2014/main" id="{BE17C9C1-F644-4A55-836F-A41F437E21BD}"/>
              </a:ext>
            </a:extLst>
          </p:cNvPr>
          <p:cNvCxnSpPr/>
          <p:nvPr/>
        </p:nvCxnSpPr>
        <p:spPr>
          <a:xfrm>
            <a:off x="1905000" y="2641600"/>
            <a:ext cx="0" cy="152400"/>
          </a:xfrm>
          <a:prstGeom prst="line">
            <a:avLst/>
          </a:prstGeom>
          <a:ln w="12700">
            <a:solidFill>
              <a:srgbClr val="9AA0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>
            <a:extLst>
              <a:ext uri="{FF2B5EF4-FFF2-40B4-BE49-F238E27FC236}">
                <a16:creationId xmlns:a16="http://schemas.microsoft.com/office/drawing/2014/main" id="{A734F0C4-F866-4F7B-B17E-361E399626E3}"/>
              </a:ext>
            </a:extLst>
          </p:cNvPr>
          <p:cNvCxnSpPr/>
          <p:nvPr/>
        </p:nvCxnSpPr>
        <p:spPr>
          <a:xfrm>
            <a:off x="4521200" y="2641600"/>
            <a:ext cx="0" cy="152400"/>
          </a:xfrm>
          <a:prstGeom prst="line">
            <a:avLst/>
          </a:prstGeom>
          <a:ln w="12700">
            <a:solidFill>
              <a:srgbClr val="9AA0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C37A12D0-5433-4B24-96EE-68C2E80F9A7A}"/>
              </a:ext>
            </a:extLst>
          </p:cNvPr>
          <p:cNvSpPr/>
          <p:nvPr/>
        </p:nvSpPr>
        <p:spPr>
          <a:xfrm>
            <a:off x="660400" y="2819400"/>
            <a:ext cx="5118100" cy="381000"/>
          </a:xfrm>
          <a:prstGeom prst="roundRect">
            <a:avLst>
              <a:gd name="adj" fmla="val 20000"/>
            </a:avLst>
          </a:prstGeom>
          <a:solidFill>
            <a:srgbClr val="101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000" b="1" dirty="0" err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하이텔레서비스 연장근무 협조 요청  →  KT IS 연장근무 인력 투입</a:t>
            </a:r>
            <a:endParaRPr lang="ko-KR" sz="1000" b="1" dirty="0">
              <a:solidFill>
                <a:srgbClr val="FFFFFF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115D5A30-6A6B-42EE-B8A3-4B2914CB8229}"/>
              </a:ext>
            </a:extLst>
          </p:cNvPr>
          <p:cNvSpPr/>
          <p:nvPr/>
        </p:nvSpPr>
        <p:spPr>
          <a:xfrm>
            <a:off x="660400" y="3352800"/>
            <a:ext cx="5118100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자발적인 협조를 만드는 3가지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A8EF5C51-5445-40F6-A105-EBF3A4D5C2EE}"/>
              </a:ext>
            </a:extLst>
          </p:cNvPr>
          <p:cNvSpPr/>
          <p:nvPr/>
        </p:nvSpPr>
        <p:spPr>
          <a:xfrm>
            <a:off x="660400" y="3695700"/>
            <a:ext cx="5118100" cy="19050"/>
          </a:xfrm>
          <a:prstGeom prst="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C2E230CA-EFFE-4289-8092-D4DA7A024A52}"/>
              </a:ext>
            </a:extLst>
          </p:cNvPr>
          <p:cNvSpPr/>
          <p:nvPr/>
        </p:nvSpPr>
        <p:spPr>
          <a:xfrm>
            <a:off x="660400" y="3810000"/>
            <a:ext cx="5118100" cy="7493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608DFAC7-06F5-48F5-BD52-8554112D7E42}"/>
              </a:ext>
            </a:extLst>
          </p:cNvPr>
          <p:cNvSpPr/>
          <p:nvPr/>
        </p:nvSpPr>
        <p:spPr>
          <a:xfrm>
            <a:off x="787400" y="3810000"/>
            <a:ext cx="508000" cy="749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000" b="1">
                <a:solidFill>
                  <a:srgbClr val="E30C60"/>
                </a:solidFill>
                <a:latin typeface="페이퍼로지 9 Black"/>
                <a:ea typeface="페이퍼로지 9 Black"/>
                <a:cs typeface="페이퍼로지 9 Black"/>
              </a:rPr>
              <a:t>01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8096B143-EEA3-4D7F-9F74-997E826C1D3F}"/>
              </a:ext>
            </a:extLst>
          </p:cNvPr>
          <p:cNvSpPr/>
          <p:nvPr/>
        </p:nvSpPr>
        <p:spPr>
          <a:xfrm>
            <a:off x="1320800" y="3924300"/>
            <a:ext cx="15240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채용 단계부터 안내</a:t>
            </a: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66A7015E-D364-4E77-B239-7898EAE6039B}"/>
              </a:ext>
            </a:extLst>
          </p:cNvPr>
          <p:cNvSpPr/>
          <p:nvPr/>
        </p:nvSpPr>
        <p:spPr>
          <a:xfrm>
            <a:off x="1320800" y="4203700"/>
            <a:ext cx="1066800" cy="228600"/>
          </a:xfrm>
          <a:prstGeom prst="roundRect">
            <a:avLst>
              <a:gd name="adj" fmla="val 50000"/>
            </a:avLst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E30C60"/>
                </a:solidFill>
                <a:latin typeface="페이퍼로지 7 Bold"/>
                <a:ea typeface="페이퍼로지 7 Bold"/>
                <a:cs typeface="페이퍼로지 7 Bold"/>
              </a:rPr>
              <a:t>사전 안내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2655E2D1-208F-4854-9DE0-C18B3F6019F2}"/>
              </a:ext>
            </a:extLst>
          </p:cNvPr>
          <p:cNvSpPr/>
          <p:nvPr/>
        </p:nvSpPr>
        <p:spPr>
          <a:xfrm>
            <a:off x="2717800" y="3810000"/>
            <a:ext cx="2971800" cy="749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ko-KR" sz="10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면접·입사 안내 때 연장근무 가능성을</a:t>
            </a:r>
          </a:p>
          <a:p>
            <a:pPr algn="l">
              <a:lnSpc>
                <a:spcPct val="130000"/>
              </a:lnSpc>
            </a:pPr>
            <a:r>
              <a:rPr lang="ko-KR" sz="10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충분히 설명하고, 이해한 인력을 선발합니다</a:t>
            </a:r>
          </a:p>
        </p:txBody>
      </p:sp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BA3D2BFC-A014-47F1-B725-DBA4A155CF18}"/>
              </a:ext>
            </a:extLst>
          </p:cNvPr>
          <p:cNvSpPr/>
          <p:nvPr/>
        </p:nvSpPr>
        <p:spPr>
          <a:xfrm>
            <a:off x="660400" y="4635500"/>
            <a:ext cx="5118100" cy="749300"/>
          </a:xfrm>
          <a:prstGeom prst="roundRect">
            <a:avLst>
              <a:gd name="adj" fmla="val 5000"/>
            </a:avLst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757B8DF1-60B7-4E3A-94CB-04B89ECBB6EC}"/>
              </a:ext>
            </a:extLst>
          </p:cNvPr>
          <p:cNvSpPr/>
          <p:nvPr/>
        </p:nvSpPr>
        <p:spPr>
          <a:xfrm>
            <a:off x="787400" y="4635500"/>
            <a:ext cx="508000" cy="749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000" b="1">
                <a:solidFill>
                  <a:srgbClr val="E30C60"/>
                </a:solidFill>
                <a:latin typeface="페이퍼로지 9 Black"/>
                <a:ea typeface="페이퍼로지 9 Black"/>
                <a:cs typeface="페이퍼로지 9 Black"/>
              </a:rPr>
              <a:t>02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BDF49D58-A4DE-45CD-8E3F-41FFA56C92FD}"/>
              </a:ext>
            </a:extLst>
          </p:cNvPr>
          <p:cNvSpPr/>
          <p:nvPr/>
        </p:nvSpPr>
        <p:spPr>
          <a:xfrm>
            <a:off x="1320800" y="4749800"/>
            <a:ext cx="15240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확실한 보상</a:t>
            </a:r>
          </a:p>
        </p:txBody>
      </p: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31C194F8-CCB6-4DB4-B319-66B1EFCF3DF4}"/>
              </a:ext>
            </a:extLst>
          </p:cNvPr>
          <p:cNvSpPr/>
          <p:nvPr/>
        </p:nvSpPr>
        <p:spPr>
          <a:xfrm>
            <a:off x="1320800" y="5029200"/>
            <a:ext cx="10668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E30C60"/>
                </a:solidFill>
                <a:latin typeface="페이퍼로지 7 Bold"/>
                <a:ea typeface="페이퍼로지 7 Bold"/>
                <a:cs typeface="페이퍼로지 7 Bold"/>
              </a:rPr>
              <a:t>추가 수당 · 석식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A3E11EDA-38EF-4782-A9E3-5DE749A2BDB3}"/>
              </a:ext>
            </a:extLst>
          </p:cNvPr>
          <p:cNvSpPr/>
          <p:nvPr/>
        </p:nvSpPr>
        <p:spPr>
          <a:xfrm>
            <a:off x="2717800" y="4635500"/>
            <a:ext cx="2971800" cy="749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ko-KR" sz="10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연장근무 시 추가 수당과 석식(간식)을 제공해</a:t>
            </a:r>
          </a:p>
          <a:p>
            <a:pPr algn="l">
              <a:lnSpc>
                <a:spcPct val="130000"/>
              </a:lnSpc>
            </a:pPr>
            <a:r>
              <a:rPr lang="ko-KR" sz="10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직원들의 부담과 불만을 줄입니다</a:t>
            </a: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7FCDC8AE-EB4A-4C85-98F1-A8657D0143AB}"/>
              </a:ext>
            </a:extLst>
          </p:cNvPr>
          <p:cNvSpPr/>
          <p:nvPr/>
        </p:nvSpPr>
        <p:spPr>
          <a:xfrm>
            <a:off x="660400" y="5461000"/>
            <a:ext cx="5118100" cy="7493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34D5999A-FBB2-43DE-8D79-F05AF2A921F5}"/>
              </a:ext>
            </a:extLst>
          </p:cNvPr>
          <p:cNvSpPr/>
          <p:nvPr/>
        </p:nvSpPr>
        <p:spPr>
          <a:xfrm>
            <a:off x="787400" y="5461000"/>
            <a:ext cx="508000" cy="749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000" b="1">
                <a:solidFill>
                  <a:srgbClr val="E30C60"/>
                </a:solidFill>
                <a:latin typeface="페이퍼로지 9 Black"/>
                <a:ea typeface="페이퍼로지 9 Black"/>
                <a:cs typeface="페이퍼로지 9 Black"/>
              </a:rPr>
              <a:t>03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1BE2C56-DEB7-41EF-8116-1D5DF36E430E}"/>
              </a:ext>
            </a:extLst>
          </p:cNvPr>
          <p:cNvSpPr/>
          <p:nvPr/>
        </p:nvSpPr>
        <p:spPr>
          <a:xfrm>
            <a:off x="1320800" y="5575300"/>
            <a:ext cx="15240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무리 없는 편성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34784DDE-A5E7-4E98-B06A-EC007951B71D}"/>
              </a:ext>
            </a:extLst>
          </p:cNvPr>
          <p:cNvSpPr/>
          <p:nvPr/>
        </p:nvSpPr>
        <p:spPr>
          <a:xfrm>
            <a:off x="1320800" y="5854700"/>
            <a:ext cx="1066800" cy="228600"/>
          </a:xfrm>
          <a:prstGeom prst="roundRect">
            <a:avLst>
              <a:gd name="adj" fmla="val 50000"/>
            </a:avLst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E30C60"/>
                </a:solidFill>
                <a:latin typeface="페이퍼로지 7 Bold"/>
                <a:ea typeface="페이퍼로지 7 Bold"/>
                <a:cs typeface="페이퍼로지 7 Bold"/>
              </a:rPr>
              <a:t>컨디션 · 사전 공지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478F3B87-DD36-458F-B99F-9FE985BCB9D8}"/>
              </a:ext>
            </a:extLst>
          </p:cNvPr>
          <p:cNvSpPr/>
          <p:nvPr/>
        </p:nvSpPr>
        <p:spPr>
          <a:xfrm>
            <a:off x="2717800" y="5461000"/>
            <a:ext cx="2971800" cy="749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ko-KR" sz="10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컨디션 체크 후 근무를 미리 편성·공지하고,</a:t>
            </a:r>
          </a:p>
          <a:p>
            <a:pPr algn="l">
              <a:lnSpc>
                <a:spcPct val="130000"/>
              </a:lnSpc>
            </a:pPr>
            <a:r>
              <a:rPr lang="ko-KR" sz="10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매주 월요일 간식 Day로 출석을 독려합니다</a:t>
            </a:r>
          </a:p>
        </p:txBody>
      </p:sp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BD8B3E9E-0E35-471D-B0EA-89E89F0F6C68}"/>
              </a:ext>
            </a:extLst>
          </p:cNvPr>
          <p:cNvSpPr/>
          <p:nvPr/>
        </p:nvSpPr>
        <p:spPr>
          <a:xfrm>
            <a:off x="5905500" y="1828800"/>
            <a:ext cx="3429000" cy="914400"/>
          </a:xfrm>
          <a:prstGeom prst="roundRect">
            <a:avLst>
              <a:gd name="adj" fmla="val 5000"/>
            </a:avLst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D51E618C-6E99-44EB-97F5-9F9D38FD7591}"/>
              </a:ext>
            </a:extLst>
          </p:cNvPr>
          <p:cNvSpPr/>
          <p:nvPr/>
        </p:nvSpPr>
        <p:spPr>
          <a:xfrm>
            <a:off x="6057900" y="1879600"/>
            <a:ext cx="1524000" cy="812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A50034"/>
                </a:solidFill>
                <a:latin typeface="페이퍼로지 7 Bold"/>
                <a:ea typeface="페이퍼로지 7 Bold"/>
                <a:cs typeface="페이퍼로지 7 Bold"/>
              </a:rPr>
              <a:t>연장근무 협조 실적</a:t>
            </a:r>
          </a:p>
          <a:p>
            <a:pPr algn="l">
              <a:lnSpc>
                <a:spcPct val="110000"/>
              </a:lnSpc>
            </a:pPr>
            <a:r>
              <a:rPr lang="ko-KR" sz="2400" b="1">
                <a:solidFill>
                  <a:srgbClr val="E30C60"/>
                </a:solidFill>
                <a:latin typeface="페이퍼로지 9 Black"/>
                <a:ea typeface="페이퍼로지 9 Black"/>
                <a:cs typeface="페이퍼로지 9 Black"/>
              </a:rPr>
              <a:t>107.6%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B5FC5A67-CE82-432A-8D81-34A01C159CFD}"/>
              </a:ext>
            </a:extLst>
          </p:cNvPr>
          <p:cNvSpPr/>
          <p:nvPr/>
        </p:nvSpPr>
        <p:spPr>
          <a:xfrm>
            <a:off x="7594600" y="1981200"/>
            <a:ext cx="12700" cy="609600"/>
          </a:xfrm>
          <a:prstGeom prst="rect">
            <a:avLst/>
          </a:prstGeom>
          <a:solidFill>
            <a:srgbClr val="F3B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525BBF36-66C8-450A-B18E-4FB029343250}"/>
              </a:ext>
            </a:extLst>
          </p:cNvPr>
          <p:cNvSpPr/>
          <p:nvPr/>
        </p:nvSpPr>
        <p:spPr>
          <a:xfrm>
            <a:off x="7696200" y="1879600"/>
            <a:ext cx="1574800" cy="812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고객사 요청 542.8명</a:t>
            </a:r>
          </a:p>
          <a:p>
            <a:pPr algn="l">
              <a:lnSpc>
                <a:spcPct val="130000"/>
              </a:lnSpc>
            </a:pPr>
            <a:r>
              <a:rPr lang="ko-KR" sz="10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→ 실제 583명 참여</a:t>
            </a:r>
          </a:p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요청보다 40명 더 참여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8393925C-91DC-40C3-8A09-94B326B0396A}"/>
              </a:ext>
            </a:extLst>
          </p:cNvPr>
          <p:cNvSpPr/>
          <p:nvPr/>
        </p:nvSpPr>
        <p:spPr>
          <a:xfrm>
            <a:off x="6032500" y="5308600"/>
            <a:ext cx="3225800" cy="889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7/8(수)  요청 21.6명 → 34명 참여 (157%)</a:t>
            </a:r>
          </a:p>
          <a:p>
            <a:pPr algn="l">
              <a:lnSpc>
                <a:spcPct val="16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8/6(목)  요청 18명 → 24명 참여 (133%)</a:t>
            </a:r>
          </a:p>
          <a:p>
            <a:pPr algn="l">
              <a:lnSpc>
                <a:spcPct val="160000"/>
              </a:lnSpc>
            </a:pPr>
            <a:r>
              <a:rPr lang="ko-KR" sz="900" b="0">
                <a:solidFill>
                  <a:srgbClr val="6A7180"/>
                </a:solidFill>
                <a:latin typeface="페이퍼로지 4 Regular"/>
                <a:ea typeface="페이퍼로지 4 Regular"/>
                <a:cs typeface="페이퍼로지 4 Regular"/>
              </a:rPr>
              <a:t>요청 기준: Peak일 100%·다음날 80%·수 60%·목금 50%</a:t>
            </a:r>
          </a:p>
        </p:txBody>
      </p:sp>
      <p:sp>
        <p:nvSpPr>
          <p:cNvPr id="99" name="Rectangle 4">
            <a:extLst>
              <a:ext uri="{FF2B5EF4-FFF2-40B4-BE49-F238E27FC236}">
                <a16:creationId xmlns:a16="http://schemas.microsoft.com/office/drawing/2014/main" id="{2C990BCB-3EF1-4CC1-A070-A74EC602F9B0}"/>
              </a:ext>
            </a:extLst>
          </p:cNvPr>
          <p:cNvSpPr/>
          <p:nvPr/>
        </p:nvSpPr>
        <p:spPr>
          <a:xfrm>
            <a:off x="846138" y="1079500"/>
            <a:ext cx="84613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채용 단계부터 충분히 안내하고 확실히 보상해, 성수기 연장근무 요청에 자발적으로 협조하는 문화를 만들었습니다.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Rounded Rectangle 4">
            <a:extLst>
              <a:ext uri="{FF2B5EF4-FFF2-40B4-BE49-F238E27FC236}">
                <a16:creationId xmlns:a16="http://schemas.microsoft.com/office/drawing/2014/main" id="{4C51EFF2-A41C-41C9-AB3F-6B79463389CD}"/>
              </a:ext>
            </a:extLst>
          </p:cNvPr>
          <p:cNvSpPr/>
          <p:nvPr/>
        </p:nvSpPr>
        <p:spPr>
          <a:xfrm>
            <a:off x="3337156" y="1574800"/>
            <a:ext cx="5908446" cy="4648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dirty="0"/>
          </a:p>
        </p:txBody>
      </p:sp>
      <p:sp>
        <p:nvSpPr>
          <p:cNvPr id="178" name="Rectangle 2">
            <a:extLst>
              <a:ext uri="{FF2B5EF4-FFF2-40B4-BE49-F238E27FC236}">
                <a16:creationId xmlns:a16="http://schemas.microsoft.com/office/drawing/2014/main" id="{66282572-5816-422F-A5F6-6F46198BC839}"/>
              </a:ext>
            </a:extLst>
          </p:cNvPr>
          <p:cNvSpPr/>
          <p:nvPr/>
        </p:nvSpPr>
        <p:spPr>
          <a:xfrm>
            <a:off x="1929606" y="381000"/>
            <a:ext cx="61912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altLang="ko-KR" sz="900" b="0" dirty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3-1 ② 조직도 및 인력 구성</a:t>
            </a:r>
            <a:endParaRPr lang="ko-KR" sz="900" b="0" dirty="0">
              <a:solidFill>
                <a:srgbClr val="A50034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179" name="Rectangle 3">
            <a:extLst>
              <a:ext uri="{FF2B5EF4-FFF2-40B4-BE49-F238E27FC236}">
                <a16:creationId xmlns:a16="http://schemas.microsoft.com/office/drawing/2014/main" id="{32FA807B-A07A-47B7-8748-91F14EE4A93C}"/>
              </a:ext>
            </a:extLst>
          </p:cNvPr>
          <p:cNvSpPr/>
          <p:nvPr/>
        </p:nvSpPr>
        <p:spPr>
          <a:xfrm>
            <a:off x="846138" y="660400"/>
            <a:ext cx="8461375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현장 경험을 갖춘 관리자 중심으로 </a:t>
            </a:r>
            <a:r>
              <a:rPr lang="ko-KR" sz="20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조직</a:t>
            </a:r>
            <a:r>
              <a:rPr lang="ko-KR" sz="2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을 구성합니다</a:t>
            </a:r>
          </a:p>
        </p:txBody>
      </p:sp>
      <p:sp>
        <p:nvSpPr>
          <p:cNvPr id="180" name="Rectangle 4">
            <a:extLst>
              <a:ext uri="{FF2B5EF4-FFF2-40B4-BE49-F238E27FC236}">
                <a16:creationId xmlns:a16="http://schemas.microsoft.com/office/drawing/2014/main" id="{AFA34CF8-6FC8-470E-A633-424A91EECBE9}"/>
              </a:ext>
            </a:extLst>
          </p:cNvPr>
          <p:cNvSpPr/>
          <p:nvPr/>
        </p:nvSpPr>
        <p:spPr>
          <a:xfrm>
            <a:off x="846138" y="1079500"/>
            <a:ext cx="84613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지금 운영 중인 조직을 바탕으로 2027년 성수기 조직까지 자연스럽게 이어지도록 설계했습니다.</a:t>
            </a:r>
          </a:p>
        </p:txBody>
      </p:sp>
      <p:sp>
        <p:nvSpPr>
          <p:cNvPr id="181" name="Rectangle 78">
            <a:extLst>
              <a:ext uri="{FF2B5EF4-FFF2-40B4-BE49-F238E27FC236}">
                <a16:creationId xmlns:a16="http://schemas.microsoft.com/office/drawing/2014/main" id="{7D347CCC-3F77-43D2-A599-83BD1A2ACE74}"/>
              </a:ext>
            </a:extLst>
          </p:cNvPr>
          <p:cNvSpPr/>
          <p:nvPr/>
        </p:nvSpPr>
        <p:spPr>
          <a:xfrm>
            <a:off x="4540250" y="64770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fld id="{B6F15528-21DE-4FAA-801E-634DDDAF4B2B}" type="slidenum"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24</a:t>
            </a:fld>
            <a:r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 / 49</a:t>
            </a:r>
            <a:endParaRPr lang="ko-KR" sz="600" b="0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F2AAA874-A0BB-4BDC-A06F-5D85D03EF10D}"/>
              </a:ext>
            </a:extLst>
          </p:cNvPr>
          <p:cNvSpPr/>
          <p:nvPr/>
        </p:nvSpPr>
        <p:spPr>
          <a:xfrm>
            <a:off x="660399" y="1574800"/>
            <a:ext cx="2591429" cy="4648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dirty="0"/>
          </a:p>
        </p:txBody>
      </p:sp>
      <p:sp>
        <p:nvSpPr>
          <p:cNvPr id="8" name="Rounded Rectangle 5">
            <a:extLst>
              <a:ext uri="{FF2B5EF4-FFF2-40B4-BE49-F238E27FC236}">
                <a16:creationId xmlns:a16="http://schemas.microsoft.com/office/drawing/2014/main" id="{9FE7A0AC-8C77-45AC-9191-6BBF3F618D43}"/>
              </a:ext>
            </a:extLst>
          </p:cNvPr>
          <p:cNvSpPr/>
          <p:nvPr/>
        </p:nvSpPr>
        <p:spPr>
          <a:xfrm>
            <a:off x="1123336" y="1435100"/>
            <a:ext cx="1536555" cy="2794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A9A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0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AS-IS  </a:t>
            </a: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2026.09.30 기준</a:t>
            </a:r>
          </a:p>
        </p:txBody>
      </p:sp>
      <p:sp>
        <p:nvSpPr>
          <p:cNvPr id="9" name="Rounded Rectangle 9">
            <a:extLst>
              <a:ext uri="{FF2B5EF4-FFF2-40B4-BE49-F238E27FC236}">
                <a16:creationId xmlns:a16="http://schemas.microsoft.com/office/drawing/2014/main" id="{735B0FCD-141D-4448-8BD8-807FC4377C20}"/>
              </a:ext>
            </a:extLst>
          </p:cNvPr>
          <p:cNvSpPr/>
          <p:nvPr/>
        </p:nvSpPr>
        <p:spPr>
          <a:xfrm>
            <a:off x="1463249" y="2574363"/>
            <a:ext cx="876624" cy="518460"/>
          </a:xfrm>
          <a:prstGeom prst="roundRect">
            <a:avLst>
              <a:gd name="adj" fmla="val 12000"/>
            </a:avLst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ko-KR" altLang="en-US" sz="900" dirty="0">
                <a:solidFill>
                  <a:srgbClr val="FFFFFF"/>
                </a:solidFill>
                <a:latin typeface="페이퍼로지 8 ExtraBold"/>
                <a:ea typeface="페이퍼로지 8 ExtraBold"/>
              </a:rPr>
              <a:t>총괄 매니저</a:t>
            </a:r>
          </a:p>
          <a:p>
            <a:pPr algn="ctr">
              <a:lnSpc>
                <a:spcPct val="115000"/>
              </a:lnSpc>
            </a:pPr>
            <a:r>
              <a:rPr lang="ko-KR" altLang="en-US" sz="900" dirty="0" err="1">
                <a:solidFill>
                  <a:srgbClr val="FFFFFF"/>
                </a:solidFill>
                <a:latin typeface="페이퍼로지 8 ExtraBold"/>
                <a:ea typeface="페이퍼로지 8 ExtraBold"/>
              </a:rPr>
              <a:t>진소라</a:t>
            </a:r>
            <a:endParaRPr lang="ko-KR" altLang="en-US" sz="900" dirty="0">
              <a:solidFill>
                <a:srgbClr val="FFFFFF"/>
              </a:solidFill>
              <a:latin typeface="페이퍼로지 8 ExtraBold"/>
              <a:ea typeface="페이퍼로지 8 ExtraBold"/>
            </a:endParaRPr>
          </a:p>
        </p:txBody>
      </p:sp>
      <p:sp>
        <p:nvSpPr>
          <p:cNvPr id="10" name="Rounded Rectangle 13">
            <a:extLst>
              <a:ext uri="{FF2B5EF4-FFF2-40B4-BE49-F238E27FC236}">
                <a16:creationId xmlns:a16="http://schemas.microsoft.com/office/drawing/2014/main" id="{51EBF5CD-9865-4F9A-A1BF-13AFF7444EF5}"/>
              </a:ext>
            </a:extLst>
          </p:cNvPr>
          <p:cNvSpPr/>
          <p:nvPr/>
        </p:nvSpPr>
        <p:spPr>
          <a:xfrm>
            <a:off x="1578329" y="3196663"/>
            <a:ext cx="650081" cy="355600"/>
          </a:xfrm>
          <a:prstGeom prst="roundRect">
            <a:avLst>
              <a:gd name="adj" fmla="val 12000"/>
            </a:avLst>
          </a:prstGeom>
          <a:solidFill>
            <a:srgbClr val="DDD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매니저</a:t>
            </a:r>
          </a:p>
          <a:p>
            <a:pPr algn="ctr">
              <a:lnSpc>
                <a:spcPct val="115000"/>
              </a:lnSpc>
            </a:pPr>
            <a:r>
              <a:rPr lang="ko-KR" sz="9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정영순</a:t>
            </a:r>
            <a:endParaRPr lang="ko-KR" sz="900" b="0" dirty="0">
              <a:solidFill>
                <a:srgbClr val="10151F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cxnSp>
        <p:nvCxnSpPr>
          <p:cNvPr id="11" name="Connector 14">
            <a:extLst>
              <a:ext uri="{FF2B5EF4-FFF2-40B4-BE49-F238E27FC236}">
                <a16:creationId xmlns:a16="http://schemas.microsoft.com/office/drawing/2014/main" id="{044A39AB-4C9F-4905-8DAF-B295F9B4AF84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>
            <a:off x="1901561" y="3092823"/>
            <a:ext cx="1809" cy="103840"/>
          </a:xfrm>
          <a:prstGeom prst="line">
            <a:avLst/>
          </a:prstGeom>
          <a:ln w="9525">
            <a:solidFill>
              <a:srgbClr val="A9A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5">
            <a:extLst>
              <a:ext uri="{FF2B5EF4-FFF2-40B4-BE49-F238E27FC236}">
                <a16:creationId xmlns:a16="http://schemas.microsoft.com/office/drawing/2014/main" id="{1CD662EC-3FED-4C2D-875A-1EFB5A2416DE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1900392" y="3552263"/>
            <a:ext cx="2978" cy="101600"/>
          </a:xfrm>
          <a:prstGeom prst="line">
            <a:avLst/>
          </a:prstGeom>
          <a:ln w="9525">
            <a:solidFill>
              <a:srgbClr val="A9A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6">
            <a:extLst>
              <a:ext uri="{FF2B5EF4-FFF2-40B4-BE49-F238E27FC236}">
                <a16:creationId xmlns:a16="http://schemas.microsoft.com/office/drawing/2014/main" id="{7454FB8B-B901-4CF8-88F3-9E39B043D759}"/>
              </a:ext>
            </a:extLst>
          </p:cNvPr>
          <p:cNvCxnSpPr/>
          <p:nvPr/>
        </p:nvCxnSpPr>
        <p:spPr>
          <a:xfrm>
            <a:off x="1138209" y="3653863"/>
            <a:ext cx="1201665" cy="0"/>
          </a:xfrm>
          <a:prstGeom prst="line">
            <a:avLst/>
          </a:prstGeom>
          <a:ln w="9525">
            <a:solidFill>
              <a:srgbClr val="A9A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7">
            <a:extLst>
              <a:ext uri="{FF2B5EF4-FFF2-40B4-BE49-F238E27FC236}">
                <a16:creationId xmlns:a16="http://schemas.microsoft.com/office/drawing/2014/main" id="{B33A7B90-7CC9-4F82-B4C1-64309CB31E15}"/>
              </a:ext>
            </a:extLst>
          </p:cNvPr>
          <p:cNvCxnSpPr/>
          <p:nvPr/>
        </p:nvCxnSpPr>
        <p:spPr>
          <a:xfrm>
            <a:off x="1138209" y="3653863"/>
            <a:ext cx="1" cy="431800"/>
          </a:xfrm>
          <a:prstGeom prst="line">
            <a:avLst/>
          </a:prstGeom>
          <a:ln w="9525">
            <a:solidFill>
              <a:srgbClr val="A9A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8">
            <a:extLst>
              <a:ext uri="{FF2B5EF4-FFF2-40B4-BE49-F238E27FC236}">
                <a16:creationId xmlns:a16="http://schemas.microsoft.com/office/drawing/2014/main" id="{54D8CCBE-83E5-410C-86AA-2D220557BCBB}"/>
              </a:ext>
            </a:extLst>
          </p:cNvPr>
          <p:cNvCxnSpPr/>
          <p:nvPr/>
        </p:nvCxnSpPr>
        <p:spPr>
          <a:xfrm>
            <a:off x="2339873" y="3653863"/>
            <a:ext cx="1" cy="127000"/>
          </a:xfrm>
          <a:prstGeom prst="line">
            <a:avLst/>
          </a:prstGeom>
          <a:ln w="9525">
            <a:solidFill>
              <a:srgbClr val="A9A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9">
            <a:extLst>
              <a:ext uri="{FF2B5EF4-FFF2-40B4-BE49-F238E27FC236}">
                <a16:creationId xmlns:a16="http://schemas.microsoft.com/office/drawing/2014/main" id="{C92F33A3-948B-440D-A707-74626CBC8B2F}"/>
              </a:ext>
            </a:extLst>
          </p:cNvPr>
          <p:cNvSpPr/>
          <p:nvPr/>
        </p:nvSpPr>
        <p:spPr>
          <a:xfrm>
            <a:off x="813168" y="4085663"/>
            <a:ext cx="650081" cy="355600"/>
          </a:xfrm>
          <a:prstGeom prst="roundRect">
            <a:avLst>
              <a:gd name="adj" fmla="val 12000"/>
            </a:avLst>
          </a:prstGeom>
          <a:solidFill>
            <a:srgbClr val="DDD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ko-KR" sz="9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강사(QA)</a:t>
            </a:r>
          </a:p>
          <a:p>
            <a:pPr algn="ctr">
              <a:lnSpc>
                <a:spcPct val="11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김미정</a:t>
            </a:r>
          </a:p>
        </p:txBody>
      </p:sp>
      <p:sp>
        <p:nvSpPr>
          <p:cNvPr id="17" name="Rounded Rectangle 20">
            <a:extLst>
              <a:ext uri="{FF2B5EF4-FFF2-40B4-BE49-F238E27FC236}">
                <a16:creationId xmlns:a16="http://schemas.microsoft.com/office/drawing/2014/main" id="{1A257D9F-C49E-4DB4-996E-007DC7DEE815}"/>
              </a:ext>
            </a:extLst>
          </p:cNvPr>
          <p:cNvSpPr/>
          <p:nvPr/>
        </p:nvSpPr>
        <p:spPr>
          <a:xfrm>
            <a:off x="1532197" y="3780863"/>
            <a:ext cx="1615353" cy="1066053"/>
          </a:xfrm>
          <a:prstGeom prst="roundRect">
            <a:avLst>
              <a:gd name="adj" fmla="val 6000"/>
            </a:avLst>
          </a:prstGeom>
          <a:noFill/>
          <a:ln w="9525">
            <a:solidFill>
              <a:srgbClr val="A9ADB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18" name="Rectangle 21">
            <a:extLst>
              <a:ext uri="{FF2B5EF4-FFF2-40B4-BE49-F238E27FC236}">
                <a16:creationId xmlns:a16="http://schemas.microsoft.com/office/drawing/2014/main" id="{CDA703EE-3F61-411E-A20B-6E52E39DC041}"/>
              </a:ext>
            </a:extLst>
          </p:cNvPr>
          <p:cNvSpPr/>
          <p:nvPr/>
        </p:nvSpPr>
        <p:spPr>
          <a:xfrm>
            <a:off x="1532197" y="3818963"/>
            <a:ext cx="1615353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8 ExtraBold"/>
                <a:ea typeface="페이퍼로지 8 ExtraBold"/>
                <a:cs typeface="페이퍼로지 8 ExtraBold"/>
              </a:rPr>
              <a:t>주말4D_All제품(B2C)</a:t>
            </a:r>
          </a:p>
        </p:txBody>
      </p:sp>
      <p:sp>
        <p:nvSpPr>
          <p:cNvPr id="19" name="Rounded Rectangle 22">
            <a:extLst>
              <a:ext uri="{FF2B5EF4-FFF2-40B4-BE49-F238E27FC236}">
                <a16:creationId xmlns:a16="http://schemas.microsoft.com/office/drawing/2014/main" id="{167C4675-1F65-4CDA-BEE6-093364EDCB2B}"/>
              </a:ext>
            </a:extLst>
          </p:cNvPr>
          <p:cNvSpPr/>
          <p:nvPr/>
        </p:nvSpPr>
        <p:spPr>
          <a:xfrm>
            <a:off x="1591295" y="4085663"/>
            <a:ext cx="709179" cy="203200"/>
          </a:xfrm>
          <a:prstGeom prst="roundRect">
            <a:avLst>
              <a:gd name="adj" fmla="val 15000"/>
            </a:avLst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1파트</a:t>
            </a:r>
          </a:p>
        </p:txBody>
      </p:sp>
      <p:sp>
        <p:nvSpPr>
          <p:cNvPr id="20" name="Rounded Rectangle 23">
            <a:extLst>
              <a:ext uri="{FF2B5EF4-FFF2-40B4-BE49-F238E27FC236}">
                <a16:creationId xmlns:a16="http://schemas.microsoft.com/office/drawing/2014/main" id="{ED6E50F6-0BCE-4B0D-93B1-CB0B4CB58BE4}"/>
              </a:ext>
            </a:extLst>
          </p:cNvPr>
          <p:cNvSpPr/>
          <p:nvPr/>
        </p:nvSpPr>
        <p:spPr>
          <a:xfrm>
            <a:off x="1591295" y="4314263"/>
            <a:ext cx="709179" cy="381000"/>
          </a:xfrm>
          <a:prstGeom prst="roundRect">
            <a:avLst>
              <a:gd name="adj" fmla="val 12000"/>
            </a:avLst>
          </a:prstGeom>
          <a:solidFill>
            <a:srgbClr val="EC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이예은 파트장</a:t>
            </a:r>
          </a:p>
          <a:p>
            <a:pPr algn="ctr">
              <a:lnSpc>
                <a:spcPct val="115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컨설턴트 </a:t>
            </a:r>
            <a:r>
              <a:rPr lang="ko-KR" sz="9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8명</a:t>
            </a:r>
          </a:p>
        </p:txBody>
      </p:sp>
      <p:sp>
        <p:nvSpPr>
          <p:cNvPr id="21" name="Rounded Rectangle 24">
            <a:extLst>
              <a:ext uri="{FF2B5EF4-FFF2-40B4-BE49-F238E27FC236}">
                <a16:creationId xmlns:a16="http://schemas.microsoft.com/office/drawing/2014/main" id="{5466E025-F70D-49A6-AE5A-FCC236C3811C}"/>
              </a:ext>
            </a:extLst>
          </p:cNvPr>
          <p:cNvSpPr/>
          <p:nvPr/>
        </p:nvSpPr>
        <p:spPr>
          <a:xfrm>
            <a:off x="2379272" y="4085663"/>
            <a:ext cx="709179" cy="203200"/>
          </a:xfrm>
          <a:prstGeom prst="roundRect">
            <a:avLst>
              <a:gd name="adj" fmla="val 15000"/>
            </a:avLst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2파트</a:t>
            </a:r>
          </a:p>
        </p:txBody>
      </p:sp>
      <p:sp>
        <p:nvSpPr>
          <p:cNvPr id="22" name="Rounded Rectangle 25">
            <a:extLst>
              <a:ext uri="{FF2B5EF4-FFF2-40B4-BE49-F238E27FC236}">
                <a16:creationId xmlns:a16="http://schemas.microsoft.com/office/drawing/2014/main" id="{0D9BCF5F-1658-46FA-819D-6FB73BC2BD5C}"/>
              </a:ext>
            </a:extLst>
          </p:cNvPr>
          <p:cNvSpPr/>
          <p:nvPr/>
        </p:nvSpPr>
        <p:spPr>
          <a:xfrm>
            <a:off x="2379272" y="4314263"/>
            <a:ext cx="709179" cy="381000"/>
          </a:xfrm>
          <a:prstGeom prst="roundRect">
            <a:avLst>
              <a:gd name="adj" fmla="val 12000"/>
            </a:avLst>
          </a:prstGeom>
          <a:solidFill>
            <a:srgbClr val="EC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최영준 파트장</a:t>
            </a:r>
          </a:p>
          <a:p>
            <a:pPr algn="ctr">
              <a:lnSpc>
                <a:spcPct val="115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컨설턴트 </a:t>
            </a:r>
            <a:r>
              <a:rPr lang="ko-KR" sz="9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7명</a:t>
            </a:r>
          </a:p>
        </p:txBody>
      </p:sp>
      <p:sp>
        <p:nvSpPr>
          <p:cNvPr id="24" name="Rounded Rectangle 28">
            <a:extLst>
              <a:ext uri="{FF2B5EF4-FFF2-40B4-BE49-F238E27FC236}">
                <a16:creationId xmlns:a16="http://schemas.microsoft.com/office/drawing/2014/main" id="{CE24D1F9-8FE9-43EB-B6C6-3554180CAFCA}"/>
              </a:ext>
            </a:extLst>
          </p:cNvPr>
          <p:cNvSpPr/>
          <p:nvPr/>
        </p:nvSpPr>
        <p:spPr>
          <a:xfrm>
            <a:off x="5633526" y="1435100"/>
            <a:ext cx="1536555" cy="2794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A9A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TO-BE  </a:t>
            </a: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2027년 성수기 시즌</a:t>
            </a:r>
          </a:p>
        </p:txBody>
      </p:sp>
      <p:sp>
        <p:nvSpPr>
          <p:cNvPr id="58" name="Rounded Rectangle 70">
            <a:extLst>
              <a:ext uri="{FF2B5EF4-FFF2-40B4-BE49-F238E27FC236}">
                <a16:creationId xmlns:a16="http://schemas.microsoft.com/office/drawing/2014/main" id="{7E9C0F82-963E-498B-8D4C-08CAD5C63F61}"/>
              </a:ext>
            </a:extLst>
          </p:cNvPr>
          <p:cNvSpPr/>
          <p:nvPr/>
        </p:nvSpPr>
        <p:spPr>
          <a:xfrm>
            <a:off x="1386913" y="5398547"/>
            <a:ext cx="551584" cy="203200"/>
          </a:xfrm>
          <a:prstGeom prst="roundRect">
            <a:avLst>
              <a:gd name="adj" fmla="val 15000"/>
            </a:avLst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7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한시_</a:t>
            </a:r>
            <a:r>
              <a:rPr lang="en-US" altLang="ko-KR" sz="7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1</a:t>
            </a:r>
            <a:r>
              <a:rPr lang="ko-KR" sz="7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파트</a:t>
            </a:r>
          </a:p>
        </p:txBody>
      </p:sp>
      <p:sp>
        <p:nvSpPr>
          <p:cNvPr id="59" name="Rounded Rectangle 71">
            <a:extLst>
              <a:ext uri="{FF2B5EF4-FFF2-40B4-BE49-F238E27FC236}">
                <a16:creationId xmlns:a16="http://schemas.microsoft.com/office/drawing/2014/main" id="{AEA6423D-C613-4C12-9929-647D141E6AA7}"/>
              </a:ext>
            </a:extLst>
          </p:cNvPr>
          <p:cNvSpPr/>
          <p:nvPr/>
        </p:nvSpPr>
        <p:spPr>
          <a:xfrm>
            <a:off x="1386913" y="5627147"/>
            <a:ext cx="551584" cy="381000"/>
          </a:xfrm>
          <a:prstGeom prst="roundRect">
            <a:avLst>
              <a:gd name="adj" fmla="val 12000"/>
            </a:avLst>
          </a:prstGeom>
          <a:solidFill>
            <a:srgbClr val="EC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sz="7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임시파트장</a:t>
            </a:r>
          </a:p>
          <a:p>
            <a:pPr algn="ctr">
              <a:lnSpc>
                <a:spcPct val="100000"/>
              </a:lnSpc>
            </a:pPr>
            <a:r>
              <a:rPr lang="ko-KR" sz="7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컨설턴트 </a:t>
            </a:r>
            <a:r>
              <a:rPr lang="ko-KR" sz="7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12명</a:t>
            </a:r>
          </a:p>
        </p:txBody>
      </p:sp>
      <p:sp>
        <p:nvSpPr>
          <p:cNvPr id="60" name="Rounded Rectangle 72">
            <a:extLst>
              <a:ext uri="{FF2B5EF4-FFF2-40B4-BE49-F238E27FC236}">
                <a16:creationId xmlns:a16="http://schemas.microsoft.com/office/drawing/2014/main" id="{92BB7EC9-C62E-4766-A6A1-45089A0433F5}"/>
              </a:ext>
            </a:extLst>
          </p:cNvPr>
          <p:cNvSpPr/>
          <p:nvPr/>
        </p:nvSpPr>
        <p:spPr>
          <a:xfrm>
            <a:off x="1977895" y="5398547"/>
            <a:ext cx="551584" cy="203200"/>
          </a:xfrm>
          <a:prstGeom prst="roundRect">
            <a:avLst>
              <a:gd name="adj" fmla="val 15000"/>
            </a:avLst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7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한시_</a:t>
            </a:r>
            <a:r>
              <a:rPr lang="en-US" altLang="ko-KR" sz="7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2</a:t>
            </a:r>
            <a:r>
              <a:rPr lang="ko-KR" sz="7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파트</a:t>
            </a:r>
          </a:p>
        </p:txBody>
      </p:sp>
      <p:sp>
        <p:nvSpPr>
          <p:cNvPr id="61" name="Rounded Rectangle 73">
            <a:extLst>
              <a:ext uri="{FF2B5EF4-FFF2-40B4-BE49-F238E27FC236}">
                <a16:creationId xmlns:a16="http://schemas.microsoft.com/office/drawing/2014/main" id="{DBC3DF0F-9180-40D8-BDE8-46C8D9CC3D9E}"/>
              </a:ext>
            </a:extLst>
          </p:cNvPr>
          <p:cNvSpPr/>
          <p:nvPr/>
        </p:nvSpPr>
        <p:spPr>
          <a:xfrm>
            <a:off x="1977895" y="5627147"/>
            <a:ext cx="551584" cy="381000"/>
          </a:xfrm>
          <a:prstGeom prst="roundRect">
            <a:avLst>
              <a:gd name="adj" fmla="val 12000"/>
            </a:avLst>
          </a:prstGeom>
          <a:solidFill>
            <a:srgbClr val="EC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sz="7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임시파트장</a:t>
            </a:r>
          </a:p>
          <a:p>
            <a:pPr algn="ctr">
              <a:lnSpc>
                <a:spcPct val="100000"/>
              </a:lnSpc>
            </a:pPr>
            <a:r>
              <a:rPr lang="ko-KR" sz="7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컨설턴트 </a:t>
            </a:r>
            <a:r>
              <a:rPr lang="ko-KR" sz="7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12명</a:t>
            </a:r>
          </a:p>
        </p:txBody>
      </p:sp>
      <p:sp>
        <p:nvSpPr>
          <p:cNvPr id="62" name="Rounded Rectangle 74">
            <a:extLst>
              <a:ext uri="{FF2B5EF4-FFF2-40B4-BE49-F238E27FC236}">
                <a16:creationId xmlns:a16="http://schemas.microsoft.com/office/drawing/2014/main" id="{D93C0601-0A2B-4778-BFF7-61F4B8848ABF}"/>
              </a:ext>
            </a:extLst>
          </p:cNvPr>
          <p:cNvSpPr/>
          <p:nvPr/>
        </p:nvSpPr>
        <p:spPr>
          <a:xfrm>
            <a:off x="2568878" y="5398547"/>
            <a:ext cx="551584" cy="203200"/>
          </a:xfrm>
          <a:prstGeom prst="roundRect">
            <a:avLst>
              <a:gd name="adj" fmla="val 15000"/>
            </a:avLst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7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한시_</a:t>
            </a:r>
            <a:r>
              <a:rPr lang="en-US" altLang="ko-KR" sz="7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3</a:t>
            </a:r>
            <a:r>
              <a:rPr lang="ko-KR" sz="7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파트</a:t>
            </a:r>
          </a:p>
        </p:txBody>
      </p:sp>
      <p:sp>
        <p:nvSpPr>
          <p:cNvPr id="63" name="Rounded Rectangle 75">
            <a:extLst>
              <a:ext uri="{FF2B5EF4-FFF2-40B4-BE49-F238E27FC236}">
                <a16:creationId xmlns:a16="http://schemas.microsoft.com/office/drawing/2014/main" id="{31AF6EE3-0B9A-4F4E-B2C6-67D3A378CA64}"/>
              </a:ext>
            </a:extLst>
          </p:cNvPr>
          <p:cNvSpPr/>
          <p:nvPr/>
        </p:nvSpPr>
        <p:spPr>
          <a:xfrm>
            <a:off x="2568878" y="5627147"/>
            <a:ext cx="551584" cy="381000"/>
          </a:xfrm>
          <a:prstGeom prst="roundRect">
            <a:avLst>
              <a:gd name="adj" fmla="val 12000"/>
            </a:avLst>
          </a:prstGeom>
          <a:solidFill>
            <a:srgbClr val="EC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sz="7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임시파트장</a:t>
            </a:r>
          </a:p>
          <a:p>
            <a:pPr algn="ctr">
              <a:lnSpc>
                <a:spcPct val="100000"/>
              </a:lnSpc>
            </a:pPr>
            <a:r>
              <a:rPr lang="ko-KR" sz="7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컨설턴트 </a:t>
            </a:r>
            <a:r>
              <a:rPr lang="ko-KR" sz="7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12명</a:t>
            </a:r>
          </a:p>
        </p:txBody>
      </p:sp>
      <p:sp>
        <p:nvSpPr>
          <p:cNvPr id="66" name="Rounded Rectangle 57">
            <a:extLst>
              <a:ext uri="{FF2B5EF4-FFF2-40B4-BE49-F238E27FC236}">
                <a16:creationId xmlns:a16="http://schemas.microsoft.com/office/drawing/2014/main" id="{C4DE7008-2E50-4356-8005-6966FC64F9E0}"/>
              </a:ext>
            </a:extLst>
          </p:cNvPr>
          <p:cNvSpPr/>
          <p:nvPr/>
        </p:nvSpPr>
        <p:spPr>
          <a:xfrm>
            <a:off x="825479" y="5369411"/>
            <a:ext cx="531884" cy="638736"/>
          </a:xfrm>
          <a:prstGeom prst="roundRect">
            <a:avLst>
              <a:gd name="adj" fmla="val 12000"/>
            </a:avLst>
          </a:prstGeom>
          <a:solidFill>
            <a:srgbClr val="DDD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ko-KR" altLang="en-US" sz="7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임시 </a:t>
            </a:r>
            <a:r>
              <a:rPr lang="ko-KR" sz="7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QA</a:t>
            </a:r>
          </a:p>
          <a:p>
            <a:pPr algn="ctr">
              <a:lnSpc>
                <a:spcPct val="115000"/>
              </a:lnSpc>
            </a:pPr>
            <a:r>
              <a:rPr lang="en-US" altLang="ko-KR" sz="7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1</a:t>
            </a:r>
            <a:r>
              <a:rPr lang="ko-KR" sz="7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명</a:t>
            </a:r>
          </a:p>
        </p:txBody>
      </p:sp>
      <p:sp>
        <p:nvSpPr>
          <p:cNvPr id="67" name="Rounded Rectangle 20">
            <a:extLst>
              <a:ext uri="{FF2B5EF4-FFF2-40B4-BE49-F238E27FC236}">
                <a16:creationId xmlns:a16="http://schemas.microsoft.com/office/drawing/2014/main" id="{F55BEC9C-4D48-4749-ABA7-51C05B980EAA}"/>
              </a:ext>
            </a:extLst>
          </p:cNvPr>
          <p:cNvSpPr/>
          <p:nvPr/>
        </p:nvSpPr>
        <p:spPr>
          <a:xfrm>
            <a:off x="784368" y="5306657"/>
            <a:ext cx="2370803" cy="773953"/>
          </a:xfrm>
          <a:prstGeom prst="roundRect">
            <a:avLst>
              <a:gd name="adj" fmla="val 6000"/>
            </a:avLst>
          </a:prstGeom>
          <a:noFill/>
          <a:ln w="9525">
            <a:solidFill>
              <a:srgbClr val="A9ADB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sz="700"/>
          </a:p>
        </p:txBody>
      </p:sp>
      <p:sp>
        <p:nvSpPr>
          <p:cNvPr id="68" name="Rectangle 59">
            <a:extLst>
              <a:ext uri="{FF2B5EF4-FFF2-40B4-BE49-F238E27FC236}">
                <a16:creationId xmlns:a16="http://schemas.microsoft.com/office/drawing/2014/main" id="{20522D6C-9CCF-4A88-8E03-945797855D49}"/>
              </a:ext>
            </a:extLst>
          </p:cNvPr>
          <p:cNvSpPr/>
          <p:nvPr/>
        </p:nvSpPr>
        <p:spPr>
          <a:xfrm>
            <a:off x="785178" y="5035022"/>
            <a:ext cx="1127442" cy="29971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8 ExtraBold"/>
                <a:ea typeface="페이퍼로지 8 ExtraBold"/>
                <a:cs typeface="페이퍼로지 8 ExtraBold"/>
              </a:rPr>
              <a:t>한시 (성수기)  </a:t>
            </a:r>
            <a:r>
              <a:rPr lang="ko-KR" altLang="en-US" sz="900" b="0" dirty="0">
                <a:solidFill>
                  <a:srgbClr val="6A7180"/>
                </a:solidFill>
                <a:latin typeface="페이퍼로지 8 ExtraBold"/>
                <a:ea typeface="페이퍼로지 8 ExtraBold"/>
                <a:cs typeface="페이퍼로지 8 ExtraBold"/>
              </a:rPr>
              <a:t>조직도</a:t>
            </a:r>
            <a:endParaRPr lang="ko-KR" sz="900" b="0" dirty="0">
              <a:solidFill>
                <a:srgbClr val="E30C60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77" name="Rounded Rectangle 7">
            <a:extLst>
              <a:ext uri="{FF2B5EF4-FFF2-40B4-BE49-F238E27FC236}">
                <a16:creationId xmlns:a16="http://schemas.microsoft.com/office/drawing/2014/main" id="{D31DD74B-3AF7-48B1-A1B7-7E1407AC082A}"/>
              </a:ext>
            </a:extLst>
          </p:cNvPr>
          <p:cNvSpPr/>
          <p:nvPr/>
        </p:nvSpPr>
        <p:spPr>
          <a:xfrm>
            <a:off x="2162247" y="1821854"/>
            <a:ext cx="906174" cy="447371"/>
          </a:xfrm>
          <a:prstGeom prst="roundRect">
            <a:avLst>
              <a:gd name="adj" fmla="val 12000"/>
            </a:avLst>
          </a:prstGeom>
          <a:solidFill>
            <a:srgbClr val="0F1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ko-KR" sz="9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KT </a:t>
            </a:r>
            <a:r>
              <a:rPr lang="ko-KR" sz="9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IS </a:t>
            </a:r>
            <a:r>
              <a:rPr lang="ko-KR" altLang="en-US" sz="9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본사</a:t>
            </a:r>
            <a:endParaRPr lang="ko-KR" sz="900" b="0" dirty="0">
              <a:solidFill>
                <a:srgbClr val="FFFFFF"/>
              </a:solidFill>
              <a:latin typeface="페이퍼로지 8 ExtraBold"/>
              <a:ea typeface="페이퍼로지 8 ExtraBold"/>
              <a:cs typeface="페이퍼로지 8 ExtraBold"/>
            </a:endParaRPr>
          </a:p>
          <a:p>
            <a:pPr algn="ctr">
              <a:lnSpc>
                <a:spcPct val="115000"/>
              </a:lnSpc>
            </a:pPr>
            <a:r>
              <a:rPr lang="ko-KR" sz="900" b="0" dirty="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단장 · 팀장 · PM</a:t>
            </a:r>
          </a:p>
        </p:txBody>
      </p:sp>
      <p:sp>
        <p:nvSpPr>
          <p:cNvPr id="100" name="Rounded Rectangle 9">
            <a:extLst>
              <a:ext uri="{FF2B5EF4-FFF2-40B4-BE49-F238E27FC236}">
                <a16:creationId xmlns:a16="http://schemas.microsoft.com/office/drawing/2014/main" id="{05DDBB12-F363-40B6-8E84-DFF2FCEB04BF}"/>
              </a:ext>
            </a:extLst>
          </p:cNvPr>
          <p:cNvSpPr/>
          <p:nvPr/>
        </p:nvSpPr>
        <p:spPr>
          <a:xfrm>
            <a:off x="5833992" y="2164630"/>
            <a:ext cx="1102183" cy="534320"/>
          </a:xfrm>
          <a:prstGeom prst="roundRect">
            <a:avLst>
              <a:gd name="adj" fmla="val 12000"/>
            </a:avLst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ko-KR" altLang="en-US" sz="1200" dirty="0">
                <a:solidFill>
                  <a:srgbClr val="FFFFFF"/>
                </a:solidFill>
                <a:latin typeface="페이퍼로지 8 ExtraBold"/>
                <a:ea typeface="페이퍼로지 8 ExtraBold"/>
              </a:rPr>
              <a:t>총괄 매니저</a:t>
            </a:r>
          </a:p>
          <a:p>
            <a:pPr algn="ctr">
              <a:lnSpc>
                <a:spcPct val="115000"/>
              </a:lnSpc>
            </a:pPr>
            <a:r>
              <a:rPr lang="ko-KR" altLang="en-US" sz="1200" dirty="0" err="1">
                <a:solidFill>
                  <a:srgbClr val="FFFFFF"/>
                </a:solidFill>
                <a:latin typeface="페이퍼로지 8 ExtraBold"/>
                <a:ea typeface="페이퍼로지 8 ExtraBold"/>
              </a:rPr>
              <a:t>진소라</a:t>
            </a:r>
            <a:endParaRPr lang="ko-KR" altLang="en-US" sz="1200" dirty="0">
              <a:solidFill>
                <a:srgbClr val="FFFFFF"/>
              </a:solidFill>
              <a:latin typeface="페이퍼로지 8 ExtraBold"/>
              <a:ea typeface="페이퍼로지 8 ExtraBold"/>
            </a:endParaRPr>
          </a:p>
        </p:txBody>
      </p:sp>
      <p:sp>
        <p:nvSpPr>
          <p:cNvPr id="101" name="Rounded Rectangle 13">
            <a:extLst>
              <a:ext uri="{FF2B5EF4-FFF2-40B4-BE49-F238E27FC236}">
                <a16:creationId xmlns:a16="http://schemas.microsoft.com/office/drawing/2014/main" id="{658DC204-3ABC-43A4-A979-387DFFC4EB46}"/>
              </a:ext>
            </a:extLst>
          </p:cNvPr>
          <p:cNvSpPr/>
          <p:nvPr/>
        </p:nvSpPr>
        <p:spPr>
          <a:xfrm>
            <a:off x="7132321" y="2708837"/>
            <a:ext cx="806988" cy="459931"/>
          </a:xfrm>
          <a:prstGeom prst="roundRect">
            <a:avLst>
              <a:gd name="adj" fmla="val 12000"/>
            </a:avLst>
          </a:prstGeom>
          <a:solidFill>
            <a:srgbClr val="DDD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ko-KR" altLang="en-US" sz="1200" dirty="0">
                <a:solidFill>
                  <a:srgbClr val="E30C60"/>
                </a:solidFill>
                <a:latin typeface="페이퍼로지 8 ExtraBold"/>
                <a:ea typeface="페이퍼로지 8 ExtraBold"/>
              </a:rPr>
              <a:t>품질매니저</a:t>
            </a:r>
            <a:endParaRPr lang="en-US" altLang="ko-KR" sz="1200" dirty="0">
              <a:solidFill>
                <a:srgbClr val="E30C60"/>
              </a:solidFill>
              <a:latin typeface="페이퍼로지 8 ExtraBold"/>
              <a:ea typeface="페이퍼로지 8 ExtraBold"/>
            </a:endParaRPr>
          </a:p>
          <a:p>
            <a:pPr algn="ctr">
              <a:lnSpc>
                <a:spcPct val="115000"/>
              </a:lnSpc>
            </a:pPr>
            <a:r>
              <a:rPr lang="en-US" altLang="ko-KR" sz="900" dirty="0">
                <a:solidFill>
                  <a:srgbClr val="10151F"/>
                </a:solidFill>
                <a:cs typeface="페이퍼로지 5 Medium"/>
              </a:rPr>
              <a:t>(</a:t>
            </a:r>
            <a:r>
              <a:rPr lang="ko-KR" altLang="en-US" sz="900" dirty="0">
                <a:solidFill>
                  <a:srgbClr val="10151F"/>
                </a:solidFill>
                <a:cs typeface="페이퍼로지 5 Medium"/>
              </a:rPr>
              <a:t>신설</a:t>
            </a:r>
            <a:r>
              <a:rPr lang="en-US" altLang="ko-KR" sz="900" dirty="0">
                <a:solidFill>
                  <a:srgbClr val="10151F"/>
                </a:solidFill>
                <a:cs typeface="페이퍼로지 5 Medium"/>
              </a:rPr>
              <a:t>)</a:t>
            </a:r>
            <a:endParaRPr lang="ko-KR" altLang="ko-KR" sz="900" dirty="0">
              <a:solidFill>
                <a:srgbClr val="10151F"/>
              </a:solidFill>
              <a:cs typeface="페이퍼로지 5 Medium"/>
            </a:endParaRPr>
          </a:p>
        </p:txBody>
      </p:sp>
      <p:sp>
        <p:nvSpPr>
          <p:cNvPr id="107" name="Rounded Rectangle 19">
            <a:extLst>
              <a:ext uri="{FF2B5EF4-FFF2-40B4-BE49-F238E27FC236}">
                <a16:creationId xmlns:a16="http://schemas.microsoft.com/office/drawing/2014/main" id="{B9CCAC85-FC03-4F0E-926C-138814E413F8}"/>
              </a:ext>
            </a:extLst>
          </p:cNvPr>
          <p:cNvSpPr/>
          <p:nvPr/>
        </p:nvSpPr>
        <p:spPr>
          <a:xfrm>
            <a:off x="7210774" y="3233017"/>
            <a:ext cx="650081" cy="355600"/>
          </a:xfrm>
          <a:prstGeom prst="roundRect">
            <a:avLst>
              <a:gd name="adj" fmla="val 12000"/>
            </a:avLst>
          </a:prstGeom>
          <a:solidFill>
            <a:srgbClr val="DDD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강사</a:t>
            </a:r>
            <a:r>
              <a:rPr lang="en-US" altLang="ko-KR" sz="9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  <a:r>
              <a:rPr lang="ko-KR" altLang="ko-KR" sz="900" dirty="0">
                <a:solidFill>
                  <a:srgbClr val="10151F"/>
                </a:solidFill>
                <a:cs typeface="페이퍼로지 5 Medium"/>
              </a:rPr>
              <a:t>· </a:t>
            </a:r>
            <a:r>
              <a:rPr lang="en-US" altLang="ko-KR" sz="90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QA</a:t>
            </a:r>
            <a:endParaRPr lang="ko-KR" sz="900" b="0" dirty="0">
              <a:solidFill>
                <a:srgbClr val="10151F"/>
              </a:solidFill>
              <a:latin typeface="페이퍼로지 8 ExtraBold"/>
              <a:ea typeface="페이퍼로지 8 ExtraBold"/>
              <a:cs typeface="페이퍼로지 8 ExtraBold"/>
            </a:endParaRPr>
          </a:p>
          <a:p>
            <a:pPr algn="ctr">
              <a:lnSpc>
                <a:spcPct val="115000"/>
              </a:lnSpc>
            </a:pPr>
            <a:r>
              <a:rPr lang="en-US" alt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3</a:t>
            </a:r>
            <a:r>
              <a:rPr lang="ko-KR" altLang="en-US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명</a:t>
            </a:r>
            <a:endParaRPr lang="ko-KR" sz="900" b="0" dirty="0">
              <a:solidFill>
                <a:srgbClr val="10151F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108" name="Rounded Rectangle 20">
            <a:extLst>
              <a:ext uri="{FF2B5EF4-FFF2-40B4-BE49-F238E27FC236}">
                <a16:creationId xmlns:a16="http://schemas.microsoft.com/office/drawing/2014/main" id="{FA86D0FE-7ECB-4B54-B0ED-7EB77B875721}"/>
              </a:ext>
            </a:extLst>
          </p:cNvPr>
          <p:cNvSpPr/>
          <p:nvPr/>
        </p:nvSpPr>
        <p:spPr>
          <a:xfrm>
            <a:off x="3816085" y="3781236"/>
            <a:ext cx="838279" cy="1066053"/>
          </a:xfrm>
          <a:prstGeom prst="roundRect">
            <a:avLst>
              <a:gd name="adj" fmla="val 6000"/>
            </a:avLst>
          </a:prstGeom>
          <a:noFill/>
          <a:ln w="9525">
            <a:solidFill>
              <a:srgbClr val="A9ADB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109" name="Rectangle 21">
            <a:extLst>
              <a:ext uri="{FF2B5EF4-FFF2-40B4-BE49-F238E27FC236}">
                <a16:creationId xmlns:a16="http://schemas.microsoft.com/office/drawing/2014/main" id="{156B0135-EF84-4B5E-A0D5-C3ADBEE704E1}"/>
              </a:ext>
            </a:extLst>
          </p:cNvPr>
          <p:cNvSpPr/>
          <p:nvPr/>
        </p:nvSpPr>
        <p:spPr>
          <a:xfrm>
            <a:off x="3816085" y="3819336"/>
            <a:ext cx="838279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8 ExtraBold"/>
                <a:ea typeface="페이퍼로지 8 ExtraBold"/>
                <a:cs typeface="페이퍼로지 8 ExtraBold"/>
              </a:rPr>
              <a:t>주말4D</a:t>
            </a:r>
          </a:p>
        </p:txBody>
      </p:sp>
      <p:sp>
        <p:nvSpPr>
          <p:cNvPr id="110" name="Rounded Rectangle 22">
            <a:extLst>
              <a:ext uri="{FF2B5EF4-FFF2-40B4-BE49-F238E27FC236}">
                <a16:creationId xmlns:a16="http://schemas.microsoft.com/office/drawing/2014/main" id="{AB54334D-C980-4978-9906-2E23151B7EC9}"/>
              </a:ext>
            </a:extLst>
          </p:cNvPr>
          <p:cNvSpPr/>
          <p:nvPr/>
        </p:nvSpPr>
        <p:spPr>
          <a:xfrm>
            <a:off x="3875183" y="4086036"/>
            <a:ext cx="709179" cy="203200"/>
          </a:xfrm>
          <a:prstGeom prst="roundRect">
            <a:avLst>
              <a:gd name="adj" fmla="val 15000"/>
            </a:avLst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1파트</a:t>
            </a:r>
          </a:p>
        </p:txBody>
      </p:sp>
      <p:sp>
        <p:nvSpPr>
          <p:cNvPr id="111" name="Rounded Rectangle 23">
            <a:extLst>
              <a:ext uri="{FF2B5EF4-FFF2-40B4-BE49-F238E27FC236}">
                <a16:creationId xmlns:a16="http://schemas.microsoft.com/office/drawing/2014/main" id="{2BD2268E-6CF7-45BD-9973-480C5A597B04}"/>
              </a:ext>
            </a:extLst>
          </p:cNvPr>
          <p:cNvSpPr/>
          <p:nvPr/>
        </p:nvSpPr>
        <p:spPr>
          <a:xfrm>
            <a:off x="3875183" y="4314636"/>
            <a:ext cx="709179" cy="381000"/>
          </a:xfrm>
          <a:prstGeom prst="roundRect">
            <a:avLst>
              <a:gd name="adj" fmla="val 12000"/>
            </a:avLst>
          </a:prstGeom>
          <a:solidFill>
            <a:srgbClr val="EC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파트장</a:t>
            </a:r>
          </a:p>
          <a:p>
            <a:pPr algn="ctr">
              <a:lnSpc>
                <a:spcPct val="115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컨설턴트 </a:t>
            </a:r>
            <a:r>
              <a:rPr lang="en-US" altLang="ko-KR" sz="90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5 Medium"/>
              </a:rPr>
              <a:t>10</a:t>
            </a:r>
            <a:r>
              <a:rPr lang="ko-KR" sz="9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명</a:t>
            </a:r>
          </a:p>
        </p:txBody>
      </p:sp>
      <p:sp>
        <p:nvSpPr>
          <p:cNvPr id="116" name="Rounded Rectangle 20">
            <a:extLst>
              <a:ext uri="{FF2B5EF4-FFF2-40B4-BE49-F238E27FC236}">
                <a16:creationId xmlns:a16="http://schemas.microsoft.com/office/drawing/2014/main" id="{98D6AF8B-00E9-4670-9999-3551B96DBC1B}"/>
              </a:ext>
            </a:extLst>
          </p:cNvPr>
          <p:cNvSpPr/>
          <p:nvPr/>
        </p:nvSpPr>
        <p:spPr>
          <a:xfrm>
            <a:off x="4728351" y="3770409"/>
            <a:ext cx="4415649" cy="1066053"/>
          </a:xfrm>
          <a:prstGeom prst="roundRect">
            <a:avLst>
              <a:gd name="adj" fmla="val 6000"/>
            </a:avLst>
          </a:prstGeom>
          <a:noFill/>
          <a:ln w="9525">
            <a:solidFill>
              <a:srgbClr val="A9ADB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117" name="Rectangle 21">
            <a:extLst>
              <a:ext uri="{FF2B5EF4-FFF2-40B4-BE49-F238E27FC236}">
                <a16:creationId xmlns:a16="http://schemas.microsoft.com/office/drawing/2014/main" id="{2F9F92D5-EA8E-4A52-A135-4D7144E0A2C3}"/>
              </a:ext>
            </a:extLst>
          </p:cNvPr>
          <p:cNvSpPr/>
          <p:nvPr/>
        </p:nvSpPr>
        <p:spPr>
          <a:xfrm>
            <a:off x="4728351" y="3808509"/>
            <a:ext cx="4415649" cy="18825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altLang="en-US" sz="900" dirty="0">
                <a:solidFill>
                  <a:srgbClr val="6A7180"/>
                </a:solidFill>
                <a:latin typeface="페이퍼로지 8 ExtraBold"/>
                <a:ea typeface="페이퍼로지 8 ExtraBold"/>
                <a:cs typeface="페이퍼로지 8 ExtraBold"/>
              </a:rPr>
              <a:t>주간</a:t>
            </a:r>
            <a:r>
              <a:rPr lang="en-US" altLang="ko-KR" sz="900" b="0" dirty="0">
                <a:solidFill>
                  <a:srgbClr val="6A7180"/>
                </a:solidFill>
                <a:latin typeface="페이퍼로지 8 ExtraBold"/>
                <a:ea typeface="페이퍼로지 8 ExtraBold"/>
                <a:cs typeface="페이퍼로지 8 ExtraBold"/>
              </a:rPr>
              <a:t>5</a:t>
            </a:r>
            <a:r>
              <a:rPr lang="ko-KR" sz="900" b="0" dirty="0" err="1">
                <a:solidFill>
                  <a:srgbClr val="6A7180"/>
                </a:solidFill>
                <a:latin typeface="페이퍼로지 8 ExtraBold"/>
                <a:ea typeface="페이퍼로지 8 ExtraBold"/>
                <a:cs typeface="페이퍼로지 8 ExtraBold"/>
              </a:rPr>
              <a:t>D</a:t>
            </a:r>
            <a:r>
              <a:rPr lang="en-US" altLang="ko-KR" sz="900" b="0" dirty="0">
                <a:solidFill>
                  <a:srgbClr val="6A7180"/>
                </a:solidFill>
                <a:latin typeface="페이퍼로지 8 ExtraBold"/>
                <a:ea typeface="페이퍼로지 8 ExtraBold"/>
                <a:cs typeface="페이퍼로지 8 ExtraBold"/>
              </a:rPr>
              <a:t>_</a:t>
            </a:r>
            <a:r>
              <a:rPr lang="ko-KR" altLang="en-US" sz="900" dirty="0">
                <a:solidFill>
                  <a:srgbClr val="6A7180"/>
                </a:solidFill>
                <a:latin typeface="페이퍼로지 8 ExtraBold"/>
                <a:ea typeface="페이퍼로지 8 ExtraBold"/>
                <a:cs typeface="페이퍼로지 8 ExtraBold"/>
              </a:rPr>
              <a:t>에어컨</a:t>
            </a:r>
            <a:r>
              <a:rPr lang="en-US" altLang="ko-KR" sz="900" dirty="0">
                <a:solidFill>
                  <a:srgbClr val="6A7180"/>
                </a:solidFill>
                <a:latin typeface="페이퍼로지 8 ExtraBold"/>
                <a:ea typeface="페이퍼로지 8 ExtraBold"/>
                <a:cs typeface="페이퍼로지 8 ExtraBold"/>
              </a:rPr>
              <a:t>, </a:t>
            </a:r>
            <a:r>
              <a:rPr lang="ko-KR" altLang="en-US" sz="900" dirty="0">
                <a:solidFill>
                  <a:srgbClr val="6A7180"/>
                </a:solidFill>
                <a:latin typeface="페이퍼로지 8 ExtraBold"/>
                <a:ea typeface="페이퍼로지 8 ExtraBold"/>
                <a:cs typeface="페이퍼로지 8 ExtraBold"/>
              </a:rPr>
              <a:t>냉장고</a:t>
            </a:r>
            <a:endParaRPr lang="ko-KR" sz="900" b="0" dirty="0">
              <a:solidFill>
                <a:srgbClr val="6A7180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118" name="Rounded Rectangle 22">
            <a:extLst>
              <a:ext uri="{FF2B5EF4-FFF2-40B4-BE49-F238E27FC236}">
                <a16:creationId xmlns:a16="http://schemas.microsoft.com/office/drawing/2014/main" id="{A011CA4A-C3D5-4281-BF6E-64BC115AE541}"/>
              </a:ext>
            </a:extLst>
          </p:cNvPr>
          <p:cNvSpPr/>
          <p:nvPr/>
        </p:nvSpPr>
        <p:spPr>
          <a:xfrm>
            <a:off x="6566481" y="4060342"/>
            <a:ext cx="709179" cy="203200"/>
          </a:xfrm>
          <a:prstGeom prst="roundRect">
            <a:avLst>
              <a:gd name="adj" fmla="val 15000"/>
            </a:avLst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altLang="ko-KR" sz="9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3</a:t>
            </a:r>
            <a:r>
              <a:rPr lang="ko-KR" sz="9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파트</a:t>
            </a:r>
          </a:p>
        </p:txBody>
      </p:sp>
      <p:sp>
        <p:nvSpPr>
          <p:cNvPr id="119" name="Rounded Rectangle 23">
            <a:extLst>
              <a:ext uri="{FF2B5EF4-FFF2-40B4-BE49-F238E27FC236}">
                <a16:creationId xmlns:a16="http://schemas.microsoft.com/office/drawing/2014/main" id="{D226D02C-E90C-492B-85A8-612E67C57A08}"/>
              </a:ext>
            </a:extLst>
          </p:cNvPr>
          <p:cNvSpPr/>
          <p:nvPr/>
        </p:nvSpPr>
        <p:spPr>
          <a:xfrm>
            <a:off x="6566481" y="4288942"/>
            <a:ext cx="709179" cy="381000"/>
          </a:xfrm>
          <a:prstGeom prst="roundRect">
            <a:avLst>
              <a:gd name="adj" fmla="val 12000"/>
            </a:avLst>
          </a:prstGeom>
          <a:solidFill>
            <a:srgbClr val="EC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파트장</a:t>
            </a:r>
          </a:p>
          <a:p>
            <a:pPr algn="ctr">
              <a:lnSpc>
                <a:spcPct val="115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컨설턴트 </a:t>
            </a:r>
            <a:r>
              <a:rPr lang="en-US" altLang="ko-KR" sz="90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5 Medium"/>
              </a:rPr>
              <a:t>10</a:t>
            </a:r>
            <a:r>
              <a:rPr lang="ko-KR" sz="9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명</a:t>
            </a:r>
          </a:p>
        </p:txBody>
      </p:sp>
      <p:sp>
        <p:nvSpPr>
          <p:cNvPr id="120" name="Rounded Rectangle 22">
            <a:extLst>
              <a:ext uri="{FF2B5EF4-FFF2-40B4-BE49-F238E27FC236}">
                <a16:creationId xmlns:a16="http://schemas.microsoft.com/office/drawing/2014/main" id="{11AA2611-AA3F-4B09-8B18-CDB25B3EB16B}"/>
              </a:ext>
            </a:extLst>
          </p:cNvPr>
          <p:cNvSpPr/>
          <p:nvPr/>
        </p:nvSpPr>
        <p:spPr>
          <a:xfrm>
            <a:off x="4972739" y="4051525"/>
            <a:ext cx="709179" cy="203200"/>
          </a:xfrm>
          <a:prstGeom prst="roundRect">
            <a:avLst>
              <a:gd name="adj" fmla="val 15000"/>
            </a:avLst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1파트</a:t>
            </a:r>
          </a:p>
        </p:txBody>
      </p:sp>
      <p:sp>
        <p:nvSpPr>
          <p:cNvPr id="121" name="Rounded Rectangle 23">
            <a:extLst>
              <a:ext uri="{FF2B5EF4-FFF2-40B4-BE49-F238E27FC236}">
                <a16:creationId xmlns:a16="http://schemas.microsoft.com/office/drawing/2014/main" id="{A5B8B0D7-EB4C-4655-9EDE-64B91B6C23CA}"/>
              </a:ext>
            </a:extLst>
          </p:cNvPr>
          <p:cNvSpPr/>
          <p:nvPr/>
        </p:nvSpPr>
        <p:spPr>
          <a:xfrm>
            <a:off x="4972739" y="4280125"/>
            <a:ext cx="709179" cy="381000"/>
          </a:xfrm>
          <a:prstGeom prst="roundRect">
            <a:avLst>
              <a:gd name="adj" fmla="val 12000"/>
            </a:avLst>
          </a:prstGeom>
          <a:solidFill>
            <a:srgbClr val="EC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파트장</a:t>
            </a:r>
          </a:p>
          <a:p>
            <a:pPr algn="ctr">
              <a:lnSpc>
                <a:spcPct val="115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컨설턴트 </a:t>
            </a:r>
            <a:r>
              <a:rPr lang="en-US" altLang="ko-KR" sz="90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5 Medium"/>
              </a:rPr>
              <a:t>10</a:t>
            </a:r>
            <a:r>
              <a:rPr lang="ko-KR" sz="9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명</a:t>
            </a:r>
          </a:p>
        </p:txBody>
      </p:sp>
      <p:sp>
        <p:nvSpPr>
          <p:cNvPr id="122" name="Rounded Rectangle 22">
            <a:extLst>
              <a:ext uri="{FF2B5EF4-FFF2-40B4-BE49-F238E27FC236}">
                <a16:creationId xmlns:a16="http://schemas.microsoft.com/office/drawing/2014/main" id="{99EA80BE-98B6-464F-BB07-A9478F9C3BC3}"/>
              </a:ext>
            </a:extLst>
          </p:cNvPr>
          <p:cNvSpPr/>
          <p:nvPr/>
        </p:nvSpPr>
        <p:spPr>
          <a:xfrm>
            <a:off x="5769610" y="4051300"/>
            <a:ext cx="709179" cy="203200"/>
          </a:xfrm>
          <a:prstGeom prst="roundRect">
            <a:avLst>
              <a:gd name="adj" fmla="val 15000"/>
            </a:avLst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altLang="ko-KR" sz="9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2</a:t>
            </a:r>
            <a:r>
              <a:rPr lang="ko-KR" sz="9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파트</a:t>
            </a:r>
          </a:p>
        </p:txBody>
      </p:sp>
      <p:sp>
        <p:nvSpPr>
          <p:cNvPr id="123" name="Rounded Rectangle 23">
            <a:extLst>
              <a:ext uri="{FF2B5EF4-FFF2-40B4-BE49-F238E27FC236}">
                <a16:creationId xmlns:a16="http://schemas.microsoft.com/office/drawing/2014/main" id="{33908E94-34AB-4FC7-8D47-6E545092D609}"/>
              </a:ext>
            </a:extLst>
          </p:cNvPr>
          <p:cNvSpPr/>
          <p:nvPr/>
        </p:nvSpPr>
        <p:spPr>
          <a:xfrm>
            <a:off x="5769610" y="4279900"/>
            <a:ext cx="709179" cy="381000"/>
          </a:xfrm>
          <a:prstGeom prst="roundRect">
            <a:avLst>
              <a:gd name="adj" fmla="val 12000"/>
            </a:avLst>
          </a:prstGeom>
          <a:solidFill>
            <a:srgbClr val="EC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파트장</a:t>
            </a:r>
          </a:p>
          <a:p>
            <a:pPr algn="ctr">
              <a:lnSpc>
                <a:spcPct val="115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컨설턴트 </a:t>
            </a:r>
            <a:r>
              <a:rPr lang="en-US" altLang="ko-KR" sz="90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5 Medium"/>
              </a:rPr>
              <a:t>10</a:t>
            </a:r>
            <a:r>
              <a:rPr lang="ko-KR" sz="9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명</a:t>
            </a:r>
          </a:p>
        </p:txBody>
      </p:sp>
      <p:sp>
        <p:nvSpPr>
          <p:cNvPr id="124" name="Rounded Rectangle 22">
            <a:extLst>
              <a:ext uri="{FF2B5EF4-FFF2-40B4-BE49-F238E27FC236}">
                <a16:creationId xmlns:a16="http://schemas.microsoft.com/office/drawing/2014/main" id="{29D29994-CC71-4BE6-A9B3-294C31BB5485}"/>
              </a:ext>
            </a:extLst>
          </p:cNvPr>
          <p:cNvSpPr/>
          <p:nvPr/>
        </p:nvSpPr>
        <p:spPr>
          <a:xfrm>
            <a:off x="7363352" y="4036433"/>
            <a:ext cx="709179" cy="203200"/>
          </a:xfrm>
          <a:prstGeom prst="roundRect">
            <a:avLst>
              <a:gd name="adj" fmla="val 15000"/>
            </a:avLst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altLang="ko-KR" sz="9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4</a:t>
            </a:r>
            <a:r>
              <a:rPr lang="ko-KR" sz="9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파트</a:t>
            </a:r>
          </a:p>
        </p:txBody>
      </p:sp>
      <p:sp>
        <p:nvSpPr>
          <p:cNvPr id="125" name="Rounded Rectangle 23">
            <a:extLst>
              <a:ext uri="{FF2B5EF4-FFF2-40B4-BE49-F238E27FC236}">
                <a16:creationId xmlns:a16="http://schemas.microsoft.com/office/drawing/2014/main" id="{8BCB3048-1870-4F77-9ED6-9D59CD55EB89}"/>
              </a:ext>
            </a:extLst>
          </p:cNvPr>
          <p:cNvSpPr/>
          <p:nvPr/>
        </p:nvSpPr>
        <p:spPr>
          <a:xfrm>
            <a:off x="7363352" y="4265033"/>
            <a:ext cx="709179" cy="381000"/>
          </a:xfrm>
          <a:prstGeom prst="roundRect">
            <a:avLst>
              <a:gd name="adj" fmla="val 12000"/>
            </a:avLst>
          </a:prstGeom>
          <a:solidFill>
            <a:srgbClr val="EC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파트장</a:t>
            </a:r>
          </a:p>
          <a:p>
            <a:pPr algn="ctr">
              <a:lnSpc>
                <a:spcPct val="115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컨설턴트 </a:t>
            </a:r>
            <a:r>
              <a:rPr lang="en-US" altLang="ko-KR" sz="90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5 Medium"/>
              </a:rPr>
              <a:t>10</a:t>
            </a:r>
            <a:r>
              <a:rPr lang="ko-KR" sz="9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명</a:t>
            </a:r>
          </a:p>
        </p:txBody>
      </p:sp>
      <p:sp>
        <p:nvSpPr>
          <p:cNvPr id="126" name="Rounded Rectangle 22">
            <a:extLst>
              <a:ext uri="{FF2B5EF4-FFF2-40B4-BE49-F238E27FC236}">
                <a16:creationId xmlns:a16="http://schemas.microsoft.com/office/drawing/2014/main" id="{165432CF-3771-461C-8158-B3108C1D47DB}"/>
              </a:ext>
            </a:extLst>
          </p:cNvPr>
          <p:cNvSpPr/>
          <p:nvPr/>
        </p:nvSpPr>
        <p:spPr>
          <a:xfrm>
            <a:off x="8160223" y="4035991"/>
            <a:ext cx="709179" cy="203200"/>
          </a:xfrm>
          <a:prstGeom prst="roundRect">
            <a:avLst>
              <a:gd name="adj" fmla="val 15000"/>
            </a:avLst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altLang="ko-KR" sz="9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5</a:t>
            </a:r>
            <a:r>
              <a:rPr lang="ko-KR" sz="9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파트</a:t>
            </a:r>
          </a:p>
        </p:txBody>
      </p:sp>
      <p:sp>
        <p:nvSpPr>
          <p:cNvPr id="127" name="Rounded Rectangle 23">
            <a:extLst>
              <a:ext uri="{FF2B5EF4-FFF2-40B4-BE49-F238E27FC236}">
                <a16:creationId xmlns:a16="http://schemas.microsoft.com/office/drawing/2014/main" id="{DA85027F-857A-4643-B238-F3272CBBDF0F}"/>
              </a:ext>
            </a:extLst>
          </p:cNvPr>
          <p:cNvSpPr/>
          <p:nvPr/>
        </p:nvSpPr>
        <p:spPr>
          <a:xfrm>
            <a:off x="8160223" y="4264591"/>
            <a:ext cx="709179" cy="381000"/>
          </a:xfrm>
          <a:prstGeom prst="roundRect">
            <a:avLst>
              <a:gd name="adj" fmla="val 12000"/>
            </a:avLst>
          </a:prstGeom>
          <a:solidFill>
            <a:srgbClr val="EC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파트장</a:t>
            </a:r>
          </a:p>
          <a:p>
            <a:pPr algn="ctr">
              <a:lnSpc>
                <a:spcPct val="115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컨설턴트 </a:t>
            </a:r>
            <a:r>
              <a:rPr lang="en-US" altLang="ko-KR" sz="90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5 Medium"/>
              </a:rPr>
              <a:t>10</a:t>
            </a:r>
            <a:r>
              <a:rPr lang="ko-KR" sz="9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명</a:t>
            </a:r>
          </a:p>
        </p:txBody>
      </p:sp>
      <p:sp>
        <p:nvSpPr>
          <p:cNvPr id="128" name="Rounded Rectangle 19">
            <a:extLst>
              <a:ext uri="{FF2B5EF4-FFF2-40B4-BE49-F238E27FC236}">
                <a16:creationId xmlns:a16="http://schemas.microsoft.com/office/drawing/2014/main" id="{8256C227-8F52-42A9-ADB0-08CEEF9AF1EB}"/>
              </a:ext>
            </a:extLst>
          </p:cNvPr>
          <p:cNvSpPr/>
          <p:nvPr/>
        </p:nvSpPr>
        <p:spPr>
          <a:xfrm>
            <a:off x="4972739" y="3026985"/>
            <a:ext cx="650081" cy="431720"/>
          </a:xfrm>
          <a:prstGeom prst="roundRect">
            <a:avLst>
              <a:gd name="adj" fmla="val 12000"/>
            </a:avLst>
          </a:prstGeom>
          <a:solidFill>
            <a:srgbClr val="DDD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en-US" altLang="ko-KR" sz="1200" dirty="0">
                <a:solidFill>
                  <a:srgbClr val="E30C60"/>
                </a:solidFill>
                <a:latin typeface="페이퍼로지 8 ExtraBold"/>
                <a:ea typeface="페이퍼로지 8 ExtraBold"/>
              </a:rPr>
              <a:t>DA</a:t>
            </a:r>
            <a:br>
              <a:rPr lang="en-US" altLang="ko-KR" sz="1200" dirty="0">
                <a:solidFill>
                  <a:srgbClr val="E30C60"/>
                </a:solidFill>
                <a:latin typeface="페이퍼로지 8 ExtraBold"/>
                <a:ea typeface="페이퍼로지 8 ExtraBold"/>
              </a:rPr>
            </a:br>
            <a:r>
              <a:rPr lang="en-US" altLang="ko-KR" sz="900" dirty="0">
                <a:solidFill>
                  <a:srgbClr val="10151F"/>
                </a:solidFill>
              </a:rPr>
              <a:t>(</a:t>
            </a:r>
            <a:r>
              <a:rPr lang="ko-KR" altLang="en-US" sz="900" dirty="0">
                <a:solidFill>
                  <a:srgbClr val="10151F"/>
                </a:solidFill>
              </a:rPr>
              <a:t>신설</a:t>
            </a:r>
            <a:r>
              <a:rPr lang="en-US" altLang="ko-KR" sz="900" dirty="0">
                <a:solidFill>
                  <a:srgbClr val="10151F"/>
                </a:solidFill>
              </a:rPr>
              <a:t>)</a:t>
            </a:r>
            <a:endParaRPr lang="ko-KR" altLang="ko-KR" sz="900" dirty="0">
              <a:solidFill>
                <a:srgbClr val="10151F"/>
              </a:solidFill>
            </a:endParaRPr>
          </a:p>
        </p:txBody>
      </p:sp>
      <p:sp>
        <p:nvSpPr>
          <p:cNvPr id="129" name="Rounded Rectangle 70">
            <a:extLst>
              <a:ext uri="{FF2B5EF4-FFF2-40B4-BE49-F238E27FC236}">
                <a16:creationId xmlns:a16="http://schemas.microsoft.com/office/drawing/2014/main" id="{ABF93DEA-BDAF-4F88-81D1-CA7FDE15578E}"/>
              </a:ext>
            </a:extLst>
          </p:cNvPr>
          <p:cNvSpPr/>
          <p:nvPr/>
        </p:nvSpPr>
        <p:spPr>
          <a:xfrm>
            <a:off x="4301898" y="5412029"/>
            <a:ext cx="561142" cy="203200"/>
          </a:xfrm>
          <a:prstGeom prst="roundRect">
            <a:avLst>
              <a:gd name="adj" fmla="val 15000"/>
            </a:avLst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7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한시_</a:t>
            </a:r>
            <a:r>
              <a:rPr lang="en-US" altLang="ko-KR" sz="7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1</a:t>
            </a:r>
            <a:r>
              <a:rPr lang="ko-KR" sz="7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파트</a:t>
            </a:r>
          </a:p>
        </p:txBody>
      </p:sp>
      <p:sp>
        <p:nvSpPr>
          <p:cNvPr id="130" name="Rounded Rectangle 71">
            <a:extLst>
              <a:ext uri="{FF2B5EF4-FFF2-40B4-BE49-F238E27FC236}">
                <a16:creationId xmlns:a16="http://schemas.microsoft.com/office/drawing/2014/main" id="{A515B235-7773-4563-A7BE-AB052377CF49}"/>
              </a:ext>
            </a:extLst>
          </p:cNvPr>
          <p:cNvSpPr/>
          <p:nvPr/>
        </p:nvSpPr>
        <p:spPr>
          <a:xfrm>
            <a:off x="4301898" y="5640629"/>
            <a:ext cx="561142" cy="381000"/>
          </a:xfrm>
          <a:prstGeom prst="roundRect">
            <a:avLst>
              <a:gd name="adj" fmla="val 12000"/>
            </a:avLst>
          </a:prstGeom>
          <a:solidFill>
            <a:srgbClr val="EC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sz="7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임시파트장</a:t>
            </a:r>
          </a:p>
          <a:p>
            <a:pPr algn="ctr">
              <a:lnSpc>
                <a:spcPct val="100000"/>
              </a:lnSpc>
            </a:pPr>
            <a:r>
              <a:rPr lang="ko-KR" sz="7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컨설턴트 </a:t>
            </a:r>
            <a:r>
              <a:rPr lang="ko-KR" sz="7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12명</a:t>
            </a:r>
          </a:p>
        </p:txBody>
      </p:sp>
      <p:sp>
        <p:nvSpPr>
          <p:cNvPr id="131" name="Rounded Rectangle 72">
            <a:extLst>
              <a:ext uri="{FF2B5EF4-FFF2-40B4-BE49-F238E27FC236}">
                <a16:creationId xmlns:a16="http://schemas.microsoft.com/office/drawing/2014/main" id="{5B6D2750-2EE3-4809-9C7C-D81F5A89583C}"/>
              </a:ext>
            </a:extLst>
          </p:cNvPr>
          <p:cNvSpPr/>
          <p:nvPr/>
        </p:nvSpPr>
        <p:spPr>
          <a:xfrm>
            <a:off x="4892880" y="5412029"/>
            <a:ext cx="561142" cy="203200"/>
          </a:xfrm>
          <a:prstGeom prst="roundRect">
            <a:avLst>
              <a:gd name="adj" fmla="val 15000"/>
            </a:avLst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7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한시_</a:t>
            </a:r>
            <a:r>
              <a:rPr lang="en-US" altLang="ko-KR" sz="7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2</a:t>
            </a:r>
            <a:r>
              <a:rPr lang="ko-KR" sz="7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파트</a:t>
            </a:r>
          </a:p>
        </p:txBody>
      </p:sp>
      <p:sp>
        <p:nvSpPr>
          <p:cNvPr id="132" name="Rounded Rectangle 73">
            <a:extLst>
              <a:ext uri="{FF2B5EF4-FFF2-40B4-BE49-F238E27FC236}">
                <a16:creationId xmlns:a16="http://schemas.microsoft.com/office/drawing/2014/main" id="{9F1C02EF-FEF7-49A7-BBC6-6022FD71C1BC}"/>
              </a:ext>
            </a:extLst>
          </p:cNvPr>
          <p:cNvSpPr/>
          <p:nvPr/>
        </p:nvSpPr>
        <p:spPr>
          <a:xfrm>
            <a:off x="4892880" y="5640629"/>
            <a:ext cx="561142" cy="381000"/>
          </a:xfrm>
          <a:prstGeom prst="roundRect">
            <a:avLst>
              <a:gd name="adj" fmla="val 12000"/>
            </a:avLst>
          </a:prstGeom>
          <a:solidFill>
            <a:srgbClr val="EC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sz="7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임시파트장</a:t>
            </a:r>
          </a:p>
          <a:p>
            <a:pPr algn="ctr">
              <a:lnSpc>
                <a:spcPct val="100000"/>
              </a:lnSpc>
            </a:pPr>
            <a:r>
              <a:rPr lang="ko-KR" sz="7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컨설턴트 </a:t>
            </a:r>
            <a:r>
              <a:rPr lang="ko-KR" sz="7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12명</a:t>
            </a:r>
          </a:p>
        </p:txBody>
      </p:sp>
      <p:sp>
        <p:nvSpPr>
          <p:cNvPr id="133" name="Rounded Rectangle 74">
            <a:extLst>
              <a:ext uri="{FF2B5EF4-FFF2-40B4-BE49-F238E27FC236}">
                <a16:creationId xmlns:a16="http://schemas.microsoft.com/office/drawing/2014/main" id="{6BF72082-0DBC-46EB-B33D-B12E32EC3086}"/>
              </a:ext>
            </a:extLst>
          </p:cNvPr>
          <p:cNvSpPr/>
          <p:nvPr/>
        </p:nvSpPr>
        <p:spPr>
          <a:xfrm>
            <a:off x="5483863" y="5412029"/>
            <a:ext cx="561142" cy="203200"/>
          </a:xfrm>
          <a:prstGeom prst="roundRect">
            <a:avLst>
              <a:gd name="adj" fmla="val 15000"/>
            </a:avLst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7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한시_</a:t>
            </a:r>
            <a:r>
              <a:rPr lang="en-US" altLang="ko-KR" sz="7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3</a:t>
            </a:r>
            <a:r>
              <a:rPr lang="ko-KR" sz="7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파트</a:t>
            </a:r>
          </a:p>
        </p:txBody>
      </p:sp>
      <p:sp>
        <p:nvSpPr>
          <p:cNvPr id="134" name="Rounded Rectangle 75">
            <a:extLst>
              <a:ext uri="{FF2B5EF4-FFF2-40B4-BE49-F238E27FC236}">
                <a16:creationId xmlns:a16="http://schemas.microsoft.com/office/drawing/2014/main" id="{0D03E899-EABE-44B7-8538-B682EAF1CD87}"/>
              </a:ext>
            </a:extLst>
          </p:cNvPr>
          <p:cNvSpPr/>
          <p:nvPr/>
        </p:nvSpPr>
        <p:spPr>
          <a:xfrm>
            <a:off x="5483863" y="5640629"/>
            <a:ext cx="561142" cy="381000"/>
          </a:xfrm>
          <a:prstGeom prst="roundRect">
            <a:avLst>
              <a:gd name="adj" fmla="val 12000"/>
            </a:avLst>
          </a:prstGeom>
          <a:solidFill>
            <a:srgbClr val="EC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sz="7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임시파트장</a:t>
            </a:r>
          </a:p>
          <a:p>
            <a:pPr algn="ctr">
              <a:lnSpc>
                <a:spcPct val="100000"/>
              </a:lnSpc>
            </a:pPr>
            <a:r>
              <a:rPr lang="ko-KR" sz="7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컨설턴트 </a:t>
            </a:r>
            <a:r>
              <a:rPr lang="ko-KR" sz="7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12명</a:t>
            </a:r>
          </a:p>
        </p:txBody>
      </p:sp>
      <p:sp>
        <p:nvSpPr>
          <p:cNvPr id="136" name="Rounded Rectangle 20">
            <a:extLst>
              <a:ext uri="{FF2B5EF4-FFF2-40B4-BE49-F238E27FC236}">
                <a16:creationId xmlns:a16="http://schemas.microsoft.com/office/drawing/2014/main" id="{1731867E-FD02-4935-B0E6-BD423453A482}"/>
              </a:ext>
            </a:extLst>
          </p:cNvPr>
          <p:cNvSpPr/>
          <p:nvPr/>
        </p:nvSpPr>
        <p:spPr>
          <a:xfrm>
            <a:off x="3493613" y="5320139"/>
            <a:ext cx="5640139" cy="773953"/>
          </a:xfrm>
          <a:prstGeom prst="roundRect">
            <a:avLst>
              <a:gd name="adj" fmla="val 6000"/>
            </a:avLst>
          </a:prstGeom>
          <a:noFill/>
          <a:ln w="9525">
            <a:solidFill>
              <a:srgbClr val="A9ADB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sz="700"/>
          </a:p>
        </p:txBody>
      </p:sp>
      <p:sp>
        <p:nvSpPr>
          <p:cNvPr id="137" name="Rounded Rectangle 70">
            <a:extLst>
              <a:ext uri="{FF2B5EF4-FFF2-40B4-BE49-F238E27FC236}">
                <a16:creationId xmlns:a16="http://schemas.microsoft.com/office/drawing/2014/main" id="{27A95223-7FB7-4922-A81B-FF101F72EDD5}"/>
              </a:ext>
            </a:extLst>
          </p:cNvPr>
          <p:cNvSpPr/>
          <p:nvPr/>
        </p:nvSpPr>
        <p:spPr>
          <a:xfrm>
            <a:off x="6067347" y="5412029"/>
            <a:ext cx="561142" cy="203200"/>
          </a:xfrm>
          <a:prstGeom prst="roundRect">
            <a:avLst>
              <a:gd name="adj" fmla="val 15000"/>
            </a:avLst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7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한시_</a:t>
            </a:r>
            <a:r>
              <a:rPr lang="en-US" altLang="ko-KR" sz="7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4</a:t>
            </a:r>
            <a:r>
              <a:rPr lang="ko-KR" sz="7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파트</a:t>
            </a:r>
          </a:p>
        </p:txBody>
      </p:sp>
      <p:sp>
        <p:nvSpPr>
          <p:cNvPr id="138" name="Rounded Rectangle 71">
            <a:extLst>
              <a:ext uri="{FF2B5EF4-FFF2-40B4-BE49-F238E27FC236}">
                <a16:creationId xmlns:a16="http://schemas.microsoft.com/office/drawing/2014/main" id="{5EAE9E1C-E97C-41A6-8897-8BFB17D3BF65}"/>
              </a:ext>
            </a:extLst>
          </p:cNvPr>
          <p:cNvSpPr/>
          <p:nvPr/>
        </p:nvSpPr>
        <p:spPr>
          <a:xfrm>
            <a:off x="6067347" y="5640629"/>
            <a:ext cx="561142" cy="381000"/>
          </a:xfrm>
          <a:prstGeom prst="roundRect">
            <a:avLst>
              <a:gd name="adj" fmla="val 12000"/>
            </a:avLst>
          </a:prstGeom>
          <a:solidFill>
            <a:srgbClr val="EC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sz="7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임시파트장</a:t>
            </a:r>
          </a:p>
          <a:p>
            <a:pPr algn="ctr">
              <a:lnSpc>
                <a:spcPct val="100000"/>
              </a:lnSpc>
            </a:pPr>
            <a:r>
              <a:rPr lang="ko-KR" sz="7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컨설턴트 </a:t>
            </a:r>
            <a:r>
              <a:rPr lang="ko-KR" sz="7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12명</a:t>
            </a:r>
          </a:p>
        </p:txBody>
      </p:sp>
      <p:sp>
        <p:nvSpPr>
          <p:cNvPr id="139" name="Rounded Rectangle 72">
            <a:extLst>
              <a:ext uri="{FF2B5EF4-FFF2-40B4-BE49-F238E27FC236}">
                <a16:creationId xmlns:a16="http://schemas.microsoft.com/office/drawing/2014/main" id="{1F7D8EF6-FFF8-498F-ABDF-91A123BD348D}"/>
              </a:ext>
            </a:extLst>
          </p:cNvPr>
          <p:cNvSpPr/>
          <p:nvPr/>
        </p:nvSpPr>
        <p:spPr>
          <a:xfrm>
            <a:off x="6658329" y="5412029"/>
            <a:ext cx="561142" cy="203200"/>
          </a:xfrm>
          <a:prstGeom prst="roundRect">
            <a:avLst>
              <a:gd name="adj" fmla="val 15000"/>
            </a:avLst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7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한시_</a:t>
            </a:r>
            <a:r>
              <a:rPr lang="en-US" altLang="ko-KR" sz="7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5</a:t>
            </a:r>
            <a:r>
              <a:rPr lang="ko-KR" sz="7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파트</a:t>
            </a:r>
          </a:p>
        </p:txBody>
      </p:sp>
      <p:sp>
        <p:nvSpPr>
          <p:cNvPr id="140" name="Rounded Rectangle 73">
            <a:extLst>
              <a:ext uri="{FF2B5EF4-FFF2-40B4-BE49-F238E27FC236}">
                <a16:creationId xmlns:a16="http://schemas.microsoft.com/office/drawing/2014/main" id="{E00A21F6-A67E-4BCB-B5C8-AD09B597999D}"/>
              </a:ext>
            </a:extLst>
          </p:cNvPr>
          <p:cNvSpPr/>
          <p:nvPr/>
        </p:nvSpPr>
        <p:spPr>
          <a:xfrm>
            <a:off x="6658329" y="5640629"/>
            <a:ext cx="561142" cy="381000"/>
          </a:xfrm>
          <a:prstGeom prst="roundRect">
            <a:avLst>
              <a:gd name="adj" fmla="val 12000"/>
            </a:avLst>
          </a:prstGeom>
          <a:solidFill>
            <a:srgbClr val="EC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sz="7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임시파트장</a:t>
            </a:r>
            <a:endParaRPr lang="ko-KR" sz="700" b="0" dirty="0">
              <a:solidFill>
                <a:srgbClr val="10151F"/>
              </a:solidFill>
              <a:latin typeface="페이퍼로지 5 Medium"/>
              <a:ea typeface="페이퍼로지 5 Medium"/>
              <a:cs typeface="페이퍼로지 5 Medium"/>
            </a:endParaRPr>
          </a:p>
          <a:p>
            <a:pPr algn="ctr">
              <a:lnSpc>
                <a:spcPct val="100000"/>
              </a:lnSpc>
            </a:pPr>
            <a:r>
              <a:rPr lang="ko-KR" sz="7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컨설턴트 </a:t>
            </a:r>
            <a:r>
              <a:rPr lang="ko-KR" sz="7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1</a:t>
            </a:r>
            <a:r>
              <a:rPr lang="en-US" altLang="ko-KR" sz="7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3</a:t>
            </a:r>
            <a:r>
              <a:rPr lang="ko-KR" sz="7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명</a:t>
            </a:r>
          </a:p>
        </p:txBody>
      </p:sp>
      <p:sp>
        <p:nvSpPr>
          <p:cNvPr id="141" name="Rounded Rectangle 74">
            <a:extLst>
              <a:ext uri="{FF2B5EF4-FFF2-40B4-BE49-F238E27FC236}">
                <a16:creationId xmlns:a16="http://schemas.microsoft.com/office/drawing/2014/main" id="{E261093D-C48F-45CE-A7D7-EAEBCCB71E7A}"/>
              </a:ext>
            </a:extLst>
          </p:cNvPr>
          <p:cNvSpPr/>
          <p:nvPr/>
        </p:nvSpPr>
        <p:spPr>
          <a:xfrm>
            <a:off x="7249312" y="5412029"/>
            <a:ext cx="561142" cy="203200"/>
          </a:xfrm>
          <a:prstGeom prst="roundRect">
            <a:avLst>
              <a:gd name="adj" fmla="val 15000"/>
            </a:avLst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7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한시_</a:t>
            </a:r>
            <a:r>
              <a:rPr lang="en-US" altLang="ko-KR" sz="7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6</a:t>
            </a:r>
            <a:r>
              <a:rPr lang="ko-KR" sz="7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파트</a:t>
            </a:r>
          </a:p>
        </p:txBody>
      </p:sp>
      <p:sp>
        <p:nvSpPr>
          <p:cNvPr id="142" name="Rounded Rectangle 75">
            <a:extLst>
              <a:ext uri="{FF2B5EF4-FFF2-40B4-BE49-F238E27FC236}">
                <a16:creationId xmlns:a16="http://schemas.microsoft.com/office/drawing/2014/main" id="{4A3E88D8-F746-455A-A339-EBB7FE34F789}"/>
              </a:ext>
            </a:extLst>
          </p:cNvPr>
          <p:cNvSpPr/>
          <p:nvPr/>
        </p:nvSpPr>
        <p:spPr>
          <a:xfrm>
            <a:off x="7249312" y="5640629"/>
            <a:ext cx="561142" cy="381000"/>
          </a:xfrm>
          <a:prstGeom prst="roundRect">
            <a:avLst>
              <a:gd name="adj" fmla="val 12000"/>
            </a:avLst>
          </a:prstGeom>
          <a:solidFill>
            <a:srgbClr val="EC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sz="7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임시파트장</a:t>
            </a:r>
            <a:endParaRPr lang="ko-KR" sz="700" b="0" dirty="0">
              <a:solidFill>
                <a:srgbClr val="10151F"/>
              </a:solidFill>
              <a:latin typeface="페이퍼로지 5 Medium"/>
              <a:ea typeface="페이퍼로지 5 Medium"/>
              <a:cs typeface="페이퍼로지 5 Medium"/>
            </a:endParaRPr>
          </a:p>
          <a:p>
            <a:pPr algn="ctr">
              <a:lnSpc>
                <a:spcPct val="100000"/>
              </a:lnSpc>
            </a:pPr>
            <a:r>
              <a:rPr lang="ko-KR" sz="7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컨설턴트 </a:t>
            </a:r>
            <a:r>
              <a:rPr lang="ko-KR" sz="7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1</a:t>
            </a:r>
            <a:r>
              <a:rPr lang="en-US" altLang="ko-KR" sz="7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3</a:t>
            </a:r>
            <a:r>
              <a:rPr lang="ko-KR" sz="7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명</a:t>
            </a:r>
          </a:p>
        </p:txBody>
      </p:sp>
      <p:sp>
        <p:nvSpPr>
          <p:cNvPr id="143" name="Rounded Rectangle 72">
            <a:extLst>
              <a:ext uri="{FF2B5EF4-FFF2-40B4-BE49-F238E27FC236}">
                <a16:creationId xmlns:a16="http://schemas.microsoft.com/office/drawing/2014/main" id="{4A76E6A4-9DB2-4345-BF83-D0B242900063}"/>
              </a:ext>
            </a:extLst>
          </p:cNvPr>
          <p:cNvSpPr/>
          <p:nvPr/>
        </p:nvSpPr>
        <p:spPr>
          <a:xfrm>
            <a:off x="7847869" y="5404038"/>
            <a:ext cx="561142" cy="203200"/>
          </a:xfrm>
          <a:prstGeom prst="roundRect">
            <a:avLst>
              <a:gd name="adj" fmla="val 15000"/>
            </a:avLst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7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한시_</a:t>
            </a:r>
            <a:r>
              <a:rPr lang="en-US" altLang="ko-KR" sz="7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7</a:t>
            </a:r>
            <a:r>
              <a:rPr lang="ko-KR" sz="7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파트</a:t>
            </a:r>
          </a:p>
        </p:txBody>
      </p:sp>
      <p:sp>
        <p:nvSpPr>
          <p:cNvPr id="144" name="Rounded Rectangle 73">
            <a:extLst>
              <a:ext uri="{FF2B5EF4-FFF2-40B4-BE49-F238E27FC236}">
                <a16:creationId xmlns:a16="http://schemas.microsoft.com/office/drawing/2014/main" id="{0F44DADB-F191-400D-B90E-7144C91950F5}"/>
              </a:ext>
            </a:extLst>
          </p:cNvPr>
          <p:cNvSpPr/>
          <p:nvPr/>
        </p:nvSpPr>
        <p:spPr>
          <a:xfrm>
            <a:off x="7847869" y="5632638"/>
            <a:ext cx="561142" cy="381000"/>
          </a:xfrm>
          <a:prstGeom prst="roundRect">
            <a:avLst>
              <a:gd name="adj" fmla="val 12000"/>
            </a:avLst>
          </a:prstGeom>
          <a:solidFill>
            <a:srgbClr val="EC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sz="7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임시파트장</a:t>
            </a:r>
            <a:endParaRPr lang="ko-KR" sz="700" b="0" dirty="0">
              <a:solidFill>
                <a:srgbClr val="10151F"/>
              </a:solidFill>
              <a:latin typeface="페이퍼로지 5 Medium"/>
              <a:ea typeface="페이퍼로지 5 Medium"/>
              <a:cs typeface="페이퍼로지 5 Medium"/>
            </a:endParaRPr>
          </a:p>
          <a:p>
            <a:pPr algn="ctr">
              <a:lnSpc>
                <a:spcPct val="100000"/>
              </a:lnSpc>
            </a:pPr>
            <a:r>
              <a:rPr lang="ko-KR" sz="7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컨설턴트 </a:t>
            </a:r>
            <a:r>
              <a:rPr lang="ko-KR" sz="7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1</a:t>
            </a:r>
            <a:r>
              <a:rPr lang="en-US" altLang="ko-KR" sz="7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3</a:t>
            </a:r>
            <a:r>
              <a:rPr lang="ko-KR" sz="7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명</a:t>
            </a:r>
          </a:p>
        </p:txBody>
      </p:sp>
      <p:sp>
        <p:nvSpPr>
          <p:cNvPr id="145" name="Rounded Rectangle 74">
            <a:extLst>
              <a:ext uri="{FF2B5EF4-FFF2-40B4-BE49-F238E27FC236}">
                <a16:creationId xmlns:a16="http://schemas.microsoft.com/office/drawing/2014/main" id="{9E62840B-3357-4694-8657-35086337670E}"/>
              </a:ext>
            </a:extLst>
          </p:cNvPr>
          <p:cNvSpPr/>
          <p:nvPr/>
        </p:nvSpPr>
        <p:spPr>
          <a:xfrm>
            <a:off x="8438852" y="5404038"/>
            <a:ext cx="561142" cy="203200"/>
          </a:xfrm>
          <a:prstGeom prst="roundRect">
            <a:avLst>
              <a:gd name="adj" fmla="val 15000"/>
            </a:avLst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7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한시_</a:t>
            </a:r>
            <a:r>
              <a:rPr lang="en-US" altLang="ko-KR" sz="7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8</a:t>
            </a:r>
            <a:r>
              <a:rPr lang="ko-KR" sz="7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파트</a:t>
            </a:r>
          </a:p>
        </p:txBody>
      </p:sp>
      <p:sp>
        <p:nvSpPr>
          <p:cNvPr id="146" name="Rounded Rectangle 75">
            <a:extLst>
              <a:ext uri="{FF2B5EF4-FFF2-40B4-BE49-F238E27FC236}">
                <a16:creationId xmlns:a16="http://schemas.microsoft.com/office/drawing/2014/main" id="{B7CCBDD0-E444-448B-A793-468397804BA6}"/>
              </a:ext>
            </a:extLst>
          </p:cNvPr>
          <p:cNvSpPr/>
          <p:nvPr/>
        </p:nvSpPr>
        <p:spPr>
          <a:xfrm>
            <a:off x="8438852" y="5632638"/>
            <a:ext cx="561142" cy="381000"/>
          </a:xfrm>
          <a:prstGeom prst="roundRect">
            <a:avLst>
              <a:gd name="adj" fmla="val 12000"/>
            </a:avLst>
          </a:prstGeom>
          <a:solidFill>
            <a:srgbClr val="EC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sz="7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임시파트장</a:t>
            </a:r>
            <a:endParaRPr lang="ko-KR" sz="700" b="0" dirty="0">
              <a:solidFill>
                <a:srgbClr val="10151F"/>
              </a:solidFill>
              <a:latin typeface="페이퍼로지 5 Medium"/>
              <a:ea typeface="페이퍼로지 5 Medium"/>
              <a:cs typeface="페이퍼로지 5 Medium"/>
            </a:endParaRPr>
          </a:p>
          <a:p>
            <a:pPr algn="ctr">
              <a:lnSpc>
                <a:spcPct val="100000"/>
              </a:lnSpc>
            </a:pPr>
            <a:r>
              <a:rPr lang="ko-KR" sz="7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컨설턴트 </a:t>
            </a:r>
            <a:r>
              <a:rPr lang="ko-KR" sz="7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1</a:t>
            </a:r>
            <a:r>
              <a:rPr lang="en-US" altLang="ko-KR" sz="7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3</a:t>
            </a:r>
            <a:r>
              <a:rPr lang="ko-KR" sz="7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명</a:t>
            </a:r>
          </a:p>
        </p:txBody>
      </p:sp>
      <p:sp>
        <p:nvSpPr>
          <p:cNvPr id="148" name="Rounded Rectangle 7">
            <a:extLst>
              <a:ext uri="{FF2B5EF4-FFF2-40B4-BE49-F238E27FC236}">
                <a16:creationId xmlns:a16="http://schemas.microsoft.com/office/drawing/2014/main" id="{42D5F5CB-3920-41B4-B643-3B081742C422}"/>
              </a:ext>
            </a:extLst>
          </p:cNvPr>
          <p:cNvSpPr/>
          <p:nvPr/>
        </p:nvSpPr>
        <p:spPr>
          <a:xfrm>
            <a:off x="7985765" y="1808012"/>
            <a:ext cx="906174" cy="447371"/>
          </a:xfrm>
          <a:prstGeom prst="roundRect">
            <a:avLst>
              <a:gd name="adj" fmla="val 12000"/>
            </a:avLst>
          </a:prstGeom>
          <a:solidFill>
            <a:srgbClr val="0F1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ko-KR" sz="9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KT IS </a:t>
            </a:r>
            <a:r>
              <a:rPr lang="ko-KR" altLang="en-US" sz="9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본사</a:t>
            </a:r>
            <a:endParaRPr lang="ko-KR" sz="900" b="0" dirty="0">
              <a:solidFill>
                <a:srgbClr val="FFFFFF"/>
              </a:solidFill>
              <a:latin typeface="페이퍼로지 8 ExtraBold"/>
              <a:ea typeface="페이퍼로지 8 ExtraBold"/>
              <a:cs typeface="페이퍼로지 8 ExtraBold"/>
            </a:endParaRPr>
          </a:p>
          <a:p>
            <a:pPr algn="ctr">
              <a:lnSpc>
                <a:spcPct val="115000"/>
              </a:lnSpc>
            </a:pPr>
            <a:r>
              <a:rPr lang="ko-KR" sz="900" b="0" dirty="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단장 · 팀장 · PM</a:t>
            </a:r>
          </a:p>
        </p:txBody>
      </p:sp>
      <p:cxnSp>
        <p:nvCxnSpPr>
          <p:cNvPr id="155" name="Connector 16">
            <a:extLst>
              <a:ext uri="{FF2B5EF4-FFF2-40B4-BE49-F238E27FC236}">
                <a16:creationId xmlns:a16="http://schemas.microsoft.com/office/drawing/2014/main" id="{CDDC833C-3627-4E27-89D7-309B65973E4C}"/>
              </a:ext>
            </a:extLst>
          </p:cNvPr>
          <p:cNvCxnSpPr>
            <a:cxnSpLocks/>
          </p:cNvCxnSpPr>
          <p:nvPr/>
        </p:nvCxnSpPr>
        <p:spPr>
          <a:xfrm>
            <a:off x="5622820" y="3234679"/>
            <a:ext cx="762263" cy="0"/>
          </a:xfrm>
          <a:prstGeom prst="line">
            <a:avLst/>
          </a:prstGeom>
          <a:ln w="9525">
            <a:solidFill>
              <a:srgbClr val="A9A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4">
            <a:extLst>
              <a:ext uri="{FF2B5EF4-FFF2-40B4-BE49-F238E27FC236}">
                <a16:creationId xmlns:a16="http://schemas.microsoft.com/office/drawing/2014/main" id="{6355E318-D2F0-46D5-9BB6-EC7E90691CEC}"/>
              </a:ext>
            </a:extLst>
          </p:cNvPr>
          <p:cNvCxnSpPr>
            <a:cxnSpLocks/>
            <a:stCxn id="100" idx="2"/>
          </p:cNvCxnSpPr>
          <p:nvPr/>
        </p:nvCxnSpPr>
        <p:spPr>
          <a:xfrm>
            <a:off x="6385084" y="2698950"/>
            <a:ext cx="0" cy="957392"/>
          </a:xfrm>
          <a:prstGeom prst="line">
            <a:avLst/>
          </a:prstGeom>
          <a:ln w="9525">
            <a:solidFill>
              <a:srgbClr val="A9A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6">
            <a:extLst>
              <a:ext uri="{FF2B5EF4-FFF2-40B4-BE49-F238E27FC236}">
                <a16:creationId xmlns:a16="http://schemas.microsoft.com/office/drawing/2014/main" id="{D2FE1576-6C57-4EE3-9C9A-87BDD243CC22}"/>
              </a:ext>
            </a:extLst>
          </p:cNvPr>
          <p:cNvCxnSpPr>
            <a:cxnSpLocks/>
          </p:cNvCxnSpPr>
          <p:nvPr/>
        </p:nvCxnSpPr>
        <p:spPr>
          <a:xfrm>
            <a:off x="4229772" y="3653863"/>
            <a:ext cx="2902549" cy="0"/>
          </a:xfrm>
          <a:prstGeom prst="line">
            <a:avLst/>
          </a:prstGeom>
          <a:ln w="9525">
            <a:solidFill>
              <a:srgbClr val="A9A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8">
            <a:extLst>
              <a:ext uri="{FF2B5EF4-FFF2-40B4-BE49-F238E27FC236}">
                <a16:creationId xmlns:a16="http://schemas.microsoft.com/office/drawing/2014/main" id="{A7DD6B79-0770-4301-AB5D-C8D9CF54F231}"/>
              </a:ext>
            </a:extLst>
          </p:cNvPr>
          <p:cNvCxnSpPr>
            <a:cxnSpLocks/>
            <a:endCxn id="108" idx="0"/>
          </p:cNvCxnSpPr>
          <p:nvPr/>
        </p:nvCxnSpPr>
        <p:spPr>
          <a:xfrm>
            <a:off x="4235225" y="3653863"/>
            <a:ext cx="0" cy="127373"/>
          </a:xfrm>
          <a:prstGeom prst="line">
            <a:avLst/>
          </a:prstGeom>
          <a:ln w="9525">
            <a:solidFill>
              <a:srgbClr val="A9A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8">
            <a:extLst>
              <a:ext uri="{FF2B5EF4-FFF2-40B4-BE49-F238E27FC236}">
                <a16:creationId xmlns:a16="http://schemas.microsoft.com/office/drawing/2014/main" id="{FF0A3A75-2E65-4123-BE0C-800737797E11}"/>
              </a:ext>
            </a:extLst>
          </p:cNvPr>
          <p:cNvCxnSpPr>
            <a:cxnSpLocks/>
          </p:cNvCxnSpPr>
          <p:nvPr/>
        </p:nvCxnSpPr>
        <p:spPr>
          <a:xfrm>
            <a:off x="7132321" y="3650950"/>
            <a:ext cx="0" cy="127373"/>
          </a:xfrm>
          <a:prstGeom prst="line">
            <a:avLst/>
          </a:prstGeom>
          <a:ln w="9525">
            <a:solidFill>
              <a:srgbClr val="A9A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">
            <a:extLst>
              <a:ext uri="{FF2B5EF4-FFF2-40B4-BE49-F238E27FC236}">
                <a16:creationId xmlns:a16="http://schemas.microsoft.com/office/drawing/2014/main" id="{6A9D263C-D8C2-49B6-9F8E-8286079DD492}"/>
              </a:ext>
            </a:extLst>
          </p:cNvPr>
          <p:cNvCxnSpPr>
            <a:cxnSpLocks/>
            <a:endCxn id="101" idx="1"/>
          </p:cNvCxnSpPr>
          <p:nvPr/>
        </p:nvCxnSpPr>
        <p:spPr>
          <a:xfrm>
            <a:off x="6385083" y="2938803"/>
            <a:ext cx="747238" cy="0"/>
          </a:xfrm>
          <a:prstGeom prst="line">
            <a:avLst/>
          </a:prstGeom>
          <a:ln w="9525">
            <a:solidFill>
              <a:srgbClr val="A9A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8">
            <a:extLst>
              <a:ext uri="{FF2B5EF4-FFF2-40B4-BE49-F238E27FC236}">
                <a16:creationId xmlns:a16="http://schemas.microsoft.com/office/drawing/2014/main" id="{341EEE5D-0096-49A4-9D4A-5D388A328C79}"/>
              </a:ext>
            </a:extLst>
          </p:cNvPr>
          <p:cNvCxnSpPr>
            <a:cxnSpLocks/>
            <a:stCxn id="101" idx="2"/>
            <a:endCxn id="107" idx="0"/>
          </p:cNvCxnSpPr>
          <p:nvPr/>
        </p:nvCxnSpPr>
        <p:spPr>
          <a:xfrm>
            <a:off x="7535815" y="3168768"/>
            <a:ext cx="0" cy="64249"/>
          </a:xfrm>
          <a:prstGeom prst="line">
            <a:avLst/>
          </a:prstGeom>
          <a:ln w="9525">
            <a:solidFill>
              <a:srgbClr val="A9A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Rounded Rectangle 57">
            <a:extLst>
              <a:ext uri="{FF2B5EF4-FFF2-40B4-BE49-F238E27FC236}">
                <a16:creationId xmlns:a16="http://schemas.microsoft.com/office/drawing/2014/main" id="{9816A1DA-8840-4001-B69A-FFBFBDA5BF4D}"/>
              </a:ext>
            </a:extLst>
          </p:cNvPr>
          <p:cNvSpPr/>
          <p:nvPr/>
        </p:nvSpPr>
        <p:spPr>
          <a:xfrm>
            <a:off x="3553032" y="5740289"/>
            <a:ext cx="672666" cy="279247"/>
          </a:xfrm>
          <a:prstGeom prst="roundRect">
            <a:avLst>
              <a:gd name="adj" fmla="val 12000"/>
            </a:avLst>
          </a:prstGeom>
          <a:solidFill>
            <a:srgbClr val="DDD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ko-KR" altLang="en-US" sz="70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임시 </a:t>
            </a:r>
            <a:r>
              <a:rPr lang="en-US" altLang="ko-KR" sz="70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QA</a:t>
            </a:r>
            <a:r>
              <a:rPr lang="ko-KR" altLang="en-US" sz="70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  <a:r>
              <a:rPr lang="en-US" altLang="ko-KR" sz="70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3</a:t>
            </a:r>
            <a:r>
              <a:rPr lang="ko-KR" altLang="en-US" sz="70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명</a:t>
            </a:r>
            <a:endParaRPr lang="ko-KR" sz="700" b="0" dirty="0">
              <a:solidFill>
                <a:srgbClr val="10151F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183" name="Rounded Rectangle 57">
            <a:extLst>
              <a:ext uri="{FF2B5EF4-FFF2-40B4-BE49-F238E27FC236}">
                <a16:creationId xmlns:a16="http://schemas.microsoft.com/office/drawing/2014/main" id="{8524AF26-F815-4D0C-AC72-B3213CFED88C}"/>
              </a:ext>
            </a:extLst>
          </p:cNvPr>
          <p:cNvSpPr/>
          <p:nvPr/>
        </p:nvSpPr>
        <p:spPr>
          <a:xfrm>
            <a:off x="3553032" y="5429738"/>
            <a:ext cx="672666" cy="279247"/>
          </a:xfrm>
          <a:prstGeom prst="roundRect">
            <a:avLst>
              <a:gd name="adj" fmla="val 12000"/>
            </a:avLst>
          </a:prstGeom>
          <a:solidFill>
            <a:srgbClr val="DDD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ko-KR" altLang="en-US" sz="70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임시 강사</a:t>
            </a:r>
            <a:r>
              <a:rPr lang="en-US" altLang="ko-KR" sz="70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 1</a:t>
            </a:r>
            <a:r>
              <a:rPr lang="ko-KR" altLang="en-US" sz="70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명</a:t>
            </a:r>
            <a:endParaRPr lang="ko-KR" sz="700" b="0" dirty="0">
              <a:solidFill>
                <a:srgbClr val="10151F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185" name="직사각형 184">
            <a:extLst>
              <a:ext uri="{FF2B5EF4-FFF2-40B4-BE49-F238E27FC236}">
                <a16:creationId xmlns:a16="http://schemas.microsoft.com/office/drawing/2014/main" id="{E86DE78D-D293-4357-9938-C66850CAFA8D}"/>
              </a:ext>
            </a:extLst>
          </p:cNvPr>
          <p:cNvSpPr/>
          <p:nvPr/>
        </p:nvSpPr>
        <p:spPr>
          <a:xfrm>
            <a:off x="3397817" y="1785358"/>
            <a:ext cx="2366617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74295" tIns="0" rIns="74295" bIns="0">
            <a:spAutoFit/>
          </a:bodyPr>
          <a:lstStyle/>
          <a:p>
            <a:pPr>
              <a:lnSpc>
                <a:spcPct val="100000"/>
              </a:lnSpc>
            </a:pPr>
            <a:r>
              <a:rPr lang="ko-KR" altLang="en-US" sz="1200" spc="-87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     운영과 품질을 나눠 품질 관리 집중</a:t>
            </a:r>
            <a:endParaRPr lang="en-US" altLang="ko-KR" sz="1200" spc="-87" dirty="0">
              <a:solidFill>
                <a:schemeClr val="tx1">
                  <a:lumMod val="85000"/>
                  <a:lumOff val="15000"/>
                </a:schemeClr>
              </a:solidFill>
              <a:latin typeface="페이퍼로지 8 ExtraBold"/>
              <a:ea typeface="페이퍼로지 8 ExtraBold"/>
              <a:cs typeface="페이퍼로지 8 ExtraBold"/>
            </a:endParaRPr>
          </a:p>
          <a:p>
            <a:pPr>
              <a:lnSpc>
                <a:spcPct val="100000"/>
              </a:lnSpc>
            </a:pPr>
            <a:r>
              <a:rPr lang="en-US" altLang="ko-KR" sz="1200" spc="-87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+ </a:t>
            </a:r>
            <a:r>
              <a:rPr lang="ko-KR" altLang="en-US" sz="1200" spc="-87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자체 진단</a:t>
            </a:r>
            <a:r>
              <a:rPr lang="en-US" altLang="ko-KR" sz="1200" spc="-87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, </a:t>
            </a:r>
            <a:r>
              <a:rPr lang="ko-KR" altLang="en-US" sz="1200" spc="-87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분석</a:t>
            </a:r>
            <a:r>
              <a:rPr lang="en-US" altLang="ko-KR" sz="1200" spc="-87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(</a:t>
            </a:r>
            <a:r>
              <a:rPr lang="ko-KR" altLang="en-US" sz="1200" spc="-87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개선</a:t>
            </a:r>
            <a:r>
              <a:rPr lang="en-US" altLang="ko-KR" sz="1200" spc="-87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)</a:t>
            </a:r>
            <a:r>
              <a:rPr lang="ko-KR" altLang="en-US" sz="1200" spc="-87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을 위한 조직 설계 </a:t>
            </a:r>
            <a:endParaRPr lang="ko-KR" altLang="en-US" sz="1200" b="0" spc="-87" dirty="0">
              <a:solidFill>
                <a:schemeClr val="tx1">
                  <a:lumMod val="85000"/>
                  <a:lumOff val="15000"/>
                </a:schemeClr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83" name="Rectangle 59">
            <a:extLst>
              <a:ext uri="{FF2B5EF4-FFF2-40B4-BE49-F238E27FC236}">
                <a16:creationId xmlns:a16="http://schemas.microsoft.com/office/drawing/2014/main" id="{958884EF-1CB4-4337-9AEF-1714F89BF915}"/>
              </a:ext>
            </a:extLst>
          </p:cNvPr>
          <p:cNvSpPr/>
          <p:nvPr/>
        </p:nvSpPr>
        <p:spPr>
          <a:xfrm>
            <a:off x="3523941" y="5040789"/>
            <a:ext cx="4011874" cy="29971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8 ExtraBold"/>
                <a:ea typeface="페이퍼로지 8 ExtraBold"/>
                <a:cs typeface="페이퍼로지 8 ExtraBold"/>
              </a:rPr>
              <a:t>한시 (성수기)  </a:t>
            </a:r>
            <a:r>
              <a:rPr lang="ko-KR" altLang="en-US" sz="900" b="0" dirty="0">
                <a:solidFill>
                  <a:srgbClr val="6A7180"/>
                </a:solidFill>
                <a:latin typeface="페이퍼로지 8 ExtraBold"/>
                <a:ea typeface="페이퍼로지 8 ExtraBold"/>
                <a:cs typeface="페이퍼로지 8 ExtraBold"/>
              </a:rPr>
              <a:t>조직도 </a:t>
            </a:r>
            <a:r>
              <a:rPr lang="en-US" altLang="ko-KR" sz="900" b="0" dirty="0">
                <a:solidFill>
                  <a:srgbClr val="6A7180"/>
                </a:solidFill>
                <a:latin typeface="페이퍼로지 8 ExtraBold"/>
                <a:ea typeface="페이퍼로지 8 ExtraBold"/>
                <a:cs typeface="페이퍼로지 8 ExtraBold"/>
              </a:rPr>
              <a:t>: </a:t>
            </a:r>
            <a:r>
              <a:rPr lang="ko-KR" altLang="en-US" sz="800" dirty="0">
                <a:solidFill>
                  <a:srgbClr val="6A7180"/>
                </a:solidFill>
                <a:latin typeface="페이퍼로지 5 Medium"/>
                <a:ea typeface="페이퍼로지 5 Medium"/>
              </a:rPr>
              <a:t>상시 조직의 품질매니저</a:t>
            </a:r>
            <a:r>
              <a:rPr lang="en-US" altLang="ko-KR" sz="800" dirty="0">
                <a:solidFill>
                  <a:srgbClr val="6A7180"/>
                </a:solidFill>
                <a:latin typeface="페이퍼로지 5 Medium"/>
                <a:ea typeface="페이퍼로지 5 Medium"/>
              </a:rPr>
              <a:t>, DA,</a:t>
            </a:r>
            <a:r>
              <a:rPr lang="ko-KR" altLang="en-US" sz="800" dirty="0">
                <a:solidFill>
                  <a:srgbClr val="6A7180"/>
                </a:solidFill>
                <a:latin typeface="페이퍼로지 5 Medium"/>
                <a:ea typeface="페이퍼로지 5 Medium"/>
              </a:rPr>
              <a:t> 강사</a:t>
            </a:r>
            <a:r>
              <a:rPr lang="en-US" altLang="ko-KR" sz="800" dirty="0">
                <a:solidFill>
                  <a:srgbClr val="6A7180"/>
                </a:solidFill>
                <a:latin typeface="페이퍼로지 5 Medium"/>
                <a:ea typeface="페이퍼로지 5 Medium"/>
              </a:rPr>
              <a:t>, QA</a:t>
            </a:r>
            <a:r>
              <a:rPr lang="ko-KR" altLang="en-US" sz="800" dirty="0">
                <a:solidFill>
                  <a:srgbClr val="6A7180"/>
                </a:solidFill>
                <a:latin typeface="페이퍼로지 5 Medium"/>
                <a:ea typeface="페이퍼로지 5 Medium"/>
              </a:rPr>
              <a:t> 모두 한시 지원 관리</a:t>
            </a:r>
          </a:p>
        </p:txBody>
      </p:sp>
    </p:spTree>
    <p:extLst>
      <p:ext uri="{BB962C8B-B14F-4D97-AF65-F5344CB8AC3E}">
        <p14:creationId xmlns:p14="http://schemas.microsoft.com/office/powerpoint/2010/main" val="30533485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929606" y="381000"/>
            <a:ext cx="61912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3-1 ② 조직 구성 · 우수 관리자 선임</a:t>
            </a:r>
          </a:p>
        </p:txBody>
      </p:sp>
      <p:sp>
        <p:nvSpPr>
          <p:cNvPr id="4" name="Rectangle 3"/>
          <p:cNvSpPr/>
          <p:nvPr/>
        </p:nvSpPr>
        <p:spPr>
          <a:xfrm>
            <a:off x="846138" y="660400"/>
            <a:ext cx="8461375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LG 업무를 직접 해 온 관리자를 </a:t>
            </a:r>
            <a:r>
              <a:rPr lang="ko-KR" sz="20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그대로 선임</a:t>
            </a:r>
            <a:r>
              <a:rPr lang="ko-KR" sz="2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합니다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138" y="1079500"/>
            <a:ext cx="84613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현장 경험과 소통 능력이 검증된 관리자가 2027년 운영을 맡아, 업무 경험이 끊기지 않도록 하겠습니다.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40250" y="64770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fld id="{B6F15528-21DE-4FAA-801E-634DDDAF4B2B}" type="slidenum">
              <a:rPr lang="en-US" altLang="ko-KR" sz="600" b="1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25</a:t>
            </a:fld>
            <a:r>
              <a:rPr lang="en-US" altLang="ko-KR" sz="600" b="1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 / 49</a:t>
            </a:r>
            <a:endParaRPr lang="ko-KR" sz="600" b="1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60400" y="1376216"/>
            <a:ext cx="866775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1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선임 관리자 (현 </a:t>
            </a:r>
            <a:r>
              <a:rPr lang="ko-KR" sz="1000" b="1" dirty="0" err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LG전자</a:t>
            </a:r>
            <a:r>
              <a:rPr lang="ko-KR" sz="1000" b="1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 고객센터 운영 인력)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60400" y="1690252"/>
            <a:ext cx="8667750" cy="0"/>
          </a:xfrm>
          <a:prstGeom prst="line">
            <a:avLst/>
          </a:prstGeom>
          <a:ln w="12700">
            <a:solidFill>
              <a:srgbClr val="E3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60400" y="1766452"/>
            <a:ext cx="1654752" cy="213359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0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58897" y="1945386"/>
            <a:ext cx="610682" cy="670227"/>
          </a:xfrm>
          <a:prstGeom prst="ellipse">
            <a:avLst/>
          </a:prstGeom>
          <a:solidFill>
            <a:srgbClr val="FFFFFF"/>
          </a:solidFill>
          <a:ln w="15875">
            <a:solidFill>
              <a:srgbClr val="E30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11" name="Picture 10" descr="j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596" y="1955800"/>
            <a:ext cx="571283" cy="698497"/>
          </a:xfrm>
          <a:prstGeom prst="ellipse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428677" y="1995052"/>
            <a:ext cx="827376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총괄매니저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28677" y="2223652"/>
            <a:ext cx="827376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진소라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897" y="2655452"/>
            <a:ext cx="1457757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LG 업무 2026.07~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58897" y="2934852"/>
            <a:ext cx="1457757" cy="0"/>
          </a:xfrm>
          <a:prstGeom prst="line">
            <a:avLst/>
          </a:prstGeom>
          <a:ln w="12700">
            <a:solidFill>
              <a:srgbClr val="E3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58897" y="3011052"/>
            <a:ext cx="1457757" cy="101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 센터 진단 9개 과제 수립</a:t>
            </a:r>
          </a:p>
          <a:p>
            <a:pPr algn="l">
              <a:lnSpc>
                <a:spcPct val="14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 월간 운영리뷰 도입 ('26.11~)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93950" y="1766452"/>
            <a:ext cx="1654752" cy="213359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492447" y="1945386"/>
            <a:ext cx="610682" cy="670227"/>
          </a:xfrm>
          <a:prstGeom prst="ellipse">
            <a:avLst/>
          </a:prstGeom>
          <a:solidFill>
            <a:srgbClr val="FFFFFF"/>
          </a:solidFill>
          <a:ln w="1587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19" name="Picture 18" descr="ju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2146" y="1919982"/>
            <a:ext cx="571283" cy="684670"/>
          </a:xfrm>
          <a:prstGeom prst="ellipse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162227" y="1995052"/>
            <a:ext cx="827376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altLang="en-US" sz="900" b="1" dirty="0">
                <a:solidFill>
                  <a:srgbClr val="6A7180"/>
                </a:solidFill>
                <a:latin typeface="페이퍼로지 8 ExtraBold"/>
                <a:ea typeface="페이퍼로지 8 ExtraBold"/>
                <a:cs typeface="페이퍼로지 8 ExtraBold"/>
              </a:rPr>
              <a:t>품질</a:t>
            </a:r>
            <a:r>
              <a:rPr lang="ko-KR" sz="900" b="1" dirty="0">
                <a:solidFill>
                  <a:srgbClr val="6A7180"/>
                </a:solidFill>
                <a:latin typeface="페이퍼로지 8 ExtraBold"/>
                <a:ea typeface="페이퍼로지 8 ExtraBold"/>
                <a:cs typeface="페이퍼로지 8 ExtraBold"/>
              </a:rPr>
              <a:t>매니저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62227" y="2223652"/>
            <a:ext cx="827376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정영순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92447" y="2655452"/>
            <a:ext cx="1457757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LG 업무 2024.10~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92447" y="2934852"/>
            <a:ext cx="1457757" cy="0"/>
          </a:xfrm>
          <a:prstGeom prst="line">
            <a:avLst/>
          </a:prstGeom>
          <a:ln w="12700">
            <a:solidFill>
              <a:srgbClr val="E3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2492447" y="3011052"/>
            <a:ext cx="1457757" cy="101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 런칭 준비부터 운영 총괄</a:t>
            </a:r>
          </a:p>
          <a:p>
            <a:pPr algn="l">
              <a:lnSpc>
                <a:spcPct val="14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 주4일 · 성수기 2회 운영</a:t>
            </a:r>
            <a:endParaRPr lang="en-US" altLang="ko-KR" sz="900" b="0" dirty="0">
              <a:solidFill>
                <a:srgbClr val="10151F"/>
              </a:solidFill>
              <a:latin typeface="페이퍼로지 5 Medium"/>
              <a:ea typeface="페이퍼로지 5 Medium"/>
              <a:cs typeface="페이퍼로지 5 Medium"/>
            </a:endParaRPr>
          </a:p>
          <a:p>
            <a:pPr algn="l">
              <a:lnSpc>
                <a:spcPct val="145000"/>
              </a:lnSpc>
            </a:pPr>
            <a:endParaRPr lang="ko-KR" sz="900" b="0" dirty="0">
              <a:solidFill>
                <a:srgbClr val="10151F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4127500" y="1766452"/>
            <a:ext cx="1654752" cy="213359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225997" y="1945386"/>
            <a:ext cx="610682" cy="670227"/>
          </a:xfrm>
          <a:prstGeom prst="ellipse">
            <a:avLst/>
          </a:prstGeom>
          <a:solidFill>
            <a:srgbClr val="FFFFFF"/>
          </a:solidFill>
          <a:ln w="1587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27" name="Picture 26" descr="le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5696" y="1894586"/>
            <a:ext cx="571283" cy="710066"/>
          </a:xfrm>
          <a:prstGeom prst="ellipse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4895777" y="1995052"/>
            <a:ext cx="827376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6A7180"/>
                </a:solidFill>
                <a:latin typeface="페이퍼로지 8 ExtraBold"/>
                <a:ea typeface="페이퍼로지 8 ExtraBold"/>
                <a:cs typeface="페이퍼로지 8 ExtraBold"/>
              </a:rPr>
              <a:t>파트장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95777" y="2223652"/>
            <a:ext cx="827376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이예은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25997" y="2655452"/>
            <a:ext cx="1457757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LG 업무 2024.11~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225997" y="2934852"/>
            <a:ext cx="1457757" cy="0"/>
          </a:xfrm>
          <a:prstGeom prst="line">
            <a:avLst/>
          </a:prstGeom>
          <a:ln w="12700">
            <a:solidFill>
              <a:srgbClr val="E3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4225997" y="3011052"/>
            <a:ext cx="1457757" cy="101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 런칭 파트장, 주말4D 1파트</a:t>
            </a:r>
          </a:p>
          <a:p>
            <a:pPr algn="l">
              <a:lnSpc>
                <a:spcPct val="14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 성수기 · 상시 파트 운영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861050" y="1766452"/>
            <a:ext cx="1654752" cy="213359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5959547" y="1945386"/>
            <a:ext cx="610682" cy="670227"/>
          </a:xfrm>
          <a:prstGeom prst="ellipse">
            <a:avLst/>
          </a:prstGeom>
          <a:solidFill>
            <a:srgbClr val="FFFFFF"/>
          </a:solidFill>
          <a:ln w="1587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35" name="Picture 34" descr="cho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9246" y="1945386"/>
            <a:ext cx="571283" cy="684662"/>
          </a:xfrm>
          <a:prstGeom prst="ellipse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6629327" y="1995052"/>
            <a:ext cx="827376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6A7180"/>
                </a:solidFill>
                <a:latin typeface="페이퍼로지 8 ExtraBold"/>
                <a:ea typeface="페이퍼로지 8 ExtraBold"/>
                <a:cs typeface="페이퍼로지 8 ExtraBold"/>
              </a:rPr>
              <a:t>파트장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29327" y="2223652"/>
            <a:ext cx="827376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최영준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59547" y="2655452"/>
            <a:ext cx="1457757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LG 업무 2024.12~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959547" y="2934852"/>
            <a:ext cx="1457757" cy="0"/>
          </a:xfrm>
          <a:prstGeom prst="line">
            <a:avLst/>
          </a:prstGeom>
          <a:ln w="12700">
            <a:solidFill>
              <a:srgbClr val="E3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5959547" y="3011052"/>
            <a:ext cx="1457757" cy="101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 QA → 성수기</a:t>
            </a:r>
            <a:r>
              <a:rPr lang="en-US" alt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, 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상시 파트장</a:t>
            </a:r>
          </a:p>
          <a:p>
            <a:pPr algn="l">
              <a:lnSpc>
                <a:spcPct val="14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 </a:t>
            </a:r>
            <a:r>
              <a:rPr lang="ko-KR" altLang="en-US" sz="90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런칭 초기 </a:t>
            </a:r>
            <a:r>
              <a:rPr lang="en-US" alt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LG</a:t>
            </a:r>
            <a:r>
              <a:rPr lang="ko-KR" altLang="en-US" sz="90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전자 고객센터 </a:t>
            </a:r>
            <a:endParaRPr lang="en-US" altLang="ko-KR" sz="900" dirty="0">
              <a:solidFill>
                <a:srgbClr val="10151F"/>
              </a:solidFill>
              <a:latin typeface="페이퍼로지 5 Medium"/>
              <a:ea typeface="페이퍼로지 5 Medium"/>
              <a:cs typeface="페이퍼로지 5 Medium"/>
            </a:endParaRPr>
          </a:p>
          <a:p>
            <a:pPr algn="l">
              <a:lnSpc>
                <a:spcPct val="145000"/>
              </a:lnSpc>
            </a:pPr>
            <a:r>
              <a:rPr lang="en-US" altLang="ko-KR" sz="90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  </a:t>
            </a:r>
            <a:r>
              <a:rPr lang="ko-KR" altLang="en-US" sz="90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파트장 경력자 채용 투입</a:t>
            </a:r>
            <a:endParaRPr lang="ko-KR" sz="900" b="0" dirty="0">
              <a:solidFill>
                <a:srgbClr val="10151F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7594600" y="1766452"/>
            <a:ext cx="1654752" cy="213359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7693097" y="1945386"/>
            <a:ext cx="610682" cy="670227"/>
          </a:xfrm>
          <a:prstGeom prst="ellipse">
            <a:avLst/>
          </a:prstGeom>
          <a:solidFill>
            <a:srgbClr val="FFFFFF"/>
          </a:solidFill>
          <a:ln w="1587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43" name="Picture 42" descr="ki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2796" y="1945385"/>
            <a:ext cx="571283" cy="670227"/>
          </a:xfrm>
          <a:prstGeom prst="ellipse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8362877" y="1995052"/>
            <a:ext cx="827376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6A7180"/>
                </a:solidFill>
                <a:latin typeface="페이퍼로지 8 ExtraBold"/>
                <a:ea typeface="페이퍼로지 8 ExtraBold"/>
                <a:cs typeface="페이퍼로지 8 ExtraBold"/>
              </a:rPr>
              <a:t>QA · 강사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62877" y="2223652"/>
            <a:ext cx="827376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김미정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693097" y="2655452"/>
            <a:ext cx="1457757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LG 업무 2024.11~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693097" y="2934852"/>
            <a:ext cx="1457757" cy="0"/>
          </a:xfrm>
          <a:prstGeom prst="line">
            <a:avLst/>
          </a:prstGeom>
          <a:ln w="12700">
            <a:solidFill>
              <a:srgbClr val="E3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7693097" y="3011052"/>
            <a:ext cx="1457757" cy="101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 상담사 → QA 내부 </a:t>
            </a:r>
            <a:r>
              <a:rPr lang="ko-KR" altLang="en-US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발탁</a:t>
            </a:r>
            <a:endParaRPr lang="ko-KR" sz="900" b="0" dirty="0">
              <a:solidFill>
                <a:srgbClr val="10151F"/>
              </a:solidFill>
              <a:latin typeface="페이퍼로지 5 Medium"/>
              <a:ea typeface="페이퍼로지 5 Medium"/>
              <a:cs typeface="페이퍼로지 5 Medium"/>
            </a:endParaRPr>
          </a:p>
          <a:p>
            <a:pPr algn="l">
              <a:lnSpc>
                <a:spcPct val="14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 2026 성수기 보수교육 22회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60400" y="4052456"/>
            <a:ext cx="5121852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선임 기준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60400" y="4357256"/>
            <a:ext cx="5121852" cy="0"/>
          </a:xfrm>
          <a:prstGeom prst="line">
            <a:avLst/>
          </a:prstGeom>
          <a:ln w="12700">
            <a:solidFill>
              <a:srgbClr val="E3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660400" y="4433456"/>
            <a:ext cx="1221365" cy="114300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719498" y="4560456"/>
            <a:ext cx="1103168" cy="279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2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조직관리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9498" y="4890656"/>
            <a:ext cx="1103168" cy="55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파트 운영 · 유지 실적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940863" y="4433456"/>
            <a:ext cx="1221365" cy="114300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1999961" y="4560456"/>
            <a:ext cx="1103168" cy="279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2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커뮤니케이션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999961" y="4890656"/>
            <a:ext cx="1103168" cy="55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보고 · 상담사 면담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221326" y="4433456"/>
            <a:ext cx="1221365" cy="114300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3280424" y="4560456"/>
            <a:ext cx="1103168" cy="279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2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현장 경험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80424" y="4890656"/>
            <a:ext cx="1103168" cy="55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LG 업무 직접 수행 이력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501789" y="4433456"/>
            <a:ext cx="1221365" cy="114300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4560888" y="4560456"/>
            <a:ext cx="1103168" cy="279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2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성장 이력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60888" y="4890656"/>
            <a:ext cx="1103168" cy="55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내부 승계 · 교육 이수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900448" y="4052456"/>
            <a:ext cx="3427701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검증된 결과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5900448" y="4357256"/>
            <a:ext cx="3427702" cy="0"/>
          </a:xfrm>
          <a:prstGeom prst="line">
            <a:avLst/>
          </a:prstGeom>
          <a:ln w="12700">
            <a:solidFill>
              <a:srgbClr val="E3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5900448" y="4433456"/>
            <a:ext cx="3427701" cy="3429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6018645" y="4433456"/>
            <a:ext cx="984971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1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3회 / 3회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062715" y="4433456"/>
            <a:ext cx="2206336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관리자 공석 내부 승계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900448" y="4827156"/>
            <a:ext cx="3427701" cy="3429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6018645" y="4827156"/>
            <a:ext cx="984971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1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4.7%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062715" y="4827156"/>
            <a:ext cx="2206336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2026 성수기 한시 퇴직률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900448" y="5220856"/>
            <a:ext cx="3427701" cy="3429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6018645" y="5220856"/>
            <a:ext cx="984971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1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5명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062715" y="5220856"/>
            <a:ext cx="2206336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2027 파트장 (현 2 + 내부 후보 3)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57394" y="5740400"/>
            <a:ext cx="8273761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200" b="1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새로 뽑아 익히는 관리자가 아니라, </a:t>
            </a:r>
            <a:r>
              <a:rPr lang="ko-KR" sz="12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이미 LG 현장을 아는 관리자</a:t>
            </a:r>
            <a:r>
              <a:rPr lang="ko-KR" sz="1200" b="1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가 첫날부터 운영합니다.</a:t>
            </a:r>
          </a:p>
        </p:txBody>
      </p:sp>
      <p:pic>
        <p:nvPicPr>
          <p:cNvPr id="76" name="Picture 7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929606" y="381000"/>
            <a:ext cx="61912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3-1 ③ 인력 수급 · 채용 전담팀</a:t>
            </a:r>
          </a:p>
        </p:txBody>
      </p:sp>
      <p:sp>
        <p:nvSpPr>
          <p:cNvPr id="4" name="Rectangle 3"/>
          <p:cNvSpPr/>
          <p:nvPr/>
        </p:nvSpPr>
        <p:spPr>
          <a:xfrm>
            <a:off x="846138" y="660400"/>
            <a:ext cx="8461375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0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채용 전담팀</a:t>
            </a:r>
            <a:r>
              <a:rPr lang="ko-KR" sz="2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과 예비인력 Pool로 필요한 인력을 제때 확보합니다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138" y="1079500"/>
            <a:ext cx="84613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채용 전담팀이 채널과 절차를 함께 관리하고, 현장 관리자가 선발에 직접 참여해 적합한 인력을 뽑습니다.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40250" y="64770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fld id="{B6F15528-21DE-4FAA-801E-634DDDAF4B2B}" type="slidenum">
              <a:rPr lang="en-US" altLang="ko-KR" sz="600" b="1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26</a:t>
            </a:fld>
            <a:r>
              <a:rPr lang="en-US" altLang="ko-KR" sz="600" b="1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 / 49</a:t>
            </a:r>
            <a:endParaRPr lang="ko-KR" sz="600" b="1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60400" y="1376216"/>
            <a:ext cx="5712835" cy="31620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채용 전담팀 운영 방식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60400" y="1692425"/>
            <a:ext cx="5712835" cy="0"/>
          </a:xfrm>
          <a:prstGeom prst="line">
            <a:avLst/>
          </a:prstGeom>
          <a:ln w="12700">
            <a:solidFill>
              <a:srgbClr val="E3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60400" y="1771478"/>
            <a:ext cx="1369110" cy="12121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52885" y="1923818"/>
            <a:ext cx="374289" cy="406789"/>
          </a:xfrm>
          <a:prstGeom prst="ellipse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11" name="Picture 10" descr="e77b_E30C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1532" y="2019040"/>
            <a:ext cx="196994" cy="196994"/>
          </a:xfrm>
          <a:prstGeom prst="rect">
            <a:avLst/>
          </a:prstGeom>
          <a:solidFill>
            <a:srgbClr val="F4F5F7"/>
          </a:solidFill>
        </p:spPr>
      </p:pic>
      <p:sp>
        <p:nvSpPr>
          <p:cNvPr id="12" name="Rectangle 11"/>
          <p:cNvSpPr/>
          <p:nvPr/>
        </p:nvSpPr>
        <p:spPr>
          <a:xfrm>
            <a:off x="719498" y="2430248"/>
            <a:ext cx="1250914" cy="23715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담당자 지정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9498" y="2667405"/>
            <a:ext cx="1250914" cy="23715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LG 센터 전담 채용 담당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08308" y="1771478"/>
            <a:ext cx="1369110" cy="12121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2600794" y="1923818"/>
            <a:ext cx="374289" cy="406789"/>
          </a:xfrm>
          <a:prstGeom prst="ellipse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16" name="Picture 15" descr="e81d_E30C6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9441" y="2019040"/>
            <a:ext cx="196994" cy="196994"/>
          </a:xfrm>
          <a:prstGeom prst="rect">
            <a:avLst/>
          </a:prstGeom>
          <a:solidFill>
            <a:srgbClr val="F4F5F7"/>
          </a:solidFill>
        </p:spPr>
      </p:pic>
      <p:sp>
        <p:nvSpPr>
          <p:cNvPr id="17" name="Rectangle 16"/>
          <p:cNvSpPr/>
          <p:nvPr/>
        </p:nvSpPr>
        <p:spPr>
          <a:xfrm>
            <a:off x="2167406" y="2430248"/>
            <a:ext cx="1250914" cy="23715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맞춤형 채용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67406" y="2667405"/>
            <a:ext cx="1250914" cy="23715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가전·AS 상담 경력 우대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56216" y="1771478"/>
            <a:ext cx="1369110" cy="12121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048702" y="1923818"/>
            <a:ext cx="374289" cy="406789"/>
          </a:xfrm>
          <a:prstGeom prst="ellipse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21" name="Picture 20" descr="e7be_E30C6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7349" y="2019040"/>
            <a:ext cx="196994" cy="196994"/>
          </a:xfrm>
          <a:prstGeom prst="rect">
            <a:avLst/>
          </a:prstGeom>
          <a:solidFill>
            <a:srgbClr val="F4F5F7"/>
          </a:solidFill>
        </p:spPr>
      </p:pic>
      <p:sp>
        <p:nvSpPr>
          <p:cNvPr id="22" name="Rectangle 21"/>
          <p:cNvSpPr/>
          <p:nvPr/>
        </p:nvSpPr>
        <p:spPr>
          <a:xfrm>
            <a:off x="3615315" y="2430248"/>
            <a:ext cx="1250914" cy="23715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전문 채용 프로그램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15315" y="2667405"/>
            <a:ext cx="1250914" cy="23715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사전 CS 교육·평가 연계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04124" y="1771478"/>
            <a:ext cx="1369110" cy="12121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496610" y="1923818"/>
            <a:ext cx="374289" cy="406789"/>
          </a:xfrm>
          <a:prstGeom prst="ellipse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26" name="Picture 25" descr="e902_E30C6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5257" y="2019040"/>
            <a:ext cx="196994" cy="196994"/>
          </a:xfrm>
          <a:prstGeom prst="rect">
            <a:avLst/>
          </a:prstGeom>
          <a:solidFill>
            <a:srgbClr val="F4F5F7"/>
          </a:solidFill>
        </p:spPr>
      </p:pic>
      <p:sp>
        <p:nvSpPr>
          <p:cNvPr id="27" name="Rectangle 26"/>
          <p:cNvSpPr/>
          <p:nvPr/>
        </p:nvSpPr>
        <p:spPr>
          <a:xfrm>
            <a:off x="5063223" y="2430248"/>
            <a:ext cx="1250914" cy="23715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상담인력 Pool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63223" y="2667405"/>
            <a:ext cx="1250914" cy="23715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성수기 경험자·퇴직자 DB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1431" y="1376216"/>
            <a:ext cx="2836718" cy="31620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채용 채널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491431" y="1692425"/>
            <a:ext cx="2836719" cy="0"/>
          </a:xfrm>
          <a:prstGeom prst="line">
            <a:avLst/>
          </a:prstGeom>
          <a:ln w="12700">
            <a:solidFill>
              <a:srgbClr val="E3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491431" y="1771478"/>
            <a:ext cx="1398659" cy="579717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32" name="Picture 31" descr="e774_6A718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9628" y="1953163"/>
            <a:ext cx="196994" cy="196994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6885420" y="1771478"/>
            <a:ext cx="984971" cy="57971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자체 채용 Site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29490" y="1771478"/>
            <a:ext cx="1398659" cy="579717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35" name="Picture 34" descr="e71e_6A718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7686" y="1953163"/>
            <a:ext cx="196994" cy="196994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8323478" y="1771478"/>
            <a:ext cx="984971" cy="57971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altLang="en-US" sz="900" b="1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채용 대행</a:t>
            </a:r>
            <a:endParaRPr lang="ko-KR" sz="900" b="1" dirty="0">
              <a:solidFill>
                <a:srgbClr val="10151F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6491431" y="2403897"/>
            <a:ext cx="1398659" cy="579717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38" name="Picture 37" descr="e716_6A718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09628" y="2585582"/>
            <a:ext cx="196994" cy="196994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6885420" y="2403897"/>
            <a:ext cx="984971" cy="57971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퇴직인력 Pool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29490" y="2403897"/>
            <a:ext cx="1398659" cy="579717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41" name="Picture 40" descr="e7be_6A718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7686" y="2585582"/>
            <a:ext cx="196994" cy="196994"/>
          </a:xfrm>
          <a:prstGeom prst="rect">
            <a:avLst/>
          </a:prstGeom>
        </p:spPr>
      </p:pic>
      <p:sp>
        <p:nvSpPr>
          <p:cNvPr id="42" name="Rectangle 41"/>
          <p:cNvSpPr/>
          <p:nvPr/>
        </p:nvSpPr>
        <p:spPr>
          <a:xfrm>
            <a:off x="8323478" y="2403897"/>
            <a:ext cx="984971" cy="57971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산학 연계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0400" y="3041480"/>
            <a:ext cx="8667750" cy="31620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1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선발 절차 — 현장 관리자가 직접 확인합니다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60400" y="3357690"/>
            <a:ext cx="8667750" cy="0"/>
          </a:xfrm>
          <a:prstGeom prst="line">
            <a:avLst/>
          </a:prstGeom>
          <a:ln w="12700">
            <a:solidFill>
              <a:srgbClr val="E3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133186" y="3718722"/>
            <a:ext cx="7722178" cy="0"/>
          </a:xfrm>
          <a:prstGeom prst="line">
            <a:avLst/>
          </a:prstGeom>
          <a:ln w="25400">
            <a:solidFill>
              <a:srgbClr val="F3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1005140" y="3579557"/>
            <a:ext cx="256092" cy="27833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3B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1005140" y="3579557"/>
            <a:ext cx="256092" cy="27833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2203" y="3929529"/>
            <a:ext cx="1181966" cy="23715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입사 지원</a:t>
            </a:r>
          </a:p>
        </p:txBody>
      </p:sp>
      <p:sp>
        <p:nvSpPr>
          <p:cNvPr id="49" name="Oval 48"/>
          <p:cNvSpPr/>
          <p:nvPr/>
        </p:nvSpPr>
        <p:spPr>
          <a:xfrm>
            <a:off x="2292497" y="3579557"/>
            <a:ext cx="256092" cy="27833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3B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2292497" y="3579557"/>
            <a:ext cx="256092" cy="27833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829561" y="3929529"/>
            <a:ext cx="1181966" cy="23715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서류 면접</a:t>
            </a:r>
          </a:p>
        </p:txBody>
      </p:sp>
      <p:sp>
        <p:nvSpPr>
          <p:cNvPr id="52" name="Oval 51"/>
          <p:cNvSpPr/>
          <p:nvPr/>
        </p:nvSpPr>
        <p:spPr>
          <a:xfrm>
            <a:off x="3579855" y="3579557"/>
            <a:ext cx="256092" cy="27833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3B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3579855" y="3579557"/>
            <a:ext cx="256092" cy="27833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116919" y="3929529"/>
            <a:ext cx="1181966" cy="23715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대면 인터뷰</a:t>
            </a:r>
          </a:p>
        </p:txBody>
      </p:sp>
      <p:sp>
        <p:nvSpPr>
          <p:cNvPr id="55" name="Oval 54"/>
          <p:cNvSpPr/>
          <p:nvPr/>
        </p:nvSpPr>
        <p:spPr>
          <a:xfrm>
            <a:off x="4867213" y="3579557"/>
            <a:ext cx="256092" cy="27833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3B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4867213" y="3579557"/>
            <a:ext cx="256092" cy="27833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404276" y="3929529"/>
            <a:ext cx="1181966" cy="23715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PC 활용 능력</a:t>
            </a:r>
          </a:p>
        </p:txBody>
      </p:sp>
      <p:sp>
        <p:nvSpPr>
          <p:cNvPr id="58" name="Oval 57"/>
          <p:cNvSpPr/>
          <p:nvPr/>
        </p:nvSpPr>
        <p:spPr>
          <a:xfrm>
            <a:off x="6154571" y="3579557"/>
            <a:ext cx="256092" cy="27833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3B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6154571" y="3579557"/>
            <a:ext cx="256092" cy="27833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691635" y="3929529"/>
            <a:ext cx="1181966" cy="23715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음성 테스트</a:t>
            </a:r>
          </a:p>
        </p:txBody>
      </p:sp>
      <p:sp>
        <p:nvSpPr>
          <p:cNvPr id="61" name="Oval 60"/>
          <p:cNvSpPr/>
          <p:nvPr/>
        </p:nvSpPr>
        <p:spPr>
          <a:xfrm>
            <a:off x="7441929" y="3579557"/>
            <a:ext cx="256092" cy="278330"/>
          </a:xfrm>
          <a:prstGeom prst="ellipse">
            <a:avLst/>
          </a:prstGeom>
          <a:solidFill>
            <a:srgbClr val="E30C60"/>
          </a:solidFill>
          <a:ln w="19050">
            <a:solidFill>
              <a:srgbClr val="E30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7441929" y="3579557"/>
            <a:ext cx="256092" cy="27833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978992" y="3929529"/>
            <a:ext cx="1181966" cy="23715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사전 CS 테스트</a:t>
            </a:r>
          </a:p>
        </p:txBody>
      </p:sp>
      <p:sp>
        <p:nvSpPr>
          <p:cNvPr id="64" name="Oval 63"/>
          <p:cNvSpPr/>
          <p:nvPr/>
        </p:nvSpPr>
        <p:spPr>
          <a:xfrm>
            <a:off x="8729287" y="3579557"/>
            <a:ext cx="256092" cy="278330"/>
          </a:xfrm>
          <a:prstGeom prst="ellipse">
            <a:avLst/>
          </a:prstGeom>
          <a:solidFill>
            <a:srgbClr val="E30C60"/>
          </a:solidFill>
          <a:ln w="19050">
            <a:solidFill>
              <a:srgbClr val="E30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8729287" y="3579557"/>
            <a:ext cx="256092" cy="27833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7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266351" y="3929529"/>
            <a:ext cx="1181966" cy="23715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선발 · 입과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161212" y="4140335"/>
            <a:ext cx="2166938" cy="21080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80점 이상만 교육 입과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60400" y="4456545"/>
            <a:ext cx="5121852" cy="31620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1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2027 성수기 채용 운영 일정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660400" y="4772755"/>
            <a:ext cx="5121852" cy="0"/>
          </a:xfrm>
          <a:prstGeom prst="line">
            <a:avLst/>
          </a:prstGeom>
          <a:ln w="12700">
            <a:solidFill>
              <a:srgbClr val="E3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Pentagon 69"/>
          <p:cNvSpPr/>
          <p:nvPr/>
        </p:nvSpPr>
        <p:spPr>
          <a:xfrm>
            <a:off x="660400" y="4878158"/>
            <a:ext cx="984971" cy="342560"/>
          </a:xfrm>
          <a:prstGeom prst="homePlate">
            <a:avLst>
              <a:gd name="adj" fmla="val 40625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3188" tIns="63500" rIns="103188" bIns="6350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2월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60400" y="5299771"/>
            <a:ext cx="945572" cy="9486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699798" y="5378823"/>
            <a:ext cx="866775" cy="31620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수요 예측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99798" y="5721383"/>
            <a:ext cx="866775" cy="3952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TO 확정</a:t>
            </a:r>
          </a:p>
        </p:txBody>
      </p:sp>
      <p:sp>
        <p:nvSpPr>
          <p:cNvPr id="74" name="Pentagon 73"/>
          <p:cNvSpPr/>
          <p:nvPr/>
        </p:nvSpPr>
        <p:spPr>
          <a:xfrm>
            <a:off x="1684770" y="4878158"/>
            <a:ext cx="984971" cy="342560"/>
          </a:xfrm>
          <a:prstGeom prst="homePlate">
            <a:avLst>
              <a:gd name="adj" fmla="val 40625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3188" tIns="63500" rIns="103188" bIns="6350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3월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684770" y="5299771"/>
            <a:ext cx="945572" cy="9486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1724169" y="5378823"/>
            <a:ext cx="866775" cy="31620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채용 공고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724169" y="5721383"/>
            <a:ext cx="866775" cy="3952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Pool 연락</a:t>
            </a:r>
          </a:p>
        </p:txBody>
      </p:sp>
      <p:sp>
        <p:nvSpPr>
          <p:cNvPr id="78" name="Pentagon 77"/>
          <p:cNvSpPr/>
          <p:nvPr/>
        </p:nvSpPr>
        <p:spPr>
          <a:xfrm>
            <a:off x="2709141" y="4878158"/>
            <a:ext cx="984971" cy="342560"/>
          </a:xfrm>
          <a:prstGeom prst="homePlate">
            <a:avLst>
              <a:gd name="adj" fmla="val 40625"/>
            </a:avLst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3188" tIns="63500" rIns="103188" bIns="6350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4~5월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2709141" y="5299771"/>
            <a:ext cx="945572" cy="9486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2748540" y="5378823"/>
            <a:ext cx="866775" cy="31620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차수별 선발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748540" y="5721383"/>
            <a:ext cx="866775" cy="3952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선교육 4차수</a:t>
            </a:r>
          </a:p>
        </p:txBody>
      </p:sp>
      <p:sp>
        <p:nvSpPr>
          <p:cNvPr id="82" name="Pentagon 81"/>
          <p:cNvSpPr/>
          <p:nvPr/>
        </p:nvSpPr>
        <p:spPr>
          <a:xfrm>
            <a:off x="3733511" y="4878158"/>
            <a:ext cx="984971" cy="342560"/>
          </a:xfrm>
          <a:prstGeom prst="homePlate">
            <a:avLst>
              <a:gd name="adj" fmla="val 40625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3188" tIns="63500" rIns="103188" bIns="6350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5~6월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3733511" y="5299771"/>
            <a:ext cx="945572" cy="9486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3772910" y="5378823"/>
            <a:ext cx="866775" cy="31620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순차 투입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772910" y="5721383"/>
            <a:ext cx="866775" cy="3952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인큐베이팅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757881" y="4878158"/>
            <a:ext cx="984971" cy="342560"/>
          </a:xfrm>
          <a:prstGeom prst="round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3188" tIns="63500" rIns="103188" bIns="6350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8월 말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757881" y="5299771"/>
            <a:ext cx="945572" cy="9486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4797280" y="5378823"/>
            <a:ext cx="866775" cy="31620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순차 출구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797280" y="5721383"/>
            <a:ext cx="866775" cy="3952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상시 전환</a:t>
            </a:r>
          </a:p>
        </p:txBody>
      </p:sp>
      <p:pic>
        <p:nvPicPr>
          <p:cNvPr id="103" name="Picture 100" descr="image.png">
            <a:extLst>
              <a:ext uri="{FF2B5EF4-FFF2-40B4-BE49-F238E27FC236}">
                <a16:creationId xmlns:a16="http://schemas.microsoft.com/office/drawing/2014/main" id="{AEBCC18D-1D41-401C-B239-D4770B755DF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  <p:sp>
        <p:nvSpPr>
          <p:cNvPr id="104" name="Rectangle 101">
            <a:extLst>
              <a:ext uri="{FF2B5EF4-FFF2-40B4-BE49-F238E27FC236}">
                <a16:creationId xmlns:a16="http://schemas.microsoft.com/office/drawing/2014/main" id="{3E9F027E-DD69-4569-B224-80C4C1B826AE}"/>
              </a:ext>
            </a:extLst>
          </p:cNvPr>
          <p:cNvSpPr/>
          <p:nvPr/>
        </p:nvSpPr>
        <p:spPr>
          <a:xfrm>
            <a:off x="5905500" y="4457700"/>
            <a:ext cx="3429000" cy="317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우수인력 확보 · 조직 안정화</a:t>
            </a:r>
          </a:p>
        </p:txBody>
      </p:sp>
      <p:sp>
        <p:nvSpPr>
          <p:cNvPr id="105" name="Rectangle 102">
            <a:extLst>
              <a:ext uri="{FF2B5EF4-FFF2-40B4-BE49-F238E27FC236}">
                <a16:creationId xmlns:a16="http://schemas.microsoft.com/office/drawing/2014/main" id="{7E4694DA-304A-4C08-910E-D451BC78D4F9}"/>
              </a:ext>
            </a:extLst>
          </p:cNvPr>
          <p:cNvSpPr/>
          <p:nvPr/>
        </p:nvSpPr>
        <p:spPr>
          <a:xfrm>
            <a:off x="5905500" y="4775200"/>
            <a:ext cx="3429000" cy="12700"/>
          </a:xfrm>
          <a:prstGeom prst="rect">
            <a:avLst/>
          </a:prstGeom>
          <a:solidFill>
            <a:srgbClr val="E3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ounded Rectangle 103">
            <a:extLst>
              <a:ext uri="{FF2B5EF4-FFF2-40B4-BE49-F238E27FC236}">
                <a16:creationId xmlns:a16="http://schemas.microsoft.com/office/drawing/2014/main" id="{C82E3DA3-D4F4-49D6-89A9-DF49723E4772}"/>
              </a:ext>
            </a:extLst>
          </p:cNvPr>
          <p:cNvSpPr/>
          <p:nvPr/>
        </p:nvSpPr>
        <p:spPr>
          <a:xfrm>
            <a:off x="5905500" y="4851400"/>
            <a:ext cx="1689100" cy="1397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4">
            <a:extLst>
              <a:ext uri="{FF2B5EF4-FFF2-40B4-BE49-F238E27FC236}">
                <a16:creationId xmlns:a16="http://schemas.microsoft.com/office/drawing/2014/main" id="{135E6BAB-E6F1-407A-A7A8-59BA65DAF603}"/>
              </a:ext>
            </a:extLst>
          </p:cNvPr>
          <p:cNvSpPr/>
          <p:nvPr/>
        </p:nvSpPr>
        <p:spPr>
          <a:xfrm>
            <a:off x="6007100" y="4902200"/>
            <a:ext cx="14859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우수인력 확보</a:t>
            </a:r>
          </a:p>
        </p:txBody>
      </p:sp>
      <p:sp>
        <p:nvSpPr>
          <p:cNvPr id="108" name="Rectangle 105">
            <a:extLst>
              <a:ext uri="{FF2B5EF4-FFF2-40B4-BE49-F238E27FC236}">
                <a16:creationId xmlns:a16="http://schemas.microsoft.com/office/drawing/2014/main" id="{CCF6D2FE-B444-4DD9-80F9-E0036B014836}"/>
              </a:ext>
            </a:extLst>
          </p:cNvPr>
          <p:cNvSpPr/>
          <p:nvPr/>
        </p:nvSpPr>
        <p:spPr>
          <a:xfrm>
            <a:off x="6007100" y="5181600"/>
            <a:ext cx="1536700" cy="101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경력자 채용 · 재입사 축하금</a:t>
            </a:r>
          </a:p>
          <a:p>
            <a:pPr algn="l">
              <a:lnSpc>
                <a:spcPct val="14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사내 추천(MGM) 수당</a:t>
            </a:r>
          </a:p>
          <a:p>
            <a:pPr algn="l">
              <a:lnSpc>
                <a:spcPct val="14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채용공고 모니터링 · 배수 선발</a:t>
            </a:r>
          </a:p>
        </p:txBody>
      </p:sp>
      <p:sp>
        <p:nvSpPr>
          <p:cNvPr id="109" name="Rounded Rectangle 106">
            <a:extLst>
              <a:ext uri="{FF2B5EF4-FFF2-40B4-BE49-F238E27FC236}">
                <a16:creationId xmlns:a16="http://schemas.microsoft.com/office/drawing/2014/main" id="{6EE4CFDC-E544-4F31-B55B-622050022D05}"/>
              </a:ext>
            </a:extLst>
          </p:cNvPr>
          <p:cNvSpPr/>
          <p:nvPr/>
        </p:nvSpPr>
        <p:spPr>
          <a:xfrm>
            <a:off x="7645400" y="4851400"/>
            <a:ext cx="1689100" cy="1397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7">
            <a:extLst>
              <a:ext uri="{FF2B5EF4-FFF2-40B4-BE49-F238E27FC236}">
                <a16:creationId xmlns:a16="http://schemas.microsoft.com/office/drawing/2014/main" id="{A7808C69-A554-416F-BCD3-B7778E494560}"/>
              </a:ext>
            </a:extLst>
          </p:cNvPr>
          <p:cNvSpPr/>
          <p:nvPr/>
        </p:nvSpPr>
        <p:spPr>
          <a:xfrm>
            <a:off x="7747000" y="4902200"/>
            <a:ext cx="14859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조직 안정화</a:t>
            </a:r>
          </a:p>
        </p:txBody>
      </p:sp>
      <p:sp>
        <p:nvSpPr>
          <p:cNvPr id="111" name="Rectangle 108">
            <a:extLst>
              <a:ext uri="{FF2B5EF4-FFF2-40B4-BE49-F238E27FC236}">
                <a16:creationId xmlns:a16="http://schemas.microsoft.com/office/drawing/2014/main" id="{03D5FD72-B737-4962-80CF-04112442FF09}"/>
              </a:ext>
            </a:extLst>
          </p:cNvPr>
          <p:cNvSpPr/>
          <p:nvPr/>
        </p:nvSpPr>
        <p:spPr>
          <a:xfrm>
            <a:off x="7747000" y="5181600"/>
            <a:ext cx="1536700" cy="101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정기 간담회 · 반기 만족도 조사</a:t>
            </a:r>
          </a:p>
          <a:p>
            <a:pPr algn="l">
              <a:lnSpc>
                <a:spcPct val="14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사전 퇴사 신고제 · 퇴사 면담</a:t>
            </a:r>
          </a:p>
          <a:p>
            <a:pPr algn="l">
              <a:lnSpc>
                <a:spcPct val="14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장기근속 처우 · 예비관리자 비전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929606" y="381000"/>
            <a:ext cx="61912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3-1 ③ 채용 차별화 · 사전 품질 테스트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846138" y="660400"/>
            <a:ext cx="8461375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교육에 들어오기 전에 먼저 검증합니다 — </a:t>
            </a:r>
            <a:r>
              <a:rPr lang="ko-KR" sz="20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80점 미만은 </a:t>
            </a:r>
            <a:r>
              <a:rPr lang="ko-KR" sz="2000" b="0" dirty="0" err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입과하지</a:t>
            </a:r>
            <a:r>
              <a:rPr lang="ko-KR" sz="20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 않습니다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138" y="1079500"/>
            <a:ext cx="84613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현장 투입 후 품질 차이를 줄이기 위해, 입사 전에 실전 스크립트로 먼저 확인합니다.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202134" y="1625600"/>
            <a:ext cx="7584281" cy="0"/>
          </a:xfrm>
          <a:prstGeom prst="line">
            <a:avLst/>
          </a:prstGeom>
          <a:ln w="25400">
            <a:solidFill>
              <a:srgbClr val="0F13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3937" y="1481138"/>
            <a:ext cx="275792" cy="288925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F13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660400" y="1854200"/>
            <a:ext cx="1063769" cy="431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1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채용·선발</a:t>
            </a:r>
          </a:p>
        </p:txBody>
      </p:sp>
      <p:sp>
        <p:nvSpPr>
          <p:cNvPr id="9" name="Oval 8"/>
          <p:cNvSpPr/>
          <p:nvPr/>
        </p:nvSpPr>
        <p:spPr>
          <a:xfrm>
            <a:off x="2167406" y="1481138"/>
            <a:ext cx="275792" cy="288925"/>
          </a:xfrm>
          <a:prstGeom prst="ellipse">
            <a:avLst/>
          </a:prstGeom>
          <a:solidFill>
            <a:srgbClr val="E30C60"/>
          </a:solidFill>
          <a:ln w="15875">
            <a:solidFill>
              <a:srgbClr val="E30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43869" y="1854200"/>
            <a:ext cx="1063769" cy="431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15000"/>
              </a:lnSpc>
            </a:pPr>
            <a:r>
              <a:rPr lang="ko-KR" sz="9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입사 전 CS 사전교육 (품질평가)</a:t>
            </a:r>
          </a:p>
        </p:txBody>
      </p:sp>
      <p:sp>
        <p:nvSpPr>
          <p:cNvPr id="11" name="Oval 10"/>
          <p:cNvSpPr/>
          <p:nvPr/>
        </p:nvSpPr>
        <p:spPr>
          <a:xfrm>
            <a:off x="3250875" y="1481138"/>
            <a:ext cx="275792" cy="288925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F13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27338" y="1854200"/>
            <a:ext cx="1063769" cy="431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1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LG 업무·상담 기본교육</a:t>
            </a:r>
          </a:p>
        </p:txBody>
      </p:sp>
      <p:sp>
        <p:nvSpPr>
          <p:cNvPr id="13" name="Oval 12"/>
          <p:cNvSpPr/>
          <p:nvPr/>
        </p:nvSpPr>
        <p:spPr>
          <a:xfrm>
            <a:off x="4334344" y="1481138"/>
            <a:ext cx="275792" cy="288925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F13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10806" y="1854200"/>
            <a:ext cx="1063769" cy="431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1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고객응대·커뮤니케이션</a:t>
            </a:r>
          </a:p>
        </p:txBody>
      </p:sp>
      <p:sp>
        <p:nvSpPr>
          <p:cNvPr id="15" name="Oval 14"/>
          <p:cNvSpPr/>
          <p:nvPr/>
        </p:nvSpPr>
        <p:spPr>
          <a:xfrm>
            <a:off x="5417812" y="1481138"/>
            <a:ext cx="275792" cy="288925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F13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94275" y="1854200"/>
            <a:ext cx="1063769" cy="431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1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상담유형·업무처리 기준</a:t>
            </a:r>
          </a:p>
        </p:txBody>
      </p:sp>
      <p:sp>
        <p:nvSpPr>
          <p:cNvPr id="17" name="Oval 16"/>
          <p:cNvSpPr/>
          <p:nvPr/>
        </p:nvSpPr>
        <p:spPr>
          <a:xfrm>
            <a:off x="6501281" y="1481138"/>
            <a:ext cx="275792" cy="288925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F13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77744" y="1854200"/>
            <a:ext cx="1063769" cy="431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1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품질테스트·상담 실습</a:t>
            </a:r>
          </a:p>
        </p:txBody>
      </p:sp>
      <p:sp>
        <p:nvSpPr>
          <p:cNvPr id="19" name="Oval 18"/>
          <p:cNvSpPr/>
          <p:nvPr/>
        </p:nvSpPr>
        <p:spPr>
          <a:xfrm>
            <a:off x="7584750" y="1481138"/>
            <a:ext cx="275792" cy="288925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F13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07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61212" y="1854200"/>
            <a:ext cx="1063769" cy="431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1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결과 피드백·보완교육</a:t>
            </a:r>
          </a:p>
        </p:txBody>
      </p:sp>
      <p:sp>
        <p:nvSpPr>
          <p:cNvPr id="21" name="Oval 20"/>
          <p:cNvSpPr/>
          <p:nvPr/>
        </p:nvSpPr>
        <p:spPr>
          <a:xfrm>
            <a:off x="8668219" y="1481138"/>
            <a:ext cx="275792" cy="288925"/>
          </a:xfrm>
          <a:prstGeom prst="ellipse">
            <a:avLst/>
          </a:prstGeom>
          <a:solidFill>
            <a:srgbClr val="E30C60"/>
          </a:solidFill>
          <a:ln w="15875">
            <a:solidFill>
              <a:srgbClr val="E30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44681" y="1854200"/>
            <a:ext cx="1063769" cy="431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15000"/>
              </a:lnSpc>
            </a:pPr>
            <a:r>
              <a:rPr lang="ko-KR" sz="9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최종 검증 후 투입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5931935"/>
              </p:ext>
            </p:extLst>
          </p:nvPr>
        </p:nvGraphicFramePr>
        <p:xfrm>
          <a:off x="660400" y="2336800"/>
          <a:ext cx="5318845" cy="3810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7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19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79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ko-KR" sz="900" b="0" dirty="0">
                          <a:solidFill>
                            <a:srgbClr val="FFFFF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평가 영역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0F13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0" dirty="0">
                          <a:solidFill>
                            <a:srgbClr val="FFFFF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평가 내용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0F13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00" b="0" dirty="0">
                          <a:solidFill>
                            <a:srgbClr val="FFFFF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배점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0F13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ko-KR" sz="900" b="0">
                          <a:solidFill>
                            <a:srgbClr val="10151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기본응대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인사·첫 응대 및 상담 시작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00" b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10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ko-KR" sz="900" b="0">
                          <a:solidFill>
                            <a:srgbClr val="10151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경청/니즈파악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문의 핵심 파악 및 적절한 질문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00" b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15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ko-KR" sz="900" b="0">
                          <a:solidFill>
                            <a:srgbClr val="10151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공감/호응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고객 불편 공감 및 적절한 호응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00" b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15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ko-KR" sz="900" b="0">
                          <a:solidFill>
                            <a:srgbClr val="10151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설명력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BE8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고객 눈높이에 맞는 정확한 설명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B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00" b="0">
                          <a:solidFill>
                            <a:srgbClr val="E30C60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20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BE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ko-KR" sz="900" b="0">
                          <a:solidFill>
                            <a:srgbClr val="10151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상담태도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말투·속도·발음·긍정적 태도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00" b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15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ko-KR" sz="900" b="0">
                          <a:solidFill>
                            <a:srgbClr val="10151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스크립트 활용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표준 스크립트에 따른 상담 흐름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00" b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10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ko-KR" sz="900" b="0">
                          <a:solidFill>
                            <a:srgbClr val="10151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돌발상황 대응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불만·예상치 못한 질문 대응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00" b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10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ko-KR" sz="900" b="0">
                          <a:solidFill>
                            <a:srgbClr val="10151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상담 마무리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처리내용 재확인 및 종결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00" b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5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ko-KR" sz="900" b="0">
                          <a:solidFill>
                            <a:srgbClr val="10151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합계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00" b="0" dirty="0">
                          <a:solidFill>
                            <a:srgbClr val="10151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100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6176241" y="2336800"/>
            <a:ext cx="3151908" cy="38862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373235" y="2489200"/>
            <a:ext cx="275792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ko-KR" sz="10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판정 기준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73235" y="2895600"/>
            <a:ext cx="2757920" cy="76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3825" tIns="76200" rIns="123825" bIns="76200" rtlCol="0" anchor="ctr"/>
          <a:lstStyle/>
          <a:p>
            <a:pPr algn="l">
              <a:lnSpc>
                <a:spcPct val="125000"/>
              </a:lnSpc>
            </a:pPr>
            <a:r>
              <a:rPr lang="ko-KR" sz="11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90점 이상  </a:t>
            </a:r>
            <a:r>
              <a:rPr lang="ko-KR" sz="9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적합</a:t>
            </a:r>
          </a:p>
          <a:p>
            <a:pPr algn="l">
              <a:lnSpc>
                <a:spcPct val="125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즉시 입과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73235" y="3778250"/>
            <a:ext cx="2757920" cy="76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3825" tIns="76200" rIns="123825" bIns="76200" rtlCol="0" anchor="ctr"/>
          <a:lstStyle/>
          <a:p>
            <a:pPr algn="l">
              <a:lnSpc>
                <a:spcPct val="125000"/>
              </a:lnSpc>
            </a:pPr>
            <a:r>
              <a:rPr lang="ko-KR" sz="1100" b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80~89점  </a:t>
            </a:r>
            <a:r>
              <a:rPr lang="ko-KR" sz="900" b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조건부 적합</a:t>
            </a:r>
          </a:p>
          <a:p>
            <a:pPr algn="l">
              <a:lnSpc>
                <a:spcPct val="125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입과 + 보완 항목 지정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73235" y="4660900"/>
            <a:ext cx="2757920" cy="76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3825" tIns="76200" rIns="123825" bIns="76200" rtlCol="0" anchor="ctr"/>
          <a:lstStyle/>
          <a:p>
            <a:pPr algn="l">
              <a:lnSpc>
                <a:spcPct val="125000"/>
              </a:lnSpc>
            </a:pPr>
            <a:r>
              <a:rPr lang="ko-KR" sz="1100" b="0">
                <a:solidFill>
                  <a:srgbClr val="6A7180"/>
                </a:solidFill>
                <a:latin typeface="페이퍼로지 8 ExtraBold"/>
                <a:ea typeface="페이퍼로지 8 ExtraBold"/>
                <a:cs typeface="페이퍼로지 8 ExtraBold"/>
              </a:rPr>
              <a:t>79점 이하  </a:t>
            </a:r>
            <a:r>
              <a:rPr lang="ko-KR" sz="900" b="0">
                <a:solidFill>
                  <a:srgbClr val="6A7180"/>
                </a:solidFill>
                <a:latin typeface="페이퍼로지 8 ExtraBold"/>
                <a:ea typeface="페이퍼로지 8 ExtraBold"/>
                <a:cs typeface="페이퍼로지 8 ExtraBold"/>
              </a:rPr>
              <a:t>보완 필요</a:t>
            </a:r>
          </a:p>
          <a:p>
            <a:pPr algn="l">
              <a:lnSpc>
                <a:spcPct val="125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보완교육 후 재평가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01281" y="5580063"/>
            <a:ext cx="2629874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관리자와 지원자가 1:1로 실전 스크립트를 진행하고</a:t>
            </a:r>
            <a:r>
              <a:rPr lang="en-US" alt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평가 </a:t>
            </a:r>
            <a:endParaRPr lang="en-US" altLang="ko-KR" sz="900" b="0" dirty="0">
              <a:solidFill>
                <a:srgbClr val="10151F"/>
              </a:solidFill>
              <a:latin typeface="페이퍼로지 5 Medium"/>
              <a:ea typeface="페이퍼로지 5 Medium"/>
              <a:cs typeface="페이퍼로지 5 Medium"/>
            </a:endParaRPr>
          </a:p>
          <a:p>
            <a:pPr algn="l">
              <a:lnSpc>
                <a:spcPct val="135000"/>
              </a:lnSpc>
            </a:pPr>
            <a:r>
              <a:rPr lang="ko-KR" altLang="en-US" sz="90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→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교육 이수가 아니라 </a:t>
            </a:r>
            <a:r>
              <a:rPr lang="ko-KR" sz="90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실제 상담 수행 역량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으로 판단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40250" y="64770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fld id="{B6F15528-21DE-4FAA-801E-634DDDAF4B2B}" type="slidenum"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27</a:t>
            </a:fld>
            <a:r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 / 49</a:t>
            </a:r>
            <a:endParaRPr lang="ko-KR" sz="600" b="0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929606" y="381000"/>
            <a:ext cx="61912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3-1 ③ 채용 차별화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846138" y="660400"/>
            <a:ext cx="8461375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altLang="en-US" sz="2000" b="1" dirty="0">
                <a:solidFill>
                  <a:srgbClr val="10151F"/>
                </a:solidFill>
                <a:latin typeface="페이퍼로지 8 ExtraBold"/>
                <a:ea typeface="페이퍼로지 8 ExtraBold"/>
              </a:rPr>
              <a:t>정원 대비 교육생을 </a:t>
            </a:r>
            <a:r>
              <a:rPr lang="en-US" altLang="ko-KR" sz="2000" b="1" dirty="0">
                <a:solidFill>
                  <a:srgbClr val="E30C60"/>
                </a:solidFill>
                <a:latin typeface="페이퍼로지 8 ExtraBold"/>
                <a:ea typeface="페이퍼로지 8 ExtraBold"/>
              </a:rPr>
              <a:t>2</a:t>
            </a:r>
            <a:r>
              <a:rPr lang="ko-KR" altLang="en-US" sz="2000" b="1" dirty="0">
                <a:solidFill>
                  <a:srgbClr val="E30C60"/>
                </a:solidFill>
                <a:latin typeface="페이퍼로지 8 ExtraBold"/>
                <a:ea typeface="페이퍼로지 8 ExtraBold"/>
              </a:rPr>
              <a:t>배 투입</a:t>
            </a:r>
            <a:r>
              <a:rPr lang="ko-KR" altLang="en-US" sz="2000" b="1" dirty="0">
                <a:solidFill>
                  <a:srgbClr val="10151F"/>
                </a:solidFill>
                <a:latin typeface="페이퍼로지 8 ExtraBold"/>
                <a:ea typeface="페이퍼로지 8 ExtraBold"/>
              </a:rPr>
              <a:t>하고 유지율을 높입니다</a:t>
            </a:r>
            <a:endParaRPr lang="ko-KR" sz="2000" b="0" dirty="0">
              <a:solidFill>
                <a:srgbClr val="E30C60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46138" y="1079500"/>
            <a:ext cx="84613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2026년 정원의 약 2배</a:t>
            </a:r>
            <a:r>
              <a:rPr lang="ko-KR" altLang="en-US" sz="12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의 교육생을 투입하였고</a:t>
            </a:r>
            <a:r>
              <a:rPr lang="ko-KR" sz="12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 현장에 투입한 인원의 89.5%</a:t>
            </a:r>
            <a:r>
              <a:rPr lang="ko-KR" altLang="en-US" sz="12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를 유지 관리했습니다</a:t>
            </a:r>
            <a:r>
              <a:rPr lang="en-US" altLang="ko-KR" sz="12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.</a:t>
            </a:r>
            <a:endParaRPr lang="ko-KR" sz="1200" b="0" dirty="0">
              <a:solidFill>
                <a:srgbClr val="6A7180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60400" y="1473200"/>
          <a:ext cx="4629366" cy="294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296280"/>
              </p:ext>
            </p:extLst>
          </p:nvPr>
        </p:nvGraphicFramePr>
        <p:xfrm>
          <a:off x="660400" y="5410200"/>
          <a:ext cx="4629365" cy="8382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5431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02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60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l"/>
                      <a:r>
                        <a:rPr lang="ko-KR" sz="900" b="0">
                          <a:solidFill>
                            <a:srgbClr val="FFFFF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지표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6A71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0">
                          <a:solidFill>
                            <a:srgbClr val="FFFFF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2025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6A71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0">
                          <a:solidFill>
                            <a:srgbClr val="FFFFF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2026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6A71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/>
                      <a:r>
                        <a:rPr lang="ko-KR" sz="900" b="0">
                          <a:solidFill>
                            <a:srgbClr val="10151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투입 대비 유지율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60.3%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>
                        <a:buNone/>
                      </a:pPr>
                      <a:r>
                        <a:rPr lang="en-US" altLang="ko-KR" sz="900" b="1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8 ExtraBold"/>
                        </a:rPr>
                        <a:t>89.5%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/>
                      <a:r>
                        <a:rPr lang="ko-KR" sz="900" b="0">
                          <a:solidFill>
                            <a:srgbClr val="10151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교육 포기·탈락률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42.4%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>
                        <a:buNone/>
                      </a:pPr>
                      <a:r>
                        <a:rPr lang="en-US" altLang="ko-KR" sz="900" b="1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8 ExtraBold"/>
                        </a:rPr>
                        <a:t>36.8%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/>
                      <a:r>
                        <a:rPr lang="ko-KR" sz="900" b="0">
                          <a:solidFill>
                            <a:srgbClr val="10151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교육 차수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3차수 (1회 50명+)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>
                        <a:buNone/>
                      </a:pPr>
                      <a:r>
                        <a:rPr lang="en-US" altLang="ko-KR" sz="900" b="1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8 ExtraBold"/>
                        </a:rPr>
                        <a:t>4</a:t>
                      </a:r>
                      <a:r>
                        <a:rPr lang="ko-KR" altLang="en-US" sz="900" b="1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8 ExtraBold"/>
                        </a:rPr>
                        <a:t>차수 </a:t>
                      </a:r>
                      <a:r>
                        <a:rPr lang="en-US" altLang="ko-KR" sz="900" b="1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8 ExtraBold"/>
                        </a:rPr>
                        <a:t>(6~13</a:t>
                      </a:r>
                      <a:r>
                        <a:rPr lang="ko-KR" altLang="en-US" sz="900" b="1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8 ExtraBold"/>
                        </a:rPr>
                        <a:t>명 투입</a:t>
                      </a:r>
                      <a:r>
                        <a:rPr lang="en-US" altLang="ko-KR" sz="900" b="1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8 ExtraBold"/>
                        </a:rPr>
                        <a:t>)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760" y="1556324"/>
            <a:ext cx="3841389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ko-KR" sz="1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채용을 이렇게 바꿨습니다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760" y="1803400"/>
            <a:ext cx="3841389" cy="787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04957" y="1905000"/>
            <a:ext cx="354590" cy="584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98946" y="1879600"/>
            <a:ext cx="3211007" cy="279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현장 관리자가 직접 선별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98946" y="2159000"/>
            <a:ext cx="3211007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본사 단체면접 → 현장 관리자 면접으로 경력·연령·상담 적합성 검증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760" y="2692400"/>
            <a:ext cx="3841389" cy="787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04957" y="2794000"/>
            <a:ext cx="354590" cy="584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98946" y="2768600"/>
            <a:ext cx="3211007" cy="279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입사 전 CS 사전 테스트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98946" y="3048000"/>
            <a:ext cx="3211007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관리자–지원자 1:1 실전 스크립트, 80점 이상만 교육 입과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760" y="3581400"/>
            <a:ext cx="3841389" cy="787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604957" y="3683000"/>
            <a:ext cx="354590" cy="584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98946" y="3657600"/>
            <a:ext cx="3211007" cy="279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1개월 전 선교육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98946" y="3937000"/>
            <a:ext cx="3211007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alt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1개월 전 교육 시작, 성수기 전에 인원 확보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760" y="4470400"/>
            <a:ext cx="3841389" cy="787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604957" y="4572000"/>
            <a:ext cx="354590" cy="584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04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98946" y="4546600"/>
            <a:ext cx="3211007" cy="279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4차수 소규모 분할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98946" y="4826000"/>
            <a:ext cx="3211007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한 번에 몰아 뽑지 않고 6~13명 단위로 순차 투입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760" y="5359400"/>
            <a:ext cx="3841389" cy="787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604957" y="5461000"/>
            <a:ext cx="354590" cy="584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05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98946" y="5435600"/>
            <a:ext cx="3211007" cy="279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TO 이상 선투입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98946" y="5715000"/>
            <a:ext cx="3211007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인력투입률 107.2% — 결원 전에 보완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40250" y="64770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fld id="{B6F15528-21DE-4FAA-801E-634DDDAF4B2B}" type="slidenum"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28</a:t>
            </a:fld>
            <a:r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 / 49</a:t>
            </a:r>
            <a:endParaRPr lang="ko-KR" sz="600" b="0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60400" y="4470400"/>
            <a:ext cx="4635500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1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2026 정원(TO) 대비 인력 확보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0400" y="4699000"/>
            <a:ext cx="1397000" cy="635000"/>
          </a:xfrm>
          <a:prstGeom prst="roundRect">
            <a:avLst>
              <a:gd name="adj" fmla="val 12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62000" y="4724400"/>
            <a:ext cx="11938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6A7180"/>
                </a:solidFill>
                <a:latin typeface="페이퍼로지 7 Bold"/>
                <a:ea typeface="페이퍼로지 7 Bold"/>
                <a:cs typeface="페이퍼로지 7 Bold"/>
              </a:rPr>
              <a:t>정원 (TO)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2000" y="4902200"/>
            <a:ext cx="11938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6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35명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57400" y="4851400"/>
            <a:ext cx="22225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400" b="1">
                <a:solidFill>
                  <a:srgbClr val="9AA0AA"/>
                </a:solidFill>
                <a:latin typeface="페이퍼로지 8 ExtraBold"/>
                <a:ea typeface="페이퍼로지 8 ExtraBold"/>
                <a:cs typeface="페이퍼로지 8 ExtraBold"/>
              </a:rPr>
              <a:t>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279650" y="4699000"/>
            <a:ext cx="1397000" cy="635000"/>
          </a:xfrm>
          <a:prstGeom prst="roundRect">
            <a:avLst>
              <a:gd name="adj" fmla="val 12000"/>
            </a:avLst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2381250" y="4724400"/>
            <a:ext cx="11938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6A7180"/>
                </a:solidFill>
                <a:latin typeface="페이퍼로지 7 Bold"/>
                <a:ea typeface="페이퍼로지 7 Bold"/>
                <a:cs typeface="페이퍼로지 7 Bold"/>
              </a:rPr>
              <a:t>교육 입과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81250" y="4902200"/>
            <a:ext cx="11938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6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68명</a:t>
            </a:r>
            <a:r>
              <a:rPr lang="ko-KR" sz="900" b="1">
                <a:solidFill>
                  <a:srgbClr val="E30C60"/>
                </a:solidFill>
                <a:latin typeface="페이퍼로지 7 Bold"/>
                <a:ea typeface="페이퍼로지 7 Bold"/>
                <a:cs typeface="페이퍼로지 7 Bold"/>
              </a:rPr>
              <a:t>  정원의 194%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76650" y="4851400"/>
            <a:ext cx="22225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400" b="1">
                <a:solidFill>
                  <a:srgbClr val="9AA0AA"/>
                </a:solidFill>
                <a:latin typeface="페이퍼로지 8 ExtraBold"/>
                <a:ea typeface="페이퍼로지 8 ExtraBold"/>
                <a:cs typeface="페이퍼로지 8 ExtraBold"/>
              </a:rPr>
              <a:t>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898900" y="4699000"/>
            <a:ext cx="1397000" cy="635000"/>
          </a:xfrm>
          <a:prstGeom prst="roundRect">
            <a:avLst>
              <a:gd name="adj" fmla="val 12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000500" y="4724400"/>
            <a:ext cx="11938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6A7180"/>
                </a:solidFill>
                <a:latin typeface="페이퍼로지 7 Bold"/>
                <a:ea typeface="페이퍼로지 7 Bold"/>
                <a:cs typeface="페이퍼로지 7 Bold"/>
              </a:rPr>
              <a:t>현장 투입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000500" y="4902200"/>
            <a:ext cx="11938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6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38명</a:t>
            </a:r>
            <a:r>
              <a:rPr lang="ko-KR" sz="900" b="1">
                <a:solidFill>
                  <a:srgbClr val="E30C60"/>
                </a:solidFill>
                <a:latin typeface="페이퍼로지 7 Bold"/>
                <a:ea typeface="페이퍼로지 7 Bold"/>
                <a:cs typeface="페이퍼로지 7 Bold"/>
              </a:rPr>
              <a:t>  정원의 109%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929606" y="381000"/>
            <a:ext cx="61912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3-1 ③ 우수인력 유지 · 감성케어</a:t>
            </a:r>
          </a:p>
        </p:txBody>
      </p:sp>
      <p:sp>
        <p:nvSpPr>
          <p:cNvPr id="4" name="Rectangle 3"/>
          <p:cNvSpPr/>
          <p:nvPr/>
        </p:nvSpPr>
        <p:spPr>
          <a:xfrm>
            <a:off x="846138" y="660400"/>
            <a:ext cx="8461375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000" b="1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재미로 붙잡고 </a:t>
            </a:r>
            <a:r>
              <a:rPr lang="ko-KR" sz="20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품질로 연결</a:t>
            </a:r>
            <a:r>
              <a:rPr lang="ko-KR" sz="2000" b="1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하는 프로모션</a:t>
            </a:r>
            <a:r>
              <a:rPr lang="ko-KR" altLang="en-US" sz="2000" b="1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을 시행합니다</a:t>
            </a:r>
            <a:endParaRPr lang="ko-KR" sz="2000" b="1" dirty="0">
              <a:solidFill>
                <a:srgbClr val="10151F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46138" y="1079500"/>
            <a:ext cx="84613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모든 이벤트는 T-NPS와 칭찬 VOC 같은 실제 지표와 연결해 운영하고 있습니다.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40250" y="64770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fld id="{B6F15528-21DE-4FAA-801E-634DDDAF4B2B}" type="slidenum">
              <a:rPr lang="en-US" altLang="ko-KR" sz="600" b="1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29</a:t>
            </a:fld>
            <a:r>
              <a:rPr lang="en-US" altLang="ko-KR" sz="600" b="1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 / 49</a:t>
            </a:r>
            <a:endParaRPr lang="ko-KR" sz="600" b="1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60400" y="1346200"/>
            <a:ext cx="2107839" cy="4876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8" name="FIT_photo" descr="fit2_r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97" y="1447800"/>
            <a:ext cx="1950244" cy="32004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98296" y="4724400"/>
            <a:ext cx="295491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3788" y="4724400"/>
            <a:ext cx="1556254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럭키 가전카드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8296" y="5054600"/>
            <a:ext cx="1832047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칭찬 VOC·NPS 친절 5건마다</a:t>
            </a:r>
          </a:p>
          <a:p>
            <a:pPr>
              <a:lnSpc>
                <a:spcPct val="130000"/>
              </a:lnSpc>
            </a:pPr>
            <a:r>
              <a:rPr lang="ko-KR" altLang="ko-KR" sz="900" dirty="0">
                <a:solidFill>
                  <a:srgbClr val="6A7180"/>
                </a:solidFill>
                <a:cs typeface="페이퍼로지 5 Medium"/>
              </a:rPr>
              <a:t>가전 컨셉 경품 카드 뽑기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98296" y="5638800"/>
            <a:ext cx="1832047" cy="0"/>
          </a:xfrm>
          <a:prstGeom prst="line">
            <a:avLst/>
          </a:prstGeom>
          <a:ln w="12700">
            <a:solidFill>
              <a:srgbClr val="E3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798296" y="5740400"/>
            <a:ext cx="590982" cy="279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6A7180"/>
                </a:solidFill>
                <a:latin typeface="페이퍼로지 8 ExtraBold"/>
                <a:ea typeface="페이퍼로지 8 ExtraBold"/>
                <a:cs typeface="페이퍼로지 8 ExtraBold"/>
              </a:rPr>
              <a:t>연결 KPI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49879" y="5740400"/>
            <a:ext cx="590982" cy="279400"/>
          </a:xfrm>
          <a:prstGeom prst="roundRect">
            <a:avLst>
              <a:gd name="adj" fmla="val 50000"/>
            </a:avLst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T-NPS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99961" y="5740400"/>
            <a:ext cx="590982" cy="279400"/>
          </a:xfrm>
          <a:prstGeom prst="roundRect">
            <a:avLst>
              <a:gd name="adj" fmla="val 50000"/>
            </a:avLst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리텐션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47037" y="1346200"/>
            <a:ext cx="2107839" cy="4876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17" name="FIT_photo" descr="fit2_r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5834" y="1447800"/>
            <a:ext cx="1950244" cy="32004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2984932" y="4724400"/>
            <a:ext cx="295491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80424" y="4724400"/>
            <a:ext cx="1556254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빙고 레이스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84932" y="5054600"/>
            <a:ext cx="1832047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피크 목표·업무 퀴즈로</a:t>
            </a:r>
          </a:p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5×5 빙고, 1줄마다 보상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984932" y="5638800"/>
            <a:ext cx="1832047" cy="0"/>
          </a:xfrm>
          <a:prstGeom prst="line">
            <a:avLst/>
          </a:prstGeom>
          <a:ln w="12700">
            <a:solidFill>
              <a:srgbClr val="E3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2984932" y="5740400"/>
            <a:ext cx="590982" cy="279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6A7180"/>
                </a:solidFill>
                <a:latin typeface="페이퍼로지 8 ExtraBold"/>
                <a:ea typeface="페이퍼로지 8 ExtraBold"/>
                <a:cs typeface="페이퍼로지 8 ExtraBold"/>
              </a:rPr>
              <a:t>연결 KPI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36517" y="5740400"/>
            <a:ext cx="590982" cy="279400"/>
          </a:xfrm>
          <a:prstGeom prst="roundRect">
            <a:avLst>
              <a:gd name="adj" fmla="val 50000"/>
            </a:avLst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생산성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86598" y="5740400"/>
            <a:ext cx="590982" cy="279400"/>
          </a:xfrm>
          <a:prstGeom prst="roundRect">
            <a:avLst>
              <a:gd name="adj" fmla="val 50000"/>
            </a:avLst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업무숙지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33673" y="1346200"/>
            <a:ext cx="2107839" cy="4876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26" name="FIT_photo" descr="fit2_r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2471" y="1447800"/>
            <a:ext cx="1950244" cy="320040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5171570" y="4724400"/>
            <a:ext cx="295491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67061" y="4724400"/>
            <a:ext cx="1556254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프로모터 3.6.9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71570" y="5054600"/>
            <a:ext cx="1832047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추천 3·6·9번째 달성 보상</a:t>
            </a:r>
          </a:p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NPS 쌓아 보아 · 점수대별 적립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171570" y="5638800"/>
            <a:ext cx="1832047" cy="0"/>
          </a:xfrm>
          <a:prstGeom prst="line">
            <a:avLst/>
          </a:prstGeom>
          <a:ln w="12700">
            <a:solidFill>
              <a:srgbClr val="E3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5171570" y="5740400"/>
            <a:ext cx="590982" cy="279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6A7180"/>
                </a:solidFill>
                <a:latin typeface="페이퍼로지 8 ExtraBold"/>
                <a:ea typeface="페이퍼로지 8 ExtraBold"/>
                <a:cs typeface="페이퍼로지 8 ExtraBold"/>
              </a:rPr>
              <a:t>연결 KPI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723153" y="5740400"/>
            <a:ext cx="590982" cy="279400"/>
          </a:xfrm>
          <a:prstGeom prst="roundRect">
            <a:avLst>
              <a:gd name="adj" fmla="val 50000"/>
            </a:avLst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T-NPS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20310" y="1346200"/>
            <a:ext cx="2107839" cy="4876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34" name="FIT_photo" descr="fit2_r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9108" y="1447800"/>
            <a:ext cx="1950244" cy="32004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7358206" y="4724400"/>
            <a:ext cx="295491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04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53698" y="4724400"/>
            <a:ext cx="1556254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칭찬 게시 · 시각물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58206" y="5054600"/>
            <a:ext cx="1832047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오늘의 BEST 추천 사유</a:t>
            </a:r>
          </a:p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월 칭찬 VOC · 현수막 · 전광판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358206" y="5638800"/>
            <a:ext cx="1832047" cy="0"/>
          </a:xfrm>
          <a:prstGeom prst="line">
            <a:avLst/>
          </a:prstGeom>
          <a:ln w="12700">
            <a:solidFill>
              <a:srgbClr val="E3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7358206" y="5740400"/>
            <a:ext cx="590982" cy="279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6A7180"/>
                </a:solidFill>
                <a:latin typeface="페이퍼로지 8 ExtraBold"/>
                <a:ea typeface="페이퍼로지 8 ExtraBold"/>
                <a:cs typeface="페이퍼로지 8 ExtraBold"/>
              </a:rPr>
              <a:t>연결 KPI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09791" y="5740400"/>
            <a:ext cx="590982" cy="279400"/>
          </a:xfrm>
          <a:prstGeom prst="roundRect">
            <a:avLst>
              <a:gd name="adj" fmla="val 50000"/>
            </a:avLst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VOC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559872" y="5740400"/>
            <a:ext cx="590982" cy="279400"/>
          </a:xfrm>
          <a:prstGeom prst="roundRect">
            <a:avLst>
              <a:gd name="adj" fmla="val 50000"/>
            </a:avLst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품질 인식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  <p:sp>
        <p:nvSpPr>
          <p:cNvPr id="43" name="Rounded Rectangle 14">
            <a:extLst>
              <a:ext uri="{FF2B5EF4-FFF2-40B4-BE49-F238E27FC236}">
                <a16:creationId xmlns:a16="http://schemas.microsoft.com/office/drawing/2014/main" id="{69D04CC1-3A3A-458D-AFE0-1EA3DA87DA42}"/>
              </a:ext>
            </a:extLst>
          </p:cNvPr>
          <p:cNvSpPr/>
          <p:nvPr/>
        </p:nvSpPr>
        <p:spPr>
          <a:xfrm>
            <a:off x="6368759" y="5740400"/>
            <a:ext cx="590982" cy="279400"/>
          </a:xfrm>
          <a:prstGeom prst="roundRect">
            <a:avLst>
              <a:gd name="adj" fmla="val 50000"/>
            </a:avLst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리텐션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60400" y="660400"/>
            <a:ext cx="8461375" cy="431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0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성수기 인력은 끝까지 유지하고, 우수 인력은 상시로 이어갑니다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73235" y="1778000"/>
            <a:ext cx="2954915" cy="371226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0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530830" y="1882570"/>
            <a:ext cx="393989" cy="28756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100" b="1" dirty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85420" y="1882570"/>
            <a:ext cx="2363931" cy="28756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퇴직률 개선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30830" y="2248568"/>
            <a:ext cx="2659423" cy="2352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연 누적 퇴직률 (2025 → 2026.1~9월)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30830" y="2509995"/>
            <a:ext cx="2659423" cy="6274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500" b="1" dirty="0">
                <a:solidFill>
                  <a:srgbClr val="9AA0AA"/>
                </a:solidFill>
                <a:latin typeface="페이퍼로지 8 ExtraBold"/>
                <a:ea typeface="페이퍼로지 8 ExtraBold"/>
                <a:cs typeface="페이퍼로지 8 ExtraBold"/>
              </a:rPr>
              <a:t>11.8%</a:t>
            </a:r>
            <a:r>
              <a:rPr lang="ko-KR" sz="1100" b="1" dirty="0">
                <a:solidFill>
                  <a:srgbClr val="9AA0AA"/>
                </a:solidFill>
                <a:latin typeface="페이퍼로지 8 ExtraBold"/>
                <a:ea typeface="페이퍼로지 8 ExtraBold"/>
                <a:cs typeface="페이퍼로지 8 ExtraBold"/>
              </a:rPr>
              <a:t>  →  </a:t>
            </a:r>
            <a:r>
              <a:rPr lang="ko-KR" sz="24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6.0%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30830" y="3215847"/>
            <a:ext cx="334890" cy="20914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2025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85420" y="3255061"/>
            <a:ext cx="2202396" cy="130713"/>
          </a:xfrm>
          <a:prstGeom prst="rect">
            <a:avLst/>
          </a:prstGeom>
          <a:solidFill>
            <a:srgbClr val="C9C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530830" y="3477274"/>
            <a:ext cx="334890" cy="20914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2026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85420" y="3516488"/>
            <a:ext cx="1118140" cy="130713"/>
          </a:xfrm>
          <a:prstGeom prst="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cxnSp>
        <p:nvCxnSpPr>
          <p:cNvPr id="41" name="Connector 40"/>
          <p:cNvCxnSpPr/>
          <p:nvPr/>
        </p:nvCxnSpPr>
        <p:spPr>
          <a:xfrm>
            <a:off x="6530830" y="3824800"/>
            <a:ext cx="2639724" cy="0"/>
          </a:xfrm>
          <a:prstGeom prst="line">
            <a:avLst/>
          </a:prstGeom>
          <a:ln w="12700">
            <a:solidFill>
              <a:srgbClr val="D7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6530830" y="3921700"/>
            <a:ext cx="2659423" cy="2352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업무부적응 퇴사 (2025 → 2026)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30830" y="4183127"/>
            <a:ext cx="2659423" cy="57513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500" b="1" dirty="0">
                <a:solidFill>
                  <a:srgbClr val="9AA0AA"/>
                </a:solidFill>
                <a:latin typeface="페이퍼로지 8 ExtraBold"/>
                <a:ea typeface="페이퍼로지 8 ExtraBold"/>
                <a:cs typeface="페이퍼로지 8 ExtraBold"/>
              </a:rPr>
              <a:t>29</a:t>
            </a:r>
            <a:r>
              <a:rPr lang="ko-KR" sz="1100" b="1" dirty="0">
                <a:solidFill>
                  <a:srgbClr val="9AA0AA"/>
                </a:solidFill>
                <a:latin typeface="페이퍼로지 8 ExtraBold"/>
                <a:ea typeface="페이퍼로지 8 ExtraBold"/>
                <a:cs typeface="페이퍼로지 8 ExtraBold"/>
              </a:rPr>
              <a:t>  →  </a:t>
            </a:r>
            <a:r>
              <a:rPr lang="ko-KR" sz="24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6</a:t>
            </a:r>
            <a:r>
              <a:rPr lang="ko-KR" sz="11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건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30830" y="4810552"/>
            <a:ext cx="2659423" cy="52285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퇴사 사유 중 비중 56.9% → 35.3%</a:t>
            </a:r>
          </a:p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사전 검증과 소규모 교육의 효과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0400" y="5594832"/>
            <a:ext cx="8667750" cy="65356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798296" y="5738617"/>
            <a:ext cx="1497156" cy="365997"/>
          </a:xfrm>
          <a:prstGeom prst="roundRect">
            <a:avLst>
              <a:gd name="adj" fmla="val 4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현장 선별 채용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95452" y="5738617"/>
            <a:ext cx="196994" cy="36599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200" b="1">
                <a:solidFill>
                  <a:srgbClr val="9AA0AA"/>
                </a:solidFill>
                <a:latin typeface="페이퍼로지 8 ExtraBold"/>
                <a:ea typeface="페이퍼로지 8 ExtraBold"/>
                <a:cs typeface="페이퍼로지 8 ExtraBold"/>
              </a:rPr>
              <a:t>›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492447" y="5738617"/>
            <a:ext cx="1497156" cy="365997"/>
          </a:xfrm>
          <a:prstGeom prst="roundRect">
            <a:avLst>
              <a:gd name="adj" fmla="val 4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4차수 선교육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89603" y="5738617"/>
            <a:ext cx="196994" cy="36599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200" b="1">
                <a:solidFill>
                  <a:srgbClr val="9AA0AA"/>
                </a:solidFill>
                <a:latin typeface="페이퍼로지 8 ExtraBold"/>
                <a:ea typeface="페이퍼로지 8 ExtraBold"/>
                <a:cs typeface="페이퍼로지 8 ExtraBold"/>
              </a:rPr>
              <a:t>›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186598" y="5738617"/>
            <a:ext cx="1497156" cy="365997"/>
          </a:xfrm>
          <a:prstGeom prst="roundRect">
            <a:avLst>
              <a:gd name="adj" fmla="val 4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초기 안착 · 감성케어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83754" y="5738617"/>
            <a:ext cx="196994" cy="36599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200" b="1">
                <a:solidFill>
                  <a:srgbClr val="9AA0AA"/>
                </a:solidFill>
                <a:latin typeface="페이퍼로지 8 ExtraBold"/>
                <a:ea typeface="페이퍼로지 8 ExtraBold"/>
                <a:cs typeface="페이퍼로지 8 ExtraBold"/>
              </a:rPr>
              <a:t>›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880749" y="5738617"/>
            <a:ext cx="1497156" cy="365997"/>
          </a:xfrm>
          <a:prstGeom prst="roundRect">
            <a:avLst>
              <a:gd name="adj" fmla="val 4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종료 시점까지 유지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377906" y="5738617"/>
            <a:ext cx="196994" cy="36599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200" b="1">
                <a:solidFill>
                  <a:srgbClr val="9AA0AA"/>
                </a:solidFill>
                <a:latin typeface="페이퍼로지 8 ExtraBold"/>
                <a:ea typeface="페이퍼로지 8 ExtraBold"/>
                <a:cs typeface="페이퍼로지 8 ExtraBold"/>
              </a:rPr>
              <a:t>›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574900" y="5738617"/>
            <a:ext cx="1497156" cy="365997"/>
          </a:xfrm>
          <a:prstGeom prst="roundRect">
            <a:avLst>
              <a:gd name="adj" fmla="val 40000"/>
            </a:avLst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우수 인력 상시 전환</a:t>
            </a:r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  <p:sp>
        <p:nvSpPr>
          <p:cNvPr id="9031" name="Rectangle 42"/>
          <p:cNvSpPr/>
          <p:nvPr/>
        </p:nvSpPr>
        <p:spPr>
          <a:xfrm>
            <a:off x="4540250" y="64770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fld id="{B6F15528-21DE-4FAA-801E-634DDDAF4B2B}" type="slidenum"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30</a:t>
            </a:fld>
            <a:r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 / 49</a:t>
            </a:r>
            <a:endParaRPr lang="ko-KR" sz="600" b="0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57" name="Rectangle 3">
            <a:extLst>
              <a:ext uri="{FF2B5EF4-FFF2-40B4-BE49-F238E27FC236}">
                <a16:creationId xmlns:a16="http://schemas.microsoft.com/office/drawing/2014/main" id="{1FB4C48D-3127-452B-9D45-721C17F2906F}"/>
              </a:ext>
            </a:extLst>
          </p:cNvPr>
          <p:cNvSpPr/>
          <p:nvPr/>
        </p:nvSpPr>
        <p:spPr>
          <a:xfrm>
            <a:off x="660400" y="1143000"/>
            <a:ext cx="86677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ko-KR" altLang="en-US" sz="1200" dirty="0">
                <a:solidFill>
                  <a:srgbClr val="FFFFFF"/>
                </a:solidFill>
                <a:cs typeface="페이퍼로지 5 Medium"/>
              </a:rPr>
              <a:t>연간 </a:t>
            </a:r>
            <a:r>
              <a:rPr lang="ko-KR" altLang="en-US" sz="1200" dirty="0" err="1">
                <a:solidFill>
                  <a:srgbClr val="FFFFFF"/>
                </a:solidFill>
                <a:cs typeface="페이퍼로지 5 Medium"/>
              </a:rPr>
              <a:t>퇴직률을</a:t>
            </a:r>
            <a:r>
              <a:rPr lang="ko-KR" altLang="en-US" sz="1200" dirty="0">
                <a:solidFill>
                  <a:srgbClr val="FFFFFF"/>
                </a:solidFill>
                <a:cs typeface="페이퍼로지 5 Medium"/>
              </a:rPr>
              <a:t> 개선하고 </a:t>
            </a:r>
            <a:r>
              <a:rPr lang="ko-KR" altLang="ko-KR" sz="1200" dirty="0">
                <a:solidFill>
                  <a:srgbClr val="FFFFFF"/>
                </a:solidFill>
                <a:cs typeface="페이퍼로지 5 Medium"/>
              </a:rPr>
              <a:t>성수기 </a:t>
            </a:r>
            <a:r>
              <a:rPr lang="ko-KR" altLang="ko-KR" sz="1200" dirty="0" err="1">
                <a:solidFill>
                  <a:srgbClr val="FFFFFF"/>
                </a:solidFill>
                <a:cs typeface="페이퍼로지 5 Medium"/>
              </a:rPr>
              <a:t>TO의</a:t>
            </a:r>
            <a:r>
              <a:rPr lang="ko-KR" altLang="ko-KR" sz="1200" dirty="0">
                <a:solidFill>
                  <a:srgbClr val="FFFFFF"/>
                </a:solidFill>
                <a:cs typeface="페이퍼로지 5 Medium"/>
              </a:rPr>
              <a:t> 97%를 끝까지 지켰으며</a:t>
            </a:r>
            <a:r>
              <a:rPr lang="en-US" altLang="ko-KR" sz="1200" dirty="0">
                <a:solidFill>
                  <a:srgbClr val="FFFFFF"/>
                </a:solidFill>
                <a:cs typeface="페이퍼로지 5 Medium"/>
              </a:rPr>
              <a:t>, </a:t>
            </a:r>
            <a:r>
              <a:rPr lang="ko-KR" altLang="ko-KR" sz="1200" dirty="0">
                <a:solidFill>
                  <a:srgbClr val="FFFFFF"/>
                </a:solidFill>
                <a:cs typeface="페이퍼로지 5 Medium"/>
              </a:rPr>
              <a:t>그중 6명을 상시로 전환했습니다.</a:t>
            </a:r>
          </a:p>
        </p:txBody>
      </p:sp>
      <p:sp>
        <p:nvSpPr>
          <p:cNvPr id="58" name="Rounded Rectangle 4">
            <a:extLst>
              <a:ext uri="{FF2B5EF4-FFF2-40B4-BE49-F238E27FC236}">
                <a16:creationId xmlns:a16="http://schemas.microsoft.com/office/drawing/2014/main" id="{BCFE528F-C2EF-4DD3-82A6-FC212697B85F}"/>
              </a:ext>
            </a:extLst>
          </p:cNvPr>
          <p:cNvSpPr/>
          <p:nvPr/>
        </p:nvSpPr>
        <p:spPr>
          <a:xfrm>
            <a:off x="660400" y="1778000"/>
            <a:ext cx="5594639" cy="371226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59" name="Rectangle 5">
            <a:extLst>
              <a:ext uri="{FF2B5EF4-FFF2-40B4-BE49-F238E27FC236}">
                <a16:creationId xmlns:a16="http://schemas.microsoft.com/office/drawing/2014/main" id="{A4BD6802-6DCD-405B-A011-3BED7AA0A1F6}"/>
              </a:ext>
            </a:extLst>
          </p:cNvPr>
          <p:cNvSpPr/>
          <p:nvPr/>
        </p:nvSpPr>
        <p:spPr>
          <a:xfrm>
            <a:off x="817995" y="1882570"/>
            <a:ext cx="3939886" cy="28756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2026 성수기 인력 흐름</a:t>
            </a:r>
          </a:p>
        </p:txBody>
      </p:sp>
      <p:sp>
        <p:nvSpPr>
          <p:cNvPr id="60" name="Rounded Rectangle 6">
            <a:extLst>
              <a:ext uri="{FF2B5EF4-FFF2-40B4-BE49-F238E27FC236}">
                <a16:creationId xmlns:a16="http://schemas.microsoft.com/office/drawing/2014/main" id="{02BBF66C-9A4A-42E1-85A1-F1EF446710DF}"/>
              </a:ext>
            </a:extLst>
          </p:cNvPr>
          <p:cNvSpPr/>
          <p:nvPr/>
        </p:nvSpPr>
        <p:spPr>
          <a:xfrm>
            <a:off x="817995" y="2248568"/>
            <a:ext cx="2462428" cy="3084837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61" name="Rectangle 7">
            <a:extLst>
              <a:ext uri="{FF2B5EF4-FFF2-40B4-BE49-F238E27FC236}">
                <a16:creationId xmlns:a16="http://schemas.microsoft.com/office/drawing/2014/main" id="{B79895B0-AC02-4D90-AA62-11D21EFB87FD}"/>
              </a:ext>
            </a:extLst>
          </p:cNvPr>
          <p:cNvSpPr/>
          <p:nvPr/>
        </p:nvSpPr>
        <p:spPr>
          <a:xfrm>
            <a:off x="955891" y="2353139"/>
            <a:ext cx="393989" cy="28756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100" b="1">
                <a:solidFill>
                  <a:schemeClr val="tx1">
                    <a:lumMod val="95000"/>
                    <a:lumOff val="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62" name="Rectangle 8">
            <a:extLst>
              <a:ext uri="{FF2B5EF4-FFF2-40B4-BE49-F238E27FC236}">
                <a16:creationId xmlns:a16="http://schemas.microsoft.com/office/drawing/2014/main" id="{AD83C330-7CB7-4A32-968E-318A6EA7281E}"/>
              </a:ext>
            </a:extLst>
          </p:cNvPr>
          <p:cNvSpPr/>
          <p:nvPr/>
        </p:nvSpPr>
        <p:spPr>
          <a:xfrm>
            <a:off x="1310481" y="2353139"/>
            <a:ext cx="1871446" cy="28756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끝까지 유지</a:t>
            </a:r>
          </a:p>
        </p:txBody>
      </p:sp>
      <p:sp>
        <p:nvSpPr>
          <p:cNvPr id="63" name="Rectangle 9">
            <a:extLst>
              <a:ext uri="{FF2B5EF4-FFF2-40B4-BE49-F238E27FC236}">
                <a16:creationId xmlns:a16="http://schemas.microsoft.com/office/drawing/2014/main" id="{60DE80BF-D6EE-4020-B180-871D341DDDA8}"/>
              </a:ext>
            </a:extLst>
          </p:cNvPr>
          <p:cNvSpPr/>
          <p:nvPr/>
        </p:nvSpPr>
        <p:spPr>
          <a:xfrm>
            <a:off x="955891" y="2692994"/>
            <a:ext cx="2186637" cy="75813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33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34명</a:t>
            </a:r>
          </a:p>
        </p:txBody>
      </p:sp>
      <p:sp>
        <p:nvSpPr>
          <p:cNvPr id="64" name="Rectangle 10">
            <a:extLst>
              <a:ext uri="{FF2B5EF4-FFF2-40B4-BE49-F238E27FC236}">
                <a16:creationId xmlns:a16="http://schemas.microsoft.com/office/drawing/2014/main" id="{29226B7F-58C0-4CFE-93E8-981D8058406B}"/>
              </a:ext>
            </a:extLst>
          </p:cNvPr>
          <p:cNvSpPr/>
          <p:nvPr/>
        </p:nvSpPr>
        <p:spPr>
          <a:xfrm>
            <a:off x="955891" y="3451132"/>
            <a:ext cx="2186637" cy="28756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TO 35명 → 1차 출구(8/20) 34명 재직</a:t>
            </a:r>
          </a:p>
        </p:txBody>
      </p:sp>
      <p:cxnSp>
        <p:nvCxnSpPr>
          <p:cNvPr id="65" name="Connector 11">
            <a:extLst>
              <a:ext uri="{FF2B5EF4-FFF2-40B4-BE49-F238E27FC236}">
                <a16:creationId xmlns:a16="http://schemas.microsoft.com/office/drawing/2014/main" id="{593EB5E7-3EB5-4406-AE90-F143180B1409}"/>
              </a:ext>
            </a:extLst>
          </p:cNvPr>
          <p:cNvCxnSpPr/>
          <p:nvPr/>
        </p:nvCxnSpPr>
        <p:spPr>
          <a:xfrm>
            <a:off x="955891" y="3817129"/>
            <a:ext cx="2186637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12">
            <a:extLst>
              <a:ext uri="{FF2B5EF4-FFF2-40B4-BE49-F238E27FC236}">
                <a16:creationId xmlns:a16="http://schemas.microsoft.com/office/drawing/2014/main" id="{C42D1FFB-9CD6-42F3-868D-99AF374934F1}"/>
              </a:ext>
            </a:extLst>
          </p:cNvPr>
          <p:cNvSpPr/>
          <p:nvPr/>
        </p:nvSpPr>
        <p:spPr>
          <a:xfrm>
            <a:off x="916492" y="3921700"/>
            <a:ext cx="2265434" cy="5489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67" name="Rectangle 13">
            <a:extLst>
              <a:ext uri="{FF2B5EF4-FFF2-40B4-BE49-F238E27FC236}">
                <a16:creationId xmlns:a16="http://schemas.microsoft.com/office/drawing/2014/main" id="{AE1EAA38-6362-4234-9271-1C83A5BB8F7E}"/>
              </a:ext>
            </a:extLst>
          </p:cNvPr>
          <p:cNvSpPr/>
          <p:nvPr/>
        </p:nvSpPr>
        <p:spPr>
          <a:xfrm>
            <a:off x="1034689" y="3921700"/>
            <a:ext cx="886474" cy="5489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10</a:t>
            </a:r>
            <a:r>
              <a:rPr lang="en-US" altLang="ko-KR" sz="1100" b="1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7.6</a:t>
            </a:r>
            <a:r>
              <a:rPr lang="ko-KR" sz="1100" b="1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%</a:t>
            </a:r>
          </a:p>
        </p:txBody>
      </p:sp>
      <p:sp>
        <p:nvSpPr>
          <p:cNvPr id="68" name="Rectangle 14">
            <a:extLst>
              <a:ext uri="{FF2B5EF4-FFF2-40B4-BE49-F238E27FC236}">
                <a16:creationId xmlns:a16="http://schemas.microsoft.com/office/drawing/2014/main" id="{64DC189E-CDFD-4A15-B96B-3164B0DB720B}"/>
              </a:ext>
            </a:extLst>
          </p:cNvPr>
          <p:cNvSpPr/>
          <p:nvPr/>
        </p:nvSpPr>
        <p:spPr>
          <a:xfrm>
            <a:off x="1921164" y="3921700"/>
            <a:ext cx="1221365" cy="5489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altLang="en-US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연장근무 </a:t>
            </a:r>
            <a:r>
              <a:rPr lang="ko-KR" altLang="en-US" sz="900" b="0" dirty="0" err="1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협조율</a:t>
            </a:r>
            <a:endParaRPr lang="ko-KR" sz="900" b="0" dirty="0">
              <a:solidFill>
                <a:srgbClr val="6A7180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69" name="Rounded Rectangle 15">
            <a:extLst>
              <a:ext uri="{FF2B5EF4-FFF2-40B4-BE49-F238E27FC236}">
                <a16:creationId xmlns:a16="http://schemas.microsoft.com/office/drawing/2014/main" id="{145B7CB2-B404-4E66-B2B0-8EBC129097D3}"/>
              </a:ext>
            </a:extLst>
          </p:cNvPr>
          <p:cNvSpPr/>
          <p:nvPr/>
        </p:nvSpPr>
        <p:spPr>
          <a:xfrm>
            <a:off x="916492" y="4575267"/>
            <a:ext cx="2265434" cy="5489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70" name="Rectangle 16">
            <a:extLst>
              <a:ext uri="{FF2B5EF4-FFF2-40B4-BE49-F238E27FC236}">
                <a16:creationId xmlns:a16="http://schemas.microsoft.com/office/drawing/2014/main" id="{C2065F87-4AD1-48F6-8D74-101B91D5D2CB}"/>
              </a:ext>
            </a:extLst>
          </p:cNvPr>
          <p:cNvSpPr/>
          <p:nvPr/>
        </p:nvSpPr>
        <p:spPr>
          <a:xfrm>
            <a:off x="1034689" y="4575267"/>
            <a:ext cx="886474" cy="5489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4차수</a:t>
            </a:r>
          </a:p>
        </p:txBody>
      </p:sp>
      <p:sp>
        <p:nvSpPr>
          <p:cNvPr id="71" name="Rectangle 17">
            <a:extLst>
              <a:ext uri="{FF2B5EF4-FFF2-40B4-BE49-F238E27FC236}">
                <a16:creationId xmlns:a16="http://schemas.microsoft.com/office/drawing/2014/main" id="{C2FE99E2-9F0F-40E9-BD86-84F396158CD2}"/>
              </a:ext>
            </a:extLst>
          </p:cNvPr>
          <p:cNvSpPr/>
          <p:nvPr/>
        </p:nvSpPr>
        <p:spPr>
          <a:xfrm>
            <a:off x="1921164" y="4575267"/>
            <a:ext cx="1221365" cy="5489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소규모 선교육</a:t>
            </a:r>
          </a:p>
        </p:txBody>
      </p:sp>
      <p:sp>
        <p:nvSpPr>
          <p:cNvPr id="72" name="Rounded Rectangle 18">
            <a:extLst>
              <a:ext uri="{FF2B5EF4-FFF2-40B4-BE49-F238E27FC236}">
                <a16:creationId xmlns:a16="http://schemas.microsoft.com/office/drawing/2014/main" id="{910217DD-8F66-4882-86FA-77FA5820D4A2}"/>
              </a:ext>
            </a:extLst>
          </p:cNvPr>
          <p:cNvSpPr/>
          <p:nvPr/>
        </p:nvSpPr>
        <p:spPr>
          <a:xfrm>
            <a:off x="3635014" y="2248568"/>
            <a:ext cx="2462428" cy="3084837"/>
          </a:xfrm>
          <a:prstGeom prst="roundRect">
            <a:avLst>
              <a:gd name="adj" fmla="val 5000"/>
            </a:avLst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73" name="Rectangle 19">
            <a:extLst>
              <a:ext uri="{FF2B5EF4-FFF2-40B4-BE49-F238E27FC236}">
                <a16:creationId xmlns:a16="http://schemas.microsoft.com/office/drawing/2014/main" id="{A23F7E5D-80E0-4283-B61F-B8836865E217}"/>
              </a:ext>
            </a:extLst>
          </p:cNvPr>
          <p:cNvSpPr/>
          <p:nvPr/>
        </p:nvSpPr>
        <p:spPr>
          <a:xfrm>
            <a:off x="3772910" y="2353139"/>
            <a:ext cx="393989" cy="28756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100" b="1">
                <a:solidFill>
                  <a:schemeClr val="tx1">
                    <a:lumMod val="95000"/>
                    <a:lumOff val="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74" name="Rectangle 20">
            <a:extLst>
              <a:ext uri="{FF2B5EF4-FFF2-40B4-BE49-F238E27FC236}">
                <a16:creationId xmlns:a16="http://schemas.microsoft.com/office/drawing/2014/main" id="{A354A7B0-9DB9-4BDC-87D2-BF7231C991D9}"/>
              </a:ext>
            </a:extLst>
          </p:cNvPr>
          <p:cNvSpPr/>
          <p:nvPr/>
        </p:nvSpPr>
        <p:spPr>
          <a:xfrm>
            <a:off x="4127500" y="2353139"/>
            <a:ext cx="1871446" cy="28756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상시로 연결</a:t>
            </a:r>
          </a:p>
        </p:txBody>
      </p:sp>
      <p:sp>
        <p:nvSpPr>
          <p:cNvPr id="75" name="Rectangle 21">
            <a:extLst>
              <a:ext uri="{FF2B5EF4-FFF2-40B4-BE49-F238E27FC236}">
                <a16:creationId xmlns:a16="http://schemas.microsoft.com/office/drawing/2014/main" id="{84249F7C-B2B7-4377-A91D-562EB97D1E32}"/>
              </a:ext>
            </a:extLst>
          </p:cNvPr>
          <p:cNvSpPr/>
          <p:nvPr/>
        </p:nvSpPr>
        <p:spPr>
          <a:xfrm>
            <a:off x="3772910" y="2692994"/>
            <a:ext cx="2186637" cy="75813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33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6</a:t>
            </a:r>
            <a:r>
              <a:rPr lang="ko-KR" sz="15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명</a:t>
            </a:r>
          </a:p>
        </p:txBody>
      </p:sp>
      <p:sp>
        <p:nvSpPr>
          <p:cNvPr id="76" name="Rectangle 22">
            <a:extLst>
              <a:ext uri="{FF2B5EF4-FFF2-40B4-BE49-F238E27FC236}">
                <a16:creationId xmlns:a16="http://schemas.microsoft.com/office/drawing/2014/main" id="{AD10FF83-6D94-439F-A95C-174BBD94EDEE}"/>
              </a:ext>
            </a:extLst>
          </p:cNvPr>
          <p:cNvSpPr/>
          <p:nvPr/>
        </p:nvSpPr>
        <p:spPr>
          <a:xfrm>
            <a:off x="3772910" y="3451132"/>
            <a:ext cx="2186637" cy="28756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유지 인력 중 6명 상시 전환</a:t>
            </a:r>
          </a:p>
        </p:txBody>
      </p:sp>
      <p:cxnSp>
        <p:nvCxnSpPr>
          <p:cNvPr id="77" name="Connector 23">
            <a:extLst>
              <a:ext uri="{FF2B5EF4-FFF2-40B4-BE49-F238E27FC236}">
                <a16:creationId xmlns:a16="http://schemas.microsoft.com/office/drawing/2014/main" id="{5C00103E-F94C-45C5-A769-E002B558EC19}"/>
              </a:ext>
            </a:extLst>
          </p:cNvPr>
          <p:cNvCxnSpPr/>
          <p:nvPr/>
        </p:nvCxnSpPr>
        <p:spPr>
          <a:xfrm>
            <a:off x="3772910" y="3817129"/>
            <a:ext cx="2186637" cy="0"/>
          </a:xfrm>
          <a:prstGeom prst="line">
            <a:avLst/>
          </a:prstGeom>
          <a:ln w="12700">
            <a:solidFill>
              <a:srgbClr val="F3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ounded Rectangle 24">
            <a:extLst>
              <a:ext uri="{FF2B5EF4-FFF2-40B4-BE49-F238E27FC236}">
                <a16:creationId xmlns:a16="http://schemas.microsoft.com/office/drawing/2014/main" id="{86D2EFDE-25B0-4831-A968-853E6AC6809E}"/>
              </a:ext>
            </a:extLst>
          </p:cNvPr>
          <p:cNvSpPr/>
          <p:nvPr/>
        </p:nvSpPr>
        <p:spPr>
          <a:xfrm>
            <a:off x="3733511" y="3921700"/>
            <a:ext cx="2265434" cy="5489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79" name="Rectangle 25">
            <a:extLst>
              <a:ext uri="{FF2B5EF4-FFF2-40B4-BE49-F238E27FC236}">
                <a16:creationId xmlns:a16="http://schemas.microsoft.com/office/drawing/2014/main" id="{41669468-3196-45D8-AB0C-0236E3B5713B}"/>
              </a:ext>
            </a:extLst>
          </p:cNvPr>
          <p:cNvSpPr/>
          <p:nvPr/>
        </p:nvSpPr>
        <p:spPr>
          <a:xfrm>
            <a:off x="3851707" y="3921700"/>
            <a:ext cx="886474" cy="5489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29시간</a:t>
            </a:r>
          </a:p>
        </p:txBody>
      </p:sp>
      <p:sp>
        <p:nvSpPr>
          <p:cNvPr id="80" name="Rectangle 26">
            <a:extLst>
              <a:ext uri="{FF2B5EF4-FFF2-40B4-BE49-F238E27FC236}">
                <a16:creationId xmlns:a16="http://schemas.microsoft.com/office/drawing/2014/main" id="{51E2CCDE-F565-4649-9B2E-5F8916A9F98D}"/>
              </a:ext>
            </a:extLst>
          </p:cNvPr>
          <p:cNvSpPr/>
          <p:nvPr/>
        </p:nvSpPr>
        <p:spPr>
          <a:xfrm>
            <a:off x="4738182" y="3921700"/>
            <a:ext cx="1221365" cy="5489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전환 대상 사전교육</a:t>
            </a:r>
          </a:p>
        </p:txBody>
      </p:sp>
      <p:sp>
        <p:nvSpPr>
          <p:cNvPr id="81" name="Rounded Rectangle 27">
            <a:extLst>
              <a:ext uri="{FF2B5EF4-FFF2-40B4-BE49-F238E27FC236}">
                <a16:creationId xmlns:a16="http://schemas.microsoft.com/office/drawing/2014/main" id="{9D574DDB-3063-4558-9FB7-D00FFC608A3A}"/>
              </a:ext>
            </a:extLst>
          </p:cNvPr>
          <p:cNvSpPr/>
          <p:nvPr/>
        </p:nvSpPr>
        <p:spPr>
          <a:xfrm>
            <a:off x="3733511" y="4575267"/>
            <a:ext cx="2265434" cy="5489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82" name="Rectangle 28">
            <a:extLst>
              <a:ext uri="{FF2B5EF4-FFF2-40B4-BE49-F238E27FC236}">
                <a16:creationId xmlns:a16="http://schemas.microsoft.com/office/drawing/2014/main" id="{373E356F-FCC8-48E1-A443-32C3550206DA}"/>
              </a:ext>
            </a:extLst>
          </p:cNvPr>
          <p:cNvSpPr/>
          <p:nvPr/>
        </p:nvSpPr>
        <p:spPr>
          <a:xfrm>
            <a:off x="3851707" y="4575267"/>
            <a:ext cx="886474" cy="5489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3개월</a:t>
            </a:r>
          </a:p>
        </p:txBody>
      </p:sp>
      <p:sp>
        <p:nvSpPr>
          <p:cNvPr id="83" name="Rectangle 29">
            <a:extLst>
              <a:ext uri="{FF2B5EF4-FFF2-40B4-BE49-F238E27FC236}">
                <a16:creationId xmlns:a16="http://schemas.microsoft.com/office/drawing/2014/main" id="{01B99045-5762-46D4-A337-034EA059A204}"/>
              </a:ext>
            </a:extLst>
          </p:cNvPr>
          <p:cNvSpPr/>
          <p:nvPr/>
        </p:nvSpPr>
        <p:spPr>
          <a:xfrm>
            <a:off x="4738182" y="4575267"/>
            <a:ext cx="1221365" cy="5489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정착지원금 지급</a:t>
            </a:r>
          </a:p>
        </p:txBody>
      </p:sp>
      <p:sp>
        <p:nvSpPr>
          <p:cNvPr id="84" name="Right Arrow 30">
            <a:extLst>
              <a:ext uri="{FF2B5EF4-FFF2-40B4-BE49-F238E27FC236}">
                <a16:creationId xmlns:a16="http://schemas.microsoft.com/office/drawing/2014/main" id="{AEEA0C7D-FDA5-4DAE-B444-679E4D1E8C80}"/>
              </a:ext>
            </a:extLst>
          </p:cNvPr>
          <p:cNvSpPr/>
          <p:nvPr/>
        </p:nvSpPr>
        <p:spPr>
          <a:xfrm>
            <a:off x="3280424" y="3521390"/>
            <a:ext cx="354590" cy="382336"/>
          </a:xfrm>
          <a:prstGeom prst="rightArrow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929606" y="381000"/>
            <a:ext cx="61912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3-1 ④ 상담 품질 관리 · 2027 목표 달성 방안</a:t>
            </a:r>
          </a:p>
        </p:txBody>
      </p:sp>
      <p:sp>
        <p:nvSpPr>
          <p:cNvPr id="4" name="Rectangle 3"/>
          <p:cNvSpPr/>
          <p:nvPr/>
        </p:nvSpPr>
        <p:spPr>
          <a:xfrm>
            <a:off x="846138" y="660400"/>
            <a:ext cx="8461375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0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품질 · 생산성 · 설명처리를 </a:t>
            </a:r>
            <a:r>
              <a:rPr lang="ko-KR" sz="20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개인 단위로 관리</a:t>
            </a:r>
            <a:r>
              <a:rPr lang="ko-KR" sz="20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합니다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138" y="1079500"/>
            <a:ext cx="84613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센터 평균이 아니라 상담사 한 사람 한 사람의 약점을 찾아 </a:t>
            </a:r>
            <a:r>
              <a:rPr lang="ko-KR" sz="1200" b="0" dirty="0" err="1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코칭하겠습니다</a:t>
            </a:r>
            <a:r>
              <a:rPr lang="ko-KR" sz="12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0400" y="1422400"/>
            <a:ext cx="1969943" cy="317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98296" y="1574800"/>
            <a:ext cx="393989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ko-KR" sz="1300" b="0" dirty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798296" y="1905000"/>
            <a:ext cx="173355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1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상담품질 향상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98296" y="2311400"/>
            <a:ext cx="1694151" cy="0"/>
          </a:xfrm>
          <a:prstGeom prst="line">
            <a:avLst/>
          </a:prstGeom>
          <a:ln w="12700">
            <a:solidFill>
              <a:srgbClr val="E30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98296" y="2438400"/>
            <a:ext cx="1733550" cy="60960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550" tIns="50800" rIns="82550" bIns="50800" rtlCol="0" anchor="ctr"/>
          <a:lstStyle/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QA 전문화</a:t>
            </a:r>
            <a:endParaRPr lang="en-US" altLang="ko-KR" sz="900" b="0" dirty="0">
              <a:solidFill>
                <a:srgbClr val="10151F"/>
              </a:solidFill>
              <a:latin typeface="페이퍼로지 5 Medium"/>
              <a:ea typeface="페이퍼로지 5 Medium"/>
              <a:cs typeface="페이퍼로지 5 Medium"/>
            </a:endParaRPr>
          </a:p>
          <a:p>
            <a:pPr algn="l">
              <a:lnSpc>
                <a:spcPct val="130000"/>
              </a:lnSpc>
            </a:pPr>
            <a:r>
              <a:rPr lang="ko-KR" altLang="en-US" sz="90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→ 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품질 </a:t>
            </a:r>
            <a:r>
              <a:rPr lang="ko-KR" sz="9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분석·보고서·코칭</a:t>
            </a:r>
            <a:endParaRPr lang="ko-KR" sz="900" b="0" dirty="0">
              <a:solidFill>
                <a:srgbClr val="10151F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98296" y="3124200"/>
            <a:ext cx="1733550" cy="60960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550" tIns="50800" rIns="82550" bIns="50800" rtlCol="0" anchor="ctr"/>
          <a:lstStyle/>
          <a:p>
            <a:pPr algn="l">
              <a:lnSpc>
                <a:spcPct val="130000"/>
              </a:lnSpc>
            </a:pPr>
            <a:r>
              <a:rPr lang="ko-KR" sz="9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다빈도·고난도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문의 SOP 도입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8296" y="3810000"/>
            <a:ext cx="1733550" cy="60960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550" tIns="50800" rIns="82550" bIns="50800" rtlCol="0" anchor="ctr"/>
          <a:lstStyle/>
          <a:p>
            <a:pPr algn="l">
              <a:lnSpc>
                <a:spcPct val="130000"/>
              </a:lnSpc>
            </a:pPr>
            <a:r>
              <a:rPr lang="ko-KR" sz="9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부진자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1:1 코칭 · </a:t>
            </a:r>
            <a:endParaRPr lang="en-US" altLang="ko-KR" sz="900" b="0" dirty="0">
              <a:solidFill>
                <a:srgbClr val="10151F"/>
              </a:solidFill>
              <a:latin typeface="페이퍼로지 5 Medium"/>
              <a:ea typeface="페이퍼로지 5 Medium"/>
              <a:cs typeface="페이퍼로지 5 Medium"/>
            </a:endParaRPr>
          </a:p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우수 상담사 포상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8540" y="1422400"/>
            <a:ext cx="1969943" cy="317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886436" y="1574800"/>
            <a:ext cx="393989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ko-KR" sz="1300" b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86436" y="1905000"/>
            <a:ext cx="173355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1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생산성 편차 관리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886436" y="2311400"/>
            <a:ext cx="1694151" cy="0"/>
          </a:xfrm>
          <a:prstGeom prst="line">
            <a:avLst/>
          </a:prstGeom>
          <a:ln w="12700">
            <a:solidFill>
              <a:srgbClr val="E30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886436" y="2438400"/>
            <a:ext cx="1733550" cy="60960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550" tIns="50800" rIns="82550" bIns="50800" rtlCol="0" anchor="ctr"/>
          <a:lstStyle/>
          <a:p>
            <a:pPr algn="l">
              <a:lnSpc>
                <a:spcPct val="130000"/>
              </a:lnSpc>
            </a:pPr>
            <a:r>
              <a:rPr lang="ko-KR" sz="9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CPD·처리시간·이석·후처리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endParaRPr lang="en-US" altLang="ko-KR" sz="900" b="0" dirty="0">
              <a:solidFill>
                <a:srgbClr val="10151F"/>
              </a:solidFill>
              <a:latin typeface="페이퍼로지 5 Medium"/>
              <a:ea typeface="페이퍼로지 5 Medium"/>
              <a:cs typeface="페이퍼로지 5 Medium"/>
            </a:endParaRPr>
          </a:p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개인</a:t>
            </a:r>
            <a:r>
              <a:rPr lang="ko-KR" altLang="en-US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별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분석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86436" y="3124200"/>
            <a:ext cx="1733550" cy="60960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550" tIns="50800" rIns="82550" bIns="50800" rtlCol="0" anchor="ctr"/>
          <a:lstStyle/>
          <a:p>
            <a:pPr algn="l">
              <a:lnSpc>
                <a:spcPct val="130000"/>
              </a:lnSpc>
            </a:pPr>
            <a:r>
              <a:rPr lang="ko-KR" sz="9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근속·개인별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계량 목표 설정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86436" y="3810000"/>
            <a:ext cx="1733550" cy="60960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550" tIns="50800" rIns="82550" bIns="50800" rtlCol="0" anchor="ctr"/>
          <a:lstStyle/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월 평가 하위 20% 별도 관리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36679" y="1422400"/>
            <a:ext cx="1969943" cy="317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974575" y="1574800"/>
            <a:ext cx="393989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ko-KR" sz="1300" b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74575" y="1905000"/>
            <a:ext cx="173355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100" b="0" dirty="0" err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설명처리·완결상담</a:t>
            </a:r>
            <a:endParaRPr lang="ko-KR" sz="1100" b="0" dirty="0">
              <a:solidFill>
                <a:srgbClr val="10151F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4974575" y="2311400"/>
            <a:ext cx="1694151" cy="0"/>
          </a:xfrm>
          <a:prstGeom prst="line">
            <a:avLst/>
          </a:prstGeom>
          <a:ln w="12700">
            <a:solidFill>
              <a:srgbClr val="E30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974575" y="2438400"/>
            <a:ext cx="1733550" cy="60960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550" tIns="50800" rIns="82550" bIns="50800" rtlCol="0" anchor="ctr"/>
          <a:lstStyle/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자가 설명처리 </a:t>
            </a:r>
            <a:endParaRPr lang="en-US" altLang="ko-KR" sz="900" b="0" dirty="0">
              <a:solidFill>
                <a:srgbClr val="10151F"/>
              </a:solidFill>
              <a:latin typeface="페이퍼로지 5 Medium"/>
              <a:ea typeface="페이퍼로지 5 Medium"/>
              <a:cs typeface="페이퍼로지 5 Medium"/>
            </a:endParaRPr>
          </a:p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반드시 시도 후 이관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74575" y="3124200"/>
            <a:ext cx="1733550" cy="60960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550" tIns="50800" rIns="82550" bIns="50800" rtlCol="0" anchor="ctr"/>
          <a:lstStyle/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"기타" </a:t>
            </a:r>
            <a:r>
              <a:rPr lang="ko-KR" sz="9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오입력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금지</a:t>
            </a:r>
            <a:endParaRPr lang="en-US" altLang="ko-KR" sz="900" b="0" dirty="0">
              <a:solidFill>
                <a:srgbClr val="10151F"/>
              </a:solidFill>
              <a:latin typeface="페이퍼로지 5 Medium"/>
              <a:ea typeface="페이퍼로지 5 Medium"/>
              <a:cs typeface="페이퍼로지 5 Medium"/>
            </a:endParaRPr>
          </a:p>
          <a:p>
            <a:pPr algn="l">
              <a:lnSpc>
                <a:spcPct val="130000"/>
              </a:lnSpc>
            </a:pPr>
            <a:r>
              <a:rPr lang="ko-KR" altLang="en-US" sz="90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큐봇</a:t>
            </a:r>
            <a:r>
              <a:rPr lang="ko-KR" altLang="en-US" sz="90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사용 권장</a:t>
            </a:r>
            <a:endParaRPr lang="ko-KR" sz="900" b="0" dirty="0">
              <a:solidFill>
                <a:srgbClr val="10151F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974575" y="3810000"/>
            <a:ext cx="1733550" cy="60960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550" tIns="50800" rIns="82550" bIns="50800" rtlCol="0" anchor="ctr"/>
          <a:lstStyle/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STT 기반 상담완료 판정 활용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64218" y="1422400"/>
            <a:ext cx="2363931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ko-KR" sz="1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관리대상 분류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61212" y="1853190"/>
            <a:ext cx="1024370" cy="1031875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관리대상</a:t>
            </a:r>
          </a:p>
          <a:p>
            <a:pPr algn="ctr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품질 ↑ · 생산성 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44681" y="1853190"/>
            <a:ext cx="1024370" cy="1031875"/>
          </a:xfrm>
          <a:prstGeom prst="rect">
            <a:avLst/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ko-KR" sz="900" b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유지·포상</a:t>
            </a:r>
          </a:p>
          <a:p>
            <a:pPr algn="ctr">
              <a:lnSpc>
                <a:spcPct val="130000"/>
              </a:lnSpc>
            </a:pPr>
            <a:r>
              <a:rPr lang="ko-KR" sz="900" b="0">
                <a:solidFill>
                  <a:srgbClr val="A50034"/>
                </a:solidFill>
                <a:latin typeface="페이퍼로지 5 Medium"/>
                <a:ea typeface="페이퍼로지 5 Medium"/>
                <a:cs typeface="페이퍼로지 5 Medium"/>
              </a:rPr>
              <a:t>품질 ↑ · 생산성 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61212" y="3199390"/>
            <a:ext cx="1024370" cy="1031875"/>
          </a:xfrm>
          <a:prstGeom prst="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ko-KR" sz="9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집중관리대상</a:t>
            </a:r>
          </a:p>
          <a:p>
            <a:pPr algn="ctr">
              <a:lnSpc>
                <a:spcPct val="130000"/>
              </a:lnSpc>
            </a:pPr>
            <a:r>
              <a:rPr lang="ko-KR" sz="900" b="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품질 ↓ · 생산성 ↓
+ 통화시간 하위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44681" y="3199390"/>
            <a:ext cx="1024370" cy="1031875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관리대상</a:t>
            </a:r>
          </a:p>
          <a:p>
            <a:pPr algn="ctr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생산성 ↑ · 품질 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6485" y="2266518"/>
            <a:ext cx="360221" cy="152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900" dirty="0">
                <a:solidFill>
                  <a:srgbClr val="6A7180"/>
                </a:solidFill>
                <a:cs typeface="페이퍼로지 5 Medium"/>
              </a:rPr>
              <a:t>↑</a:t>
            </a:r>
            <a:endParaRPr lang="en-US" altLang="ko-KR" sz="900" dirty="0">
              <a:solidFill>
                <a:srgbClr val="6A7180"/>
              </a:solidFill>
              <a:cs typeface="페이퍼로지 5 Medium"/>
            </a:endParaRPr>
          </a:p>
          <a:p>
            <a:pPr algn="ctr"/>
            <a:endParaRPr lang="en-US" altLang="ko-KR" sz="900" dirty="0">
              <a:solidFill>
                <a:srgbClr val="6A7180"/>
              </a:solidFill>
              <a:cs typeface="페이퍼로지 5 Medium"/>
            </a:endParaRPr>
          </a:p>
          <a:p>
            <a:pPr algn="ctr"/>
            <a:r>
              <a:rPr lang="ko-KR" altLang="en-US" sz="900" dirty="0">
                <a:solidFill>
                  <a:srgbClr val="6A7180"/>
                </a:solidFill>
                <a:cs typeface="페이퍼로지 5 Medium"/>
              </a:rPr>
              <a:t> </a:t>
            </a:r>
            <a:endParaRPr lang="en-US" altLang="ko-KR" sz="900" dirty="0">
              <a:solidFill>
                <a:srgbClr val="6A7180"/>
              </a:solidFill>
              <a:cs typeface="페이퍼로지 5 Medium"/>
            </a:endParaRPr>
          </a:p>
          <a:p>
            <a:pPr algn="ctr"/>
            <a:r>
              <a:rPr lang="ko-KR" altLang="en-US" sz="900" dirty="0">
                <a:solidFill>
                  <a:srgbClr val="6A7180"/>
                </a:solidFill>
                <a:cs typeface="페이퍼로지 5 Medium"/>
              </a:rPr>
              <a:t>품질</a:t>
            </a:r>
            <a:endParaRPr lang="en-US" altLang="ko-KR" sz="900" dirty="0">
              <a:solidFill>
                <a:srgbClr val="6A7180"/>
              </a:solidFill>
              <a:cs typeface="페이퍼로지 5 Medium"/>
            </a:endParaRPr>
          </a:p>
          <a:p>
            <a:pPr algn="ctr"/>
            <a:endParaRPr lang="en-US" altLang="ko-KR" sz="900" b="0" dirty="0">
              <a:solidFill>
                <a:srgbClr val="6A7180"/>
              </a:solidFill>
              <a:latin typeface="페이퍼로지 5 Medium"/>
              <a:ea typeface="페이퍼로지 5 Medium"/>
              <a:cs typeface="페이퍼로지 5 Medium"/>
            </a:endParaRPr>
          </a:p>
          <a:p>
            <a:pPr algn="ctr"/>
            <a:endParaRPr lang="en-US" altLang="ko-KR" sz="900" dirty="0">
              <a:solidFill>
                <a:srgbClr val="6A7180"/>
              </a:solidFill>
              <a:latin typeface="페이퍼로지 5 Medium"/>
              <a:ea typeface="페이퍼로지 5 Medium"/>
              <a:cs typeface="페이퍼로지 5 Medium"/>
            </a:endParaRPr>
          </a:p>
          <a:p>
            <a:pPr algn="ctr"/>
            <a:r>
              <a:rPr lang="ko-KR" altLang="en-US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↓</a:t>
            </a:r>
            <a:endParaRPr lang="ko-KR" sz="900" b="0" dirty="0">
              <a:solidFill>
                <a:srgbClr val="6A7180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7161212" y="4327240"/>
            <a:ext cx="2107839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ko-KR" altLang="en-US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←         </a:t>
            </a: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생산성</a:t>
            </a:r>
            <a:r>
              <a:rPr lang="en-US" alt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        </a:t>
            </a: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 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0400" y="4775200"/>
            <a:ext cx="8667750" cy="14732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57394" y="4927600"/>
            <a:ext cx="8273761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ko-KR" sz="1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2027 품질 목표 (고객사 KPI 기준 협의 후 확정)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7394" y="5308600"/>
            <a:ext cx="1969943" cy="787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3825" tIns="76200" rIns="123825" bIns="76200" rtlCol="0" anchor="ctr"/>
          <a:lstStyle/>
          <a:p>
            <a:pPr algn="l">
              <a:lnSpc>
                <a:spcPct val="130000"/>
              </a:lnSpc>
            </a:pPr>
            <a:r>
              <a:rPr lang="ko-KR" sz="10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T-NPS</a:t>
            </a:r>
          </a:p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상시 92.9 → </a:t>
            </a:r>
            <a:r>
              <a:rPr lang="en-US" alt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93.0</a:t>
            </a:r>
            <a:endParaRPr lang="ko-KR" sz="900" b="0" dirty="0">
              <a:solidFill>
                <a:srgbClr val="10151F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2945534" y="5308600"/>
            <a:ext cx="1969943" cy="787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3825" tIns="76200" rIns="123825" bIns="76200" rtlCol="0" anchor="ctr"/>
          <a:lstStyle/>
          <a:p>
            <a:pPr algn="l">
              <a:lnSpc>
                <a:spcPct val="130000"/>
              </a:lnSpc>
            </a:pPr>
            <a:r>
              <a:rPr lang="ko-KR" sz="10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완결상담률</a:t>
            </a:r>
          </a:p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목표 초과 유지 (2026 104.7%)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33673" y="5308600"/>
            <a:ext cx="1969943" cy="787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3825" tIns="76200" rIns="123825" bIns="76200" rtlCol="0" anchor="ctr"/>
          <a:lstStyle/>
          <a:p>
            <a:pPr algn="l">
              <a:lnSpc>
                <a:spcPct val="130000"/>
              </a:lnSpc>
            </a:pPr>
            <a:r>
              <a:rPr lang="ko-KR" sz="10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생산성</a:t>
            </a:r>
          </a:p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2026 </a:t>
            </a:r>
            <a:r>
              <a:rPr lang="ko-KR" sz="9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달성률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88.8% → 100%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21814" y="5308600"/>
            <a:ext cx="1969943" cy="787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3825" tIns="76200" rIns="123825" bIns="76200" rtlCol="0" anchor="ctr"/>
          <a:lstStyle/>
          <a:p>
            <a:pPr algn="l">
              <a:lnSpc>
                <a:spcPct val="130000"/>
              </a:lnSpc>
            </a:pPr>
            <a:r>
              <a:rPr lang="ko-KR" sz="10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IN 생산성</a:t>
            </a:r>
          </a:p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2026 </a:t>
            </a:r>
            <a:r>
              <a:rPr lang="ko-KR" sz="9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달성률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90.2% → 100%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40250" y="64770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fld id="{B6F15528-21DE-4FAA-801E-634DDDAF4B2B}" type="slidenum"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31</a:t>
            </a:fld>
            <a:r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 / 49</a:t>
            </a:r>
            <a:endParaRPr lang="ko-KR" sz="600" b="0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929606" y="381000"/>
            <a:ext cx="61912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3-1 ④ 상담 품질 관리 · 방법</a:t>
            </a:r>
          </a:p>
        </p:txBody>
      </p:sp>
      <p:sp>
        <p:nvSpPr>
          <p:cNvPr id="4" name="Rectangle 3"/>
          <p:cNvSpPr/>
          <p:nvPr/>
        </p:nvSpPr>
        <p:spPr>
          <a:xfrm>
            <a:off x="846138" y="660400"/>
            <a:ext cx="8461375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000" b="0" dirty="0" err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LG의</a:t>
            </a:r>
            <a:r>
              <a:rPr lang="ko-KR" sz="2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 높은 품질체계 위에 </a:t>
            </a:r>
            <a:r>
              <a:rPr lang="ko-KR" sz="20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KT </a:t>
            </a:r>
            <a:r>
              <a:rPr lang="ko-KR" sz="2000" b="0" dirty="0" err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IS의</a:t>
            </a:r>
            <a:r>
              <a:rPr lang="ko-KR" sz="20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 관리 노하우</a:t>
            </a:r>
            <a:r>
              <a:rPr lang="ko-KR" altLang="en-US" sz="2000" dirty="0">
                <a:solidFill>
                  <a:srgbClr val="10151F"/>
                </a:solidFill>
                <a:latin typeface="페이퍼로지 8 ExtraBold"/>
                <a:ea typeface="페이퍼로지 8 ExtraBold"/>
              </a:rPr>
              <a:t>를</a:t>
            </a:r>
            <a:r>
              <a:rPr lang="en-US" altLang="ko-KR" sz="20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  <a:r>
              <a:rPr lang="ko-KR" altLang="en-US" sz="2000" dirty="0">
                <a:solidFill>
                  <a:srgbClr val="10151F"/>
                </a:solidFill>
                <a:latin typeface="페이퍼로지 8 ExtraBold"/>
                <a:ea typeface="페이퍼로지 8 ExtraBold"/>
              </a:rPr>
              <a:t>더합니다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138" y="1079500"/>
            <a:ext cx="84613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 dirty="0" err="1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이미 높은 LG전자의 품질 체계 위에, 운영 관리와 고객의 소리(VOC) 개선 활동을 더해 고객 만족도를 높이겠습니다.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0400" y="1422400"/>
            <a:ext cx="2954915" cy="35814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57394" y="1524000"/>
            <a:ext cx="2560926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ko-KR" sz="1200" b="0" dirty="0" err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하이텔</a:t>
            </a:r>
            <a:r>
              <a:rPr lang="ko-KR" altLang="en-US" sz="1200" b="0" dirty="0" err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레서비스</a:t>
            </a:r>
            <a:r>
              <a:rPr lang="ko-KR" sz="12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 품질체계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394" y="1854200"/>
            <a:ext cx="2560926" cy="431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462" tIns="88900" rIns="144462" bIns="88900" rtlCol="0" anchor="ctr"/>
          <a:lstStyle/>
          <a:p>
            <a:pPr algn="ctr">
              <a:lnSpc>
                <a:spcPct val="110000"/>
              </a:lnSpc>
            </a:pPr>
            <a:r>
              <a:rPr lang="ko-KR" sz="1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T-NPS 고객 평가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7394" y="2362200"/>
            <a:ext cx="2560926" cy="431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462" tIns="88900" rIns="144462" bIns="88900" rtlCol="0" anchor="ctr"/>
          <a:lstStyle/>
          <a:p>
            <a:pPr algn="ctr">
              <a:lnSpc>
                <a:spcPct val="110000"/>
              </a:lnSpc>
            </a:pPr>
            <a:r>
              <a:rPr lang="ko-KR" sz="10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외부 모니터링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394" y="2870200"/>
            <a:ext cx="2560926" cy="431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462" tIns="88900" rIns="144462" bIns="88900" rtlCol="0" anchor="ctr"/>
          <a:lstStyle/>
          <a:p>
            <a:pPr algn="ctr">
              <a:lnSpc>
                <a:spcPct val="110000"/>
              </a:lnSpc>
            </a:pPr>
            <a:r>
              <a:rPr lang="ko-KR" sz="10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Q봇 지식검색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7394" y="3378200"/>
            <a:ext cx="2560926" cy="431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462" tIns="88900" rIns="144462" bIns="88900" rtlCol="0" anchor="ctr"/>
          <a:lstStyle/>
          <a:p>
            <a:pPr algn="ctr">
              <a:lnSpc>
                <a:spcPct val="110000"/>
              </a:lnSpc>
            </a:pPr>
            <a:r>
              <a:rPr lang="ko-KR" sz="10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KS-CQI 기준 교육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394" y="3886200"/>
            <a:ext cx="2560926" cy="431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462" tIns="88900" rIns="144462" bIns="88900" rtlCol="0" anchor="ctr"/>
          <a:lstStyle/>
          <a:p>
            <a:pPr algn="ctr">
              <a:lnSpc>
                <a:spcPct val="110000"/>
              </a:lnSpc>
            </a:pPr>
            <a:r>
              <a:rPr lang="ko-KR" sz="10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SLA 성수기 평가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7394" y="4394200"/>
            <a:ext cx="2560926" cy="431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462" tIns="88900" rIns="144462" bIns="88900" rtlCol="0" anchor="ctr"/>
          <a:lstStyle/>
          <a:p>
            <a:pPr algn="ctr">
              <a:lnSpc>
                <a:spcPct val="110000"/>
              </a:lnSpc>
            </a:pPr>
            <a:r>
              <a:rPr lang="ko-KR" sz="10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월별 이슈 평가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07464" y="2946400"/>
            <a:ext cx="295491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5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+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68401" y="1466850"/>
            <a:ext cx="5259748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ko-KR" altLang="ko-KR" sz="120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총괄매니저 </a:t>
            </a:r>
            <a:r>
              <a:rPr lang="ko-KR" altLang="en-US" sz="120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내부 진단 개선</a:t>
            </a:r>
            <a:r>
              <a:rPr lang="ko-KR" altLang="ko-KR" sz="120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 과제</a:t>
            </a:r>
            <a:r>
              <a:rPr lang="en-US" altLang="ko-KR" sz="120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  <a:r>
              <a:rPr lang="ko-KR" altLang="en-US" sz="120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시행</a:t>
            </a:r>
            <a:endParaRPr lang="ko-KR" altLang="ko-KR" sz="1200" dirty="0">
              <a:solidFill>
                <a:srgbClr val="E30C60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068401" y="1752600"/>
            <a:ext cx="5259748" cy="482600"/>
          </a:xfrm>
          <a:prstGeom prst="roundRect">
            <a:avLst>
              <a:gd name="adj" fmla="val 5000"/>
            </a:avLst>
          </a:prstGeom>
          <a:solidFill>
            <a:srgbClr val="FBE8EF"/>
          </a:solidFill>
          <a:ln w="9525">
            <a:solidFill>
              <a:srgbClr val="E30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61382" y="1765300"/>
            <a:ext cx="13789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상담사별 편차 관리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96569" y="1765300"/>
            <a:ext cx="3663272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ko-KR" sz="10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1인 1개선과제</a:t>
            </a:r>
            <a:r>
              <a:rPr lang="en-US" altLang="ko-KR" sz="10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</a:p>
          <a:p>
            <a:pPr algn="l">
              <a:lnSpc>
                <a:spcPct val="120000"/>
              </a:lnSpc>
            </a:pPr>
            <a:r>
              <a:rPr lang="ko-KR" altLang="en-US" sz="100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→ 저점 사례로 핵심 약점 1개를 정해 주 단위 행동목표로 코칭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068401" y="3937000"/>
            <a:ext cx="5259748" cy="482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261382" y="3949700"/>
            <a:ext cx="13789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관리자 품질 역량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96569" y="3949700"/>
            <a:ext cx="3663272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ko-KR" sz="10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QA 전문화 — 품질 분석·보고서·코칭 기술, 평가보다 현장 중심 코칭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068401" y="4483100"/>
            <a:ext cx="5259748" cy="482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261382" y="4495800"/>
            <a:ext cx="13789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KSQI 운영 경험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96569" y="4495800"/>
            <a:ext cx="3663272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ko-KR" sz="10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이동통신 15년·초고속인터넷 12년 KSQI 우수 운영 기반의 </a:t>
            </a:r>
            <a:r>
              <a:rPr lang="ko-KR" altLang="en-US" sz="10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컨설팅 </a:t>
            </a:r>
            <a:r>
              <a:rPr lang="ko-KR" sz="10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적용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40250" y="64770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32 / 49</a:t>
            </a:r>
            <a:endParaRPr lang="ko-KR" sz="600" b="0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44" name="Rounded Rectangle 19">
            <a:extLst>
              <a:ext uri="{FF2B5EF4-FFF2-40B4-BE49-F238E27FC236}">
                <a16:creationId xmlns:a16="http://schemas.microsoft.com/office/drawing/2014/main" id="{6601A63A-932F-4F5C-8066-D60653EB6E1C}"/>
              </a:ext>
            </a:extLst>
          </p:cNvPr>
          <p:cNvSpPr/>
          <p:nvPr/>
        </p:nvSpPr>
        <p:spPr>
          <a:xfrm>
            <a:off x="4068401" y="2298700"/>
            <a:ext cx="5259748" cy="482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45" name="Rectangle 20">
            <a:extLst>
              <a:ext uri="{FF2B5EF4-FFF2-40B4-BE49-F238E27FC236}">
                <a16:creationId xmlns:a16="http://schemas.microsoft.com/office/drawing/2014/main" id="{B741477A-5284-4874-AB13-42034E8DB6CD}"/>
              </a:ext>
            </a:extLst>
          </p:cNvPr>
          <p:cNvSpPr/>
          <p:nvPr/>
        </p:nvSpPr>
        <p:spPr>
          <a:xfrm>
            <a:off x="4261382" y="2311400"/>
            <a:ext cx="13789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실시간 모니터링</a:t>
            </a:r>
          </a:p>
        </p:txBody>
      </p:sp>
      <p:sp>
        <p:nvSpPr>
          <p:cNvPr id="46" name="Rectangle 21">
            <a:extLst>
              <a:ext uri="{FF2B5EF4-FFF2-40B4-BE49-F238E27FC236}">
                <a16:creationId xmlns:a16="http://schemas.microsoft.com/office/drawing/2014/main" id="{5182AD71-23F7-4978-AAD6-5FF8B8DF31B4}"/>
              </a:ext>
            </a:extLst>
          </p:cNvPr>
          <p:cNvSpPr/>
          <p:nvPr/>
        </p:nvSpPr>
        <p:spPr>
          <a:xfrm>
            <a:off x="5596569" y="2311400"/>
            <a:ext cx="3663272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ko-KR" sz="1000" b="0" dirty="0" err="1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문의건 취합 · 실시간 모니터링으로 오류를 바로 잡는 즉시 피드백</a:t>
            </a:r>
          </a:p>
        </p:txBody>
      </p:sp>
      <p:sp>
        <p:nvSpPr>
          <p:cNvPr id="48" name="Rounded Rectangle 23">
            <a:extLst>
              <a:ext uri="{FF2B5EF4-FFF2-40B4-BE49-F238E27FC236}">
                <a16:creationId xmlns:a16="http://schemas.microsoft.com/office/drawing/2014/main" id="{52DC41A8-4E69-4D51-9CC1-DD6522B041CF}"/>
              </a:ext>
            </a:extLst>
          </p:cNvPr>
          <p:cNvSpPr/>
          <p:nvPr/>
        </p:nvSpPr>
        <p:spPr>
          <a:xfrm>
            <a:off x="4068401" y="2844800"/>
            <a:ext cx="5259748" cy="482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49" name="Rectangle 24">
            <a:extLst>
              <a:ext uri="{FF2B5EF4-FFF2-40B4-BE49-F238E27FC236}">
                <a16:creationId xmlns:a16="http://schemas.microsoft.com/office/drawing/2014/main" id="{3479BEF4-9A48-4C09-A3E6-5F7D1ED8513B}"/>
              </a:ext>
            </a:extLst>
          </p:cNvPr>
          <p:cNvSpPr/>
          <p:nvPr/>
        </p:nvSpPr>
        <p:spPr>
          <a:xfrm>
            <a:off x="4261382" y="2857500"/>
            <a:ext cx="13789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Q봇 숙지도 평가</a:t>
            </a:r>
          </a:p>
        </p:txBody>
      </p:sp>
      <p:sp>
        <p:nvSpPr>
          <p:cNvPr id="50" name="Rectangle 25">
            <a:extLst>
              <a:ext uri="{FF2B5EF4-FFF2-40B4-BE49-F238E27FC236}">
                <a16:creationId xmlns:a16="http://schemas.microsoft.com/office/drawing/2014/main" id="{8B8127A1-3828-443C-BDA9-D272B0949772}"/>
              </a:ext>
            </a:extLst>
          </p:cNvPr>
          <p:cNvSpPr/>
          <p:nvPr/>
        </p:nvSpPr>
        <p:spPr>
          <a:xfrm>
            <a:off x="5596569" y="2857500"/>
            <a:ext cx="3663272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ko-KR" sz="10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관리자 의존 질의를 줄이도록 Q봇 기반 숙지도를 평가 점수에 반영</a:t>
            </a:r>
          </a:p>
        </p:txBody>
      </p:sp>
      <p:sp>
        <p:nvSpPr>
          <p:cNvPr id="52" name="Rounded Rectangle 27">
            <a:extLst>
              <a:ext uri="{FF2B5EF4-FFF2-40B4-BE49-F238E27FC236}">
                <a16:creationId xmlns:a16="http://schemas.microsoft.com/office/drawing/2014/main" id="{CEFDC17F-87A1-4660-A054-D3E721552650}"/>
              </a:ext>
            </a:extLst>
          </p:cNvPr>
          <p:cNvSpPr/>
          <p:nvPr/>
        </p:nvSpPr>
        <p:spPr>
          <a:xfrm>
            <a:off x="4068401" y="3390900"/>
            <a:ext cx="5259748" cy="482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53" name="Rectangle 28">
            <a:extLst>
              <a:ext uri="{FF2B5EF4-FFF2-40B4-BE49-F238E27FC236}">
                <a16:creationId xmlns:a16="http://schemas.microsoft.com/office/drawing/2014/main" id="{F409F2E5-83DF-43BE-8010-C1FACD50F0CB}"/>
              </a:ext>
            </a:extLst>
          </p:cNvPr>
          <p:cNvSpPr/>
          <p:nvPr/>
        </p:nvSpPr>
        <p:spPr>
          <a:xfrm>
            <a:off x="4261382" y="3403600"/>
            <a:ext cx="13789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AI추천·STT 활용</a:t>
            </a:r>
          </a:p>
        </p:txBody>
      </p:sp>
      <p:sp>
        <p:nvSpPr>
          <p:cNvPr id="54" name="Rectangle 29">
            <a:extLst>
              <a:ext uri="{FF2B5EF4-FFF2-40B4-BE49-F238E27FC236}">
                <a16:creationId xmlns:a16="http://schemas.microsoft.com/office/drawing/2014/main" id="{7D473B0B-4447-4833-B419-E3A0E8212002}"/>
              </a:ext>
            </a:extLst>
          </p:cNvPr>
          <p:cNvSpPr/>
          <p:nvPr/>
        </p:nvSpPr>
        <p:spPr>
          <a:xfrm>
            <a:off x="5596569" y="3403600"/>
            <a:ext cx="3663272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ko-KR" sz="10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AI추천 유형 선택 정착 · STT 상담완료 판정은 고객사 배포 시 적용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60400" y="5130800"/>
            <a:ext cx="86614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고객 </a:t>
            </a:r>
            <a:r>
              <a:rPr lang="ko-KR" sz="1200" b="1" dirty="0" err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Needs</a:t>
            </a:r>
            <a:r>
              <a:rPr lang="ko-KR" sz="12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 파악 · 개선   </a:t>
            </a:r>
            <a:r>
              <a:rPr lang="ko-KR" sz="10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고객의 소리를 듣고, 고객사와 함께 고쳐 나갑니다</a:t>
            </a:r>
          </a:p>
        </p:txBody>
      </p:sp>
      <p:sp>
        <p:nvSpPr>
          <p:cNvPr id="56" name="Pentagon 55"/>
          <p:cNvSpPr/>
          <p:nvPr/>
        </p:nvSpPr>
        <p:spPr>
          <a:xfrm>
            <a:off x="660400" y="5410200"/>
            <a:ext cx="1803400" cy="812800"/>
          </a:xfrm>
          <a:prstGeom prst="homePlate">
            <a:avLst/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</a:pPr>
            <a:r>
              <a:rPr lang="ko-KR" sz="11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수집</a:t>
            </a:r>
          </a:p>
          <a:p>
            <a:pPr algn="ctr">
              <a:lnSpc>
                <a:spcPct val="12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T-NPS 저점·VOC</a:t>
            </a:r>
          </a:p>
        </p:txBody>
      </p:sp>
      <p:sp>
        <p:nvSpPr>
          <p:cNvPr id="57" name="Chevron 56"/>
          <p:cNvSpPr/>
          <p:nvPr/>
        </p:nvSpPr>
        <p:spPr>
          <a:xfrm>
            <a:off x="2387600" y="5410200"/>
            <a:ext cx="1803400" cy="812800"/>
          </a:xfrm>
          <a:prstGeom prst="chevron">
            <a:avLst/>
          </a:prstGeom>
          <a:solidFill>
            <a:srgbClr val="F7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</a:pPr>
            <a:r>
              <a:rPr lang="ko-KR" sz="11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분석</a:t>
            </a:r>
          </a:p>
          <a:p>
            <a:pPr algn="ctr">
              <a:lnSpc>
                <a:spcPct val="12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유형·원인 분류</a:t>
            </a:r>
          </a:p>
        </p:txBody>
      </p:sp>
      <p:sp>
        <p:nvSpPr>
          <p:cNvPr id="58" name="Chevron 57"/>
          <p:cNvSpPr/>
          <p:nvPr/>
        </p:nvSpPr>
        <p:spPr>
          <a:xfrm>
            <a:off x="4114800" y="5410200"/>
            <a:ext cx="1803400" cy="812800"/>
          </a:xfrm>
          <a:prstGeom prst="chevron">
            <a:avLst/>
          </a:prstGeom>
          <a:solidFill>
            <a:srgbClr val="F3B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</a:pPr>
            <a:r>
              <a:rPr lang="ko-KR" sz="11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보고</a:t>
            </a:r>
          </a:p>
          <a:p>
            <a:pPr algn="ctr">
              <a:lnSpc>
                <a:spcPct val="12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월간 고객의 소리</a:t>
            </a:r>
          </a:p>
        </p:txBody>
      </p:sp>
      <p:sp>
        <p:nvSpPr>
          <p:cNvPr id="59" name="Chevron 58"/>
          <p:cNvSpPr/>
          <p:nvPr/>
        </p:nvSpPr>
        <p:spPr>
          <a:xfrm>
            <a:off x="5842000" y="5410200"/>
            <a:ext cx="1803400" cy="812800"/>
          </a:xfrm>
          <a:prstGeom prst="chevron">
            <a:avLst/>
          </a:prstGeom>
          <a:solidFill>
            <a:srgbClr val="EC6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</a:pPr>
            <a:r>
              <a:rPr lang="ko-KR" sz="11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공동 개선</a:t>
            </a:r>
          </a:p>
          <a:p>
            <a:pPr algn="ctr">
              <a:lnSpc>
                <a:spcPct val="125000"/>
              </a:lnSpc>
            </a:pPr>
            <a:r>
              <a:rPr lang="ko-KR" sz="900" b="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개선안 함께 도출</a:t>
            </a:r>
          </a:p>
        </p:txBody>
      </p:sp>
      <p:sp>
        <p:nvSpPr>
          <p:cNvPr id="60" name="Chevron 59"/>
          <p:cNvSpPr/>
          <p:nvPr/>
        </p:nvSpPr>
        <p:spPr>
          <a:xfrm>
            <a:off x="7569200" y="5410200"/>
            <a:ext cx="1803400" cy="812800"/>
          </a:xfrm>
          <a:prstGeom prst="chevron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</a:pPr>
            <a:r>
              <a:rPr lang="ko-KR" sz="11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만족도 향상</a:t>
            </a:r>
          </a:p>
          <a:p>
            <a:pPr algn="ctr">
              <a:lnSpc>
                <a:spcPct val="125000"/>
              </a:lnSpc>
            </a:pPr>
            <a:r>
              <a:rPr lang="ko-KR" sz="900" b="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재발 점검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929606" y="381000"/>
            <a:ext cx="61912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3-1 ④ 상담 품질 관리 · 상시/한시 구분 관리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846138" y="660400"/>
            <a:ext cx="8461375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상시와 한시, </a:t>
            </a:r>
            <a:r>
              <a:rPr lang="ko-KR" sz="20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품질을 관리하는 방법</a:t>
            </a:r>
            <a:r>
              <a:rPr lang="ko-KR" sz="2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을 다르게 가져갑니다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138" y="1079500"/>
            <a:ext cx="84613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관리 방법은 인력 특성에 맞게 다르게 가져가되, 두 인력 모두 실습 중심 교육과 투입 후 보수교육으로 품질을 만듭니다.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40250" y="64770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fld id="{B6F15528-21DE-4FAA-801E-634DDDAF4B2B}" type="slidenum">
              <a:rPr lang="en-US" altLang="ko-KR" sz="600" b="1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33</a:t>
            </a:fld>
            <a:r>
              <a:rPr lang="en-US" altLang="ko-KR" sz="600" b="1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 / 49</a:t>
            </a:r>
            <a:endParaRPr lang="ko-KR" sz="600" b="1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60400" y="1357744"/>
            <a:ext cx="4274776" cy="4343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60400" y="1383144"/>
            <a:ext cx="4274776" cy="482600"/>
          </a:xfrm>
          <a:prstGeom prst="rect">
            <a:avLst/>
          </a:prstGeom>
          <a:solidFill>
            <a:srgbClr val="0F1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5100" tIns="101600" rIns="165100" bIns="101600" rtlCol="0" anchor="ctr"/>
          <a:lstStyle/>
          <a:p>
            <a:pPr algn="l">
              <a:lnSpc>
                <a:spcPct val="110000"/>
              </a:lnSpc>
            </a:pPr>
            <a:r>
              <a:rPr lang="ko-KR" sz="11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상시 (정규) 인력   </a:t>
            </a:r>
            <a:r>
              <a:rPr lang="ko-KR" sz="900" b="1">
                <a:solidFill>
                  <a:srgbClr val="B9C0CC"/>
                </a:solidFill>
                <a:latin typeface="페이퍼로지 8 ExtraBold"/>
                <a:ea typeface="페이퍼로지 8 ExtraBold"/>
                <a:cs typeface="페이퍼로지 8 ExtraBold"/>
              </a:rPr>
              <a:t>Deep 품질</a:t>
            </a:r>
          </a:p>
        </p:txBody>
      </p:sp>
      <p:sp>
        <p:nvSpPr>
          <p:cNvPr id="9" name="Rectangle 8"/>
          <p:cNvSpPr/>
          <p:nvPr/>
        </p:nvSpPr>
        <p:spPr>
          <a:xfrm>
            <a:off x="817995" y="1941944"/>
            <a:ext cx="3959586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6A7180"/>
                </a:solidFill>
                <a:latin typeface="페이퍼로지 8 ExtraBold"/>
                <a:ea typeface="페이퍼로지 8 ExtraBold"/>
                <a:cs typeface="페이퍼로지 8 ExtraBold"/>
              </a:rPr>
              <a:t>목표  </a:t>
            </a:r>
            <a:r>
              <a:rPr lang="ko-KR" sz="1100" b="1">
                <a:solidFill>
                  <a:srgbClr val="0F131F"/>
                </a:solidFill>
                <a:latin typeface="페이퍼로지 8 ExtraBold"/>
                <a:ea typeface="페이퍼로지 8 ExtraBold"/>
                <a:cs typeface="페이퍼로지 8 ExtraBold"/>
              </a:rPr>
              <a:t>제품 설명력 · 완결형 상담 극대화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8596" y="2348344"/>
            <a:ext cx="4038383" cy="50800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11" name="Picture 10" descr="e7be_0F131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793" y="2487647"/>
            <a:ext cx="216694" cy="21669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211984" y="2348344"/>
            <a:ext cx="1280463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제품군 심화 교육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92447" y="2348344"/>
            <a:ext cx="2245735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냉장고·세탁기·에어컨 증상별 설명 가이드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8596" y="2932544"/>
            <a:ext cx="4038383" cy="50800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15" name="Picture 14" descr="e8bd_0F131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793" y="3071847"/>
            <a:ext cx="216694" cy="216694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1211984" y="2932544"/>
            <a:ext cx="1280463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설명처리 수칙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92447" y="2932544"/>
            <a:ext cx="2245735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자가 설명 먼저 시도 → 미해결 시에만 이관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8596" y="3516744"/>
            <a:ext cx="4038383" cy="50800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19" name="Picture 18" descr="e9d9_0F131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793" y="3656047"/>
            <a:ext cx="216694" cy="216694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1211984" y="3516744"/>
            <a:ext cx="1280463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1인 1개선과제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92447" y="3516744"/>
            <a:ext cx="2245735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저점 녹취로 약점 1개 선정 → 주 단위 코칭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8596" y="4100944"/>
            <a:ext cx="4038383" cy="50800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23" name="Picture 22" descr="e81d_0F131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793" y="4240247"/>
            <a:ext cx="216694" cy="216694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1211984" y="4100944"/>
            <a:ext cx="1280463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개인별 완결 목표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92447" y="4100944"/>
            <a:ext cx="2245735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근속·역량에 맞춘 완결상담 목표 설정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7995" y="4710544"/>
            <a:ext cx="3959586" cy="279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6A7180"/>
                </a:solidFill>
                <a:latin typeface="페이퍼로지 8 ExtraBold"/>
                <a:ea typeface="페이퍼로지 8 ExtraBold"/>
                <a:cs typeface="페이퍼로지 8 ExtraBold"/>
              </a:rPr>
              <a:t>관리 주기  </a:t>
            </a: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월 단위 개인 코칭 · 분기 역량 평가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17995" y="5040744"/>
            <a:ext cx="3959586" cy="0"/>
          </a:xfrm>
          <a:prstGeom prst="line">
            <a:avLst/>
          </a:prstGeom>
          <a:ln w="12700">
            <a:solidFill>
              <a:srgbClr val="E3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817995" y="5116944"/>
            <a:ext cx="1083469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ko-KR" sz="900" b="1">
                <a:solidFill>
                  <a:srgbClr val="6A7180"/>
                </a:solidFill>
                <a:latin typeface="페이퍼로지 8 ExtraBold"/>
                <a:ea typeface="페이퍼로지 8 ExtraBold"/>
                <a:cs typeface="페이퍼로지 8 ExtraBold"/>
              </a:rPr>
              <a:t>관리 지표</a:t>
            </a:r>
          </a:p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9AA0AA"/>
                </a:solidFill>
                <a:latin typeface="페이퍼로지 5 Medium"/>
                <a:ea typeface="페이퍼로지 5 Medium"/>
                <a:cs typeface="페이퍼로지 5 Medium"/>
              </a:rPr>
              <a:t>2026 상시 누적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40863" y="5142344"/>
            <a:ext cx="13789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T-NPS</a:t>
            </a:r>
          </a:p>
          <a:p>
            <a:pPr algn="l">
              <a:lnSpc>
                <a:spcPct val="110000"/>
              </a:lnSpc>
            </a:pPr>
            <a:r>
              <a:rPr lang="ko-KR" sz="1100" b="1">
                <a:solidFill>
                  <a:srgbClr val="0F131F"/>
                </a:solidFill>
                <a:latin typeface="페이퍼로지 8 ExtraBold"/>
                <a:ea typeface="페이퍼로지 8 ExtraBold"/>
                <a:cs typeface="페이퍼로지 8 ExtraBold"/>
              </a:rPr>
              <a:t>92.9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98621" y="5142344"/>
            <a:ext cx="13789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완결상담률</a:t>
            </a:r>
          </a:p>
          <a:p>
            <a:pPr algn="l">
              <a:lnSpc>
                <a:spcPct val="110000"/>
              </a:lnSpc>
            </a:pPr>
            <a:r>
              <a:rPr lang="ko-KR" sz="1100" b="1">
                <a:solidFill>
                  <a:srgbClr val="0F131F"/>
                </a:solidFill>
                <a:latin typeface="페이퍼로지 8 ExtraBold"/>
                <a:ea typeface="페이퍼로지 8 ExtraBold"/>
                <a:cs typeface="페이퍼로지 8 ExtraBold"/>
              </a:rPr>
              <a:t>73.1%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53373" y="1357744"/>
            <a:ext cx="4274776" cy="4343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053373" y="1383144"/>
            <a:ext cx="4274776" cy="482600"/>
          </a:xfrm>
          <a:prstGeom prst="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5100" tIns="101600" rIns="165100" bIns="101600" rtlCol="0" anchor="ctr"/>
          <a:lstStyle/>
          <a:p>
            <a:pPr algn="l">
              <a:lnSpc>
                <a:spcPct val="110000"/>
              </a:lnSpc>
            </a:pPr>
            <a:r>
              <a:rPr lang="ko-KR" sz="11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한시 (단기) 인력   </a:t>
            </a:r>
            <a:r>
              <a:rPr lang="ko-KR" sz="900" b="1">
                <a:solidFill>
                  <a:srgbClr val="FFD6E3"/>
                </a:solidFill>
                <a:latin typeface="페이퍼로지 8 ExtraBold"/>
                <a:ea typeface="페이퍼로지 8 ExtraBold"/>
                <a:cs typeface="페이퍼로지 8 ExtraBold"/>
              </a:rPr>
              <a:t>Fast-Track 품질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10969" y="1941944"/>
            <a:ext cx="3959586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6A7180"/>
                </a:solidFill>
                <a:latin typeface="페이퍼로지 8 ExtraBold"/>
                <a:ea typeface="페이퍼로지 8 ExtraBold"/>
                <a:cs typeface="페이퍼로지 8 ExtraBold"/>
              </a:rPr>
              <a:t>목표  </a:t>
            </a:r>
            <a:r>
              <a:rPr lang="ko-KR" sz="11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CS 기본 응대 · 빠르고 정확한 AS 접수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71570" y="2348344"/>
            <a:ext cx="4038383" cy="50800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35" name="Picture 34" descr="e77b_E30C6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89766" y="2487647"/>
            <a:ext cx="216694" cy="216694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5604957" y="2348344"/>
            <a:ext cx="1280463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CS 응대 강화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85420" y="2348344"/>
            <a:ext cx="2245735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공감·마무리 스크립트로 기본 응대 통일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171570" y="2932544"/>
            <a:ext cx="4038383" cy="50800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39" name="Picture 38" descr="e8a5_E30C6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89766" y="3071847"/>
            <a:ext cx="216694" cy="216694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5604957" y="2932544"/>
            <a:ext cx="1280463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AS 접수 실전 노하우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85420" y="2932544"/>
            <a:ext cx="2245735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접수/미완료 구분 · 접수 정확도 체크리스트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171570" y="3516744"/>
            <a:ext cx="4038383" cy="50800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43" name="Picture 42" descr="e721_E30C6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89766" y="3656047"/>
            <a:ext cx="216694" cy="216694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5604957" y="3516744"/>
            <a:ext cx="1280463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다빈도 문의 집중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85420" y="3516744"/>
            <a:ext cx="2245735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Q봇으로 다빈도 문의 확인하는 법 집중 교육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171570" y="4100944"/>
            <a:ext cx="4038383" cy="50800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47" name="Picture 46" descr="e787_E30C6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89766" y="4240247"/>
            <a:ext cx="216694" cy="216694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5604957" y="4100944"/>
            <a:ext cx="1280463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주차별 QA 점검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885420" y="4100944"/>
            <a:ext cx="2245735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투입 후 1~4주차 매주 점검 · 일일 Wrap-up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210969" y="4710544"/>
            <a:ext cx="3959586" cy="279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 dirty="0">
                <a:solidFill>
                  <a:srgbClr val="6A7180"/>
                </a:solidFill>
                <a:latin typeface="페이퍼로지 8 ExtraBold"/>
                <a:ea typeface="페이퍼로지 8 ExtraBold"/>
                <a:cs typeface="페이퍼로지 8 ExtraBold"/>
              </a:rPr>
              <a:t>관리 주기  </a:t>
            </a:r>
            <a:r>
              <a:rPr lang="ko-KR" sz="900" b="1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일 단위 </a:t>
            </a:r>
            <a:r>
              <a:rPr lang="ko-KR" sz="900" b="1" dirty="0" err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Wrap-up</a:t>
            </a:r>
            <a:r>
              <a:rPr lang="ko-KR" sz="900" b="1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 · 주 단위 QA 점검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5210969" y="5040744"/>
            <a:ext cx="3959586" cy="0"/>
          </a:xfrm>
          <a:prstGeom prst="line">
            <a:avLst/>
          </a:prstGeom>
          <a:ln w="12700">
            <a:solidFill>
              <a:srgbClr val="E3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5210969" y="5116944"/>
            <a:ext cx="1083469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ko-KR" sz="900" b="1">
                <a:solidFill>
                  <a:srgbClr val="6A7180"/>
                </a:solidFill>
                <a:latin typeface="페이퍼로지 8 ExtraBold"/>
                <a:ea typeface="페이퍼로지 8 ExtraBold"/>
                <a:cs typeface="페이퍼로지 8 ExtraBold"/>
              </a:rPr>
              <a:t>관리 지표</a:t>
            </a:r>
          </a:p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9AA0AA"/>
                </a:solidFill>
                <a:latin typeface="페이퍼로지 5 Medium"/>
                <a:ea typeface="페이퍼로지 5 Medium"/>
                <a:cs typeface="페이퍼로지 5 Medium"/>
              </a:rPr>
              <a:t>2025 → 2026 성수기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33836" y="5142344"/>
            <a:ext cx="13789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T-NPS</a:t>
            </a:r>
          </a:p>
          <a:p>
            <a:pPr algn="l">
              <a:lnSpc>
                <a:spcPct val="110000"/>
              </a:lnSpc>
            </a:pPr>
            <a:r>
              <a:rPr lang="ko-KR" sz="11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82.0 → 89.3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791594" y="5142344"/>
            <a:ext cx="13789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완결상담률</a:t>
            </a:r>
          </a:p>
          <a:p>
            <a:pPr algn="l">
              <a:lnSpc>
                <a:spcPct val="110000"/>
              </a:lnSpc>
            </a:pPr>
            <a:r>
              <a:rPr lang="ko-KR" sz="11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74.1 → 83.0%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60400" y="5765800"/>
            <a:ext cx="8667750" cy="508000"/>
          </a:xfrm>
          <a:prstGeom prst="roundRect">
            <a:avLst>
              <a:gd name="adj" fmla="val 30000"/>
            </a:avLst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798296" y="5765800"/>
            <a:ext cx="1477457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500" b="1" dirty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 공통 핵심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334851" y="5842000"/>
            <a:ext cx="3250406" cy="3556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3188" tIns="63500" rIns="103188" bIns="6350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01  </a:t>
            </a: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실습 중심 교육</a:t>
            </a: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   콜 청취 · 롤플레잉 · Q봇 실습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683754" y="5842000"/>
            <a:ext cx="3250406" cy="3556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3188" tIns="63500" rIns="103188" bIns="6350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02  </a:t>
            </a: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투입 후 주기적 보수교육</a:t>
            </a: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   일·주 단위 점검 · 성수기 집중 보수</a:t>
            </a:r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929606" y="381000"/>
            <a:ext cx="61912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3-1 ⑤ 교육 훈련 · 상담사 역량 향상</a:t>
            </a:r>
          </a:p>
        </p:txBody>
      </p:sp>
      <p:sp>
        <p:nvSpPr>
          <p:cNvPr id="4" name="Rectangle 3"/>
          <p:cNvSpPr/>
          <p:nvPr/>
        </p:nvSpPr>
        <p:spPr>
          <a:xfrm>
            <a:off x="846138" y="660400"/>
            <a:ext cx="8461375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altLang="en-US" sz="20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실습 중심의 교육</a:t>
            </a:r>
            <a:r>
              <a:rPr lang="ko-KR" altLang="en-US" sz="2000" b="1" dirty="0">
                <a:solidFill>
                  <a:srgbClr val="10151F"/>
                </a:solidFill>
                <a:latin typeface="페이퍼로지 8 ExtraBold"/>
                <a:ea typeface="페이퍼로지 8 ExtraBold"/>
              </a:rPr>
              <a:t>으로 시작하고 </a:t>
            </a:r>
            <a:r>
              <a:rPr lang="ko-KR" altLang="en-US" sz="20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보수교육</a:t>
            </a:r>
            <a:r>
              <a:rPr lang="ko-KR" altLang="en-US" sz="2000" b="1" dirty="0">
                <a:solidFill>
                  <a:srgbClr val="10151F"/>
                </a:solidFill>
                <a:latin typeface="페이퍼로지 8 ExtraBold"/>
                <a:ea typeface="페이퍼로지 8 ExtraBold"/>
              </a:rPr>
              <a:t>으로 이어갑니다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138" y="1079500"/>
            <a:ext cx="84613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상시·한시 모두 실습 중심으로 입문 교육을 받고, 현장에 투입된 뒤에도 주기적인 보수교육을 이어 갑니다.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40250" y="64770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fld id="{B6F15528-21DE-4FAA-801E-634DDDAF4B2B}" type="slidenum">
              <a:rPr lang="en-US" altLang="ko-KR" sz="600" b="1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34</a:t>
            </a:fld>
            <a:r>
              <a:rPr lang="en-US" altLang="ko-KR" sz="600" b="1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 / 49</a:t>
            </a:r>
            <a:endParaRPr lang="ko-KR" sz="600" b="1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7" name="Pentagon 6"/>
          <p:cNvSpPr/>
          <p:nvPr/>
        </p:nvSpPr>
        <p:spPr>
          <a:xfrm>
            <a:off x="660400" y="1413161"/>
            <a:ext cx="1674451" cy="330200"/>
          </a:xfrm>
          <a:prstGeom prst="homePlate">
            <a:avLst>
              <a:gd name="adj" fmla="val 40625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3825" tIns="76200" rIns="123825" bIns="76200" rtlCol="0" anchor="ctr"/>
          <a:lstStyle/>
          <a:p>
            <a:pPr algn="l">
              <a:lnSpc>
                <a:spcPct val="110000"/>
              </a:lnSpc>
            </a:pPr>
            <a:r>
              <a:rPr lang="ko-KR" sz="1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입과 전</a:t>
            </a:r>
          </a:p>
        </p:txBody>
      </p:sp>
      <p:sp>
        <p:nvSpPr>
          <p:cNvPr id="8" name="Rectangle 7"/>
          <p:cNvSpPr/>
          <p:nvPr/>
        </p:nvSpPr>
        <p:spPr>
          <a:xfrm>
            <a:off x="660400" y="1768761"/>
            <a:ext cx="1635052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275" tIns="25400" rIns="41275" bIns="25400" rtlCol="0" anchor="t"/>
          <a:lstStyle/>
          <a:p>
            <a:pPr algn="l">
              <a:lnSpc>
                <a:spcPct val="125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사전 CS 교육 · 스크립트 평가</a:t>
            </a:r>
          </a:p>
        </p:txBody>
      </p:sp>
      <p:sp>
        <p:nvSpPr>
          <p:cNvPr id="9" name="Pentagon 8"/>
          <p:cNvSpPr/>
          <p:nvPr/>
        </p:nvSpPr>
        <p:spPr>
          <a:xfrm>
            <a:off x="2413649" y="1413161"/>
            <a:ext cx="1674451" cy="330200"/>
          </a:xfrm>
          <a:prstGeom prst="homePlate">
            <a:avLst>
              <a:gd name="adj" fmla="val 40625"/>
            </a:avLst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3825" tIns="76200" rIns="123825" bIns="76200" rtlCol="0" anchor="ctr"/>
          <a:lstStyle/>
          <a:p>
            <a:pPr algn="l">
              <a:lnSpc>
                <a:spcPct val="110000"/>
              </a:lnSpc>
            </a:pPr>
            <a:r>
              <a:rPr lang="ko-KR" sz="10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입문 3주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13649" y="1768761"/>
            <a:ext cx="1635052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275" tIns="25400" rIns="41275" bIns="25400" rtlCol="0" anchor="t"/>
          <a:lstStyle/>
          <a:p>
            <a:pPr algn="l">
              <a:lnSpc>
                <a:spcPct val="125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120시간 · 소규모 4차수</a:t>
            </a:r>
          </a:p>
        </p:txBody>
      </p:sp>
      <p:sp>
        <p:nvSpPr>
          <p:cNvPr id="11" name="Pentagon 10"/>
          <p:cNvSpPr/>
          <p:nvPr/>
        </p:nvSpPr>
        <p:spPr>
          <a:xfrm>
            <a:off x="4166898" y="1413161"/>
            <a:ext cx="1674451" cy="330200"/>
          </a:xfrm>
          <a:prstGeom prst="homePlate">
            <a:avLst>
              <a:gd name="adj" fmla="val 40625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3825" tIns="76200" rIns="123825" bIns="76200" rtlCol="0" anchor="ctr"/>
          <a:lstStyle/>
          <a:p>
            <a:pPr algn="l">
              <a:lnSpc>
                <a:spcPct val="110000"/>
              </a:lnSpc>
            </a:pPr>
            <a:r>
              <a:rPr lang="ko-KR" sz="1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투입 직후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6898" y="1768761"/>
            <a:ext cx="1635052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275" tIns="25400" rIns="41275" bIns="25400" rtlCol="0" anchor="t"/>
          <a:lstStyle/>
          <a:p>
            <a:pPr algn="l">
              <a:lnSpc>
                <a:spcPct val="125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인큐베이팅 1주차 Q&amp;A (5h)</a:t>
            </a:r>
          </a:p>
        </p:txBody>
      </p:sp>
      <p:sp>
        <p:nvSpPr>
          <p:cNvPr id="13" name="Pentagon 12"/>
          <p:cNvSpPr/>
          <p:nvPr/>
        </p:nvSpPr>
        <p:spPr>
          <a:xfrm>
            <a:off x="5920148" y="1413161"/>
            <a:ext cx="1674451" cy="330200"/>
          </a:xfrm>
          <a:prstGeom prst="homePlate">
            <a:avLst>
              <a:gd name="adj" fmla="val 40625"/>
            </a:avLst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3825" tIns="76200" rIns="123825" bIns="76200" rtlCol="0" anchor="ctr"/>
          <a:lstStyle/>
          <a:p>
            <a:pPr algn="l">
              <a:lnSpc>
                <a:spcPct val="110000"/>
              </a:lnSpc>
            </a:pPr>
            <a:r>
              <a:rPr lang="ko-KR" sz="10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투입 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20148" y="1768761"/>
            <a:ext cx="1635052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275" tIns="25400" rIns="41275" bIns="25400" rtlCol="0" anchor="t"/>
          <a:lstStyle/>
          <a:p>
            <a:pPr algn="l">
              <a:lnSpc>
                <a:spcPct val="125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성수기 보수교육 22회 · 66.5h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73397" y="1413161"/>
            <a:ext cx="1674451" cy="33020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3825" tIns="76200" rIns="123825" bIns="76200" rtlCol="0" anchor="ctr"/>
          <a:lstStyle/>
          <a:p>
            <a:pPr algn="l">
              <a:lnSpc>
                <a:spcPct val="110000"/>
              </a:lnSpc>
            </a:pPr>
            <a:r>
              <a:rPr lang="ko-KR" sz="1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종료 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73397" y="1768761"/>
            <a:ext cx="1635052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275" tIns="25400" rIns="41275" bIns="25400" rtlCol="0" anchor="t"/>
          <a:lstStyle/>
          <a:p>
            <a:pPr algn="l">
              <a:lnSpc>
                <a:spcPct val="125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상시 전환 대상 전환교육 29h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0400" y="2184400"/>
            <a:ext cx="4255077" cy="4038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7995" y="2286000"/>
            <a:ext cx="2560926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신입 입문 교육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21326" y="2235200"/>
            <a:ext cx="1575954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ko-KR" sz="18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120</a:t>
            </a: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시간 · 3주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778596" y="2692400"/>
          <a:ext cx="4038383" cy="30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Rectangle 20"/>
          <p:cNvSpPr/>
          <p:nvPr/>
        </p:nvSpPr>
        <p:spPr>
          <a:xfrm>
            <a:off x="817995" y="5816600"/>
            <a:ext cx="3979285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■ 실전 응대 + 콜 청취 33시간</a:t>
            </a: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  · 전 과정 Q봇 활용 실습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73072" y="2184400"/>
            <a:ext cx="4255077" cy="4038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230668" y="2286000"/>
            <a:ext cx="2560926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투입 후 보수교육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58206" y="2235200"/>
            <a:ext cx="1871446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ko-KR" sz="18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22</a:t>
            </a: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회 · 66.5시간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5151870" y="2717800"/>
          <a:ext cx="1674451" cy="299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6" name="Rectangle 25"/>
          <p:cNvSpPr/>
          <p:nvPr/>
        </p:nvSpPr>
        <p:spPr>
          <a:xfrm>
            <a:off x="5230668" y="5740400"/>
            <a:ext cx="1536555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8월 중 29h는 상시 전환 교육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85420" y="2743200"/>
            <a:ext cx="2324532" cy="73660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003617" y="2844800"/>
            <a:ext cx="2166938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다빈도 · Q봇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03617" y="3098800"/>
            <a:ext cx="2166938" cy="279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냉장고·세탁기·에어컨 다빈도, Q봇 실습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85420" y="3581400"/>
            <a:ext cx="2324532" cy="73660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003617" y="3683000"/>
            <a:ext cx="2166938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설명처리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03617" y="3937000"/>
            <a:ext cx="2166938" cy="279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에어컨 접수/미완료 구분, 설명처리율 향상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85420" y="4419600"/>
            <a:ext cx="2324532" cy="73660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003617" y="4521200"/>
            <a:ext cx="2166938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성수기 방어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03617" y="4775200"/>
            <a:ext cx="2166938" cy="279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"이것만은 방어하자" — 에어컨 집중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85420" y="5257800"/>
            <a:ext cx="2324532" cy="73660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003617" y="5359400"/>
            <a:ext cx="2166938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상시 전환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03617" y="5613400"/>
            <a:ext cx="2166938" cy="279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증상별 상담 가이드 · 주말 응대 스크립트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929606" y="381000"/>
            <a:ext cx="61912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3-1 ⑤ 교육 훈련 · 관리자 교육</a:t>
            </a:r>
          </a:p>
        </p:txBody>
      </p:sp>
      <p:sp>
        <p:nvSpPr>
          <p:cNvPr id="4" name="Rectangle 3"/>
          <p:cNvSpPr/>
          <p:nvPr/>
        </p:nvSpPr>
        <p:spPr>
          <a:xfrm>
            <a:off x="846138" y="660400"/>
            <a:ext cx="8461375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0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관리자는 </a:t>
            </a:r>
            <a:r>
              <a:rPr lang="ko-KR" sz="20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본사 주관 관리자 교육과정</a:t>
            </a:r>
            <a:r>
              <a:rPr lang="ko-KR" sz="20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을 이수합니다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138" y="1079500"/>
            <a:ext cx="84613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관리자 교육은 물론, 사이버대학이나 평생교육원 같은 자기계발까지 꾸준히 지원하겠습니다.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0400" y="1397000"/>
            <a:ext cx="8667750" cy="21844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98296" y="1498600"/>
            <a:ext cx="1969943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관리자 능력 향상 교육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5891" y="1828800"/>
            <a:ext cx="1674451" cy="2794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E30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관리자 공통과정</a:t>
            </a:r>
          </a:p>
        </p:txBody>
      </p:sp>
      <p:sp>
        <p:nvSpPr>
          <p:cNvPr id="9" name="Rectangle 8"/>
          <p:cNvSpPr/>
          <p:nvPr/>
        </p:nvSpPr>
        <p:spPr>
          <a:xfrm>
            <a:off x="837695" y="2235200"/>
            <a:ext cx="433388" cy="228600"/>
          </a:xfrm>
          <a:prstGeom prst="rect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내 용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30180" y="2184400"/>
            <a:ext cx="1477457" cy="635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조직문화 이해</a:t>
            </a:r>
          </a:p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관리자 입문교육</a:t>
            </a:r>
          </a:p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리더십 육성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7695" y="2946400"/>
            <a:ext cx="433388" cy="228600"/>
          </a:xfrm>
          <a:prstGeom prst="rect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주 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30180" y="2946400"/>
            <a:ext cx="1477457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연 2회 시행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45534" y="1498600"/>
            <a:ext cx="1477457" cy="279400"/>
          </a:xfrm>
          <a:prstGeom prst="roundRect">
            <a:avLst>
              <a:gd name="adj" fmla="val 20000"/>
            </a:avLst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QA / 강사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04632" y="1854200"/>
            <a:ext cx="1438058" cy="5619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ko-KR" sz="900" b="0" dirty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■  </a:t>
            </a:r>
            <a:r>
              <a:rPr lang="ko-KR" sz="900" b="0" dirty="0">
                <a:solidFill>
                  <a:schemeClr val="tx1"/>
                </a:solidFill>
                <a:latin typeface="페이퍼로지 5 Medium"/>
                <a:ea typeface="페이퍼로지 5 Medium"/>
                <a:cs typeface="페이퍼로지 5 Medium"/>
              </a:rPr>
              <a:t>QAA 역할 및 이해</a:t>
            </a:r>
          </a:p>
          <a:p>
            <a:pPr algn="l">
              <a:lnSpc>
                <a:spcPct val="200000"/>
              </a:lnSpc>
            </a:pPr>
            <a:r>
              <a:rPr lang="ko-KR" sz="900" b="0" dirty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■  </a:t>
            </a:r>
            <a:r>
              <a:rPr lang="ko-KR" sz="900" b="0" dirty="0">
                <a:solidFill>
                  <a:schemeClr val="tx1"/>
                </a:solidFill>
                <a:latin typeface="페이퍼로지 5 Medium"/>
                <a:ea typeface="페이퍼로지 5 Medium"/>
                <a:cs typeface="페이퍼로지 5 Medium"/>
              </a:rPr>
              <a:t>QA 평가 기준 및 </a:t>
            </a:r>
            <a:r>
              <a:rPr lang="ko-KR" sz="900" b="0" dirty="0" err="1">
                <a:solidFill>
                  <a:schemeClr val="tx1"/>
                </a:solidFill>
                <a:latin typeface="페이퍼로지 5 Medium"/>
                <a:ea typeface="페이퍼로지 5 Medium"/>
                <a:cs typeface="페이퍼로지 5 Medium"/>
              </a:rPr>
              <a:t>귀맞춤</a:t>
            </a:r>
            <a:endParaRPr lang="ko-KR" sz="900" b="0" dirty="0">
              <a:solidFill>
                <a:schemeClr val="tx1"/>
              </a:solidFill>
              <a:latin typeface="페이퍼로지 5 Medium"/>
              <a:ea typeface="페이퍼로지 5 Medium"/>
              <a:cs typeface="페이퍼로지 5 Medium"/>
            </a:endParaRPr>
          </a:p>
          <a:p>
            <a:pPr algn="l">
              <a:lnSpc>
                <a:spcPct val="200000"/>
              </a:lnSpc>
            </a:pPr>
            <a:r>
              <a:rPr lang="ko-KR" sz="900" b="0" dirty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■  </a:t>
            </a:r>
            <a:r>
              <a:rPr lang="ko-KR" sz="900" b="0" dirty="0">
                <a:solidFill>
                  <a:schemeClr val="tx1"/>
                </a:solidFill>
                <a:latin typeface="페이퍼로지 5 Medium"/>
                <a:ea typeface="페이퍼로지 5 Medium"/>
                <a:cs typeface="페이퍼로지 5 Medium"/>
              </a:rPr>
              <a:t>코칭 기법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1489" y="1498600"/>
            <a:ext cx="1477457" cy="279400"/>
          </a:xfrm>
          <a:prstGeom prst="roundRect">
            <a:avLst>
              <a:gd name="adj" fmla="val 20000"/>
            </a:avLst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파트장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80587" y="1854200"/>
            <a:ext cx="1438058" cy="5619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ko-KR" sz="900" b="0" dirty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■  </a:t>
            </a:r>
            <a:r>
              <a:rPr lang="ko-KR" sz="900" b="0" dirty="0">
                <a:solidFill>
                  <a:schemeClr val="tx1"/>
                </a:solidFill>
                <a:latin typeface="페이퍼로지 5 Medium"/>
                <a:ea typeface="페이퍼로지 5 Medium"/>
                <a:cs typeface="페이퍼로지 5 Medium"/>
              </a:rPr>
              <a:t>통계 분석 기법</a:t>
            </a:r>
          </a:p>
          <a:p>
            <a:pPr algn="l">
              <a:lnSpc>
                <a:spcPct val="200000"/>
              </a:lnSpc>
            </a:pPr>
            <a:r>
              <a:rPr lang="ko-KR" sz="900" b="0" dirty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■  </a:t>
            </a:r>
            <a:r>
              <a:rPr lang="ko-KR" sz="900" b="0" dirty="0">
                <a:solidFill>
                  <a:schemeClr val="tx1"/>
                </a:solidFill>
                <a:latin typeface="페이퍼로지 5 Medium"/>
                <a:ea typeface="페이퍼로지 5 Medium"/>
                <a:cs typeface="페이퍼로지 5 Medium"/>
              </a:rPr>
              <a:t>조직관리 및 코칭의 이해</a:t>
            </a:r>
          </a:p>
          <a:p>
            <a:pPr algn="l">
              <a:lnSpc>
                <a:spcPct val="200000"/>
              </a:lnSpc>
            </a:pPr>
            <a:r>
              <a:rPr lang="ko-KR" sz="900" b="0" dirty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■  </a:t>
            </a:r>
            <a:r>
              <a:rPr lang="ko-KR" sz="900" b="0" dirty="0">
                <a:solidFill>
                  <a:schemeClr val="tx1"/>
                </a:solidFill>
                <a:latin typeface="페이퍼로지 5 Medium"/>
                <a:ea typeface="페이퍼로지 5 Medium"/>
                <a:cs typeface="페이퍼로지 5 Medium"/>
              </a:rPr>
              <a:t>고객만족 상담 기법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7443" y="1498600"/>
            <a:ext cx="1477457" cy="279400"/>
          </a:xfrm>
          <a:prstGeom prst="roundRect">
            <a:avLst>
              <a:gd name="adj" fmla="val 20000"/>
            </a:avLst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매니저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73397" y="1498600"/>
            <a:ext cx="1477457" cy="279400"/>
          </a:xfrm>
          <a:prstGeom prst="roundRect">
            <a:avLst>
              <a:gd name="adj" fmla="val 20000"/>
            </a:avLst>
          </a:prstGeom>
          <a:solidFill>
            <a:srgbClr val="0F1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총괄매니저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45534" y="2946400"/>
            <a:ext cx="6205321" cy="4826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E30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2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관리자 필수 교육이수 시간 철저 관리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0400" y="3733800"/>
            <a:ext cx="2836718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60400" y="3733800"/>
            <a:ext cx="2836718" cy="304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FF6B9A"/>
                </a:solidFill>
                <a:latin typeface="페이퍼로지 8 ExtraBold"/>
                <a:ea typeface="페이퍼로지 8 ExtraBold"/>
                <a:cs typeface="페이퍼로지 8 ExtraBold"/>
              </a:rPr>
              <a:t>1   </a:t>
            </a:r>
            <a:r>
              <a:rPr lang="ko-KR" sz="9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전 직원 공통 CS Mind 교육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75916" y="3733800"/>
            <a:ext cx="2836718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575916" y="3733800"/>
            <a:ext cx="2836718" cy="304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FF6B9A"/>
                </a:solidFill>
                <a:latin typeface="페이퍼로지 8 ExtraBold"/>
                <a:ea typeface="페이퍼로지 8 ExtraBold"/>
                <a:cs typeface="페이퍼로지 8 ExtraBold"/>
              </a:rPr>
              <a:t>2   </a:t>
            </a:r>
            <a:r>
              <a:rPr lang="ko-KR" sz="9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자기계발 교육 지원 (온·오프라인)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1431" y="3733800"/>
            <a:ext cx="2836718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91431" y="3733800"/>
            <a:ext cx="2836718" cy="304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FF6B9A"/>
                </a:solidFill>
                <a:latin typeface="페이퍼로지 8 ExtraBold"/>
                <a:ea typeface="페이퍼로지 8 ExtraBold"/>
                <a:cs typeface="페이퍼로지 8 ExtraBold"/>
              </a:rPr>
              <a:t>3   </a:t>
            </a:r>
            <a:r>
              <a:rPr lang="ko-KR" sz="9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교육 이력 관리제 운영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8596" y="4158672"/>
            <a:ext cx="433388" cy="228600"/>
          </a:xfrm>
          <a:prstGeom prst="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내 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90781" y="4133272"/>
            <a:ext cx="2107839" cy="68071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lang="ko-KR" sz="9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■  </a:t>
            </a: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고객만족 상담 스킬</a:t>
            </a:r>
          </a:p>
          <a:p>
            <a:pPr algn="l">
              <a:lnSpc>
                <a:spcPct val="100000"/>
              </a:lnSpc>
            </a:pPr>
            <a:r>
              <a:rPr lang="ko-KR" sz="9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■  </a:t>
            </a: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전화 예절 및 서비스 마인드</a:t>
            </a:r>
          </a:p>
          <a:p>
            <a:pPr algn="l">
              <a:lnSpc>
                <a:spcPct val="100000"/>
              </a:lnSpc>
            </a:pPr>
            <a:r>
              <a:rPr lang="ko-KR" sz="9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■  </a:t>
            </a: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민원 응대 스킬</a:t>
            </a:r>
          </a:p>
          <a:p>
            <a:pPr algn="l">
              <a:lnSpc>
                <a:spcPct val="100000"/>
              </a:lnSpc>
            </a:pPr>
            <a:r>
              <a:rPr lang="ko-KR" sz="9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■  </a:t>
            </a: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회복탄력성 교육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8596" y="5080000"/>
            <a:ext cx="433388" cy="228600"/>
          </a:xfrm>
          <a:prstGeom prst="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주 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290781" y="5054600"/>
            <a:ext cx="354590" cy="228600"/>
          </a:xfrm>
          <a:prstGeom prst="roundRect">
            <a:avLst>
              <a:gd name="adj" fmla="val 30000"/>
            </a:avLst>
          </a:prstGeom>
          <a:solidFill>
            <a:srgbClr val="0F1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상시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04470" y="5054600"/>
            <a:ext cx="1772948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Spot 진행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290781" y="5334000"/>
            <a:ext cx="354590" cy="228600"/>
          </a:xfrm>
          <a:prstGeom prst="roundRect">
            <a:avLst>
              <a:gd name="adj" fmla="val 30000"/>
            </a:avLst>
          </a:prstGeom>
          <a:solidFill>
            <a:srgbClr val="0F1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매월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04470" y="5334000"/>
            <a:ext cx="1772948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관리자 주관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90781" y="5613400"/>
            <a:ext cx="354590" cy="228600"/>
          </a:xfrm>
          <a:prstGeom prst="roundRect">
            <a:avLst>
              <a:gd name="adj" fmla="val 30000"/>
            </a:avLst>
          </a:prstGeom>
          <a:solidFill>
            <a:srgbClr val="0F1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반기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704470" y="5613400"/>
            <a:ext cx="1772948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제안사 자체 교육기관 전문강사 출강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8596" y="5918200"/>
            <a:ext cx="2659423" cy="254000"/>
          </a:xfrm>
          <a:prstGeom prst="rect">
            <a:avLst/>
          </a:prstGeom>
          <a:solidFill>
            <a:srgbClr val="F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1912" tIns="0" rIns="61912" bIns="0" rtlCol="0" anchor="ctr"/>
          <a:lstStyle/>
          <a:p>
            <a:pPr algn="ctr">
              <a:lnSpc>
                <a:spcPct val="10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2026 성수기 보수교육 22회 · 상시전환 교육 29h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713812" y="4140200"/>
            <a:ext cx="2560926" cy="2286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그룹 교육 포털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713812" y="4445000"/>
            <a:ext cx="2560926" cy="38925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ko-KR" sz="9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■  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이러닝 공통/직무/리더십 과정</a:t>
            </a:r>
          </a:p>
          <a:p>
            <a:pPr algn="l">
              <a:lnSpc>
                <a:spcPct val="145000"/>
              </a:lnSpc>
            </a:pPr>
            <a:r>
              <a:rPr lang="ko-KR" sz="9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■  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미니강좌 7,000개 콘텐츠 보유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13812" y="5054600"/>
            <a:ext cx="2560926" cy="2286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전자도서관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13812" y="5359400"/>
            <a:ext cx="2560926" cy="52959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lang="ko-KR" sz="9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■  </a:t>
            </a: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다방면의 지식 관련 북카페</a:t>
            </a:r>
          </a:p>
          <a:p>
            <a:pPr algn="l">
              <a:lnSpc>
                <a:spcPct val="100000"/>
              </a:lnSpc>
            </a:pPr>
            <a:r>
              <a:rPr lang="ko-KR" sz="9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■  </a:t>
            </a: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비대면 상담 관련 지식 플러스</a:t>
            </a:r>
          </a:p>
          <a:p>
            <a:pPr algn="l">
              <a:lnSpc>
                <a:spcPct val="100000"/>
              </a:lnSpc>
            </a:pPr>
            <a:r>
              <a:rPr lang="ko-KR" sz="9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■  </a:t>
            </a: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시간·장소 제약 없이 지식 학습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29327" y="4165600"/>
            <a:ext cx="2580625" cy="38925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ko-KR" sz="900" b="0" dirty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■  </a:t>
            </a:r>
            <a:r>
              <a:rPr lang="ko-KR" sz="900" b="0" dirty="0">
                <a:solidFill>
                  <a:schemeClr val="tx1"/>
                </a:solidFill>
                <a:latin typeface="페이퍼로지 5 Medium"/>
                <a:ea typeface="페이퍼로지 5 Medium"/>
                <a:cs typeface="페이퍼로지 5 Medium"/>
              </a:rPr>
              <a:t>외부기관 인증에 부합한 교육시간 준수 및</a:t>
            </a:r>
          </a:p>
          <a:p>
            <a:pPr algn="l">
              <a:lnSpc>
                <a:spcPct val="145000"/>
              </a:lnSpc>
            </a:pPr>
            <a:r>
              <a:rPr lang="ko-KR" sz="900" b="0" dirty="0">
                <a:solidFill>
                  <a:schemeClr val="tx1"/>
                </a:solidFill>
                <a:latin typeface="페이퍼로지 5 Medium"/>
                <a:ea typeface="페이퍼로지 5 Medium"/>
                <a:cs typeface="페이퍼로지 5 Medium"/>
              </a:rPr>
              <a:t>   자사 </a:t>
            </a:r>
            <a:r>
              <a:rPr lang="ko-KR" sz="900" b="0" dirty="0" err="1">
                <a:solidFill>
                  <a:schemeClr val="tx1"/>
                </a:solidFill>
                <a:latin typeface="페이퍼로지 5 Medium"/>
                <a:ea typeface="페이퍼로지 5 Medium"/>
                <a:cs typeface="페이퍼로지 5 Medium"/>
              </a:rPr>
              <a:t>Portal</a:t>
            </a:r>
            <a:r>
              <a:rPr lang="ko-KR" sz="900" b="0" dirty="0">
                <a:solidFill>
                  <a:schemeClr val="tx1"/>
                </a:solidFill>
                <a:latin typeface="페이퍼로지 5 Medium"/>
                <a:ea typeface="페이퍼로지 5 Medium"/>
                <a:cs typeface="페이퍼로지 5 Medium"/>
              </a:rPr>
              <a:t> 사이트를 통한 교육 이력 관리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629327" y="4673600"/>
            <a:ext cx="2560926" cy="0"/>
          </a:xfrm>
          <a:prstGeom prst="line">
            <a:avLst/>
          </a:prstGeom>
          <a:ln w="12700">
            <a:solidFill>
              <a:srgbClr val="D7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6629327" y="5422581"/>
            <a:ext cx="2560926" cy="673419"/>
          </a:xfrm>
          <a:prstGeom prst="rect">
            <a:avLst/>
          </a:prstGeom>
          <a:solidFill>
            <a:srgbClr val="F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1912" tIns="0" rIns="61912" bIns="0" rtlCol="0" anchor="ctr"/>
          <a:lstStyle/>
          <a:p>
            <a:pPr algn="l">
              <a:lnSpc>
                <a:spcPct val="100000"/>
              </a:lnSpc>
            </a:pPr>
            <a:r>
              <a:rPr lang="ko-KR" sz="9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교육별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lang="ko-KR" sz="9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대상·인원·강사·이수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여부 관리</a:t>
            </a:r>
          </a:p>
          <a:p>
            <a:pPr algn="l">
              <a:lnSpc>
                <a:spcPct val="100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(예: 6/12 KS-CQI 교육 15명, </a:t>
            </a:r>
            <a:endParaRPr lang="en-US" altLang="ko-KR" sz="900" b="0" dirty="0">
              <a:solidFill>
                <a:srgbClr val="6A7180"/>
              </a:solidFill>
              <a:latin typeface="페이퍼로지 5 Medium"/>
              <a:ea typeface="페이퍼로지 5 Medium"/>
              <a:cs typeface="페이퍼로지 5 Medium"/>
            </a:endParaRPr>
          </a:p>
          <a:p>
            <a:pPr algn="l">
              <a:lnSpc>
                <a:spcPct val="100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6/30 </a:t>
            </a:r>
            <a:r>
              <a:rPr lang="ko-KR" sz="900" b="0" dirty="0" err="1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Q봇</a:t>
            </a: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 활용 교육 34명 이수)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40250" y="64770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fld id="{B6F15528-21DE-4FAA-801E-634DDDAF4B2B}" type="slidenum"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35</a:t>
            </a:fld>
            <a:r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 / 49</a:t>
            </a:r>
            <a:endParaRPr lang="ko-KR" sz="600" b="0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47" name="Rectangle 41">
            <a:extLst>
              <a:ext uri="{FF2B5EF4-FFF2-40B4-BE49-F238E27FC236}">
                <a16:creationId xmlns:a16="http://schemas.microsoft.com/office/drawing/2014/main" id="{BA034F3F-7C28-4B1F-86D6-D850B612AD83}"/>
              </a:ext>
            </a:extLst>
          </p:cNvPr>
          <p:cNvSpPr/>
          <p:nvPr/>
        </p:nvSpPr>
        <p:spPr>
          <a:xfrm>
            <a:off x="6629326" y="4775199"/>
            <a:ext cx="2580625" cy="38925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ko-KR" altLang="en-US" sz="9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  <a:cs typeface="페이퍼로지 8 ExtraBold"/>
              </a:rPr>
              <a:t>■  집중 관리 프로그램을 활용한 </a:t>
            </a:r>
          </a:p>
          <a:p>
            <a:pPr algn="l">
              <a:lnSpc>
                <a:spcPct val="145000"/>
              </a:lnSpc>
            </a:pPr>
            <a:r>
              <a:rPr lang="ko-KR" altLang="en-US" sz="9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  <a:cs typeface="페이퍼로지 8 ExtraBold"/>
              </a:rPr>
              <a:t>개인별 맞춤 교육 및 코칭으로 상담 인력 기량 향상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  <p:sp>
        <p:nvSpPr>
          <p:cNvPr id="50" name="Rectangle 17">
            <a:extLst>
              <a:ext uri="{FF2B5EF4-FFF2-40B4-BE49-F238E27FC236}">
                <a16:creationId xmlns:a16="http://schemas.microsoft.com/office/drawing/2014/main" id="{B69CB26A-44B4-45C0-8087-553890F75047}"/>
              </a:ext>
            </a:extLst>
          </p:cNvPr>
          <p:cNvSpPr/>
          <p:nvPr/>
        </p:nvSpPr>
        <p:spPr>
          <a:xfrm>
            <a:off x="6156541" y="1854200"/>
            <a:ext cx="1438058" cy="5619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ko-KR" sz="900" b="0" dirty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■  </a:t>
            </a:r>
            <a:r>
              <a:rPr lang="ko-KR" altLang="en-US" sz="900" dirty="0">
                <a:solidFill>
                  <a:schemeClr val="tx1"/>
                </a:solidFill>
                <a:latin typeface="페이퍼로지 5 Medium"/>
                <a:ea typeface="페이퍼로지 5 Medium"/>
              </a:rPr>
              <a:t>파트 실적</a:t>
            </a:r>
            <a:r>
              <a:rPr lang="en-US" altLang="ko-KR" sz="900" dirty="0">
                <a:solidFill>
                  <a:schemeClr val="tx1"/>
                </a:solidFill>
                <a:latin typeface="페이퍼로지 5 Medium"/>
                <a:ea typeface="페이퍼로지 5 Medium"/>
              </a:rPr>
              <a:t>·</a:t>
            </a:r>
            <a:r>
              <a:rPr lang="ko-KR" altLang="en-US" sz="900" dirty="0">
                <a:solidFill>
                  <a:schemeClr val="tx1"/>
                </a:solidFill>
                <a:latin typeface="페이퍼로지 5 Medium"/>
                <a:ea typeface="페이퍼로지 5 Medium"/>
              </a:rPr>
              <a:t>평가 분석</a:t>
            </a:r>
          </a:p>
          <a:p>
            <a:pPr algn="l">
              <a:lnSpc>
                <a:spcPct val="200000"/>
              </a:lnSpc>
            </a:pPr>
            <a:r>
              <a:rPr lang="ko-KR" altLang="en-US" sz="900" dirty="0">
                <a:solidFill>
                  <a:schemeClr val="tx1"/>
                </a:solidFill>
                <a:latin typeface="페이퍼로지 5 Medium"/>
                <a:ea typeface="페이퍼로지 5 Medium"/>
              </a:rPr>
              <a:t>■  인력 운영 및 근태 관리</a:t>
            </a:r>
          </a:p>
          <a:p>
            <a:pPr algn="l">
              <a:lnSpc>
                <a:spcPct val="200000"/>
              </a:lnSpc>
            </a:pPr>
            <a:r>
              <a:rPr lang="ko-KR" altLang="en-US" sz="900" dirty="0">
                <a:solidFill>
                  <a:schemeClr val="tx1"/>
                </a:solidFill>
                <a:latin typeface="페이퍼로지 5 Medium"/>
                <a:ea typeface="페이퍼로지 5 Medium"/>
              </a:rPr>
              <a:t>■  리더십 및 소통 강화</a:t>
            </a:r>
          </a:p>
        </p:txBody>
      </p:sp>
      <p:sp>
        <p:nvSpPr>
          <p:cNvPr id="51" name="Rectangle 19">
            <a:extLst>
              <a:ext uri="{FF2B5EF4-FFF2-40B4-BE49-F238E27FC236}">
                <a16:creationId xmlns:a16="http://schemas.microsoft.com/office/drawing/2014/main" id="{11605D54-E4CA-49E6-9B72-E8199F09E7F1}"/>
              </a:ext>
            </a:extLst>
          </p:cNvPr>
          <p:cNvSpPr/>
          <p:nvPr/>
        </p:nvSpPr>
        <p:spPr>
          <a:xfrm>
            <a:off x="7732496" y="1854200"/>
            <a:ext cx="1438058" cy="5619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ko-KR" sz="900" b="0" dirty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■  </a:t>
            </a:r>
            <a:r>
              <a:rPr lang="ko-KR" altLang="en-US" sz="900" dirty="0">
                <a:solidFill>
                  <a:schemeClr val="tx1"/>
                </a:solidFill>
                <a:latin typeface="페이퍼로지 5 Medium"/>
                <a:ea typeface="페이퍼로지 5 Medium"/>
              </a:rPr>
              <a:t>고객사 협의</a:t>
            </a:r>
            <a:r>
              <a:rPr lang="en-US" altLang="ko-KR" sz="900" dirty="0">
                <a:solidFill>
                  <a:schemeClr val="tx1"/>
                </a:solidFill>
                <a:latin typeface="페이퍼로지 5 Medium"/>
                <a:ea typeface="페이퍼로지 5 Medium"/>
              </a:rPr>
              <a:t>·</a:t>
            </a:r>
            <a:r>
              <a:rPr lang="ko-KR" altLang="en-US" sz="900" dirty="0">
                <a:solidFill>
                  <a:schemeClr val="tx1"/>
                </a:solidFill>
                <a:latin typeface="페이퍼로지 5 Medium"/>
                <a:ea typeface="페이퍼로지 5 Medium"/>
              </a:rPr>
              <a:t>관계 관리</a:t>
            </a:r>
          </a:p>
          <a:p>
            <a:pPr algn="l">
              <a:lnSpc>
                <a:spcPct val="200000"/>
              </a:lnSpc>
            </a:pPr>
            <a:r>
              <a:rPr lang="ko-KR" altLang="en-US" sz="900" dirty="0">
                <a:solidFill>
                  <a:schemeClr val="tx1"/>
                </a:solidFill>
                <a:latin typeface="페이퍼로지 5 Medium"/>
                <a:ea typeface="페이퍼로지 5 Medium"/>
              </a:rPr>
              <a:t>■  센터 총괄 운영</a:t>
            </a:r>
            <a:r>
              <a:rPr lang="en-US" altLang="ko-KR" sz="900" dirty="0">
                <a:solidFill>
                  <a:schemeClr val="tx1"/>
                </a:solidFill>
                <a:latin typeface="페이퍼로지 5 Medium"/>
                <a:ea typeface="페이퍼로지 5 Medium"/>
              </a:rPr>
              <a:t>·KPI </a:t>
            </a:r>
            <a:r>
              <a:rPr lang="ko-KR" altLang="en-US" sz="900" dirty="0">
                <a:solidFill>
                  <a:schemeClr val="tx1"/>
                </a:solidFill>
                <a:latin typeface="페이퍼로지 5 Medium"/>
                <a:ea typeface="페이퍼로지 5 Medium"/>
              </a:rPr>
              <a:t>전략</a:t>
            </a:r>
          </a:p>
          <a:p>
            <a:pPr algn="l">
              <a:lnSpc>
                <a:spcPct val="200000"/>
              </a:lnSpc>
            </a:pPr>
            <a:r>
              <a:rPr lang="ko-KR" altLang="en-US" sz="900" dirty="0">
                <a:solidFill>
                  <a:schemeClr val="tx1"/>
                </a:solidFill>
                <a:latin typeface="페이퍼로지 5 Medium"/>
                <a:ea typeface="페이퍼로지 5 Medium"/>
              </a:rPr>
              <a:t>■  리스크</a:t>
            </a:r>
            <a:r>
              <a:rPr lang="en-US" altLang="ko-KR" sz="900" dirty="0">
                <a:solidFill>
                  <a:schemeClr val="tx1"/>
                </a:solidFill>
                <a:latin typeface="페이퍼로지 5 Medium"/>
                <a:ea typeface="페이퍼로지 5 Medium"/>
              </a:rPr>
              <a:t>·</a:t>
            </a:r>
            <a:r>
              <a:rPr lang="ko-KR" altLang="en-US" sz="900" dirty="0">
                <a:solidFill>
                  <a:schemeClr val="tx1"/>
                </a:solidFill>
                <a:latin typeface="페이퍼로지 5 Medium"/>
                <a:ea typeface="페이퍼로지 5 Medium"/>
              </a:rPr>
              <a:t>노무 이슈 대응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929606" y="381000"/>
            <a:ext cx="61912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 dirty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3-1 ⑤ 교육 훈련 · 현장 관리자 육성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846138" y="660400"/>
            <a:ext cx="8461375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현장에서도 관리자를 키웁니다 — </a:t>
            </a:r>
            <a:r>
              <a:rPr lang="ko-KR" sz="20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예비관리자 5명 준비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138" y="1079500"/>
            <a:ext cx="84613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본사 관리자 과정에 더해 센터 안에서 단계별로 육성하고 있으며, 실적과 리더 경험이 검증된 5명이 준비되어 있습니다.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40250" y="64770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fld id="{B6F15528-21DE-4FAA-801E-634DDDAF4B2B}" type="slidenum">
              <a:rPr lang="en-US" altLang="ko-KR" sz="600" b="1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36</a:t>
            </a:fld>
            <a:r>
              <a:rPr lang="en-US" altLang="ko-KR" sz="600" b="1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 / 49</a:t>
            </a:r>
            <a:endParaRPr lang="ko-KR" sz="600" b="1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1CF01A10-44BF-4817-BB0D-CCEA196D1B07}"/>
              </a:ext>
            </a:extLst>
          </p:cNvPr>
          <p:cNvGrpSpPr/>
          <p:nvPr/>
        </p:nvGrpSpPr>
        <p:grpSpPr>
          <a:xfrm>
            <a:off x="660400" y="1413159"/>
            <a:ext cx="8687448" cy="685799"/>
            <a:chOff x="660400" y="1413160"/>
            <a:chExt cx="8687448" cy="584200"/>
          </a:xfrm>
        </p:grpSpPr>
        <p:sp>
          <p:nvSpPr>
            <p:cNvPr id="7" name="Pentagon 6"/>
            <p:cNvSpPr/>
            <p:nvPr/>
          </p:nvSpPr>
          <p:spPr>
            <a:xfrm>
              <a:off x="660400" y="1413160"/>
              <a:ext cx="1674451" cy="330200"/>
            </a:xfrm>
            <a:prstGeom prst="homePlate">
              <a:avLst>
                <a:gd name="adj" fmla="val 40625"/>
              </a:avLst>
            </a:prstGeom>
            <a:solidFill>
              <a:srgbClr val="F4F5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123825" tIns="76200" rIns="123825" bIns="76200" rtlCol="0" anchor="ctr"/>
            <a:lstStyle/>
            <a:p>
              <a:pPr algn="l">
                <a:lnSpc>
                  <a:spcPct val="110000"/>
                </a:lnSpc>
              </a:pPr>
              <a:r>
                <a:rPr lang="ko-KR" sz="900" b="1">
                  <a:solidFill>
                    <a:srgbClr val="E30C60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01  </a:t>
              </a:r>
              <a:r>
                <a:rPr lang="ko-KR" sz="900" b="1">
                  <a:solidFill>
                    <a:srgbClr val="10151F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후보 선발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660400" y="1768760"/>
              <a:ext cx="1635052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1275" tIns="25400" rIns="41275" bIns="25400" rtlCol="0" anchor="ctr"/>
            <a:lstStyle/>
            <a:p>
              <a:pPr algn="l">
                <a:lnSpc>
                  <a:spcPct val="110000"/>
                </a:lnSpc>
              </a:pPr>
              <a:r>
                <a:rPr lang="ko-KR" sz="900" b="0">
                  <a:solidFill>
                    <a:srgbClr val="6A7180"/>
                  </a:solidFill>
                  <a:latin typeface="페이퍼로지 5 Medium"/>
                  <a:ea typeface="페이퍼로지 5 Medium"/>
                  <a:cs typeface="페이퍼로지 5 Medium"/>
                </a:rPr>
                <a:t>실적·근태·리더십 평가</a:t>
              </a:r>
            </a:p>
          </p:txBody>
        </p:sp>
        <p:sp>
          <p:nvSpPr>
            <p:cNvPr id="9" name="Pentagon 8"/>
            <p:cNvSpPr/>
            <p:nvPr/>
          </p:nvSpPr>
          <p:spPr>
            <a:xfrm>
              <a:off x="2413649" y="1413160"/>
              <a:ext cx="1674451" cy="330200"/>
            </a:xfrm>
            <a:prstGeom prst="homePlate">
              <a:avLst>
                <a:gd name="adj" fmla="val 40625"/>
              </a:avLst>
            </a:prstGeom>
            <a:solidFill>
              <a:srgbClr val="F4F5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123825" tIns="76200" rIns="123825" bIns="76200" rtlCol="0" anchor="ctr"/>
            <a:lstStyle/>
            <a:p>
              <a:pPr algn="l">
                <a:lnSpc>
                  <a:spcPct val="110000"/>
                </a:lnSpc>
              </a:pPr>
              <a:r>
                <a:rPr lang="ko-KR" sz="900" b="1">
                  <a:solidFill>
                    <a:srgbClr val="E30C60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02  </a:t>
              </a:r>
              <a:r>
                <a:rPr lang="ko-KR" sz="900" b="1">
                  <a:solidFill>
                    <a:srgbClr val="10151F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역할 부여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2413649" y="1768760"/>
              <a:ext cx="1635052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1275" tIns="25400" rIns="41275" bIns="25400" rtlCol="0" anchor="ctr"/>
            <a:lstStyle/>
            <a:p>
              <a:pPr algn="l">
                <a:lnSpc>
                  <a:spcPct val="110000"/>
                </a:lnSpc>
              </a:pPr>
              <a:r>
                <a:rPr lang="ko-KR" sz="900" b="0">
                  <a:solidFill>
                    <a:srgbClr val="6A7180"/>
                  </a:solidFill>
                  <a:latin typeface="페이퍼로지 5 Medium"/>
                  <a:ea typeface="페이퍼로지 5 Medium"/>
                  <a:cs typeface="페이퍼로지 5 Medium"/>
                </a:rPr>
                <a:t>선임 상담사·성수기 리더</a:t>
              </a:r>
            </a:p>
          </p:txBody>
        </p:sp>
        <p:sp>
          <p:nvSpPr>
            <p:cNvPr id="11" name="Pentagon 10"/>
            <p:cNvSpPr/>
            <p:nvPr/>
          </p:nvSpPr>
          <p:spPr>
            <a:xfrm>
              <a:off x="4166898" y="1413160"/>
              <a:ext cx="1674451" cy="330200"/>
            </a:xfrm>
            <a:prstGeom prst="homePlate">
              <a:avLst>
                <a:gd name="adj" fmla="val 40625"/>
              </a:avLst>
            </a:prstGeom>
            <a:solidFill>
              <a:srgbClr val="F4F5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123825" tIns="76200" rIns="123825" bIns="76200" rtlCol="0" anchor="ctr"/>
            <a:lstStyle/>
            <a:p>
              <a:pPr algn="l">
                <a:lnSpc>
                  <a:spcPct val="110000"/>
                </a:lnSpc>
              </a:pPr>
              <a:r>
                <a:rPr lang="ko-KR" sz="900" b="1">
                  <a:solidFill>
                    <a:srgbClr val="E30C60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03  </a:t>
              </a:r>
              <a:r>
                <a:rPr lang="ko-KR" sz="900" b="1">
                  <a:solidFill>
                    <a:srgbClr val="10151F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현장 실습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166898" y="1768760"/>
              <a:ext cx="1635052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1275" tIns="25400" rIns="41275" bIns="25400" rtlCol="0" anchor="ctr"/>
            <a:lstStyle/>
            <a:p>
              <a:pPr algn="l">
                <a:lnSpc>
                  <a:spcPct val="110000"/>
                </a:lnSpc>
              </a:pPr>
              <a:r>
                <a:rPr lang="ko-KR" sz="900" b="0">
                  <a:solidFill>
                    <a:srgbClr val="6A7180"/>
                  </a:solidFill>
                  <a:latin typeface="페이퍼로지 5 Medium"/>
                  <a:ea typeface="페이퍼로지 5 Medium"/>
                  <a:cs typeface="페이퍼로지 5 Medium"/>
                </a:rPr>
                <a:t>파트장 업무 대행·신입 코칭</a:t>
              </a:r>
            </a:p>
          </p:txBody>
        </p:sp>
        <p:sp>
          <p:nvSpPr>
            <p:cNvPr id="13" name="Pentagon 12"/>
            <p:cNvSpPr/>
            <p:nvPr/>
          </p:nvSpPr>
          <p:spPr>
            <a:xfrm>
              <a:off x="5920148" y="1413160"/>
              <a:ext cx="1674451" cy="330200"/>
            </a:xfrm>
            <a:prstGeom prst="homePlate">
              <a:avLst>
                <a:gd name="adj" fmla="val 40625"/>
              </a:avLst>
            </a:prstGeom>
            <a:solidFill>
              <a:srgbClr val="F4F5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123825" tIns="76200" rIns="123825" bIns="76200" rtlCol="0" anchor="ctr"/>
            <a:lstStyle/>
            <a:p>
              <a:pPr algn="l">
                <a:lnSpc>
                  <a:spcPct val="110000"/>
                </a:lnSpc>
              </a:pPr>
              <a:r>
                <a:rPr lang="ko-KR" sz="900" b="1">
                  <a:solidFill>
                    <a:srgbClr val="E30C60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04  </a:t>
              </a:r>
              <a:r>
                <a:rPr lang="ko-KR" sz="900" b="1">
                  <a:solidFill>
                    <a:srgbClr val="10151F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교육 이수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920148" y="1768760"/>
              <a:ext cx="1635052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1275" tIns="25400" rIns="41275" bIns="25400" rtlCol="0" anchor="ctr"/>
            <a:lstStyle/>
            <a:p>
              <a:pPr algn="l">
                <a:lnSpc>
                  <a:spcPct val="110000"/>
                </a:lnSpc>
              </a:pPr>
              <a:r>
                <a:rPr lang="ko-KR" sz="900" b="0" dirty="0">
                  <a:solidFill>
                    <a:srgbClr val="6A7180"/>
                  </a:solidFill>
                  <a:latin typeface="페이퍼로지 5 Medium"/>
                  <a:ea typeface="페이퍼로지 5 Medium"/>
                  <a:cs typeface="페이퍼로지 5 Medium"/>
                </a:rPr>
                <a:t>본사 관리자 과정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7673397" y="1413160"/>
              <a:ext cx="1674451" cy="330200"/>
            </a:xfrm>
            <a:prstGeom prst="roundRect">
              <a:avLst/>
            </a:prstGeom>
            <a:solidFill>
              <a:srgbClr val="E30C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3825" tIns="76200" rIns="123825" bIns="76200" rtlCol="0" anchor="ctr"/>
            <a:lstStyle/>
            <a:p>
              <a:pPr algn="l">
                <a:lnSpc>
                  <a:spcPct val="110000"/>
                </a:lnSpc>
              </a:pPr>
              <a:r>
                <a:rPr lang="ko-KR" sz="900" b="1">
                  <a:solidFill>
                    <a:srgbClr val="FFFFFF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05  평가 · 선임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673397" y="1768760"/>
              <a:ext cx="1635052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1275" tIns="25400" rIns="41275" bIns="25400" rtlCol="0" anchor="ctr"/>
            <a:lstStyle/>
            <a:p>
              <a:pPr algn="l">
                <a:lnSpc>
                  <a:spcPct val="110000"/>
                </a:lnSpc>
              </a:pPr>
              <a:r>
                <a:rPr lang="ko-KR" sz="900" b="0">
                  <a:solidFill>
                    <a:srgbClr val="6A7180"/>
                  </a:solidFill>
                  <a:latin typeface="페이퍼로지 5 Medium"/>
                  <a:ea typeface="페이퍼로지 5 Medium"/>
                  <a:cs typeface="페이퍼로지 5 Medium"/>
                </a:rPr>
                <a:t>공석 시 내부 승계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660400" y="2142832"/>
            <a:ext cx="866775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1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예비관리자 후보 — 최근 6개월(2026.4~9월) 평균 실적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60400" y="2401452"/>
            <a:ext cx="8667750" cy="0"/>
          </a:xfrm>
          <a:prstGeom prst="line">
            <a:avLst/>
          </a:prstGeom>
          <a:ln w="12700">
            <a:solidFill>
              <a:srgbClr val="E3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60400" y="2477652"/>
            <a:ext cx="906173" cy="279400"/>
          </a:xfrm>
          <a:prstGeom prst="rect">
            <a:avLst/>
          </a:prstGeom>
          <a:solidFill>
            <a:srgbClr val="0F1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이름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66573" y="2477652"/>
            <a:ext cx="906173" cy="279400"/>
          </a:xfrm>
          <a:prstGeom prst="rect">
            <a:avLst/>
          </a:prstGeom>
          <a:solidFill>
            <a:srgbClr val="0F1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입사일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72747" y="2477652"/>
            <a:ext cx="827376" cy="279400"/>
          </a:xfrm>
          <a:prstGeom prst="rect">
            <a:avLst/>
          </a:prstGeom>
          <a:solidFill>
            <a:srgbClr val="0F1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생산성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00123" y="2477652"/>
            <a:ext cx="827376" cy="279400"/>
          </a:xfrm>
          <a:prstGeom prst="rect">
            <a:avLst/>
          </a:prstGeom>
          <a:solidFill>
            <a:srgbClr val="0F1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IN 생산성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27500" y="2477652"/>
            <a:ext cx="689479" cy="279400"/>
          </a:xfrm>
          <a:prstGeom prst="rect">
            <a:avLst/>
          </a:prstGeom>
          <a:solidFill>
            <a:srgbClr val="0F1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NPS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16979" y="2477652"/>
            <a:ext cx="4511170" cy="279400"/>
          </a:xfrm>
          <a:prstGeom prst="rect">
            <a:avLst/>
          </a:prstGeom>
          <a:solidFill>
            <a:srgbClr val="0F1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우수 증빙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0400" y="2782452"/>
            <a:ext cx="8667750" cy="5334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60400" y="2782452"/>
            <a:ext cx="906173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박종은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66573" y="2782452"/>
            <a:ext cx="906173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2025.04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72747" y="2782452"/>
            <a:ext cx="827376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98.4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00123" y="2782452"/>
            <a:ext cx="827376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72.2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27500" y="2782452"/>
            <a:ext cx="689479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91.9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954876" y="2896752"/>
            <a:ext cx="2029041" cy="304800"/>
          </a:xfrm>
          <a:prstGeom prst="roundRect">
            <a:avLst>
              <a:gd name="adj" fmla="val 40000"/>
            </a:avLst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20</a:t>
            </a:r>
            <a:r>
              <a:rPr lang="ko-KR" sz="900" b="1" dirty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25</a:t>
            </a:r>
            <a:r>
              <a:rPr lang="ko-KR" altLang="en-US" sz="900" b="1" dirty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년</a:t>
            </a:r>
            <a:r>
              <a:rPr lang="ko-KR" sz="900" b="1" dirty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 성수기 </a:t>
            </a:r>
            <a:r>
              <a:rPr lang="ko-KR" sz="900" b="1" dirty="0" err="1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임시파트장</a:t>
            </a:r>
            <a:endParaRPr lang="ko-KR" sz="900" b="1" dirty="0">
              <a:solidFill>
                <a:schemeClr val="tx1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7082415" y="2896752"/>
            <a:ext cx="2029041" cy="304800"/>
          </a:xfrm>
          <a:prstGeom prst="roundRect">
            <a:avLst>
              <a:gd name="adj" fmla="val 40000"/>
            </a:avLst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20</a:t>
            </a:r>
            <a:r>
              <a:rPr lang="ko-KR" sz="900" b="1" dirty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26</a:t>
            </a:r>
            <a:r>
              <a:rPr lang="ko-KR" altLang="en-US" sz="900" b="1" dirty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년</a:t>
            </a:r>
            <a:r>
              <a:rPr lang="ko-KR" sz="900" b="1" dirty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 주4일 선임 수행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400" y="3341252"/>
            <a:ext cx="8667750" cy="533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60400" y="3341252"/>
            <a:ext cx="906173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강태희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566573" y="3341252"/>
            <a:ext cx="906173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2025.04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72747" y="3341252"/>
            <a:ext cx="827376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103.5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00123" y="3341252"/>
            <a:ext cx="827376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67.3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27500" y="3341252"/>
            <a:ext cx="689479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100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954876" y="3455552"/>
            <a:ext cx="2029041" cy="304800"/>
          </a:xfrm>
          <a:prstGeom prst="roundRect">
            <a:avLst>
              <a:gd name="adj" fmla="val 40000"/>
            </a:avLst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2026년 성수기 임시QA</a:t>
            </a:r>
            <a:endParaRPr lang="ko-KR" sz="900" b="1" dirty="0">
              <a:solidFill>
                <a:schemeClr val="tx1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7082415" y="3455552"/>
            <a:ext cx="2029041" cy="304800"/>
          </a:xfrm>
          <a:prstGeom prst="roundRect">
            <a:avLst>
              <a:gd name="adj" fmla="val 40000"/>
            </a:avLst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2026년 주4일 선임 수행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0400" y="3900052"/>
            <a:ext cx="8667750" cy="5334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60400" y="3900052"/>
            <a:ext cx="906173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 dirty="0" err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노소현</a:t>
            </a:r>
            <a:endParaRPr lang="ko-KR" sz="1100" b="1" dirty="0">
              <a:solidFill>
                <a:srgbClr val="10151F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1566573" y="3900052"/>
            <a:ext cx="906173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2026.04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472747" y="3900052"/>
            <a:ext cx="827376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102.1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00123" y="3900052"/>
            <a:ext cx="827376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75.1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27500" y="3900052"/>
            <a:ext cx="689479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97.6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954876" y="4014352"/>
            <a:ext cx="2029041" cy="304800"/>
          </a:xfrm>
          <a:prstGeom prst="roundRect">
            <a:avLst>
              <a:gd name="adj" fmla="val 40000"/>
            </a:avLst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상담사 TOP3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082415" y="4014352"/>
            <a:ext cx="2029041" cy="304800"/>
          </a:xfrm>
          <a:prstGeom prst="roundRect">
            <a:avLst>
              <a:gd name="adj" fmla="val 40000"/>
            </a:avLst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생산성·IN 최상위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60400" y="4458852"/>
            <a:ext cx="8667750" cy="533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60400" y="4458852"/>
            <a:ext cx="906173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배은진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566573" y="4458852"/>
            <a:ext cx="906173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2025.06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472747" y="4458852"/>
            <a:ext cx="827376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92.3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300123" y="4458852"/>
            <a:ext cx="827376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61.8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27500" y="4458852"/>
            <a:ext cx="689479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100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954876" y="4573152"/>
            <a:ext cx="2029041" cy="304800"/>
          </a:xfrm>
          <a:prstGeom prst="roundRect">
            <a:avLst>
              <a:gd name="adj" fmla="val 40000"/>
            </a:avLst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상담사 TOP3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082415" y="4573152"/>
            <a:ext cx="2029041" cy="304800"/>
          </a:xfrm>
          <a:prstGeom prst="roundRect">
            <a:avLst>
              <a:gd name="adj" fmla="val 40000"/>
            </a:avLst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NPS 6개월 연속 100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60400" y="5017652"/>
            <a:ext cx="8667750" cy="5334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60400" y="5017652"/>
            <a:ext cx="906173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황순이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566573" y="5017652"/>
            <a:ext cx="906173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2025.04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72747" y="5017652"/>
            <a:ext cx="827376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68.2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300123" y="5017652"/>
            <a:ext cx="827376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47.1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127500" y="5017652"/>
            <a:ext cx="689479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95.2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954876" y="5131952"/>
            <a:ext cx="2029041" cy="304800"/>
          </a:xfrm>
          <a:prstGeom prst="roundRect">
            <a:avLst>
              <a:gd name="adj" fmla="val 40000"/>
            </a:avLst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1년 6개월 근속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082415" y="5131952"/>
            <a:ext cx="2029041" cy="304800"/>
          </a:xfrm>
          <a:prstGeom prst="roundRect">
            <a:avLst>
              <a:gd name="adj" fmla="val 40000"/>
            </a:avLst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NPS 95.2 안정 응대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660400" y="5613396"/>
            <a:ext cx="8667750" cy="0"/>
          </a:xfrm>
          <a:prstGeom prst="line">
            <a:avLst/>
          </a:prstGeom>
          <a:ln w="12700">
            <a:solidFill>
              <a:srgbClr val="E3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8611D27B-C5D6-4CB1-AE9C-ED762B498576}"/>
              </a:ext>
            </a:extLst>
          </p:cNvPr>
          <p:cNvGrpSpPr/>
          <p:nvPr/>
        </p:nvGrpSpPr>
        <p:grpSpPr>
          <a:xfrm>
            <a:off x="660400" y="5628408"/>
            <a:ext cx="8588951" cy="596900"/>
            <a:chOff x="660400" y="5816600"/>
            <a:chExt cx="8588951" cy="381000"/>
          </a:xfrm>
        </p:grpSpPr>
        <p:sp>
          <p:nvSpPr>
            <p:cNvPr id="67" name="Rectangle 66"/>
            <p:cNvSpPr/>
            <p:nvPr/>
          </p:nvSpPr>
          <p:spPr>
            <a:xfrm>
              <a:off x="660400" y="5816600"/>
              <a:ext cx="984971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1000" b="1" dirty="0">
                  <a:solidFill>
                    <a:srgbClr val="10151F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육성 방안</a:t>
              </a:r>
            </a:p>
          </p:txBody>
        </p:sp>
        <p:sp>
          <p:nvSpPr>
            <p:cNvPr id="68" name="Rounded Rectangle 67"/>
            <p:cNvSpPr/>
            <p:nvPr/>
          </p:nvSpPr>
          <p:spPr>
            <a:xfrm>
              <a:off x="1645371" y="5854699"/>
              <a:ext cx="1457757" cy="330200"/>
            </a:xfrm>
            <a:prstGeom prst="roundRect">
              <a:avLst>
                <a:gd name="adj" fmla="val 40000"/>
              </a:avLst>
            </a:prstGeom>
            <a:solidFill>
              <a:srgbClr val="F4F5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1000" b="1" dirty="0">
                  <a:solidFill>
                    <a:srgbClr val="10151F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멘토 1:1 매칭</a:t>
              </a:r>
            </a:p>
          </p:txBody>
        </p:sp>
        <p:sp>
          <p:nvSpPr>
            <p:cNvPr id="69" name="Rounded Rectangle 68"/>
            <p:cNvSpPr/>
            <p:nvPr/>
          </p:nvSpPr>
          <p:spPr>
            <a:xfrm>
              <a:off x="3181927" y="5854700"/>
              <a:ext cx="1457757" cy="330200"/>
            </a:xfrm>
            <a:prstGeom prst="roundRect">
              <a:avLst>
                <a:gd name="adj" fmla="val 40000"/>
              </a:avLst>
            </a:prstGeom>
            <a:solidFill>
              <a:srgbClr val="F4F5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1000" b="1">
                  <a:solidFill>
                    <a:srgbClr val="10151F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월 1회 육성 면담</a:t>
              </a:r>
            </a:p>
          </p:txBody>
        </p:sp>
        <p:sp>
          <p:nvSpPr>
            <p:cNvPr id="70" name="Rounded Rectangle 69"/>
            <p:cNvSpPr/>
            <p:nvPr/>
          </p:nvSpPr>
          <p:spPr>
            <a:xfrm>
              <a:off x="4718482" y="5854700"/>
              <a:ext cx="1457757" cy="330200"/>
            </a:xfrm>
            <a:prstGeom prst="roundRect">
              <a:avLst>
                <a:gd name="adj" fmla="val 40000"/>
              </a:avLst>
            </a:prstGeom>
            <a:solidFill>
              <a:srgbClr val="F4F5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1000" b="1">
                  <a:solidFill>
                    <a:srgbClr val="10151F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성수기 리더 경험</a:t>
              </a:r>
            </a:p>
          </p:txBody>
        </p:sp>
        <p:sp>
          <p:nvSpPr>
            <p:cNvPr id="71" name="Rounded Rectangle 70"/>
            <p:cNvSpPr/>
            <p:nvPr/>
          </p:nvSpPr>
          <p:spPr>
            <a:xfrm>
              <a:off x="6255039" y="5854700"/>
              <a:ext cx="1457757" cy="330200"/>
            </a:xfrm>
            <a:prstGeom prst="roundRect">
              <a:avLst>
                <a:gd name="adj" fmla="val 40000"/>
              </a:avLst>
            </a:prstGeom>
            <a:solidFill>
              <a:srgbClr val="F4F5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1000" b="1">
                  <a:solidFill>
                    <a:srgbClr val="10151F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관리자 회의 참관</a:t>
              </a:r>
            </a:p>
          </p:txBody>
        </p:sp>
        <p:sp>
          <p:nvSpPr>
            <p:cNvPr id="72" name="Rounded Rectangle 71"/>
            <p:cNvSpPr/>
            <p:nvPr/>
          </p:nvSpPr>
          <p:spPr>
            <a:xfrm>
              <a:off x="7791594" y="5854700"/>
              <a:ext cx="1457757" cy="330200"/>
            </a:xfrm>
            <a:prstGeom prst="roundRect">
              <a:avLst>
                <a:gd name="adj" fmla="val 40000"/>
              </a:avLst>
            </a:prstGeom>
            <a:solidFill>
              <a:srgbClr val="F4F5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1000" b="1" dirty="0">
                  <a:solidFill>
                    <a:srgbClr val="10151F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육성 체크리스트</a:t>
              </a:r>
            </a:p>
          </p:txBody>
        </p:sp>
      </p:grpSp>
      <p:pic>
        <p:nvPicPr>
          <p:cNvPr id="75" name="Picture 7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Rectangle 2">
            <a:extLst>
              <a:ext uri="{FF2B5EF4-FFF2-40B4-BE49-F238E27FC236}">
                <a16:creationId xmlns:a16="http://schemas.microsoft.com/office/drawing/2014/main" id="{66282572-5816-422F-A5F6-6F46198BC839}"/>
              </a:ext>
            </a:extLst>
          </p:cNvPr>
          <p:cNvSpPr/>
          <p:nvPr/>
        </p:nvSpPr>
        <p:spPr>
          <a:xfrm>
            <a:off x="1929606" y="381000"/>
            <a:ext cx="61912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altLang="ko-KR" sz="900" b="0" dirty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3-1 ⑥ 시스템 및 정보보안</a:t>
            </a:r>
            <a:endParaRPr lang="ko-KR" sz="900" b="0" dirty="0">
              <a:solidFill>
                <a:srgbClr val="A50034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179" name="Rectangle 3">
            <a:extLst>
              <a:ext uri="{FF2B5EF4-FFF2-40B4-BE49-F238E27FC236}">
                <a16:creationId xmlns:a16="http://schemas.microsoft.com/office/drawing/2014/main" id="{32FA807B-A07A-47B7-8748-91F14EE4A93C}"/>
              </a:ext>
            </a:extLst>
          </p:cNvPr>
          <p:cNvSpPr/>
          <p:nvPr/>
        </p:nvSpPr>
        <p:spPr>
          <a:xfrm>
            <a:off x="846138" y="660400"/>
            <a:ext cx="8461375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0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고객 정보를 지키는 </a:t>
            </a:r>
            <a:r>
              <a:rPr lang="ko-KR" sz="20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시스템과 보안</a:t>
            </a:r>
            <a:r>
              <a:rPr lang="ko-KR" sz="20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 관리 체계</a:t>
            </a:r>
          </a:p>
        </p:txBody>
      </p:sp>
      <p:sp>
        <p:nvSpPr>
          <p:cNvPr id="180" name="Rectangle 4">
            <a:extLst>
              <a:ext uri="{FF2B5EF4-FFF2-40B4-BE49-F238E27FC236}">
                <a16:creationId xmlns:a16="http://schemas.microsoft.com/office/drawing/2014/main" id="{AFA34CF8-6FC8-470E-A633-424A91EECBE9}"/>
              </a:ext>
            </a:extLst>
          </p:cNvPr>
          <p:cNvSpPr/>
          <p:nvPr/>
        </p:nvSpPr>
        <p:spPr>
          <a:xfrm>
            <a:off x="846138" y="1079500"/>
            <a:ext cx="84613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LG전자의 보안 기준을 따르고, 본사 보안 조직이 함께 점검하겠습니다.</a:t>
            </a:r>
          </a:p>
        </p:txBody>
      </p:sp>
      <p:sp>
        <p:nvSpPr>
          <p:cNvPr id="181" name="Rectangle 78">
            <a:extLst>
              <a:ext uri="{FF2B5EF4-FFF2-40B4-BE49-F238E27FC236}">
                <a16:creationId xmlns:a16="http://schemas.microsoft.com/office/drawing/2014/main" id="{7D347CCC-3F77-43D2-A599-83BD1A2ACE74}"/>
              </a:ext>
            </a:extLst>
          </p:cNvPr>
          <p:cNvSpPr/>
          <p:nvPr/>
        </p:nvSpPr>
        <p:spPr>
          <a:xfrm>
            <a:off x="4540250" y="64770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fld id="{B6F15528-21DE-4FAA-801E-634DDDAF4B2B}" type="slidenum"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37</a:t>
            </a:fld>
            <a:r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 / 49</a:t>
            </a:r>
            <a:endParaRPr lang="ko-KR" sz="600" b="0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pic>
        <p:nvPicPr>
          <p:cNvPr id="329" name="Picture 3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  <p:sp>
        <p:nvSpPr>
          <p:cNvPr id="330" name="Rounded Rectangle 329"/>
          <p:cNvSpPr/>
          <p:nvPr/>
        </p:nvSpPr>
        <p:spPr>
          <a:xfrm>
            <a:off x="660400" y="1422400"/>
            <a:ext cx="4267200" cy="482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1" name="Rounded Rectangle 330"/>
          <p:cNvSpPr/>
          <p:nvPr/>
        </p:nvSpPr>
        <p:spPr>
          <a:xfrm>
            <a:off x="5080000" y="1422400"/>
            <a:ext cx="4267200" cy="482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2" name="Rounded Rectangle 331"/>
          <p:cNvSpPr/>
          <p:nvPr/>
        </p:nvSpPr>
        <p:spPr>
          <a:xfrm>
            <a:off x="889000" y="1574800"/>
            <a:ext cx="3810000" cy="279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정보보안 준수 및 상담사 휴먼 에러 방지</a:t>
            </a:r>
          </a:p>
        </p:txBody>
      </p:sp>
      <p:sp>
        <p:nvSpPr>
          <p:cNvPr id="333" name="Rectangle 332"/>
          <p:cNvSpPr/>
          <p:nvPr/>
        </p:nvSpPr>
        <p:spPr>
          <a:xfrm>
            <a:off x="914400" y="1955800"/>
            <a:ext cx="3759200" cy="2286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개인정보 보호 및 보안점검</a:t>
            </a:r>
          </a:p>
        </p:txBody>
      </p:sp>
      <p:sp>
        <p:nvSpPr>
          <p:cNvPr id="334" name="Rectangle 333"/>
          <p:cNvSpPr/>
          <p:nvPr/>
        </p:nvSpPr>
        <p:spPr>
          <a:xfrm>
            <a:off x="939800" y="2235200"/>
            <a:ext cx="3733800" cy="609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■ 상담 시 최소한의 개인정보만 수집 및 목적 외 이용 금지</a:t>
            </a:r>
          </a:p>
          <a:p>
            <a:pPr algn="l">
              <a:lnSpc>
                <a:spcPct val="14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■ 상담사 업무별 최소 권한 부여 및 계정 관리</a:t>
            </a:r>
          </a:p>
          <a:p>
            <a:pPr algn="l">
              <a:lnSpc>
                <a:spcPct val="14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■ 상담 이력 및 접속 로그 상시 모니터링 및 관리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914400" y="2870200"/>
            <a:ext cx="3759200" cy="2286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사고 대비 본인 확인 안내 점검</a:t>
            </a:r>
          </a:p>
        </p:txBody>
      </p:sp>
      <p:sp>
        <p:nvSpPr>
          <p:cNvPr id="336" name="Rectangle 335"/>
          <p:cNvSpPr/>
          <p:nvPr/>
        </p:nvSpPr>
        <p:spPr>
          <a:xfrm>
            <a:off x="939800" y="3149600"/>
            <a:ext cx="3733800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■ 상담 전 고객 및 </a:t>
            </a:r>
            <a:r>
              <a:rPr lang="ko-KR" sz="9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요청자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확인 절차 준수</a:t>
            </a:r>
          </a:p>
          <a:p>
            <a:pPr algn="l">
              <a:lnSpc>
                <a:spcPct val="14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■ 본인 확인 전 </a:t>
            </a:r>
            <a:r>
              <a:rPr lang="ko-KR" altLang="en-US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이력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관련 철저한 정보 제공 제한</a:t>
            </a:r>
          </a:p>
        </p:txBody>
      </p:sp>
      <p:sp>
        <p:nvSpPr>
          <p:cNvPr id="337" name="Rounded Rectangle 336"/>
          <p:cNvSpPr/>
          <p:nvPr/>
        </p:nvSpPr>
        <p:spPr>
          <a:xfrm>
            <a:off x="889000" y="3683000"/>
            <a:ext cx="3810000" cy="279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장비 장애 발생 시 비상 보고 체계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9F8870DF-1EFA-4A45-8B4D-A37D75469172}"/>
              </a:ext>
            </a:extLst>
          </p:cNvPr>
          <p:cNvGrpSpPr/>
          <p:nvPr/>
        </p:nvGrpSpPr>
        <p:grpSpPr>
          <a:xfrm>
            <a:off x="914400" y="4038600"/>
            <a:ext cx="3860800" cy="1778000"/>
            <a:chOff x="914400" y="4038600"/>
            <a:chExt cx="3860800" cy="1473200"/>
          </a:xfrm>
        </p:grpSpPr>
        <p:sp>
          <p:nvSpPr>
            <p:cNvPr id="338" name="Rectangle 337"/>
            <p:cNvSpPr/>
            <p:nvPr/>
          </p:nvSpPr>
          <p:spPr>
            <a:xfrm>
              <a:off x="914400" y="4038600"/>
              <a:ext cx="2540000" cy="177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l">
                <a:lnSpc>
                  <a:spcPct val="110000"/>
                </a:lnSpc>
              </a:pPr>
              <a:r>
                <a:rPr lang="ko-KR" sz="1000" b="1">
                  <a:solidFill>
                    <a:srgbClr val="10151F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일반장비 장애 발생 시</a:t>
              </a:r>
            </a:p>
          </p:txBody>
        </p:sp>
        <p:sp>
          <p:nvSpPr>
            <p:cNvPr id="339" name="Rounded Rectangle 338"/>
            <p:cNvSpPr/>
            <p:nvPr/>
          </p:nvSpPr>
          <p:spPr>
            <a:xfrm>
              <a:off x="914400" y="4267200"/>
              <a:ext cx="825500" cy="381000"/>
            </a:xfrm>
            <a:prstGeom prst="roundRect">
              <a:avLst>
                <a:gd name="adj" fmla="val 12000"/>
              </a:avLst>
            </a:prstGeom>
            <a:solidFill>
              <a:srgbClr val="EEF0F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900" b="1">
                  <a:solidFill>
                    <a:srgbClr val="10151F"/>
                  </a:solidFill>
                  <a:latin typeface="페이퍼로지 7 Bold"/>
                  <a:ea typeface="페이퍼로지 7 Bold"/>
                  <a:cs typeface="페이퍼로지 7 Bold"/>
                </a:rPr>
                <a:t>장애 발생</a:t>
              </a:r>
            </a:p>
          </p:txBody>
        </p:sp>
        <p:sp>
          <p:nvSpPr>
            <p:cNvPr id="340" name="Rectangle 339"/>
            <p:cNvSpPr/>
            <p:nvPr/>
          </p:nvSpPr>
          <p:spPr>
            <a:xfrm>
              <a:off x="1739900" y="4267200"/>
              <a:ext cx="1524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1200" b="1">
                  <a:solidFill>
                    <a:srgbClr val="6A7180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›</a:t>
              </a:r>
            </a:p>
          </p:txBody>
        </p:sp>
        <p:sp>
          <p:nvSpPr>
            <p:cNvPr id="341" name="Rounded Rectangle 340"/>
            <p:cNvSpPr/>
            <p:nvPr/>
          </p:nvSpPr>
          <p:spPr>
            <a:xfrm>
              <a:off x="1892300" y="4267200"/>
              <a:ext cx="825500" cy="381000"/>
            </a:xfrm>
            <a:prstGeom prst="roundRect">
              <a:avLst>
                <a:gd name="adj" fmla="val 12000"/>
              </a:avLst>
            </a:prstGeom>
            <a:solidFill>
              <a:srgbClr val="EEF0F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900" b="1">
                  <a:solidFill>
                    <a:srgbClr val="10151F"/>
                  </a:solidFill>
                  <a:latin typeface="페이퍼로지 7 Bold"/>
                  <a:ea typeface="페이퍼로지 7 Bold"/>
                  <a:cs typeface="페이퍼로지 7 Bold"/>
                </a:rPr>
                <a:t>1차 실무자</a:t>
              </a:r>
            </a:p>
          </p:txBody>
        </p:sp>
        <p:sp>
          <p:nvSpPr>
            <p:cNvPr id="342" name="Rectangle 341"/>
            <p:cNvSpPr/>
            <p:nvPr/>
          </p:nvSpPr>
          <p:spPr>
            <a:xfrm>
              <a:off x="2717800" y="4267200"/>
              <a:ext cx="1524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1200" b="1">
                  <a:solidFill>
                    <a:srgbClr val="6A7180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›</a:t>
              </a:r>
            </a:p>
          </p:txBody>
        </p:sp>
        <p:sp>
          <p:nvSpPr>
            <p:cNvPr id="343" name="Rounded Rectangle 342"/>
            <p:cNvSpPr/>
            <p:nvPr/>
          </p:nvSpPr>
          <p:spPr>
            <a:xfrm>
              <a:off x="2870200" y="4267200"/>
              <a:ext cx="825500" cy="381000"/>
            </a:xfrm>
            <a:prstGeom prst="roundRect">
              <a:avLst>
                <a:gd name="adj" fmla="val 12000"/>
              </a:avLst>
            </a:prstGeom>
            <a:solidFill>
              <a:srgbClr val="EEF0F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900" b="1">
                  <a:solidFill>
                    <a:srgbClr val="10151F"/>
                  </a:solidFill>
                  <a:latin typeface="페이퍼로지 7 Bold"/>
                  <a:ea typeface="페이퍼로지 7 Bold"/>
                  <a:cs typeface="페이퍼로지 7 Bold"/>
                </a:rPr>
                <a:t>2차 관리자</a:t>
              </a:r>
            </a:p>
          </p:txBody>
        </p:sp>
        <p:sp>
          <p:nvSpPr>
            <p:cNvPr id="344" name="Rectangle 343"/>
            <p:cNvSpPr/>
            <p:nvPr/>
          </p:nvSpPr>
          <p:spPr>
            <a:xfrm>
              <a:off x="3695700" y="4267200"/>
              <a:ext cx="1524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1200" b="1">
                  <a:solidFill>
                    <a:srgbClr val="6A7180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›</a:t>
              </a:r>
            </a:p>
          </p:txBody>
        </p:sp>
        <p:sp>
          <p:nvSpPr>
            <p:cNvPr id="345" name="Rounded Rectangle 344"/>
            <p:cNvSpPr/>
            <p:nvPr/>
          </p:nvSpPr>
          <p:spPr>
            <a:xfrm>
              <a:off x="3848100" y="4267200"/>
              <a:ext cx="825500" cy="381000"/>
            </a:xfrm>
            <a:prstGeom prst="roundRect">
              <a:avLst>
                <a:gd name="adj" fmla="val 12000"/>
              </a:avLst>
            </a:prstGeom>
            <a:solidFill>
              <a:srgbClr val="E30C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900" b="1">
                  <a:solidFill>
                    <a:srgbClr val="FFFFFF"/>
                  </a:solidFill>
                  <a:latin typeface="페이퍼로지 7 Bold"/>
                  <a:ea typeface="페이퍼로지 7 Bold"/>
                  <a:cs typeface="페이퍼로지 7 Bold"/>
                </a:rPr>
                <a:t>전문가 투입</a:t>
              </a:r>
            </a:p>
          </p:txBody>
        </p:sp>
        <p:sp>
          <p:nvSpPr>
            <p:cNvPr id="346" name="Rectangle 345"/>
            <p:cNvSpPr/>
            <p:nvPr/>
          </p:nvSpPr>
          <p:spPr>
            <a:xfrm>
              <a:off x="2641600" y="4089400"/>
              <a:ext cx="762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900" b="1">
                  <a:solidFill>
                    <a:srgbClr val="E30C60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즉시보고 ↓</a:t>
              </a:r>
            </a:p>
          </p:txBody>
        </p:sp>
        <p:sp>
          <p:nvSpPr>
            <p:cNvPr id="347" name="Rectangle 346"/>
            <p:cNvSpPr/>
            <p:nvPr/>
          </p:nvSpPr>
          <p:spPr>
            <a:xfrm>
              <a:off x="914400" y="4775200"/>
              <a:ext cx="2540000" cy="177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l">
                <a:lnSpc>
                  <a:spcPct val="110000"/>
                </a:lnSpc>
              </a:pPr>
              <a:r>
                <a:rPr lang="ko-KR" sz="1000" b="1">
                  <a:solidFill>
                    <a:srgbClr val="10151F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핵심장비 장애 발생 시</a:t>
              </a:r>
            </a:p>
          </p:txBody>
        </p:sp>
        <p:sp>
          <p:nvSpPr>
            <p:cNvPr id="348" name="Rounded Rectangle 347"/>
            <p:cNvSpPr/>
            <p:nvPr/>
          </p:nvSpPr>
          <p:spPr>
            <a:xfrm>
              <a:off x="914400" y="5003800"/>
              <a:ext cx="1168400" cy="381000"/>
            </a:xfrm>
            <a:prstGeom prst="roundRect">
              <a:avLst>
                <a:gd name="adj" fmla="val 12000"/>
              </a:avLst>
            </a:prstGeom>
            <a:solidFill>
              <a:srgbClr val="EEF0F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900" b="1">
                  <a:solidFill>
                    <a:srgbClr val="10151F"/>
                  </a:solidFill>
                  <a:latin typeface="페이퍼로지 7 Bold"/>
                  <a:ea typeface="페이퍼로지 7 Bold"/>
                  <a:cs typeface="페이퍼로지 7 Bold"/>
                </a:rPr>
                <a:t>장애 발생</a:t>
              </a:r>
            </a:p>
          </p:txBody>
        </p:sp>
        <p:sp>
          <p:nvSpPr>
            <p:cNvPr id="349" name="Rectangle 348"/>
            <p:cNvSpPr/>
            <p:nvPr/>
          </p:nvSpPr>
          <p:spPr>
            <a:xfrm>
              <a:off x="2082800" y="5003800"/>
              <a:ext cx="1524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1200" b="1">
                  <a:solidFill>
                    <a:srgbClr val="6A7180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›</a:t>
              </a:r>
            </a:p>
          </p:txBody>
        </p:sp>
        <p:sp>
          <p:nvSpPr>
            <p:cNvPr id="350" name="Rounded Rectangle 349"/>
            <p:cNvSpPr/>
            <p:nvPr/>
          </p:nvSpPr>
          <p:spPr>
            <a:xfrm>
              <a:off x="2235200" y="5003800"/>
              <a:ext cx="1168400" cy="381000"/>
            </a:xfrm>
            <a:prstGeom prst="roundRect">
              <a:avLst>
                <a:gd name="adj" fmla="val 12000"/>
              </a:avLst>
            </a:prstGeom>
            <a:solidFill>
              <a:srgbClr val="E30C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900" b="1">
                  <a:solidFill>
                    <a:srgbClr val="FFFFFF"/>
                  </a:solidFill>
                  <a:latin typeface="페이퍼로지 7 Bold"/>
                  <a:ea typeface="페이퍼로지 7 Bold"/>
                  <a:cs typeface="페이퍼로지 7 Bold"/>
                </a:rPr>
                <a:t>전문가·관리자 즉시 투입</a:t>
              </a:r>
            </a:p>
          </p:txBody>
        </p:sp>
        <p:sp>
          <p:nvSpPr>
            <p:cNvPr id="351" name="Rounded Rectangle 350"/>
            <p:cNvSpPr/>
            <p:nvPr/>
          </p:nvSpPr>
          <p:spPr>
            <a:xfrm>
              <a:off x="3632200" y="4826000"/>
              <a:ext cx="1143000" cy="203200"/>
            </a:xfrm>
            <a:prstGeom prst="roundRect">
              <a:avLst>
                <a:gd name="adj" fmla="val 20000"/>
              </a:avLst>
            </a:prstGeom>
            <a:solidFill>
              <a:srgbClr val="E30C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900" b="1">
                  <a:solidFill>
                    <a:srgbClr val="FFFFFF"/>
                  </a:solidFill>
                  <a:latin typeface="페이퍼로지 7 Bold"/>
                  <a:ea typeface="페이퍼로지 7 Bold"/>
                  <a:cs typeface="페이퍼로지 7 Bold"/>
                </a:rPr>
                <a:t>비상 협력 체계</a:t>
              </a:r>
            </a:p>
          </p:txBody>
        </p:sp>
        <p:pic>
          <p:nvPicPr>
            <p:cNvPr id="352" name="Picture 351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06800" y="5054600"/>
              <a:ext cx="1168400" cy="247161"/>
            </a:xfrm>
            <a:prstGeom prst="rect">
              <a:avLst/>
            </a:prstGeom>
          </p:spPr>
        </p:pic>
        <p:sp>
          <p:nvSpPr>
            <p:cNvPr id="353" name="Rectangle 352"/>
            <p:cNvSpPr/>
            <p:nvPr/>
          </p:nvSpPr>
          <p:spPr>
            <a:xfrm>
              <a:off x="3606800" y="5308600"/>
              <a:ext cx="558800" cy="203200"/>
            </a:xfrm>
            <a:prstGeom prst="rect">
              <a:avLst/>
            </a:prstGeom>
            <a:noFill/>
            <a:ln w="9525">
              <a:solidFill>
                <a:srgbClr val="2B3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900" b="1">
                  <a:solidFill>
                    <a:srgbClr val="2B3A8C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본사</a:t>
              </a:r>
            </a:p>
          </p:txBody>
        </p:sp>
        <p:sp>
          <p:nvSpPr>
            <p:cNvPr id="354" name="Rectangle 353"/>
            <p:cNvSpPr/>
            <p:nvPr/>
          </p:nvSpPr>
          <p:spPr>
            <a:xfrm>
              <a:off x="4216400" y="5308600"/>
              <a:ext cx="558800" cy="203200"/>
            </a:xfrm>
            <a:prstGeom prst="rect">
              <a:avLst/>
            </a:prstGeom>
            <a:noFill/>
            <a:ln w="9525">
              <a:solidFill>
                <a:srgbClr val="2B3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900" b="1">
                  <a:solidFill>
                    <a:srgbClr val="2B3A8C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센터</a:t>
              </a:r>
            </a:p>
          </p:txBody>
        </p:sp>
      </p:grpSp>
      <p:sp>
        <p:nvSpPr>
          <p:cNvPr id="355" name="Rectangle 354"/>
          <p:cNvSpPr/>
          <p:nvPr/>
        </p:nvSpPr>
        <p:spPr>
          <a:xfrm>
            <a:off x="863600" y="5867400"/>
            <a:ext cx="3810000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주기적 모의훈련 및 비상 프로세스 수립</a:t>
            </a:r>
          </a:p>
        </p:txBody>
      </p:sp>
      <p:sp>
        <p:nvSpPr>
          <p:cNvPr id="356" name="Rounded Rectangle 355"/>
          <p:cNvSpPr/>
          <p:nvPr/>
        </p:nvSpPr>
        <p:spPr>
          <a:xfrm>
            <a:off x="5308600" y="1574800"/>
            <a:ext cx="3810000" cy="279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업무시설 보호·개선 방안</a:t>
            </a:r>
          </a:p>
        </p:txBody>
      </p:sp>
      <p:sp>
        <p:nvSpPr>
          <p:cNvPr id="358" name="Rectangle 357"/>
          <p:cNvSpPr/>
          <p:nvPr/>
        </p:nvSpPr>
        <p:spPr>
          <a:xfrm>
            <a:off x="6273800" y="1981200"/>
            <a:ext cx="1397000" cy="279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4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ASP 담당</a:t>
            </a:r>
          </a:p>
        </p:txBody>
      </p:sp>
      <p:sp>
        <p:nvSpPr>
          <p:cNvPr id="359" name="Rectangle 358"/>
          <p:cNvSpPr/>
          <p:nvPr/>
        </p:nvSpPr>
        <p:spPr>
          <a:xfrm>
            <a:off x="6273800" y="2286000"/>
            <a:ext cx="1397000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김종필 </a:t>
            </a: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과장</a:t>
            </a:r>
          </a:p>
        </p:txBody>
      </p:sp>
      <p:sp>
        <p:nvSpPr>
          <p:cNvPr id="360" name="Rounded Rectangle 359"/>
          <p:cNvSpPr/>
          <p:nvPr/>
        </p:nvSpPr>
        <p:spPr>
          <a:xfrm>
            <a:off x="7848600" y="2032000"/>
            <a:ext cx="1346200" cy="330200"/>
          </a:xfrm>
          <a:prstGeom prst="roundRect">
            <a:avLst>
              <a:gd name="adj" fmla="val 15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 dirty="0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시설관리 매뉴얼</a:t>
            </a:r>
          </a:p>
          <a:p>
            <a:pPr algn="ctr">
              <a:lnSpc>
                <a:spcPct val="110000"/>
              </a:lnSpc>
            </a:pPr>
            <a:r>
              <a:rPr lang="ko-KR" sz="900" b="1" dirty="0" err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제작·배포</a:t>
            </a:r>
            <a:endParaRPr lang="ko-KR" sz="900" b="1" dirty="0">
              <a:solidFill>
                <a:srgbClr val="FFFFFF"/>
              </a:solidFill>
              <a:latin typeface="페이퍼로지 7 Bold"/>
              <a:ea typeface="페이퍼로지 7 Bold"/>
              <a:cs typeface="페이퍼로지 7 Bold"/>
            </a:endParaRPr>
          </a:p>
        </p:txBody>
      </p:sp>
      <p:sp>
        <p:nvSpPr>
          <p:cNvPr id="361" name="Rectangle 360"/>
          <p:cNvSpPr/>
          <p:nvPr/>
        </p:nvSpPr>
        <p:spPr>
          <a:xfrm>
            <a:off x="6273800" y="2540000"/>
            <a:ext cx="2997200" cy="812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ASP 총괄 운영 15년 경력 보유</a:t>
            </a:r>
          </a:p>
          <a:p>
            <a:pPr algn="l">
              <a:lnSpc>
                <a:spcPct val="13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시설 환경 점검 및 유지보수 담당</a:t>
            </a:r>
          </a:p>
          <a:p>
            <a:pPr algn="l">
              <a:lnSpc>
                <a:spcPct val="13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시스템 장애 발생 대응</a:t>
            </a:r>
          </a:p>
          <a:p>
            <a:pPr algn="l">
              <a:lnSpc>
                <a:spcPct val="13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제안사 자체 보유 ASP 및 고객사 ASP 수시 관리</a:t>
            </a:r>
          </a:p>
        </p:txBody>
      </p:sp>
      <p:sp>
        <p:nvSpPr>
          <p:cNvPr id="362" name="Rounded Rectangle 361"/>
          <p:cNvSpPr/>
          <p:nvPr/>
        </p:nvSpPr>
        <p:spPr>
          <a:xfrm>
            <a:off x="5308600" y="3683000"/>
            <a:ext cx="3810000" cy="279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수도권 대형 자체 보유 ASP 관리 노하우</a:t>
            </a:r>
          </a:p>
        </p:txBody>
      </p:sp>
      <p:sp>
        <p:nvSpPr>
          <p:cNvPr id="363" name="Rounded Rectangle 362"/>
          <p:cNvSpPr/>
          <p:nvPr/>
        </p:nvSpPr>
        <p:spPr>
          <a:xfrm>
            <a:off x="5207000" y="4038600"/>
            <a:ext cx="2006600" cy="9906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6" name="Rectangle 365"/>
          <p:cNvSpPr/>
          <p:nvPr/>
        </p:nvSpPr>
        <p:spPr>
          <a:xfrm>
            <a:off x="5892800" y="4114800"/>
            <a:ext cx="1270000" cy="838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35000"/>
              </a:lnSpc>
            </a:pPr>
            <a:r>
              <a:rPr lang="ko-KR" sz="9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1 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'25년 신규 센터 구축</a:t>
            </a:r>
          </a:p>
          <a:p>
            <a:pPr algn="l">
              <a:lnSpc>
                <a:spcPct val="135000"/>
              </a:lnSpc>
            </a:pPr>
            <a:r>
              <a:rPr lang="ko-KR" sz="9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2 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구로디지털단지 도보 5분</a:t>
            </a:r>
          </a:p>
          <a:p>
            <a:pPr algn="l">
              <a:lnSpc>
                <a:spcPct val="135000"/>
              </a:lnSpc>
            </a:pPr>
            <a:r>
              <a:rPr lang="ko-KR" sz="9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3 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총 </a:t>
            </a:r>
            <a:r>
              <a:rPr lang="en-US" alt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270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석 인력 근무 가능</a:t>
            </a:r>
          </a:p>
        </p:txBody>
      </p:sp>
      <p:sp>
        <p:nvSpPr>
          <p:cNvPr id="367" name="Rounded Rectangle 366"/>
          <p:cNvSpPr/>
          <p:nvPr/>
        </p:nvSpPr>
        <p:spPr>
          <a:xfrm>
            <a:off x="7289800" y="4038600"/>
            <a:ext cx="2006600" cy="9906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0" name="Rectangle 369"/>
          <p:cNvSpPr/>
          <p:nvPr/>
        </p:nvSpPr>
        <p:spPr>
          <a:xfrm>
            <a:off x="7975600" y="4114800"/>
            <a:ext cx="1270000" cy="838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35000"/>
              </a:lnSpc>
            </a:pP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1 </a:t>
            </a: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비상 인력 상시 근무</a:t>
            </a:r>
          </a:p>
          <a:p>
            <a:pPr algn="l">
              <a:lnSpc>
                <a:spcPct val="135000"/>
              </a:lnSpc>
            </a:pP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2 </a:t>
            </a: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가산디지털단지 도보 5분</a:t>
            </a:r>
          </a:p>
          <a:p>
            <a:pPr algn="l">
              <a:lnSpc>
                <a:spcPct val="135000"/>
              </a:lnSpc>
            </a:pP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3 </a:t>
            </a: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총 200석 인력 근무 가능</a:t>
            </a:r>
          </a:p>
        </p:txBody>
      </p:sp>
      <p:sp>
        <p:nvSpPr>
          <p:cNvPr id="371" name="Rounded Rectangle 370"/>
          <p:cNvSpPr/>
          <p:nvPr/>
        </p:nvSpPr>
        <p:spPr>
          <a:xfrm>
            <a:off x="5207000" y="5105400"/>
            <a:ext cx="2006600" cy="9906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4" name="Rectangle 373"/>
          <p:cNvSpPr/>
          <p:nvPr/>
        </p:nvSpPr>
        <p:spPr>
          <a:xfrm>
            <a:off x="5892800" y="5181600"/>
            <a:ext cx="1270000" cy="838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35000"/>
              </a:lnSpc>
            </a:pP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1 </a:t>
            </a: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2·3·4·5호선 인접</a:t>
            </a:r>
          </a:p>
          <a:p>
            <a:pPr algn="l">
              <a:lnSpc>
                <a:spcPct val="135000"/>
              </a:lnSpc>
            </a:pP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2 </a:t>
            </a: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을지로3가 도보 3분</a:t>
            </a:r>
          </a:p>
          <a:p>
            <a:pPr algn="l">
              <a:lnSpc>
                <a:spcPct val="135000"/>
              </a:lnSpc>
            </a:pP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3 </a:t>
            </a: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총 450석 인력 근무 가능</a:t>
            </a:r>
          </a:p>
        </p:txBody>
      </p:sp>
      <p:sp>
        <p:nvSpPr>
          <p:cNvPr id="375" name="Rounded Rectangle 374"/>
          <p:cNvSpPr/>
          <p:nvPr/>
        </p:nvSpPr>
        <p:spPr>
          <a:xfrm>
            <a:off x="7289800" y="5105400"/>
            <a:ext cx="2006600" cy="9906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8" name="Rectangle 377"/>
          <p:cNvSpPr/>
          <p:nvPr/>
        </p:nvSpPr>
        <p:spPr>
          <a:xfrm>
            <a:off x="7975600" y="5181600"/>
            <a:ext cx="1270000" cy="838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35000"/>
              </a:lnSpc>
            </a:pPr>
            <a:r>
              <a:rPr lang="ko-KR" sz="9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1 </a:t>
            </a:r>
            <a:r>
              <a:rPr lang="ko-KR" sz="9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KB손보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전용 신규 구축</a:t>
            </a:r>
          </a:p>
          <a:p>
            <a:pPr algn="l">
              <a:lnSpc>
                <a:spcPct val="135000"/>
              </a:lnSpc>
            </a:pPr>
            <a:r>
              <a:rPr lang="ko-KR" sz="9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2 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송내역 도보 2분</a:t>
            </a:r>
          </a:p>
          <a:p>
            <a:pPr algn="l">
              <a:lnSpc>
                <a:spcPct val="135000"/>
              </a:lnSpc>
            </a:pPr>
            <a:r>
              <a:rPr lang="ko-KR" sz="9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3 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총 </a:t>
            </a:r>
            <a:r>
              <a:rPr lang="en-US" alt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200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석 인력 근무 가능</a:t>
            </a:r>
          </a:p>
        </p:txBody>
      </p:sp>
      <p:pic>
        <p:nvPicPr>
          <p:cNvPr id="57" name="그림 56">
            <a:extLst>
              <a:ext uri="{FF2B5EF4-FFF2-40B4-BE49-F238E27FC236}">
                <a16:creationId xmlns:a16="http://schemas.microsoft.com/office/drawing/2014/main" id="{E1736E07-17E0-4A8C-9B24-FA31AB4F5FC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83" b="95920" l="9924" r="89967">
                        <a14:foregroundMark x1="50491" y1="35590" x2="47764" y2="55382"/>
                        <a14:foregroundMark x1="53544" y1="42882" x2="64013" y2="64063"/>
                        <a14:foregroundMark x1="64013" y1="64063" x2="64013" y2="64063"/>
                        <a14:foregroundMark x1="45583" y1="38802" x2="58233" y2="53819"/>
                        <a14:foregroundMark x1="58233" y1="53819" x2="58451" y2="53819"/>
                        <a14:foregroundMark x1="45147" y1="33854" x2="42639" y2="41667"/>
                        <a14:foregroundMark x1="58451" y1="42708" x2="67285" y2="64236"/>
                        <a14:foregroundMark x1="72628" y1="88368" x2="68157" y2="95920"/>
                        <a14:foregroundMark x1="50055" y1="17795" x2="48201" y2="43750"/>
                        <a14:foregroundMark x1="51799" y1="11458" x2="43184" y2="1449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b="7429"/>
          <a:stretch/>
        </p:blipFill>
        <p:spPr>
          <a:xfrm>
            <a:off x="5025231" y="1786554"/>
            <a:ext cx="1565580" cy="1710031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4B785CE7-2F82-47A1-A807-C737591A8F3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10792" y="4223055"/>
            <a:ext cx="443816" cy="532715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6C6013B1-9416-40D3-9617-071D4865A11F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5639" r="-3161"/>
          <a:stretch/>
        </p:blipFill>
        <p:spPr>
          <a:xfrm>
            <a:off x="5330902" y="4087851"/>
            <a:ext cx="450850" cy="664197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739C8DF4-1964-4653-B298-E5BB8E36950E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clrChange>
              <a:clrFrom>
                <a:srgbClr val="E4F5F7"/>
              </a:clrFrom>
              <a:clrTo>
                <a:srgbClr val="E4F5F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15032" y="5224421"/>
            <a:ext cx="466720" cy="594533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2694305A-1E40-4882-9D70-74BB6C26077A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711" b="89827" l="9920" r="89902">
                        <a14:foregroundMark x1="22878" y1="77341" x2="69437" y2="78497"/>
                        <a14:foregroundMark x1="69437" y1="78497" x2="73727" y2="78382"/>
                        <a14:foregroundMark x1="60322" y1="84509" x2="74620" y2="83121"/>
                        <a14:foregroundMark x1="74620" y1="83121" x2="74710" y2="83121"/>
                        <a14:foregroundMark x1="38517" y1="11098" x2="60679" y2="12023"/>
                        <a14:foregroundMark x1="60679" y1="12023" x2="61126" y2="12023"/>
                        <a14:foregroundMark x1="41734" y1="9827" x2="41734" y2="9827"/>
                        <a14:foregroundMark x1="41734" y1="9827" x2="46113" y2="9711"/>
                        <a14:backgroundMark x1="26452" y1="18844" x2="17158" y2="3745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98508" y="5320562"/>
            <a:ext cx="665907" cy="606319"/>
          </a:xfrm>
          <a:prstGeom prst="rect">
            <a:avLst/>
          </a:prstGeom>
        </p:spPr>
      </p:pic>
      <p:sp>
        <p:nvSpPr>
          <p:cNvPr id="377" name="Rounded Rectangle 376"/>
          <p:cNvSpPr/>
          <p:nvPr/>
        </p:nvSpPr>
        <p:spPr>
          <a:xfrm>
            <a:off x="7340600" y="5816600"/>
            <a:ext cx="584200" cy="177800"/>
          </a:xfrm>
          <a:prstGeom prst="roundRect">
            <a:avLst>
              <a:gd name="adj" fmla="val 50000"/>
            </a:avLst>
          </a:prstGeom>
          <a:solidFill>
            <a:srgbClr val="6A7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부천센터</a:t>
            </a:r>
          </a:p>
        </p:txBody>
      </p:sp>
      <p:sp>
        <p:nvSpPr>
          <p:cNvPr id="373" name="Rounded Rectangle 372"/>
          <p:cNvSpPr/>
          <p:nvPr/>
        </p:nvSpPr>
        <p:spPr>
          <a:xfrm>
            <a:off x="5257800" y="5816600"/>
            <a:ext cx="584200" cy="177800"/>
          </a:xfrm>
          <a:prstGeom prst="roundRect">
            <a:avLst>
              <a:gd name="adj" fmla="val 50000"/>
            </a:avLst>
          </a:prstGeom>
          <a:solidFill>
            <a:srgbClr val="6A7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을지로센터</a:t>
            </a:r>
          </a:p>
        </p:txBody>
      </p:sp>
      <p:sp>
        <p:nvSpPr>
          <p:cNvPr id="365" name="Rounded Rectangle 364"/>
          <p:cNvSpPr/>
          <p:nvPr/>
        </p:nvSpPr>
        <p:spPr>
          <a:xfrm>
            <a:off x="5257800" y="4749800"/>
            <a:ext cx="584200" cy="177800"/>
          </a:xfrm>
          <a:prstGeom prst="roundRect">
            <a:avLst>
              <a:gd name="adj" fmla="val 50000"/>
            </a:avLst>
          </a:prstGeom>
          <a:solidFill>
            <a:srgbClr val="6A7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 dirty="0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구로센터</a:t>
            </a:r>
          </a:p>
        </p:txBody>
      </p:sp>
      <p:sp>
        <p:nvSpPr>
          <p:cNvPr id="369" name="Rounded Rectangle 368"/>
          <p:cNvSpPr/>
          <p:nvPr/>
        </p:nvSpPr>
        <p:spPr>
          <a:xfrm>
            <a:off x="7340600" y="4749800"/>
            <a:ext cx="584200" cy="177800"/>
          </a:xfrm>
          <a:prstGeom prst="roundRect">
            <a:avLst>
              <a:gd name="adj" fmla="val 50000"/>
            </a:avLst>
          </a:prstGeom>
          <a:solidFill>
            <a:srgbClr val="6A7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가산센터</a:t>
            </a:r>
          </a:p>
        </p:txBody>
      </p:sp>
    </p:spTree>
    <p:extLst>
      <p:ext uri="{BB962C8B-B14F-4D97-AF65-F5344CB8AC3E}">
        <p14:creationId xmlns:p14="http://schemas.microsoft.com/office/powerpoint/2010/main" val="32658320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Rectangle 2">
            <a:extLst>
              <a:ext uri="{FF2B5EF4-FFF2-40B4-BE49-F238E27FC236}">
                <a16:creationId xmlns:a16="http://schemas.microsoft.com/office/drawing/2014/main" id="{66282572-5816-422F-A5F6-6F46198BC839}"/>
              </a:ext>
            </a:extLst>
          </p:cNvPr>
          <p:cNvSpPr/>
          <p:nvPr/>
        </p:nvSpPr>
        <p:spPr>
          <a:xfrm>
            <a:off x="1929606" y="381000"/>
            <a:ext cx="61912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altLang="ko-KR" sz="900" b="0" dirty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3-1 ⑥ 시스템 및 정보보안</a:t>
            </a:r>
            <a:endParaRPr lang="ko-KR" sz="900" b="0" dirty="0">
              <a:solidFill>
                <a:srgbClr val="A50034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179" name="Rectangle 3">
            <a:extLst>
              <a:ext uri="{FF2B5EF4-FFF2-40B4-BE49-F238E27FC236}">
                <a16:creationId xmlns:a16="http://schemas.microsoft.com/office/drawing/2014/main" id="{32FA807B-A07A-47B7-8748-91F14EE4A93C}"/>
              </a:ext>
            </a:extLst>
          </p:cNvPr>
          <p:cNvSpPr/>
          <p:nvPr/>
        </p:nvSpPr>
        <p:spPr>
          <a:xfrm>
            <a:off x="846138" y="660400"/>
            <a:ext cx="8461375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0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고객 정보를 지키는 </a:t>
            </a:r>
            <a:r>
              <a:rPr lang="ko-KR" sz="20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시스템과 보안</a:t>
            </a:r>
            <a:r>
              <a:rPr lang="ko-KR" sz="20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 관리 체계</a:t>
            </a:r>
          </a:p>
        </p:txBody>
      </p:sp>
      <p:sp>
        <p:nvSpPr>
          <p:cNvPr id="180" name="Rectangle 4">
            <a:extLst>
              <a:ext uri="{FF2B5EF4-FFF2-40B4-BE49-F238E27FC236}">
                <a16:creationId xmlns:a16="http://schemas.microsoft.com/office/drawing/2014/main" id="{AFA34CF8-6FC8-470E-A633-424A91EECBE9}"/>
              </a:ext>
            </a:extLst>
          </p:cNvPr>
          <p:cNvSpPr/>
          <p:nvPr/>
        </p:nvSpPr>
        <p:spPr>
          <a:xfrm>
            <a:off x="846138" y="1079500"/>
            <a:ext cx="84613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LG전자의 보안 기준을 따르고, 본사 보안 조직이 함께 점검하겠습니다.</a:t>
            </a:r>
          </a:p>
        </p:txBody>
      </p:sp>
      <p:sp>
        <p:nvSpPr>
          <p:cNvPr id="181" name="Rectangle 78">
            <a:extLst>
              <a:ext uri="{FF2B5EF4-FFF2-40B4-BE49-F238E27FC236}">
                <a16:creationId xmlns:a16="http://schemas.microsoft.com/office/drawing/2014/main" id="{7D347CCC-3F77-43D2-A599-83BD1A2ACE74}"/>
              </a:ext>
            </a:extLst>
          </p:cNvPr>
          <p:cNvSpPr/>
          <p:nvPr/>
        </p:nvSpPr>
        <p:spPr>
          <a:xfrm>
            <a:off x="4540250" y="64770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fld id="{B6F15528-21DE-4FAA-801E-634DDDAF4B2B}" type="slidenum"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38</a:t>
            </a:fld>
            <a:r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 / 49</a:t>
            </a:r>
            <a:endParaRPr lang="ko-KR" sz="600" b="0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pic>
        <p:nvPicPr>
          <p:cNvPr id="329" name="Picture 3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  <p:sp>
        <p:nvSpPr>
          <p:cNvPr id="330" name="Rounded Rectangle 329"/>
          <p:cNvSpPr/>
          <p:nvPr/>
        </p:nvSpPr>
        <p:spPr>
          <a:xfrm>
            <a:off x="660400" y="1422400"/>
            <a:ext cx="4826000" cy="482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1" name="Rounded Rectangle 330"/>
          <p:cNvSpPr/>
          <p:nvPr/>
        </p:nvSpPr>
        <p:spPr>
          <a:xfrm>
            <a:off x="5638800" y="1422400"/>
            <a:ext cx="3708400" cy="482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2" name="Rounded Rectangle 331"/>
          <p:cNvSpPr/>
          <p:nvPr/>
        </p:nvSpPr>
        <p:spPr>
          <a:xfrm>
            <a:off x="914400" y="1574800"/>
            <a:ext cx="4318000" cy="279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 dirty="0" err="1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LG전자</a:t>
            </a:r>
            <a:r>
              <a:rPr lang="ko-KR" sz="1100" b="1" dirty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 고객센터 보안관리 프로세스</a:t>
            </a:r>
          </a:p>
        </p:txBody>
      </p:sp>
      <p:sp>
        <p:nvSpPr>
          <p:cNvPr id="333" name="Rectangle 332"/>
          <p:cNvSpPr/>
          <p:nvPr/>
        </p:nvSpPr>
        <p:spPr>
          <a:xfrm>
            <a:off x="812800" y="1955800"/>
            <a:ext cx="1778000" cy="254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LG전자 고객센터 보안규정 점검 수행</a:t>
            </a:r>
          </a:p>
        </p:txBody>
      </p:sp>
      <p:sp>
        <p:nvSpPr>
          <p:cNvPr id="334" name="Rectangle 333"/>
          <p:cNvSpPr/>
          <p:nvPr/>
        </p:nvSpPr>
        <p:spPr>
          <a:xfrm>
            <a:off x="812800" y="2260600"/>
            <a:ext cx="1778000" cy="254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보안 추가 개선사항 협의 후 관리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812800" y="2565400"/>
            <a:ext cx="1778000" cy="254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상담사 보안 교육 실시</a:t>
            </a:r>
          </a:p>
        </p:txBody>
      </p:sp>
      <p:pic>
        <p:nvPicPr>
          <p:cNvPr id="336" name="Picture 33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000" y="1955800"/>
            <a:ext cx="1244600" cy="856577"/>
          </a:xfrm>
          <a:prstGeom prst="rect">
            <a:avLst/>
          </a:prstGeom>
        </p:spPr>
      </p:pic>
      <p:sp>
        <p:nvSpPr>
          <p:cNvPr id="337" name="Rectangle 336"/>
          <p:cNvSpPr/>
          <p:nvPr/>
        </p:nvSpPr>
        <p:spPr>
          <a:xfrm>
            <a:off x="3987800" y="1955800"/>
            <a:ext cx="1371600" cy="863600"/>
          </a:xfrm>
          <a:prstGeom prst="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ko-KR" sz="10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책임제 시행</a:t>
            </a:r>
          </a:p>
          <a:p>
            <a:pPr algn="ctr">
              <a:lnSpc>
                <a:spcPct val="115000"/>
              </a:lnSpc>
            </a:pPr>
            <a:r>
              <a:rPr lang="ko-KR" sz="900" b="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제안사 이슈 및 상담사</a:t>
            </a:r>
          </a:p>
          <a:p>
            <a:pPr algn="ctr">
              <a:lnSpc>
                <a:spcPct val="115000"/>
              </a:lnSpc>
            </a:pPr>
            <a:r>
              <a:rPr lang="ko-KR" sz="900" b="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과실 발생 시</a:t>
            </a:r>
          </a:p>
          <a:p>
            <a:pPr algn="ctr">
              <a:lnSpc>
                <a:spcPct val="115000"/>
              </a:lnSpc>
            </a:pPr>
            <a:r>
              <a:rPr lang="ko-KR" sz="1200" b="1">
                <a:solidFill>
                  <a:srgbClr val="FFFFFF"/>
                </a:solidFill>
                <a:latin typeface="페이퍼로지 9 Black"/>
                <a:ea typeface="페이퍼로지 9 Black"/>
                <a:cs typeface="페이퍼로지 9 Black"/>
              </a:rPr>
              <a:t>100% 책임운영</a:t>
            </a:r>
          </a:p>
        </p:txBody>
      </p:sp>
      <p:sp>
        <p:nvSpPr>
          <p:cNvPr id="338" name="Rounded Rectangle 337"/>
          <p:cNvSpPr/>
          <p:nvPr/>
        </p:nvSpPr>
        <p:spPr>
          <a:xfrm>
            <a:off x="787400" y="2946400"/>
            <a:ext cx="4572000" cy="1574800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9" name="Rectangle 338"/>
          <p:cNvSpPr/>
          <p:nvPr/>
        </p:nvSpPr>
        <p:spPr>
          <a:xfrm>
            <a:off x="889000" y="2997200"/>
            <a:ext cx="3302000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체계적 개인정보 보안관리 프로세스 확립</a:t>
            </a:r>
          </a:p>
        </p:txBody>
      </p:sp>
      <p:sp>
        <p:nvSpPr>
          <p:cNvPr id="340" name="Rounded Rectangle 339"/>
          <p:cNvSpPr/>
          <p:nvPr/>
        </p:nvSpPr>
        <p:spPr>
          <a:xfrm>
            <a:off x="889000" y="3251200"/>
            <a:ext cx="584200" cy="381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8A9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사전</a:t>
            </a:r>
          </a:p>
          <a:p>
            <a:pPr algn="ctr">
              <a:lnSpc>
                <a:spcPct val="105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관리</a:t>
            </a:r>
          </a:p>
        </p:txBody>
      </p:sp>
      <p:sp>
        <p:nvSpPr>
          <p:cNvPr id="341" name="Rectangle 340"/>
          <p:cNvSpPr/>
          <p:nvPr/>
        </p:nvSpPr>
        <p:spPr>
          <a:xfrm>
            <a:off x="812800" y="3683000"/>
            <a:ext cx="7366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보안계획 수립</a:t>
            </a:r>
          </a:p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·정보보호 서약</a:t>
            </a:r>
          </a:p>
        </p:txBody>
      </p:sp>
      <p:sp>
        <p:nvSpPr>
          <p:cNvPr id="342" name="Rounded Rectangle 341"/>
          <p:cNvSpPr/>
          <p:nvPr/>
        </p:nvSpPr>
        <p:spPr>
          <a:xfrm>
            <a:off x="1625600" y="3251200"/>
            <a:ext cx="584200" cy="381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8A9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안전</a:t>
            </a:r>
          </a:p>
          <a:p>
            <a:pPr algn="ctr">
              <a:lnSpc>
                <a:spcPct val="105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조치</a:t>
            </a:r>
          </a:p>
        </p:txBody>
      </p:sp>
      <p:sp>
        <p:nvSpPr>
          <p:cNvPr id="343" name="Rectangle 342"/>
          <p:cNvSpPr/>
          <p:nvPr/>
        </p:nvSpPr>
        <p:spPr>
          <a:xfrm>
            <a:off x="1549400" y="3683000"/>
            <a:ext cx="7366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계정관리</a:t>
            </a:r>
          </a:p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현황 점검</a:t>
            </a:r>
          </a:p>
        </p:txBody>
      </p:sp>
      <p:sp>
        <p:nvSpPr>
          <p:cNvPr id="344" name="Rounded Rectangle 343"/>
          <p:cNvSpPr/>
          <p:nvPr/>
        </p:nvSpPr>
        <p:spPr>
          <a:xfrm>
            <a:off x="2362200" y="3251200"/>
            <a:ext cx="584200" cy="381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8A9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보안</a:t>
            </a:r>
          </a:p>
          <a:p>
            <a:pPr algn="ctr">
              <a:lnSpc>
                <a:spcPct val="105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교육</a:t>
            </a:r>
          </a:p>
        </p:txBody>
      </p:sp>
      <p:sp>
        <p:nvSpPr>
          <p:cNvPr id="345" name="Rectangle 344"/>
          <p:cNvSpPr/>
          <p:nvPr/>
        </p:nvSpPr>
        <p:spPr>
          <a:xfrm>
            <a:off x="2286000" y="3683000"/>
            <a:ext cx="7366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정보보호교육</a:t>
            </a:r>
          </a:p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(온·오프) 필수</a:t>
            </a:r>
          </a:p>
        </p:txBody>
      </p:sp>
      <p:sp>
        <p:nvSpPr>
          <p:cNvPr id="346" name="Rounded Rectangle 345"/>
          <p:cNvSpPr/>
          <p:nvPr/>
        </p:nvSpPr>
        <p:spPr>
          <a:xfrm>
            <a:off x="3098800" y="3251200"/>
            <a:ext cx="584200" cy="381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8A9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보안</a:t>
            </a:r>
          </a:p>
          <a:p>
            <a:pPr algn="ctr">
              <a:lnSpc>
                <a:spcPct val="105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점검</a:t>
            </a:r>
          </a:p>
        </p:txBody>
      </p:sp>
      <p:sp>
        <p:nvSpPr>
          <p:cNvPr id="347" name="Rectangle 346"/>
          <p:cNvSpPr/>
          <p:nvPr/>
        </p:nvSpPr>
        <p:spPr>
          <a:xfrm>
            <a:off x="3022600" y="3683000"/>
            <a:ext cx="7366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센터·PM·본사</a:t>
            </a:r>
          </a:p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보안점검</a:t>
            </a:r>
          </a:p>
        </p:txBody>
      </p:sp>
      <p:sp>
        <p:nvSpPr>
          <p:cNvPr id="348" name="Rounded Rectangle 347"/>
          <p:cNvSpPr/>
          <p:nvPr/>
        </p:nvSpPr>
        <p:spPr>
          <a:xfrm>
            <a:off x="3835400" y="3251200"/>
            <a:ext cx="584200" cy="381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8A9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사고</a:t>
            </a:r>
          </a:p>
          <a:p>
            <a:pPr algn="ctr">
              <a:lnSpc>
                <a:spcPct val="105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관리</a:t>
            </a:r>
          </a:p>
        </p:txBody>
      </p:sp>
      <p:sp>
        <p:nvSpPr>
          <p:cNvPr id="349" name="Rectangle 348"/>
          <p:cNvSpPr/>
          <p:nvPr/>
        </p:nvSpPr>
        <p:spPr>
          <a:xfrm>
            <a:off x="3759200" y="3683000"/>
            <a:ext cx="7366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사고사례 분석</a:t>
            </a:r>
          </a:p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·추가교육</a:t>
            </a:r>
          </a:p>
        </p:txBody>
      </p:sp>
      <p:sp>
        <p:nvSpPr>
          <p:cNvPr id="350" name="Rounded Rectangle 349"/>
          <p:cNvSpPr/>
          <p:nvPr/>
        </p:nvSpPr>
        <p:spPr>
          <a:xfrm>
            <a:off x="4572000" y="3251200"/>
            <a:ext cx="584200" cy="381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8A9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총괄</a:t>
            </a:r>
          </a:p>
          <a:p>
            <a:pPr algn="ctr">
              <a:lnSpc>
                <a:spcPct val="105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관리</a:t>
            </a:r>
          </a:p>
        </p:txBody>
      </p:sp>
      <p:sp>
        <p:nvSpPr>
          <p:cNvPr id="351" name="Rectangle 350"/>
          <p:cNvSpPr/>
          <p:nvPr/>
        </p:nvSpPr>
        <p:spPr>
          <a:xfrm>
            <a:off x="4495800" y="3683000"/>
            <a:ext cx="7366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보안업무지침</a:t>
            </a:r>
          </a:p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전담조직</a:t>
            </a:r>
          </a:p>
        </p:txBody>
      </p:sp>
      <p:sp>
        <p:nvSpPr>
          <p:cNvPr id="352" name="Rectangle 351"/>
          <p:cNvSpPr/>
          <p:nvPr/>
        </p:nvSpPr>
        <p:spPr>
          <a:xfrm>
            <a:off x="889000" y="4140200"/>
            <a:ext cx="21590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ISMS 정보보호 · PIMS 개인정보보호 관리체계</a:t>
            </a:r>
          </a:p>
        </p:txBody>
      </p:sp>
      <p:sp>
        <p:nvSpPr>
          <p:cNvPr id="353" name="Rectangle 352"/>
          <p:cNvSpPr/>
          <p:nvPr/>
        </p:nvSpPr>
        <p:spPr>
          <a:xfrm>
            <a:off x="3124200" y="4140200"/>
            <a:ext cx="21590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제안사 운영 콜센터 ISMS-P 인증 획득</a:t>
            </a:r>
          </a:p>
        </p:txBody>
      </p:sp>
      <p:sp>
        <p:nvSpPr>
          <p:cNvPr id="354" name="Rectangle 353"/>
          <p:cNvSpPr/>
          <p:nvPr/>
        </p:nvSpPr>
        <p:spPr>
          <a:xfrm>
            <a:off x="787400" y="4648200"/>
            <a:ext cx="21844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LG전자 하이텔레서비스 보안정책</a:t>
            </a:r>
          </a:p>
        </p:txBody>
      </p:sp>
      <p:sp>
        <p:nvSpPr>
          <p:cNvPr id="355" name="Rectangle 354"/>
          <p:cNvSpPr/>
          <p:nvPr/>
        </p:nvSpPr>
        <p:spPr>
          <a:xfrm>
            <a:off x="3149600" y="4648200"/>
            <a:ext cx="21844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KT IS 보안정책</a:t>
            </a:r>
          </a:p>
        </p:txBody>
      </p:sp>
      <p:sp>
        <p:nvSpPr>
          <p:cNvPr id="356" name="Rounded Rectangle 355"/>
          <p:cNvSpPr/>
          <p:nvPr/>
        </p:nvSpPr>
        <p:spPr>
          <a:xfrm>
            <a:off x="787400" y="4902200"/>
            <a:ext cx="2184400" cy="1219200"/>
          </a:xfrm>
          <a:prstGeom prst="roundRect">
            <a:avLst>
              <a:gd name="adj" fmla="val 4000"/>
            </a:avLst>
          </a:prstGeom>
          <a:solidFill>
            <a:srgbClr val="FBE8EF"/>
          </a:solidFill>
          <a:ln w="9525">
            <a:solidFill>
              <a:srgbClr val="E30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7" name="Rectangle 356"/>
          <p:cNvSpPr/>
          <p:nvPr/>
        </p:nvSpPr>
        <p:spPr>
          <a:xfrm>
            <a:off x="914400" y="5003800"/>
            <a:ext cx="193040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 dirty="0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개인정보 보호법 관련 정책</a:t>
            </a:r>
          </a:p>
        </p:txBody>
      </p:sp>
      <p:sp>
        <p:nvSpPr>
          <p:cNvPr id="358" name="Rectangle 357"/>
          <p:cNvSpPr/>
          <p:nvPr/>
        </p:nvSpPr>
        <p:spPr>
          <a:xfrm>
            <a:off x="914400" y="5283200"/>
            <a:ext cx="193040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프로그램 보안 기준 준수</a:t>
            </a:r>
          </a:p>
        </p:txBody>
      </p:sp>
      <p:sp>
        <p:nvSpPr>
          <p:cNvPr id="359" name="Rectangle 358"/>
          <p:cNvSpPr/>
          <p:nvPr/>
        </p:nvSpPr>
        <p:spPr>
          <a:xfrm>
            <a:off x="787400" y="5638800"/>
            <a:ext cx="21844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0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보안 관리 범위 및 역할 지정</a:t>
            </a:r>
          </a:p>
        </p:txBody>
      </p:sp>
      <p:sp>
        <p:nvSpPr>
          <p:cNvPr id="360" name="Rounded Rectangle 359"/>
          <p:cNvSpPr/>
          <p:nvPr/>
        </p:nvSpPr>
        <p:spPr>
          <a:xfrm>
            <a:off x="3149600" y="4902200"/>
            <a:ext cx="2184400" cy="1219200"/>
          </a:xfrm>
          <a:prstGeom prst="roundRect">
            <a:avLst>
              <a:gd name="adj" fmla="val 4000"/>
            </a:avLst>
          </a:prstGeom>
          <a:solidFill>
            <a:srgbClr val="FBE8EF"/>
          </a:solidFill>
          <a:ln w="9525">
            <a:solidFill>
              <a:srgbClr val="E30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1" name="Rectangle 360"/>
          <p:cNvSpPr/>
          <p:nvPr/>
        </p:nvSpPr>
        <p:spPr>
          <a:xfrm>
            <a:off x="3276600" y="5003800"/>
            <a:ext cx="193040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altLang="en-US" sz="900" b="1" dirty="0">
                <a:solidFill>
                  <a:srgbClr val="10151F"/>
                </a:solidFill>
                <a:latin typeface="페이퍼로지 7 Bold"/>
                <a:ea typeface="페이퍼로지 7 Bold"/>
              </a:rPr>
              <a:t>개인정보 접근통제 </a:t>
            </a:r>
            <a:r>
              <a:rPr lang="en-US" altLang="ko-KR" sz="900" b="1" dirty="0">
                <a:solidFill>
                  <a:srgbClr val="10151F"/>
                </a:solidFill>
                <a:latin typeface="페이퍼로지 7 Bold"/>
                <a:ea typeface="페이퍼로지 7 Bold"/>
              </a:rPr>
              <a:t>· </a:t>
            </a:r>
            <a:r>
              <a:rPr lang="ko-KR" altLang="en-US" sz="900" b="1" dirty="0">
                <a:solidFill>
                  <a:srgbClr val="10151F"/>
                </a:solidFill>
                <a:latin typeface="페이퍼로지 7 Bold"/>
                <a:ea typeface="페이퍼로지 7 Bold"/>
              </a:rPr>
              <a:t>출력</a:t>
            </a:r>
            <a:r>
              <a:rPr lang="en-US" altLang="ko-KR" sz="900" b="1" dirty="0">
                <a:solidFill>
                  <a:srgbClr val="10151F"/>
                </a:solidFill>
                <a:latin typeface="페이퍼로지 7 Bold"/>
                <a:ea typeface="페이퍼로지 7 Bold"/>
              </a:rPr>
              <a:t>·</a:t>
            </a:r>
            <a:r>
              <a:rPr lang="ko-KR" altLang="en-US" sz="900" b="1" dirty="0">
                <a:solidFill>
                  <a:srgbClr val="10151F"/>
                </a:solidFill>
                <a:latin typeface="페이퍼로지 7 Bold"/>
                <a:ea typeface="페이퍼로지 7 Bold"/>
              </a:rPr>
              <a:t>반출 관리</a:t>
            </a:r>
          </a:p>
        </p:txBody>
      </p:sp>
      <p:sp>
        <p:nvSpPr>
          <p:cNvPr id="362" name="Rectangle 361"/>
          <p:cNvSpPr/>
          <p:nvPr/>
        </p:nvSpPr>
        <p:spPr>
          <a:xfrm>
            <a:off x="3276600" y="5283200"/>
            <a:ext cx="193040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 dirty="0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 </a:t>
            </a:r>
            <a:r>
              <a:rPr lang="ko-KR" altLang="en-US" sz="900" b="1" dirty="0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매월 정보보안 체크리스트 작성</a:t>
            </a:r>
            <a:endParaRPr lang="ko-KR" sz="900" b="1" dirty="0">
              <a:solidFill>
                <a:srgbClr val="10151F"/>
              </a:solidFill>
              <a:latin typeface="페이퍼로지 7 Bold"/>
              <a:ea typeface="페이퍼로지 7 Bold"/>
              <a:cs typeface="페이퍼로지 7 Bold"/>
            </a:endParaRPr>
          </a:p>
        </p:txBody>
      </p:sp>
      <p:sp>
        <p:nvSpPr>
          <p:cNvPr id="363" name="Rectangle 362"/>
          <p:cNvSpPr/>
          <p:nvPr/>
        </p:nvSpPr>
        <p:spPr>
          <a:xfrm>
            <a:off x="3149600" y="5638800"/>
            <a:ext cx="21844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000" b="1" dirty="0" err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월별·분기별</a:t>
            </a:r>
            <a:r>
              <a:rPr lang="ko-KR" sz="10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 체크리스트</a:t>
            </a:r>
          </a:p>
        </p:txBody>
      </p:sp>
      <p:sp>
        <p:nvSpPr>
          <p:cNvPr id="364" name="Oval 363"/>
          <p:cNvSpPr/>
          <p:nvPr/>
        </p:nvSpPr>
        <p:spPr>
          <a:xfrm>
            <a:off x="2993936" y="5429799"/>
            <a:ext cx="139700" cy="177800"/>
          </a:xfrm>
          <a:prstGeom prst="ellipse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2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+</a:t>
            </a:r>
          </a:p>
        </p:txBody>
      </p:sp>
      <p:sp>
        <p:nvSpPr>
          <p:cNvPr id="365" name="Rounded Rectangle 364"/>
          <p:cNvSpPr/>
          <p:nvPr/>
        </p:nvSpPr>
        <p:spPr>
          <a:xfrm>
            <a:off x="5842000" y="1574800"/>
            <a:ext cx="3302000" cy="279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전사 ASP 시설관리 방안</a:t>
            </a:r>
          </a:p>
        </p:txBody>
      </p:sp>
      <p:sp>
        <p:nvSpPr>
          <p:cNvPr id="366" name="Rounded Rectangle 365"/>
          <p:cNvSpPr/>
          <p:nvPr/>
        </p:nvSpPr>
        <p:spPr>
          <a:xfrm>
            <a:off x="5740400" y="1981200"/>
            <a:ext cx="635000" cy="508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8A9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책임</a:t>
            </a:r>
          </a:p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담당자 지정</a:t>
            </a:r>
          </a:p>
        </p:txBody>
      </p:sp>
      <p:sp>
        <p:nvSpPr>
          <p:cNvPr id="367" name="Rectangle 366"/>
          <p:cNvSpPr/>
          <p:nvPr/>
        </p:nvSpPr>
        <p:spPr>
          <a:xfrm>
            <a:off x="6362700" y="2133600"/>
            <a:ext cx="101600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rgbClr val="6A7180"/>
                </a:solidFill>
                <a:latin typeface="페이퍼로지 8 ExtraBold"/>
                <a:ea typeface="페이퍼로지 8 ExtraBold"/>
                <a:cs typeface="페이퍼로지 8 ExtraBold"/>
              </a:rPr>
              <a:t>›</a:t>
            </a:r>
          </a:p>
        </p:txBody>
      </p:sp>
      <p:sp>
        <p:nvSpPr>
          <p:cNvPr id="368" name="Rounded Rectangle 367"/>
          <p:cNvSpPr/>
          <p:nvPr/>
        </p:nvSpPr>
        <p:spPr>
          <a:xfrm>
            <a:off x="6451600" y="1981200"/>
            <a:ext cx="635000" cy="508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8A9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관리항목</a:t>
            </a:r>
          </a:p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LIST화</a:t>
            </a:r>
          </a:p>
        </p:txBody>
      </p:sp>
      <p:sp>
        <p:nvSpPr>
          <p:cNvPr id="369" name="Rectangle 368"/>
          <p:cNvSpPr/>
          <p:nvPr/>
        </p:nvSpPr>
        <p:spPr>
          <a:xfrm>
            <a:off x="7073900" y="2133600"/>
            <a:ext cx="101600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rgbClr val="6A7180"/>
                </a:solidFill>
                <a:latin typeface="페이퍼로지 8 ExtraBold"/>
                <a:ea typeface="페이퍼로지 8 ExtraBold"/>
                <a:cs typeface="페이퍼로지 8 ExtraBold"/>
              </a:rPr>
              <a:t>›</a:t>
            </a:r>
          </a:p>
        </p:txBody>
      </p:sp>
      <p:sp>
        <p:nvSpPr>
          <p:cNvPr id="370" name="Rounded Rectangle 369"/>
          <p:cNvSpPr/>
          <p:nvPr/>
        </p:nvSpPr>
        <p:spPr>
          <a:xfrm>
            <a:off x="7162800" y="1981200"/>
            <a:ext cx="635000" cy="508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8A9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주요점검</a:t>
            </a:r>
          </a:p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항목관리</a:t>
            </a:r>
          </a:p>
        </p:txBody>
      </p:sp>
      <p:sp>
        <p:nvSpPr>
          <p:cNvPr id="371" name="Rectangle 370"/>
          <p:cNvSpPr/>
          <p:nvPr/>
        </p:nvSpPr>
        <p:spPr>
          <a:xfrm>
            <a:off x="7785100" y="2133600"/>
            <a:ext cx="101600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rgbClr val="6A7180"/>
                </a:solidFill>
                <a:latin typeface="페이퍼로지 8 ExtraBold"/>
                <a:ea typeface="페이퍼로지 8 ExtraBold"/>
                <a:cs typeface="페이퍼로지 8 ExtraBold"/>
              </a:rPr>
              <a:t>›</a:t>
            </a:r>
          </a:p>
        </p:txBody>
      </p:sp>
      <p:sp>
        <p:nvSpPr>
          <p:cNvPr id="372" name="Rounded Rectangle 371"/>
          <p:cNvSpPr/>
          <p:nvPr/>
        </p:nvSpPr>
        <p:spPr>
          <a:xfrm>
            <a:off x="7874000" y="1981200"/>
            <a:ext cx="635000" cy="508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8A9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불시점검</a:t>
            </a:r>
          </a:p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실시</a:t>
            </a:r>
          </a:p>
        </p:txBody>
      </p:sp>
      <p:sp>
        <p:nvSpPr>
          <p:cNvPr id="373" name="Rectangle 372"/>
          <p:cNvSpPr/>
          <p:nvPr/>
        </p:nvSpPr>
        <p:spPr>
          <a:xfrm>
            <a:off x="8496300" y="2133600"/>
            <a:ext cx="101600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rgbClr val="6A7180"/>
                </a:solidFill>
                <a:latin typeface="페이퍼로지 8 ExtraBold"/>
                <a:ea typeface="페이퍼로지 8 ExtraBold"/>
                <a:cs typeface="페이퍼로지 8 ExtraBold"/>
              </a:rPr>
              <a:t>›</a:t>
            </a:r>
          </a:p>
        </p:txBody>
      </p:sp>
      <p:sp>
        <p:nvSpPr>
          <p:cNvPr id="374" name="Rounded Rectangle 373"/>
          <p:cNvSpPr/>
          <p:nvPr/>
        </p:nvSpPr>
        <p:spPr>
          <a:xfrm>
            <a:off x="8585200" y="1981200"/>
            <a:ext cx="635000" cy="508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8A9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시설점검</a:t>
            </a:r>
          </a:p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결과보고</a:t>
            </a:r>
          </a:p>
        </p:txBody>
      </p:sp>
      <p:sp>
        <p:nvSpPr>
          <p:cNvPr id="375" name="Rectangle 374"/>
          <p:cNvSpPr/>
          <p:nvPr/>
        </p:nvSpPr>
        <p:spPr>
          <a:xfrm>
            <a:off x="5740400" y="2590800"/>
            <a:ext cx="3505200" cy="279400"/>
          </a:xfrm>
          <a:prstGeom prst="rect">
            <a:avLst/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점검 결과 보고서에 따른 유지보수 계획 수립</a:t>
            </a:r>
          </a:p>
        </p:txBody>
      </p:sp>
      <p:sp>
        <p:nvSpPr>
          <p:cNvPr id="376" name="Rounded Rectangle 375"/>
          <p:cNvSpPr/>
          <p:nvPr/>
        </p:nvSpPr>
        <p:spPr>
          <a:xfrm>
            <a:off x="5842000" y="2997200"/>
            <a:ext cx="3302000" cy="279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dirty="0" err="1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KT그룹</a:t>
            </a:r>
            <a:r>
              <a:rPr lang="ko-KR" sz="1100" dirty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 정보보안 현황</a:t>
            </a:r>
          </a:p>
        </p:txBody>
      </p:sp>
      <p:graphicFrame>
        <p:nvGraphicFramePr>
          <p:cNvPr id="377" name="Chart 3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6237504"/>
              </p:ext>
            </p:extLst>
          </p:nvPr>
        </p:nvGraphicFramePr>
        <p:xfrm>
          <a:off x="5740400" y="3327400"/>
          <a:ext cx="1905000" cy="1422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78" name="Rectangle 377"/>
          <p:cNvSpPr/>
          <p:nvPr/>
        </p:nvSpPr>
        <p:spPr>
          <a:xfrm>
            <a:off x="7620000" y="3403600"/>
            <a:ext cx="1676400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최근 3개년 정보보호</a:t>
            </a:r>
          </a:p>
          <a:p>
            <a:pPr algn="ctr">
              <a:lnSpc>
                <a:spcPct val="12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평균 투자액 </a:t>
            </a:r>
            <a:r>
              <a:rPr lang="ko-KR" sz="1300" b="1" dirty="0">
                <a:solidFill>
                  <a:srgbClr val="E30C60"/>
                </a:solidFill>
                <a:latin typeface="페이퍼로지 9 Black"/>
                <a:ea typeface="페이퍼로지 9 Black"/>
                <a:cs typeface="페이퍼로지 9 Black"/>
              </a:rPr>
              <a:t>1,156억원</a:t>
            </a:r>
          </a:p>
        </p:txBody>
      </p:sp>
      <p:sp>
        <p:nvSpPr>
          <p:cNvPr id="380" name="Rounded Rectangle 379"/>
          <p:cNvSpPr/>
          <p:nvPr/>
        </p:nvSpPr>
        <p:spPr>
          <a:xfrm>
            <a:off x="5765800" y="4826000"/>
            <a:ext cx="3479800" cy="1295400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2" name="Rectangle 381"/>
          <p:cNvSpPr/>
          <p:nvPr/>
        </p:nvSpPr>
        <p:spPr>
          <a:xfrm>
            <a:off x="6807200" y="4935866"/>
            <a:ext cx="2540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1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정보보안 관리 책임자</a:t>
            </a:r>
          </a:p>
        </p:txBody>
      </p:sp>
      <p:sp>
        <p:nvSpPr>
          <p:cNvPr id="383" name="Rectangle 382"/>
          <p:cNvSpPr/>
          <p:nvPr/>
        </p:nvSpPr>
        <p:spPr>
          <a:xfrm>
            <a:off x="6819900" y="5221517"/>
            <a:ext cx="2387600" cy="660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ISMS-P 심사위원 자격 보유</a:t>
            </a:r>
          </a:p>
          <a:p>
            <a:pPr algn="l">
              <a:lnSpc>
                <a:spcPct val="13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위험성 관리 및 컴플라이언스</a:t>
            </a:r>
          </a:p>
          <a:p>
            <a:pPr algn="l">
              <a:lnSpc>
                <a:spcPct val="13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시스템 보안 관리 및 피드백</a:t>
            </a:r>
          </a:p>
        </p:txBody>
      </p:sp>
      <p:sp>
        <p:nvSpPr>
          <p:cNvPr id="384" name="Rectangle 383"/>
          <p:cNvSpPr/>
          <p:nvPr/>
        </p:nvSpPr>
        <p:spPr>
          <a:xfrm>
            <a:off x="6762617" y="5879324"/>
            <a:ext cx="2590800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700" b="0" dirty="0">
                <a:solidFill>
                  <a:srgbClr val="6A7180"/>
                </a:solidFill>
                <a:latin typeface="페이퍼로지 4 Regular"/>
                <a:ea typeface="페이퍼로지 4 Regular"/>
                <a:cs typeface="페이퍼로지 4 Regular"/>
              </a:rPr>
              <a:t>ISMS: </a:t>
            </a:r>
            <a:r>
              <a:rPr lang="ko-KR" sz="700" b="0" dirty="0" err="1">
                <a:solidFill>
                  <a:srgbClr val="6A7180"/>
                </a:solidFill>
                <a:latin typeface="페이퍼로지 4 Regular"/>
                <a:ea typeface="페이퍼로지 4 Regular"/>
                <a:cs typeface="페이퍼로지 4 Regular"/>
              </a:rPr>
              <a:t>Information</a:t>
            </a:r>
            <a:r>
              <a:rPr lang="ko-KR" sz="700" b="0" dirty="0">
                <a:solidFill>
                  <a:srgbClr val="6A7180"/>
                </a:solidFill>
                <a:latin typeface="페이퍼로지 4 Regular"/>
                <a:ea typeface="페이퍼로지 4 Regular"/>
                <a:cs typeface="페이퍼로지 4 Regular"/>
              </a:rPr>
              <a:t> </a:t>
            </a:r>
            <a:r>
              <a:rPr lang="ko-KR" sz="700" b="0" dirty="0" err="1">
                <a:solidFill>
                  <a:srgbClr val="6A7180"/>
                </a:solidFill>
                <a:latin typeface="페이퍼로지 4 Regular"/>
                <a:ea typeface="페이퍼로지 4 Regular"/>
                <a:cs typeface="페이퍼로지 4 Regular"/>
              </a:rPr>
              <a:t>Security</a:t>
            </a:r>
            <a:r>
              <a:rPr lang="ko-KR" sz="700" b="0" dirty="0">
                <a:solidFill>
                  <a:srgbClr val="6A7180"/>
                </a:solidFill>
                <a:latin typeface="페이퍼로지 4 Regular"/>
                <a:ea typeface="페이퍼로지 4 Regular"/>
                <a:cs typeface="페이퍼로지 4 Regular"/>
              </a:rPr>
              <a:t> Management System</a:t>
            </a:r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4029A993-A4F3-4566-959E-E0141B8F98C5}"/>
              </a:ext>
            </a:extLst>
          </p:cNvPr>
          <p:cNvGrpSpPr/>
          <p:nvPr/>
        </p:nvGrpSpPr>
        <p:grpSpPr>
          <a:xfrm>
            <a:off x="7645400" y="3911600"/>
            <a:ext cx="1625467" cy="823659"/>
            <a:chOff x="7834549" y="4952675"/>
            <a:chExt cx="1476072" cy="716677"/>
          </a:xfrm>
        </p:grpSpPr>
        <p:pic>
          <p:nvPicPr>
            <p:cNvPr id="63" name="그림 62">
              <a:extLst>
                <a:ext uri="{FF2B5EF4-FFF2-40B4-BE49-F238E27FC236}">
                  <a16:creationId xmlns:a16="http://schemas.microsoft.com/office/drawing/2014/main" id="{AF88ADD1-4E29-449E-BFDD-2861CDCA68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834549" y="4952675"/>
              <a:ext cx="749410" cy="683489"/>
            </a:xfrm>
            <a:prstGeom prst="rect">
              <a:avLst/>
            </a:prstGeom>
          </p:spPr>
        </p:pic>
        <p:pic>
          <p:nvPicPr>
            <p:cNvPr id="64" name="그림 63">
              <a:extLst>
                <a:ext uri="{FF2B5EF4-FFF2-40B4-BE49-F238E27FC236}">
                  <a16:creationId xmlns:a16="http://schemas.microsoft.com/office/drawing/2014/main" id="{B38BBF72-02E1-4C2D-A61A-9E3BB388E4F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586597" y="4955526"/>
              <a:ext cx="724024" cy="713826"/>
            </a:xfrm>
            <a:prstGeom prst="rect">
              <a:avLst/>
            </a:prstGeom>
          </p:spPr>
        </p:pic>
      </p:grpSp>
      <p:pic>
        <p:nvPicPr>
          <p:cNvPr id="65" name="그림 64">
            <a:extLst>
              <a:ext uri="{FF2B5EF4-FFF2-40B4-BE49-F238E27FC236}">
                <a16:creationId xmlns:a16="http://schemas.microsoft.com/office/drawing/2014/main" id="{4A808040-EF58-4957-A339-AAF35DDCEF4C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249" b="99615" l="6266" r="89817">
                        <a14:foregroundMark x1="36162" y1="11079" x2="35117" y2="70424"/>
                        <a14:foregroundMark x1="35117" y1="70424" x2="34334" y2="70424"/>
                        <a14:foregroundMark x1="6266" y1="57129" x2="10574" y2="68304"/>
                        <a14:foregroundMark x1="42298" y1="9538" x2="45561" y2="31792"/>
                        <a14:foregroundMark x1="56658" y1="13006" x2="51044" y2="40173"/>
                        <a14:foregroundMark x1="51044" y1="40173" x2="47389" y2="45954"/>
                        <a14:foregroundMark x1="61358" y1="57900" x2="76501" y2="77842"/>
                        <a14:foregroundMark x1="32245" y1="59441" x2="34334" y2="89499"/>
                        <a14:foregroundMark x1="34334" y1="89499" x2="34073" y2="88439"/>
                        <a14:foregroundMark x1="53133" y1="47303" x2="41906" y2="73603"/>
                        <a14:foregroundMark x1="45953" y1="47303" x2="63969" y2="62909"/>
                        <a14:foregroundMark x1="63969" y1="62909" x2="63969" y2="62909"/>
                        <a14:foregroundMark x1="42298" y1="46146" x2="57441" y2="66667"/>
                        <a14:foregroundMark x1="57441" y1="66667" x2="57441" y2="66667"/>
                        <a14:foregroundMark x1="39426" y1="45665" x2="38642" y2="74085"/>
                        <a14:foregroundMark x1="35117" y1="74952" x2="60313" y2="87380"/>
                        <a14:foregroundMark x1="63185" y1="87958" x2="63185" y2="98555"/>
                        <a14:foregroundMark x1="28590" y1="86898" x2="29373" y2="99615"/>
                        <a14:foregroundMark x1="54569" y1="70424" x2="54961" y2="89788"/>
                        <a14:foregroundMark x1="54961" y1="89788" x2="54961" y2="89788"/>
                        <a14:foregroundMark x1="43081" y1="78613" x2="68277" y2="78227"/>
                        <a14:foregroundMark x1="68277" y1="78227" x2="76893" y2="71195"/>
                        <a14:foregroundMark x1="43081" y1="75434" x2="39034" y2="87669"/>
                        <a14:foregroundMark x1="81593" y1="69846" x2="68668" y2="79383"/>
                        <a14:foregroundMark x1="81984" y1="63487" x2="85117" y2="75723"/>
                        <a14:foregroundMark x1="30026" y1="11368" x2="30026" y2="20135"/>
                        <a14:foregroundMark x1="52742" y1="9249" x2="56658" y2="183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75803" y="4852725"/>
            <a:ext cx="917097" cy="1241949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Rectangle 2">
            <a:extLst>
              <a:ext uri="{FF2B5EF4-FFF2-40B4-BE49-F238E27FC236}">
                <a16:creationId xmlns:a16="http://schemas.microsoft.com/office/drawing/2014/main" id="{66282572-5816-422F-A5F6-6F46198BC839}"/>
              </a:ext>
            </a:extLst>
          </p:cNvPr>
          <p:cNvSpPr/>
          <p:nvPr/>
        </p:nvSpPr>
        <p:spPr>
          <a:xfrm>
            <a:off x="1929606" y="381000"/>
            <a:ext cx="61912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altLang="ko-KR" sz="900" b="0" dirty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3-1 ⑦ 안전보건 및 노무관리</a:t>
            </a:r>
            <a:endParaRPr lang="ko-KR" sz="900" b="0" dirty="0">
              <a:solidFill>
                <a:srgbClr val="A50034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179" name="Rectangle 3">
            <a:extLst>
              <a:ext uri="{FF2B5EF4-FFF2-40B4-BE49-F238E27FC236}">
                <a16:creationId xmlns:a16="http://schemas.microsoft.com/office/drawing/2014/main" id="{32FA807B-A07A-47B7-8748-91F14EE4A93C}"/>
              </a:ext>
            </a:extLst>
          </p:cNvPr>
          <p:cNvSpPr/>
          <p:nvPr/>
        </p:nvSpPr>
        <p:spPr>
          <a:xfrm>
            <a:off x="846138" y="660400"/>
            <a:ext cx="8461375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0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상담사가 안심하고 일할 수 있는 </a:t>
            </a:r>
            <a:r>
              <a:rPr lang="ko-KR" sz="20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안전·노무</a:t>
            </a:r>
            <a:r>
              <a:rPr lang="ko-KR" sz="20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 관리</a:t>
            </a:r>
          </a:p>
        </p:txBody>
      </p:sp>
      <p:sp>
        <p:nvSpPr>
          <p:cNvPr id="180" name="Rectangle 4">
            <a:extLst>
              <a:ext uri="{FF2B5EF4-FFF2-40B4-BE49-F238E27FC236}">
                <a16:creationId xmlns:a16="http://schemas.microsoft.com/office/drawing/2014/main" id="{AFA34CF8-6FC8-470E-A633-424A91EECBE9}"/>
              </a:ext>
            </a:extLst>
          </p:cNvPr>
          <p:cNvSpPr/>
          <p:nvPr/>
        </p:nvSpPr>
        <p:spPr>
          <a:xfrm>
            <a:off x="846138" y="1079500"/>
            <a:ext cx="84613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관련 법령을 지키고, 현장의 목소리를 먼저 듣는 노무 관리를 하겠습니다.</a:t>
            </a:r>
          </a:p>
        </p:txBody>
      </p:sp>
      <p:sp>
        <p:nvSpPr>
          <p:cNvPr id="181" name="Rectangle 78">
            <a:extLst>
              <a:ext uri="{FF2B5EF4-FFF2-40B4-BE49-F238E27FC236}">
                <a16:creationId xmlns:a16="http://schemas.microsoft.com/office/drawing/2014/main" id="{7D347CCC-3F77-43D2-A599-83BD1A2ACE74}"/>
              </a:ext>
            </a:extLst>
          </p:cNvPr>
          <p:cNvSpPr/>
          <p:nvPr/>
        </p:nvSpPr>
        <p:spPr>
          <a:xfrm>
            <a:off x="4540250" y="64770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fld id="{B6F15528-21DE-4FAA-801E-634DDDAF4B2B}" type="slidenum"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39</a:t>
            </a:fld>
            <a:r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 / 49</a:t>
            </a:r>
            <a:endParaRPr lang="ko-KR" sz="600" b="0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pic>
        <p:nvPicPr>
          <p:cNvPr id="329" name="Picture 3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  <p:sp>
        <p:nvSpPr>
          <p:cNvPr id="330" name="Rounded Rectangle 329"/>
          <p:cNvSpPr/>
          <p:nvPr/>
        </p:nvSpPr>
        <p:spPr>
          <a:xfrm>
            <a:off x="660400" y="1422400"/>
            <a:ext cx="4267200" cy="482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1" name="Rounded Rectangle 330"/>
          <p:cNvSpPr/>
          <p:nvPr/>
        </p:nvSpPr>
        <p:spPr>
          <a:xfrm>
            <a:off x="5080000" y="1422400"/>
            <a:ext cx="4267200" cy="482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2" name="Rounded Rectangle 331"/>
          <p:cNvSpPr/>
          <p:nvPr/>
        </p:nvSpPr>
        <p:spPr>
          <a:xfrm>
            <a:off x="889000" y="1574800"/>
            <a:ext cx="3810000" cy="279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chemeClr val="tx1">
                    <a:lumMod val="75000"/>
                    <a:lumOff val="2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안전보건 총괄 관리자 책임제</a:t>
            </a:r>
          </a:p>
        </p:txBody>
      </p:sp>
      <p:sp>
        <p:nvSpPr>
          <p:cNvPr id="334" name="Rectangle 333"/>
          <p:cNvSpPr/>
          <p:nvPr/>
        </p:nvSpPr>
        <p:spPr>
          <a:xfrm>
            <a:off x="1676400" y="1955800"/>
            <a:ext cx="13970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전사 안전 총괄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1676400" y="2222500"/>
            <a:ext cx="13970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최미영 </a:t>
            </a: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차장</a:t>
            </a:r>
          </a:p>
        </p:txBody>
      </p:sp>
      <p:sp>
        <p:nvSpPr>
          <p:cNvPr id="336" name="Rectangle 335"/>
          <p:cNvSpPr/>
          <p:nvPr/>
        </p:nvSpPr>
        <p:spPr>
          <a:xfrm>
            <a:off x="1676400" y="2438400"/>
            <a:ext cx="17272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산업안전·보건 관련 20년 경력</a:t>
            </a:r>
          </a:p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센터 환경에 맞는 안전 점검</a:t>
            </a:r>
          </a:p>
        </p:txBody>
      </p:sp>
      <p:pic>
        <p:nvPicPr>
          <p:cNvPr id="337" name="Picture 33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6800" y="1905000"/>
            <a:ext cx="939800" cy="809462"/>
          </a:xfrm>
          <a:prstGeom prst="rect">
            <a:avLst/>
          </a:prstGeom>
        </p:spPr>
      </p:pic>
      <p:sp>
        <p:nvSpPr>
          <p:cNvPr id="338" name="Rectangle 337"/>
          <p:cNvSpPr/>
          <p:nvPr/>
        </p:nvSpPr>
        <p:spPr>
          <a:xfrm>
            <a:off x="3449732" y="2727131"/>
            <a:ext cx="1625599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2025년 </a:t>
            </a:r>
            <a:r>
              <a:rPr lang="ko-KR" sz="900" b="0" dirty="0" err="1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상·하반기</a:t>
            </a: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 60여 개 </a:t>
            </a:r>
            <a:endParaRPr lang="en-US" altLang="ko-KR" sz="900" b="0" dirty="0">
              <a:solidFill>
                <a:srgbClr val="6A7180"/>
              </a:solidFill>
              <a:latin typeface="페이퍼로지 5 Medium"/>
              <a:ea typeface="페이퍼로지 5 Medium"/>
              <a:cs typeface="페이퍼로지 5 Medium"/>
            </a:endParaRPr>
          </a:p>
          <a:p>
            <a:pPr algn="l">
              <a:lnSpc>
                <a:spcPct val="110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센터 외주업체 안전 점검</a:t>
            </a:r>
          </a:p>
        </p:txBody>
      </p:sp>
      <p:sp>
        <p:nvSpPr>
          <p:cNvPr id="339" name="Rectangle 338"/>
          <p:cNvSpPr/>
          <p:nvPr/>
        </p:nvSpPr>
        <p:spPr>
          <a:xfrm>
            <a:off x="787400" y="3098800"/>
            <a:ext cx="965200" cy="2794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규정 · 교육</a:t>
            </a:r>
          </a:p>
        </p:txBody>
      </p:sp>
      <p:sp>
        <p:nvSpPr>
          <p:cNvPr id="340" name="Rectangle 339"/>
          <p:cNvSpPr/>
          <p:nvPr/>
        </p:nvSpPr>
        <p:spPr>
          <a:xfrm>
            <a:off x="1816100" y="3098800"/>
            <a:ext cx="965200" cy="2794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재해 보고 · 조사</a:t>
            </a:r>
          </a:p>
        </p:txBody>
      </p:sp>
      <p:sp>
        <p:nvSpPr>
          <p:cNvPr id="341" name="Rectangle 340"/>
          <p:cNvSpPr/>
          <p:nvPr/>
        </p:nvSpPr>
        <p:spPr>
          <a:xfrm>
            <a:off x="2844800" y="3098800"/>
            <a:ext cx="965200" cy="2794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위험성 평가</a:t>
            </a:r>
          </a:p>
        </p:txBody>
      </p:sp>
      <p:sp>
        <p:nvSpPr>
          <p:cNvPr id="342" name="Rectangle 341"/>
          <p:cNvSpPr/>
          <p:nvPr/>
        </p:nvSpPr>
        <p:spPr>
          <a:xfrm>
            <a:off x="3873500" y="3098800"/>
            <a:ext cx="965200" cy="2794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순회 안전점검</a:t>
            </a:r>
          </a:p>
        </p:txBody>
      </p:sp>
      <p:sp>
        <p:nvSpPr>
          <p:cNvPr id="343" name="Rounded Rectangle 342"/>
          <p:cNvSpPr/>
          <p:nvPr/>
        </p:nvSpPr>
        <p:spPr>
          <a:xfrm>
            <a:off x="787400" y="3479800"/>
            <a:ext cx="4013200" cy="127000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4" name="Rectangle 343"/>
          <p:cNvSpPr/>
          <p:nvPr/>
        </p:nvSpPr>
        <p:spPr>
          <a:xfrm>
            <a:off x="914400" y="3556000"/>
            <a:ext cx="1270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의무실장</a:t>
            </a:r>
          </a:p>
        </p:txBody>
      </p:sp>
      <p:sp>
        <p:nvSpPr>
          <p:cNvPr id="346" name="Rectangle 345"/>
          <p:cNvSpPr/>
          <p:nvPr/>
        </p:nvSpPr>
        <p:spPr>
          <a:xfrm>
            <a:off x="1371600" y="3937000"/>
            <a:ext cx="6350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ko-KR" sz="900" b="1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의무총괄</a:t>
            </a:r>
          </a:p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김정위</a:t>
            </a:r>
          </a:p>
        </p:txBody>
      </p:sp>
      <p:sp>
        <p:nvSpPr>
          <p:cNvPr id="348" name="Rectangle 347"/>
          <p:cNvSpPr/>
          <p:nvPr/>
        </p:nvSpPr>
        <p:spPr>
          <a:xfrm>
            <a:off x="2463800" y="3937000"/>
            <a:ext cx="6350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ko-KR" sz="900" b="1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현장담당</a:t>
            </a:r>
          </a:p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정경애</a:t>
            </a:r>
          </a:p>
        </p:txBody>
      </p:sp>
      <p:sp>
        <p:nvSpPr>
          <p:cNvPr id="349" name="Rectangle 348"/>
          <p:cNvSpPr/>
          <p:nvPr/>
        </p:nvSpPr>
        <p:spPr>
          <a:xfrm>
            <a:off x="3207411" y="3703402"/>
            <a:ext cx="1625600" cy="76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건강관리 및 응급 대응</a:t>
            </a:r>
          </a:p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보건 관련 교육 자료 제작</a:t>
            </a:r>
          </a:p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전사적 </a:t>
            </a:r>
            <a:r>
              <a:rPr lang="ko-KR" sz="9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감염병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관리 방안 마련</a:t>
            </a:r>
          </a:p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</a:t>
            </a:r>
            <a:r>
              <a:rPr lang="ko-KR" sz="9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금연·스트레칭·피로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관리 교육</a:t>
            </a:r>
          </a:p>
        </p:txBody>
      </p:sp>
      <p:sp>
        <p:nvSpPr>
          <p:cNvPr id="350" name="Rounded Rectangle 349"/>
          <p:cNvSpPr/>
          <p:nvPr/>
        </p:nvSpPr>
        <p:spPr>
          <a:xfrm>
            <a:off x="787400" y="4851400"/>
            <a:ext cx="4013200" cy="127000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1" name="Rectangle 350"/>
          <p:cNvSpPr/>
          <p:nvPr/>
        </p:nvSpPr>
        <p:spPr>
          <a:xfrm>
            <a:off x="914400" y="4927600"/>
            <a:ext cx="1270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심리상담사</a:t>
            </a:r>
          </a:p>
        </p:txBody>
      </p:sp>
      <p:sp>
        <p:nvSpPr>
          <p:cNvPr id="353" name="Rectangle 352"/>
          <p:cNvSpPr/>
          <p:nvPr/>
        </p:nvSpPr>
        <p:spPr>
          <a:xfrm>
            <a:off x="1371600" y="5308600"/>
            <a:ext cx="6350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ko-KR" sz="900" b="1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상담총괄</a:t>
            </a:r>
          </a:p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박순일</a:t>
            </a:r>
          </a:p>
        </p:txBody>
      </p:sp>
      <p:sp>
        <p:nvSpPr>
          <p:cNvPr id="355" name="Rectangle 354"/>
          <p:cNvSpPr/>
          <p:nvPr/>
        </p:nvSpPr>
        <p:spPr>
          <a:xfrm>
            <a:off x="2463800" y="5308600"/>
            <a:ext cx="6350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ko-KR" sz="900" b="1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현장담당</a:t>
            </a:r>
          </a:p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임숙경</a:t>
            </a:r>
          </a:p>
        </p:txBody>
      </p:sp>
      <p:sp>
        <p:nvSpPr>
          <p:cNvPr id="356" name="Rectangle 355"/>
          <p:cNvSpPr/>
          <p:nvPr/>
        </p:nvSpPr>
        <p:spPr>
          <a:xfrm>
            <a:off x="3207411" y="5127301"/>
            <a:ext cx="1625600" cy="825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감정노동자 교육 자료 제작</a:t>
            </a:r>
          </a:p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폭언 고객 응대 후 심리관리</a:t>
            </a:r>
          </a:p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심리 안전 문화 구축 지원</a:t>
            </a:r>
          </a:p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감정노동자 보호 관리 방안</a:t>
            </a:r>
          </a:p>
        </p:txBody>
      </p:sp>
      <p:sp>
        <p:nvSpPr>
          <p:cNvPr id="357" name="Rounded Rectangle 356"/>
          <p:cNvSpPr/>
          <p:nvPr/>
        </p:nvSpPr>
        <p:spPr>
          <a:xfrm>
            <a:off x="5308600" y="1574800"/>
            <a:ext cx="3810000" cy="279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chemeClr val="tx1">
                    <a:lumMod val="75000"/>
                    <a:lumOff val="2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산업안전보건법에 의거한 고객응대근로자 보호</a:t>
            </a:r>
          </a:p>
        </p:txBody>
      </p:sp>
      <p:sp>
        <p:nvSpPr>
          <p:cNvPr id="358" name="Oval 357"/>
          <p:cNvSpPr/>
          <p:nvPr/>
        </p:nvSpPr>
        <p:spPr>
          <a:xfrm>
            <a:off x="5689600" y="2108200"/>
            <a:ext cx="3048000" cy="2184400"/>
          </a:xfrm>
          <a:prstGeom prst="ellipse">
            <a:avLst/>
          </a:prstGeom>
          <a:noFill/>
          <a:ln w="9525">
            <a:solidFill>
              <a:srgbClr val="7A9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9" name="Rounded Rectangle 358"/>
          <p:cNvSpPr/>
          <p:nvPr/>
        </p:nvSpPr>
        <p:spPr>
          <a:xfrm>
            <a:off x="6781800" y="1905000"/>
            <a:ext cx="863600" cy="406400"/>
          </a:xfrm>
          <a:prstGeom prst="roundRect">
            <a:avLst>
              <a:gd name="adj" fmla="val 15000"/>
            </a:avLst>
          </a:prstGeom>
          <a:solidFill>
            <a:srgbClr val="FBE8EF"/>
          </a:solidFill>
          <a:ln w="9525">
            <a:solidFill>
              <a:srgbClr val="E30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ko-KR" sz="900" b="1">
                <a:solidFill>
                  <a:srgbClr val="E30C60"/>
                </a:solidFill>
                <a:latin typeface="페이퍼로지 7 Bold"/>
                <a:ea typeface="페이퍼로지 7 Bold"/>
                <a:cs typeface="페이퍼로지 7 Bold"/>
              </a:rPr>
              <a:t>인권보호</a:t>
            </a:r>
          </a:p>
          <a:p>
            <a:pPr algn="ctr">
              <a:lnSpc>
                <a:spcPct val="105000"/>
              </a:lnSpc>
            </a:pPr>
            <a:r>
              <a:rPr lang="ko-KR" sz="900" b="1">
                <a:solidFill>
                  <a:srgbClr val="E30C60"/>
                </a:solidFill>
                <a:latin typeface="페이퍼로지 7 Bold"/>
                <a:ea typeface="페이퍼로지 7 Bold"/>
                <a:cs typeface="페이퍼로지 7 Bold"/>
              </a:rPr>
              <a:t>법령준수</a:t>
            </a:r>
          </a:p>
        </p:txBody>
      </p:sp>
      <p:sp>
        <p:nvSpPr>
          <p:cNvPr id="360" name="Rounded Rectangle 359"/>
          <p:cNvSpPr/>
          <p:nvPr/>
        </p:nvSpPr>
        <p:spPr>
          <a:xfrm>
            <a:off x="7859430" y="2224897"/>
            <a:ext cx="863600" cy="406400"/>
          </a:xfrm>
          <a:prstGeom prst="roundRect">
            <a:avLst>
              <a:gd name="adj" fmla="val 15000"/>
            </a:avLst>
          </a:prstGeom>
          <a:solidFill>
            <a:srgbClr val="EEF0F3"/>
          </a:solidFill>
          <a:ln w="9525">
            <a:solidFill>
              <a:srgbClr val="8A9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ko-KR" sz="900" b="1" dirty="0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자체 심리상담</a:t>
            </a:r>
          </a:p>
        </p:txBody>
      </p:sp>
      <p:sp>
        <p:nvSpPr>
          <p:cNvPr id="361" name="Rounded Rectangle 360"/>
          <p:cNvSpPr/>
          <p:nvPr/>
        </p:nvSpPr>
        <p:spPr>
          <a:xfrm>
            <a:off x="8305800" y="2997200"/>
            <a:ext cx="863600" cy="406400"/>
          </a:xfrm>
          <a:prstGeom prst="roundRect">
            <a:avLst>
              <a:gd name="adj" fmla="val 15000"/>
            </a:avLst>
          </a:prstGeom>
          <a:solidFill>
            <a:srgbClr val="EEF0F3"/>
          </a:solidFill>
          <a:ln w="9525">
            <a:solidFill>
              <a:srgbClr val="8A9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ko-KR" sz="900" b="1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악성민원</a:t>
            </a:r>
          </a:p>
          <a:p>
            <a:pPr algn="ctr">
              <a:lnSpc>
                <a:spcPct val="105000"/>
              </a:lnSpc>
            </a:pPr>
            <a:r>
              <a:rPr lang="ko-KR" sz="900" b="1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응대 교육</a:t>
            </a:r>
          </a:p>
        </p:txBody>
      </p:sp>
      <p:sp>
        <p:nvSpPr>
          <p:cNvPr id="362" name="Rounded Rectangle 361"/>
          <p:cNvSpPr/>
          <p:nvPr/>
        </p:nvSpPr>
        <p:spPr>
          <a:xfrm>
            <a:off x="7859430" y="3769502"/>
            <a:ext cx="863600" cy="406400"/>
          </a:xfrm>
          <a:prstGeom prst="roundRect">
            <a:avLst>
              <a:gd name="adj" fmla="val 15000"/>
            </a:avLst>
          </a:prstGeom>
          <a:solidFill>
            <a:srgbClr val="EEF0F3"/>
          </a:solidFill>
          <a:ln w="9525">
            <a:solidFill>
              <a:srgbClr val="8A9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ko-KR" sz="900" b="1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힐링캠프</a:t>
            </a:r>
          </a:p>
          <a:p>
            <a:pPr algn="ctr">
              <a:lnSpc>
                <a:spcPct val="105000"/>
              </a:lnSpc>
            </a:pPr>
            <a:r>
              <a:rPr lang="ko-KR" sz="900" b="1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지원</a:t>
            </a:r>
          </a:p>
        </p:txBody>
      </p:sp>
      <p:sp>
        <p:nvSpPr>
          <p:cNvPr id="363" name="Rounded Rectangle 362"/>
          <p:cNvSpPr/>
          <p:nvPr/>
        </p:nvSpPr>
        <p:spPr>
          <a:xfrm>
            <a:off x="6781800" y="4089400"/>
            <a:ext cx="863600" cy="406400"/>
          </a:xfrm>
          <a:prstGeom prst="roundRect">
            <a:avLst>
              <a:gd name="adj" fmla="val 15000"/>
            </a:avLst>
          </a:prstGeom>
          <a:solidFill>
            <a:srgbClr val="EEF0F3"/>
          </a:solidFill>
          <a:ln w="9525">
            <a:solidFill>
              <a:srgbClr val="8A9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ko-KR" sz="900" b="1" dirty="0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고충처리 위원회</a:t>
            </a:r>
          </a:p>
          <a:p>
            <a:pPr algn="ctr">
              <a:lnSpc>
                <a:spcPct val="105000"/>
              </a:lnSpc>
            </a:pPr>
            <a:r>
              <a:rPr lang="ko-KR" sz="900" b="1" dirty="0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및 "두드림"</a:t>
            </a:r>
          </a:p>
        </p:txBody>
      </p:sp>
      <p:sp>
        <p:nvSpPr>
          <p:cNvPr id="364" name="Rounded Rectangle 363"/>
          <p:cNvSpPr/>
          <p:nvPr/>
        </p:nvSpPr>
        <p:spPr>
          <a:xfrm>
            <a:off x="5704169" y="3769502"/>
            <a:ext cx="863600" cy="406400"/>
          </a:xfrm>
          <a:prstGeom prst="roundRect">
            <a:avLst>
              <a:gd name="adj" fmla="val 15000"/>
            </a:avLst>
          </a:prstGeom>
          <a:solidFill>
            <a:srgbClr val="FBE8EF"/>
          </a:solidFill>
          <a:ln w="9525">
            <a:solidFill>
              <a:srgbClr val="E30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ko-KR" sz="900" b="1">
                <a:solidFill>
                  <a:srgbClr val="E30C60"/>
                </a:solidFill>
                <a:latin typeface="페이퍼로지 7 Bold"/>
                <a:ea typeface="페이퍼로지 7 Bold"/>
                <a:cs typeface="페이퍼로지 7 Bold"/>
              </a:rPr>
              <a:t>내부직원</a:t>
            </a:r>
          </a:p>
          <a:p>
            <a:pPr algn="ctr">
              <a:lnSpc>
                <a:spcPct val="105000"/>
              </a:lnSpc>
            </a:pPr>
            <a:r>
              <a:rPr lang="ko-KR" sz="900" b="1">
                <a:solidFill>
                  <a:srgbClr val="E30C60"/>
                </a:solidFill>
                <a:latin typeface="페이퍼로지 7 Bold"/>
                <a:ea typeface="페이퍼로지 7 Bold"/>
                <a:cs typeface="페이퍼로지 7 Bold"/>
              </a:rPr>
              <a:t>만족도 조사</a:t>
            </a:r>
          </a:p>
        </p:txBody>
      </p:sp>
      <p:sp>
        <p:nvSpPr>
          <p:cNvPr id="365" name="Rounded Rectangle 364"/>
          <p:cNvSpPr/>
          <p:nvPr/>
        </p:nvSpPr>
        <p:spPr>
          <a:xfrm>
            <a:off x="5257800" y="2997199"/>
            <a:ext cx="863600" cy="406400"/>
          </a:xfrm>
          <a:prstGeom prst="roundRect">
            <a:avLst>
              <a:gd name="adj" fmla="val 15000"/>
            </a:avLst>
          </a:prstGeom>
          <a:solidFill>
            <a:srgbClr val="FBE8EF"/>
          </a:solidFill>
          <a:ln w="9525">
            <a:solidFill>
              <a:srgbClr val="E30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ko-KR" sz="900" b="1">
                <a:solidFill>
                  <a:srgbClr val="E30C60"/>
                </a:solidFill>
                <a:latin typeface="페이퍼로지 7 Bold"/>
                <a:ea typeface="페이퍼로지 7 Bold"/>
                <a:cs typeface="페이퍼로지 7 Bold"/>
              </a:rPr>
              <a:t>고객응대</a:t>
            </a:r>
          </a:p>
          <a:p>
            <a:pPr algn="ctr">
              <a:lnSpc>
                <a:spcPct val="105000"/>
              </a:lnSpc>
            </a:pPr>
            <a:r>
              <a:rPr lang="ko-KR" sz="900" b="1">
                <a:solidFill>
                  <a:srgbClr val="E30C60"/>
                </a:solidFill>
                <a:latin typeface="페이퍼로지 7 Bold"/>
                <a:ea typeface="페이퍼로지 7 Bold"/>
                <a:cs typeface="페이퍼로지 7 Bold"/>
              </a:rPr>
              <a:t>근로자 권리교육</a:t>
            </a:r>
          </a:p>
        </p:txBody>
      </p:sp>
      <p:sp>
        <p:nvSpPr>
          <p:cNvPr id="366" name="Rounded Rectangle 365"/>
          <p:cNvSpPr/>
          <p:nvPr/>
        </p:nvSpPr>
        <p:spPr>
          <a:xfrm>
            <a:off x="5704169" y="2224897"/>
            <a:ext cx="863600" cy="406400"/>
          </a:xfrm>
          <a:prstGeom prst="roundRect">
            <a:avLst>
              <a:gd name="adj" fmla="val 15000"/>
            </a:avLst>
          </a:prstGeom>
          <a:solidFill>
            <a:srgbClr val="FBE8EF"/>
          </a:solidFill>
          <a:ln w="9525">
            <a:solidFill>
              <a:srgbClr val="E30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ko-KR" sz="900" b="1">
                <a:solidFill>
                  <a:srgbClr val="E30C60"/>
                </a:solidFill>
                <a:latin typeface="페이퍼로지 7 Bold"/>
                <a:ea typeface="페이퍼로지 7 Bold"/>
                <a:cs typeface="페이퍼로지 7 Bold"/>
              </a:rPr>
              <a:t>매뉴얼·스크립트</a:t>
            </a:r>
          </a:p>
          <a:p>
            <a:pPr algn="ctr">
              <a:lnSpc>
                <a:spcPct val="105000"/>
              </a:lnSpc>
            </a:pPr>
            <a:r>
              <a:rPr lang="ko-KR" sz="900" b="1">
                <a:solidFill>
                  <a:srgbClr val="E30C60"/>
                </a:solidFill>
                <a:latin typeface="페이퍼로지 7 Bold"/>
                <a:ea typeface="페이퍼로지 7 Bold"/>
                <a:cs typeface="페이퍼로지 7 Bold"/>
              </a:rPr>
              <a:t>DB 관리</a:t>
            </a:r>
          </a:p>
        </p:txBody>
      </p:sp>
      <p:sp>
        <p:nvSpPr>
          <p:cNvPr id="367" name="Rectangle 366"/>
          <p:cNvSpPr/>
          <p:nvPr/>
        </p:nvSpPr>
        <p:spPr>
          <a:xfrm>
            <a:off x="5334000" y="1905000"/>
            <a:ext cx="5588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200" b="0">
                <a:solidFill>
                  <a:srgbClr val="E30C60"/>
                </a:solidFill>
                <a:latin typeface="페이퍼로지 5 Medium"/>
                <a:ea typeface="페이퍼로지 5 Medium"/>
                <a:cs typeface="페이퍼로지 5 Medium"/>
              </a:rPr>
              <a:t>Plan</a:t>
            </a:r>
          </a:p>
        </p:txBody>
      </p:sp>
      <p:sp>
        <p:nvSpPr>
          <p:cNvPr id="368" name="Rectangle 367"/>
          <p:cNvSpPr/>
          <p:nvPr/>
        </p:nvSpPr>
        <p:spPr>
          <a:xfrm>
            <a:off x="8763000" y="1905000"/>
            <a:ext cx="5588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200" b="0">
                <a:solidFill>
                  <a:srgbClr val="E30C60"/>
                </a:solidFill>
                <a:latin typeface="페이퍼로지 5 Medium"/>
                <a:ea typeface="페이퍼로지 5 Medium"/>
                <a:cs typeface="페이퍼로지 5 Medium"/>
              </a:rPr>
              <a:t>Do</a:t>
            </a:r>
          </a:p>
        </p:txBody>
      </p:sp>
      <p:sp>
        <p:nvSpPr>
          <p:cNvPr id="369" name="Rectangle 368"/>
          <p:cNvSpPr/>
          <p:nvPr/>
        </p:nvSpPr>
        <p:spPr>
          <a:xfrm>
            <a:off x="8661400" y="4191000"/>
            <a:ext cx="5588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200" b="0" dirty="0" err="1">
                <a:solidFill>
                  <a:srgbClr val="E30C60"/>
                </a:solidFill>
                <a:latin typeface="페이퍼로지 5 Medium"/>
                <a:ea typeface="페이퍼로지 5 Medium"/>
                <a:cs typeface="페이퍼로지 5 Medium"/>
              </a:rPr>
              <a:t>Check</a:t>
            </a:r>
            <a:endParaRPr lang="ko-KR" sz="1200" b="0" dirty="0">
              <a:solidFill>
                <a:srgbClr val="E30C60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370" name="Rectangle 369"/>
          <p:cNvSpPr/>
          <p:nvPr/>
        </p:nvSpPr>
        <p:spPr>
          <a:xfrm>
            <a:off x="5334000" y="4191000"/>
            <a:ext cx="5588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200" b="0">
                <a:solidFill>
                  <a:srgbClr val="E30C60"/>
                </a:solidFill>
                <a:latin typeface="페이퍼로지 5 Medium"/>
                <a:ea typeface="페이퍼로지 5 Medium"/>
                <a:cs typeface="페이퍼로지 5 Medium"/>
              </a:rPr>
              <a:t>Act</a:t>
            </a:r>
          </a:p>
        </p:txBody>
      </p:sp>
      <p:pic>
        <p:nvPicPr>
          <p:cNvPr id="371" name="Picture 37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9600" y="2692400"/>
            <a:ext cx="508000" cy="527792"/>
          </a:xfrm>
          <a:prstGeom prst="rect">
            <a:avLst/>
          </a:prstGeom>
        </p:spPr>
      </p:pic>
      <p:sp>
        <p:nvSpPr>
          <p:cNvPr id="372" name="Rectangle 371"/>
          <p:cNvSpPr/>
          <p:nvPr/>
        </p:nvSpPr>
        <p:spPr>
          <a:xfrm>
            <a:off x="6451600" y="3302000"/>
            <a:ext cx="15240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체계적이고 실효성 있는</a:t>
            </a:r>
          </a:p>
          <a:p>
            <a:pPr algn="ctr">
              <a:lnSpc>
                <a:spcPct val="12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상담사 케어 시스템</a:t>
            </a:r>
          </a:p>
        </p:txBody>
      </p:sp>
      <p:sp>
        <p:nvSpPr>
          <p:cNvPr id="374" name="Rectangle 373"/>
          <p:cNvSpPr/>
          <p:nvPr/>
        </p:nvSpPr>
        <p:spPr>
          <a:xfrm>
            <a:off x="7197531" y="4610100"/>
            <a:ext cx="20320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ko-KR" sz="1100" b="1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체크리스트를 통한</a:t>
            </a:r>
          </a:p>
          <a:p>
            <a:pPr algn="r">
              <a:lnSpc>
                <a:spcPct val="120000"/>
              </a:lnSpc>
            </a:pPr>
            <a:r>
              <a:rPr lang="ko-KR" sz="11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체계적 고충 관리</a:t>
            </a:r>
          </a:p>
        </p:txBody>
      </p:sp>
      <p:sp>
        <p:nvSpPr>
          <p:cNvPr id="375" name="Rounded Rectangle 374"/>
          <p:cNvSpPr/>
          <p:nvPr/>
        </p:nvSpPr>
        <p:spPr>
          <a:xfrm>
            <a:off x="5181600" y="5562600"/>
            <a:ext cx="4064000" cy="584200"/>
          </a:xfrm>
          <a:prstGeom prst="roundRect">
            <a:avLst>
              <a:gd name="adj" fmla="val 5000"/>
            </a:avLst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6" name="Rectangle 375"/>
          <p:cNvSpPr/>
          <p:nvPr/>
        </p:nvSpPr>
        <p:spPr>
          <a:xfrm>
            <a:off x="5283200" y="5689600"/>
            <a:ext cx="124460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취업규칙</a:t>
            </a:r>
          </a:p>
        </p:txBody>
      </p:sp>
      <p:sp>
        <p:nvSpPr>
          <p:cNvPr id="377" name="Rectangle 376"/>
          <p:cNvSpPr/>
          <p:nvPr/>
        </p:nvSpPr>
        <p:spPr>
          <a:xfrm>
            <a:off x="6604000" y="5689600"/>
            <a:ext cx="124460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근로조건 보호 이행·확약서</a:t>
            </a:r>
          </a:p>
        </p:txBody>
      </p:sp>
      <p:sp>
        <p:nvSpPr>
          <p:cNvPr id="378" name="Rectangle 377"/>
          <p:cNvSpPr/>
          <p:nvPr/>
        </p:nvSpPr>
        <p:spPr>
          <a:xfrm>
            <a:off x="7924800" y="5689600"/>
            <a:ext cx="124460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보호매뉴얼·노무자료</a:t>
            </a:r>
          </a:p>
        </p:txBody>
      </p:sp>
      <p:pic>
        <p:nvPicPr>
          <p:cNvPr id="56" name="그림 55">
            <a:extLst>
              <a:ext uri="{FF2B5EF4-FFF2-40B4-BE49-F238E27FC236}">
                <a16:creationId xmlns:a16="http://schemas.microsoft.com/office/drawing/2014/main" id="{A7960C0A-81FB-4B67-BA28-F6754F6F1D20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1555" b="100000" l="10174" r="92503">
                        <a14:foregroundMark x1="27309" y1="65845" x2="36145" y2="95837"/>
                        <a14:foregroundMark x1="36145" y1="95837" x2="59705" y2="99915"/>
                        <a14:foregroundMark x1="76171" y1="81563" x2="63052" y2="99915"/>
                        <a14:foregroundMark x1="76305" y1="81563" x2="77912" y2="69329"/>
                        <a14:foregroundMark x1="77912" y1="69329" x2="77510" y2="68394"/>
                        <a14:foregroundMark x1="84471" y1="68054" x2="75368" y2="99915"/>
                        <a14:foregroundMark x1="17805" y1="93543" x2="16064" y2="99915"/>
                        <a14:foregroundMark x1="85542" y1="96602" x2="83400" y2="99915"/>
                        <a14:foregroundMark x1="85676" y1="96602" x2="87684" y2="86406"/>
                        <a14:foregroundMark x1="75234" y1="58709" x2="50602" y2="8334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88718" y="1814355"/>
            <a:ext cx="696701" cy="1098064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F97E8610-06D0-4C6C-9685-009B8BB74CD5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4603" b="100000" l="8537" r="96037">
                        <a14:foregroundMark x1="28049" y1="66151" x2="24848" y2="99903"/>
                        <a14:foregroundMark x1="67378" y1="55996" x2="85061" y2="67892"/>
                        <a14:foregroundMark x1="85061" y1="67892" x2="92073" y2="85106"/>
                        <a14:foregroundMark x1="91921" y1="85106" x2="87500" y2="99903"/>
                        <a14:foregroundMark x1="24085" y1="64990" x2="9909" y2="99903"/>
                        <a14:foregroundMark x1="24238" y1="64990" x2="39634" y2="60251"/>
                        <a14:foregroundMark x1="39634" y1="60251" x2="54116" y2="79304"/>
                        <a14:foregroundMark x1="54116" y1="79304" x2="70274" y2="66634"/>
                        <a14:foregroundMark x1="70274" y1="66634" x2="55945" y2="74371"/>
                        <a14:foregroundMark x1="55945" y1="74371" x2="60823" y2="79691"/>
                        <a14:foregroundMark x1="74695" y1="76015" x2="59299" y2="99903"/>
                        <a14:foregroundMark x1="81555" y1="62089" x2="94665" y2="70793"/>
                        <a14:foregroundMark x1="94665" y1="70793" x2="96189" y2="85300"/>
                        <a14:foregroundMark x1="28354" y1="35977" x2="29116" y2="40135"/>
                        <a14:foregroundMark x1="32774" y1="44584" x2="32774" y2="44584"/>
                        <a14:foregroundMark x1="32774" y1="44584" x2="32774" y2="44584"/>
                        <a14:foregroundMark x1="27287" y1="49807" x2="30640" y2="44487"/>
                        <a14:foregroundMark x1="30335" y1="38975" x2="31402" y2="45455"/>
                        <a14:foregroundMark x1="50457" y1="14700" x2="55183" y2="15764"/>
                        <a14:backgroundMark x1="98628" y1="67408" x2="98628" y2="67408"/>
                        <a14:backgroundMark x1="99238" y1="69149" x2="99695" y2="70600"/>
                        <a14:backgroundMark x1="99695" y1="98259" x2="99238" y2="99420"/>
                        <a14:backgroundMark x1="99238" y1="97776" x2="98171" y2="92843"/>
                        <a14:backgroundMark x1="98933" y1="70890" x2="99543" y2="73017"/>
                        <a14:backgroundMark x1="69970" y1="44584" x2="69970" y2="44584"/>
                        <a14:backgroundMark x1="75152" y1="38975" x2="75152" y2="389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929544" y="3752940"/>
            <a:ext cx="426912" cy="672920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7F69D11D-E5D9-42EF-BA30-02D9026B7FE4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792" b="100000" l="10000" r="90000">
                        <a14:foregroundMark x1="26705" y1="60792" x2="20909" y2="87921"/>
                        <a14:foregroundMark x1="20909" y1="87921" x2="21477" y2="90792"/>
                        <a14:foregroundMark x1="26250" y1="58515" x2="24886" y2="62376"/>
                        <a14:foregroundMark x1="27273" y1="55347" x2="19545" y2="60792"/>
                        <a14:foregroundMark x1="19545" y1="60792" x2="16932" y2="67426"/>
                        <a14:foregroundMark x1="21705" y1="59307" x2="22273" y2="57921"/>
                        <a14:foregroundMark x1="29545" y1="53663" x2="17955" y2="60792"/>
                        <a14:foregroundMark x1="30682" y1="54059" x2="20909" y2="57426"/>
                        <a14:foregroundMark x1="20909" y1="57426" x2="16818" y2="60594"/>
                        <a14:foregroundMark x1="17273" y1="81386" x2="17841" y2="89406"/>
                        <a14:foregroundMark x1="17273" y1="90000" x2="19659" y2="99901"/>
                        <a14:foregroundMark x1="16023" y1="87327" x2="17273" y2="95446"/>
                        <a14:foregroundMark x1="46136" y1="10792" x2="49886" y2="1138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14984" y="3837784"/>
            <a:ext cx="559072" cy="641614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39920705-F3D9-41C4-8BDF-176B4D1DF315}"/>
              </a:ext>
            </a:extLst>
          </p:cNvPr>
          <p:cNvPicPr>
            <a:picLocks noChangeAspect="1"/>
          </p:cNvPicPr>
          <p:nvPr/>
        </p:nvPicPr>
        <p:blipFill rotWithShape="1">
          <a:blip r:embed="rId1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2014" b="100000" l="9914" r="89871">
                        <a14:foregroundMark x1="49030" y1="67391" x2="48060" y2="99771"/>
                        <a14:foregroundMark x1="51509" y1="55721" x2="48491" y2="78947"/>
                        <a14:foregroundMark x1="48491" y1="78947" x2="51509" y2="83867"/>
                        <a14:foregroundMark x1="51293" y1="12586" x2="50323" y2="12586"/>
                        <a14:foregroundMark x1="48276" y1="13272" x2="45582" y2="14302"/>
                        <a14:foregroundMark x1="44289" y1="13501" x2="51293" y2="1212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46138" y="5254298"/>
            <a:ext cx="637484" cy="600402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9D073E30-4CEE-444E-891D-9F862342AB92}"/>
              </a:ext>
            </a:extLst>
          </p:cNvPr>
          <p:cNvPicPr>
            <a:picLocks noChangeAspect="1"/>
          </p:cNvPicPr>
          <p:nvPr/>
        </p:nvPicPr>
        <p:blipFill rotWithShape="1">
          <a:blip r:embed="rId14" cstate="print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13098" b="100000" l="9821" r="89844">
                        <a14:foregroundMark x1="50893" y1="67312" x2="46429" y2="99886"/>
                        <a14:foregroundMark x1="47098" y1="66059" x2="40513" y2="94989"/>
                        <a14:foregroundMark x1="40513" y1="94989" x2="41295" y2="9965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64504" y="5204637"/>
            <a:ext cx="639792" cy="626814"/>
          </a:xfrm>
          <a:prstGeom prst="rect">
            <a:avLst/>
          </a:prstGeom>
        </p:spPr>
      </p:pic>
      <p:grpSp>
        <p:nvGrpSpPr>
          <p:cNvPr id="61" name="그룹 60">
            <a:extLst>
              <a:ext uri="{FF2B5EF4-FFF2-40B4-BE49-F238E27FC236}">
                <a16:creationId xmlns:a16="http://schemas.microsoft.com/office/drawing/2014/main" id="{B0E68E79-2F4B-4199-9D16-E6B664D08B52}"/>
              </a:ext>
            </a:extLst>
          </p:cNvPr>
          <p:cNvGrpSpPr/>
          <p:nvPr/>
        </p:nvGrpSpPr>
        <p:grpSpPr>
          <a:xfrm>
            <a:off x="5189465" y="4679249"/>
            <a:ext cx="4030735" cy="766653"/>
            <a:chOff x="5298159" y="4897858"/>
            <a:chExt cx="4078563" cy="713139"/>
          </a:xfrm>
        </p:grpSpPr>
        <p:pic>
          <p:nvPicPr>
            <p:cNvPr id="62" name="그림 61">
              <a:extLst>
                <a:ext uri="{FF2B5EF4-FFF2-40B4-BE49-F238E27FC236}">
                  <a16:creationId xmlns:a16="http://schemas.microsoft.com/office/drawing/2014/main" id="{368FADF5-5B13-47FD-9799-0761DC9692F5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298159" y="4897858"/>
              <a:ext cx="1163693" cy="580011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C0C3C8"/>
              </a:solidFill>
            </a:ln>
            <a:effectLst>
              <a:outerShdw blurRad="38100" dist="25400" dir="2700000" sx="99000" sy="99000" algn="tl" rotWithShape="0">
                <a:srgbClr val="565B62">
                  <a:alpha val="40000"/>
                </a:srgbClr>
              </a:outerShdw>
            </a:effectLst>
          </p:spPr>
        </p:pic>
        <p:pic>
          <p:nvPicPr>
            <p:cNvPr id="63" name="그림 62">
              <a:extLst>
                <a:ext uri="{FF2B5EF4-FFF2-40B4-BE49-F238E27FC236}">
                  <a16:creationId xmlns:a16="http://schemas.microsoft.com/office/drawing/2014/main" id="{CE4E5C7E-A082-4A39-BA61-6AA2F879B5C6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245449" y="4977334"/>
              <a:ext cx="1163693" cy="58805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C0C3C8"/>
              </a:solidFill>
            </a:ln>
            <a:effectLst>
              <a:outerShdw blurRad="38100" dist="25400" dir="2700000" sx="99000" sy="99000" algn="tl" rotWithShape="0">
                <a:srgbClr val="565B62">
                  <a:alpha val="40000"/>
                </a:srgbClr>
              </a:outerShdw>
            </a:effectLst>
          </p:spPr>
        </p:pic>
        <p:pic>
          <p:nvPicPr>
            <p:cNvPr id="64" name="그림 63">
              <a:extLst>
                <a:ext uri="{FF2B5EF4-FFF2-40B4-BE49-F238E27FC236}">
                  <a16:creationId xmlns:a16="http://schemas.microsoft.com/office/drawing/2014/main" id="{09ECA818-9648-4F9B-97C3-5CDACF86FD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7166868" y="5317391"/>
              <a:ext cx="2209854" cy="29360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C0C3C8"/>
              </a:solidFill>
            </a:ln>
            <a:effectLst>
              <a:outerShdw blurRad="38100" dist="25400" dir="2700000" sx="99000" sy="99000" algn="tl" rotWithShape="0">
                <a:srgbClr val="565B62">
                  <a:alpha val="40000"/>
                </a:srgbClr>
              </a:outerShdw>
            </a:effectLst>
          </p:spPr>
        </p:pic>
        <p:pic>
          <p:nvPicPr>
            <p:cNvPr id="66" name="그림 65" descr="텍스트, 폰트, 레드, 그래픽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32320321-48A7-4A68-83EA-7124146D7267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20238322">
              <a:off x="6007353" y="5131622"/>
              <a:ext cx="466034" cy="2035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024347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Rectangle 2">
            <a:extLst>
              <a:ext uri="{FF2B5EF4-FFF2-40B4-BE49-F238E27FC236}">
                <a16:creationId xmlns:a16="http://schemas.microsoft.com/office/drawing/2014/main" id="{66282572-5816-422F-A5F6-6F46198BC839}"/>
              </a:ext>
            </a:extLst>
          </p:cNvPr>
          <p:cNvSpPr/>
          <p:nvPr/>
        </p:nvSpPr>
        <p:spPr>
          <a:xfrm>
            <a:off x="1929606" y="381000"/>
            <a:ext cx="61912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altLang="ko-KR" sz="900" b="0" dirty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3-1 ⑦ 안전보건 및 노무관리</a:t>
            </a:r>
            <a:endParaRPr lang="ko-KR" sz="900" b="0" dirty="0">
              <a:solidFill>
                <a:srgbClr val="A50034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179" name="Rectangle 3">
            <a:extLst>
              <a:ext uri="{FF2B5EF4-FFF2-40B4-BE49-F238E27FC236}">
                <a16:creationId xmlns:a16="http://schemas.microsoft.com/office/drawing/2014/main" id="{32FA807B-A07A-47B7-8748-91F14EE4A93C}"/>
              </a:ext>
            </a:extLst>
          </p:cNvPr>
          <p:cNvSpPr/>
          <p:nvPr/>
        </p:nvSpPr>
        <p:spPr>
          <a:xfrm>
            <a:off x="846138" y="660400"/>
            <a:ext cx="8461375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상담사가 안심하고 일할 수 있는 </a:t>
            </a:r>
            <a:r>
              <a:rPr lang="ko-KR" sz="2000" b="0" dirty="0" err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안전·노무</a:t>
            </a:r>
            <a:r>
              <a:rPr lang="ko-KR" sz="2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 관리</a:t>
            </a:r>
          </a:p>
        </p:txBody>
      </p:sp>
      <p:sp>
        <p:nvSpPr>
          <p:cNvPr id="180" name="Rectangle 4">
            <a:extLst>
              <a:ext uri="{FF2B5EF4-FFF2-40B4-BE49-F238E27FC236}">
                <a16:creationId xmlns:a16="http://schemas.microsoft.com/office/drawing/2014/main" id="{AFA34CF8-6FC8-470E-A633-424A91EECBE9}"/>
              </a:ext>
            </a:extLst>
          </p:cNvPr>
          <p:cNvSpPr/>
          <p:nvPr/>
        </p:nvSpPr>
        <p:spPr>
          <a:xfrm>
            <a:off x="846138" y="1079500"/>
            <a:ext cx="84613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관련 법령을 지키고, 현장의 목소리를 먼저 듣는 노무 관리를 하겠습니다.</a:t>
            </a:r>
          </a:p>
        </p:txBody>
      </p:sp>
      <p:sp>
        <p:nvSpPr>
          <p:cNvPr id="181" name="Rectangle 78">
            <a:extLst>
              <a:ext uri="{FF2B5EF4-FFF2-40B4-BE49-F238E27FC236}">
                <a16:creationId xmlns:a16="http://schemas.microsoft.com/office/drawing/2014/main" id="{7D347CCC-3F77-43D2-A599-83BD1A2ACE74}"/>
              </a:ext>
            </a:extLst>
          </p:cNvPr>
          <p:cNvSpPr/>
          <p:nvPr/>
        </p:nvSpPr>
        <p:spPr>
          <a:xfrm>
            <a:off x="4540250" y="64770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fld id="{B6F15528-21DE-4FAA-801E-634DDDAF4B2B}" type="slidenum"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40</a:t>
            </a:fld>
            <a:r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 / 49</a:t>
            </a:r>
            <a:endParaRPr lang="ko-KR" sz="600" b="0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pic>
        <p:nvPicPr>
          <p:cNvPr id="329" name="Picture 3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  <p:sp>
        <p:nvSpPr>
          <p:cNvPr id="330" name="Rounded Rectangle 329"/>
          <p:cNvSpPr/>
          <p:nvPr/>
        </p:nvSpPr>
        <p:spPr>
          <a:xfrm>
            <a:off x="660400" y="1422400"/>
            <a:ext cx="4267200" cy="482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1" name="Rounded Rectangle 330"/>
          <p:cNvSpPr/>
          <p:nvPr/>
        </p:nvSpPr>
        <p:spPr>
          <a:xfrm>
            <a:off x="5080000" y="1422400"/>
            <a:ext cx="4267200" cy="482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2" name="Rounded Rectangle 331"/>
          <p:cNvSpPr/>
          <p:nvPr/>
        </p:nvSpPr>
        <p:spPr>
          <a:xfrm>
            <a:off x="787400" y="1574800"/>
            <a:ext cx="3987800" cy="279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chemeClr val="tx1">
                    <a:lumMod val="75000"/>
                    <a:lumOff val="2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민간위탁 운영 근로자 가이드라인 준수 계획</a:t>
            </a:r>
          </a:p>
        </p:txBody>
      </p:sp>
      <p:sp>
        <p:nvSpPr>
          <p:cNvPr id="333" name="Rectangle 332"/>
          <p:cNvSpPr/>
          <p:nvPr/>
        </p:nvSpPr>
        <p:spPr>
          <a:xfrm>
            <a:off x="787400" y="1930399"/>
            <a:ext cx="3987800" cy="209553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 dirty="0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근로자 보호를 위한 본사 TF 구성</a:t>
            </a:r>
          </a:p>
        </p:txBody>
      </p:sp>
      <p:sp>
        <p:nvSpPr>
          <p:cNvPr id="334" name="Rounded Rectangle 333"/>
          <p:cNvSpPr/>
          <p:nvPr/>
        </p:nvSpPr>
        <p:spPr>
          <a:xfrm>
            <a:off x="787400" y="2209800"/>
            <a:ext cx="3987800" cy="7874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7" name="Rectangle 336"/>
          <p:cNvSpPr/>
          <p:nvPr/>
        </p:nvSpPr>
        <p:spPr>
          <a:xfrm>
            <a:off x="1394407" y="2311400"/>
            <a:ext cx="635000" cy="177800"/>
          </a:xfrm>
          <a:prstGeom prst="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 dirty="0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법무파트</a:t>
            </a:r>
          </a:p>
        </p:txBody>
      </p:sp>
      <p:sp>
        <p:nvSpPr>
          <p:cNvPr id="338" name="Rectangle 337"/>
          <p:cNvSpPr/>
          <p:nvPr/>
        </p:nvSpPr>
        <p:spPr>
          <a:xfrm>
            <a:off x="1394407" y="2540000"/>
            <a:ext cx="6604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고혜정 변호사</a:t>
            </a:r>
          </a:p>
        </p:txBody>
      </p:sp>
      <p:sp>
        <p:nvSpPr>
          <p:cNvPr id="339" name="Rectangle 338"/>
          <p:cNvSpPr/>
          <p:nvPr/>
        </p:nvSpPr>
        <p:spPr>
          <a:xfrm>
            <a:off x="2590800" y="2311400"/>
            <a:ext cx="711200" cy="177800"/>
          </a:xfrm>
          <a:prstGeom prst="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노사협력파트</a:t>
            </a:r>
          </a:p>
        </p:txBody>
      </p:sp>
      <p:sp>
        <p:nvSpPr>
          <p:cNvPr id="340" name="Rectangle 339"/>
          <p:cNvSpPr/>
          <p:nvPr/>
        </p:nvSpPr>
        <p:spPr>
          <a:xfrm>
            <a:off x="2618793" y="2540000"/>
            <a:ext cx="7112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김보영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노무사</a:t>
            </a:r>
          </a:p>
        </p:txBody>
      </p:sp>
      <p:sp>
        <p:nvSpPr>
          <p:cNvPr id="341" name="Rectangle 340"/>
          <p:cNvSpPr/>
          <p:nvPr/>
        </p:nvSpPr>
        <p:spPr>
          <a:xfrm>
            <a:off x="3378200" y="2260600"/>
            <a:ext cx="1270000" cy="711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정기 협의체 미팅</a:t>
            </a:r>
          </a:p>
          <a:p>
            <a:pPr algn="l">
              <a:lnSpc>
                <a:spcPct val="12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가이드라인 변경 대응</a:t>
            </a:r>
          </a:p>
          <a:p>
            <a:pPr algn="l">
              <a:lnSpc>
                <a:spcPct val="12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근로조건 리스크 점검</a:t>
            </a:r>
          </a:p>
          <a:p>
            <a:pPr algn="l">
              <a:lnSpc>
                <a:spcPct val="12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이슈사항 공동 대응</a:t>
            </a:r>
          </a:p>
        </p:txBody>
      </p:sp>
      <p:sp>
        <p:nvSpPr>
          <p:cNvPr id="342" name="Rounded Rectangle 341"/>
          <p:cNvSpPr/>
          <p:nvPr/>
        </p:nvSpPr>
        <p:spPr>
          <a:xfrm>
            <a:off x="787400" y="3098800"/>
            <a:ext cx="1955800" cy="93980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3" name="Rectangle 342"/>
          <p:cNvSpPr/>
          <p:nvPr/>
        </p:nvSpPr>
        <p:spPr>
          <a:xfrm>
            <a:off x="863600" y="3175000"/>
            <a:ext cx="1803400" cy="25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000" b="1">
                <a:solidFill>
                  <a:schemeClr val="tx1">
                    <a:lumMod val="75000"/>
                    <a:lumOff val="2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적정임금 및 보상</a:t>
            </a:r>
          </a:p>
        </p:txBody>
      </p:sp>
      <p:sp>
        <p:nvSpPr>
          <p:cNvPr id="344" name="Rectangle 343"/>
          <p:cNvSpPr/>
          <p:nvPr/>
        </p:nvSpPr>
        <p:spPr>
          <a:xfrm>
            <a:off x="889000" y="3505200"/>
            <a:ext cx="1803400" cy="482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업계 평균 이상의 임금 체계 구축</a:t>
            </a:r>
          </a:p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성과 인센티브 제도 운영</a:t>
            </a:r>
          </a:p>
        </p:txBody>
      </p:sp>
      <p:sp>
        <p:nvSpPr>
          <p:cNvPr id="345" name="Rounded Rectangle 344"/>
          <p:cNvSpPr/>
          <p:nvPr/>
        </p:nvSpPr>
        <p:spPr>
          <a:xfrm>
            <a:off x="2819400" y="3098800"/>
            <a:ext cx="1955800" cy="93980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6" name="Rectangle 345"/>
          <p:cNvSpPr/>
          <p:nvPr/>
        </p:nvSpPr>
        <p:spPr>
          <a:xfrm>
            <a:off x="2895600" y="3175000"/>
            <a:ext cx="1803400" cy="25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000" b="1">
                <a:solidFill>
                  <a:schemeClr val="tx1">
                    <a:lumMod val="75000"/>
                    <a:lumOff val="2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고용 안정성 및 공공성 강화</a:t>
            </a:r>
          </a:p>
        </p:txBody>
      </p:sp>
      <p:sp>
        <p:nvSpPr>
          <p:cNvPr id="347" name="Rectangle 346"/>
          <p:cNvSpPr/>
          <p:nvPr/>
        </p:nvSpPr>
        <p:spPr>
          <a:xfrm>
            <a:off x="2921000" y="3505200"/>
            <a:ext cx="1803400" cy="482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</a:t>
            </a:r>
            <a:r>
              <a:rPr lang="ko-KR" sz="9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정직원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채용 / 고용유지 원칙 준수</a:t>
            </a:r>
          </a:p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사업 종료 시 적극 협조, 고용불안 최소</a:t>
            </a:r>
          </a:p>
        </p:txBody>
      </p:sp>
      <p:sp>
        <p:nvSpPr>
          <p:cNvPr id="348" name="Rounded Rectangle 347"/>
          <p:cNvSpPr/>
          <p:nvPr/>
        </p:nvSpPr>
        <p:spPr>
          <a:xfrm>
            <a:off x="787400" y="4114800"/>
            <a:ext cx="1955800" cy="93980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9" name="Rectangle 348"/>
          <p:cNvSpPr/>
          <p:nvPr/>
        </p:nvSpPr>
        <p:spPr>
          <a:xfrm>
            <a:off x="863600" y="4191000"/>
            <a:ext cx="1803400" cy="25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000" b="1">
                <a:solidFill>
                  <a:schemeClr val="tx1">
                    <a:lumMod val="75000"/>
                    <a:lumOff val="2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감정노동자 보호 체계 구축</a:t>
            </a:r>
          </a:p>
        </p:txBody>
      </p:sp>
      <p:sp>
        <p:nvSpPr>
          <p:cNvPr id="350" name="Rectangle 349"/>
          <p:cNvSpPr/>
          <p:nvPr/>
        </p:nvSpPr>
        <p:spPr>
          <a:xfrm>
            <a:off x="889000" y="4521200"/>
            <a:ext cx="1803400" cy="482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고객 폭언·욕설 대응 프로세스 운영</a:t>
            </a:r>
          </a:p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심리상담 및 힐링 프로그램 도입</a:t>
            </a:r>
          </a:p>
        </p:txBody>
      </p:sp>
      <p:sp>
        <p:nvSpPr>
          <p:cNvPr id="351" name="Rounded Rectangle 350"/>
          <p:cNvSpPr/>
          <p:nvPr/>
        </p:nvSpPr>
        <p:spPr>
          <a:xfrm>
            <a:off x="2819400" y="4114800"/>
            <a:ext cx="1955800" cy="93980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2" name="Rectangle 351"/>
          <p:cNvSpPr/>
          <p:nvPr/>
        </p:nvSpPr>
        <p:spPr>
          <a:xfrm>
            <a:off x="2895600" y="4191000"/>
            <a:ext cx="1803400" cy="25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000" b="1">
                <a:solidFill>
                  <a:schemeClr val="tx1">
                    <a:lumMod val="75000"/>
                    <a:lumOff val="2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복리후생 및 근무환경 개선</a:t>
            </a:r>
          </a:p>
        </p:txBody>
      </p:sp>
      <p:sp>
        <p:nvSpPr>
          <p:cNvPr id="353" name="Rectangle 352"/>
          <p:cNvSpPr/>
          <p:nvPr/>
        </p:nvSpPr>
        <p:spPr>
          <a:xfrm>
            <a:off x="2921000" y="4521200"/>
            <a:ext cx="1803400" cy="482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업계 최고 수준의 복리후생 제공</a:t>
            </a:r>
          </a:p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휴게공간 및 힐링룸 구축</a:t>
            </a:r>
          </a:p>
        </p:txBody>
      </p:sp>
      <p:sp>
        <p:nvSpPr>
          <p:cNvPr id="354" name="Rounded Rectangle 353"/>
          <p:cNvSpPr/>
          <p:nvPr/>
        </p:nvSpPr>
        <p:spPr>
          <a:xfrm>
            <a:off x="787400" y="5130800"/>
            <a:ext cx="1955800" cy="93980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5" name="Rectangle 354"/>
          <p:cNvSpPr/>
          <p:nvPr/>
        </p:nvSpPr>
        <p:spPr>
          <a:xfrm>
            <a:off x="863600" y="5207000"/>
            <a:ext cx="1803400" cy="25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000" b="1">
                <a:solidFill>
                  <a:schemeClr val="tx1">
                    <a:lumMod val="75000"/>
                    <a:lumOff val="2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고충처리 및 권익보호 시스템</a:t>
            </a:r>
          </a:p>
        </p:txBody>
      </p:sp>
      <p:sp>
        <p:nvSpPr>
          <p:cNvPr id="356" name="Rectangle 355"/>
          <p:cNvSpPr/>
          <p:nvPr/>
        </p:nvSpPr>
        <p:spPr>
          <a:xfrm>
            <a:off x="889000" y="5537200"/>
            <a:ext cx="1803400" cy="482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익명 고충처리 채널 상시 운영(온라인)</a:t>
            </a:r>
          </a:p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피해 전담 관리 프로세스 운영</a:t>
            </a:r>
          </a:p>
        </p:txBody>
      </p:sp>
      <p:sp>
        <p:nvSpPr>
          <p:cNvPr id="357" name="Rounded Rectangle 356"/>
          <p:cNvSpPr/>
          <p:nvPr/>
        </p:nvSpPr>
        <p:spPr>
          <a:xfrm>
            <a:off x="2819400" y="5130800"/>
            <a:ext cx="1955800" cy="93980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8" name="Rectangle 357"/>
          <p:cNvSpPr/>
          <p:nvPr/>
        </p:nvSpPr>
        <p:spPr>
          <a:xfrm>
            <a:off x="2895600" y="5207000"/>
            <a:ext cx="1803400" cy="25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000" b="1">
                <a:solidFill>
                  <a:schemeClr val="tx1">
                    <a:lumMod val="75000"/>
                    <a:lumOff val="2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노동자 권리 보장</a:t>
            </a:r>
          </a:p>
        </p:txBody>
      </p:sp>
      <p:sp>
        <p:nvSpPr>
          <p:cNvPr id="359" name="Rectangle 358"/>
          <p:cNvSpPr/>
          <p:nvPr/>
        </p:nvSpPr>
        <p:spPr>
          <a:xfrm>
            <a:off x="2921000" y="5537200"/>
            <a:ext cx="1803400" cy="482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노동3권 및 노조활동 자율성 보장</a:t>
            </a:r>
          </a:p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노사 협력관계 구축</a:t>
            </a:r>
          </a:p>
        </p:txBody>
      </p:sp>
      <p:sp>
        <p:nvSpPr>
          <p:cNvPr id="360" name="Rounded Rectangle 359"/>
          <p:cNvSpPr/>
          <p:nvPr/>
        </p:nvSpPr>
        <p:spPr>
          <a:xfrm>
            <a:off x="5232400" y="1574800"/>
            <a:ext cx="3962400" cy="279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chemeClr val="tx1">
                    <a:lumMod val="75000"/>
                    <a:lumOff val="2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노사관계 구축 관리 방안</a:t>
            </a:r>
          </a:p>
        </p:txBody>
      </p:sp>
      <p:sp>
        <p:nvSpPr>
          <p:cNvPr id="361" name="Rectangle 360"/>
          <p:cNvSpPr/>
          <p:nvPr/>
        </p:nvSpPr>
        <p:spPr>
          <a:xfrm>
            <a:off x="5232400" y="1930400"/>
            <a:ext cx="3962400" cy="2286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대형센터 노사대응 및 교섭 대표 우수 사례</a:t>
            </a:r>
          </a:p>
        </p:txBody>
      </p:sp>
      <p:sp>
        <p:nvSpPr>
          <p:cNvPr id="362" name="Rounded Rectangle 361"/>
          <p:cNvSpPr/>
          <p:nvPr/>
        </p:nvSpPr>
        <p:spPr>
          <a:xfrm>
            <a:off x="5232399" y="2209800"/>
            <a:ext cx="1314637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4" name="Rectangle 363"/>
          <p:cNvSpPr/>
          <p:nvPr/>
        </p:nvSpPr>
        <p:spPr>
          <a:xfrm>
            <a:off x="5232400" y="2641600"/>
            <a:ext cx="1314636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400" b="1" dirty="0">
                <a:solidFill>
                  <a:srgbClr val="10151F"/>
                </a:solidFill>
                <a:latin typeface="페이퍼로지 9 Black"/>
                <a:ea typeface="페이퍼로지 9 Black"/>
                <a:cs typeface="페이퍼로지 9 Black"/>
              </a:rPr>
              <a:t>341명</a:t>
            </a:r>
          </a:p>
        </p:txBody>
      </p:sp>
      <p:sp>
        <p:nvSpPr>
          <p:cNvPr id="365" name="Rounded Rectangle 364"/>
          <p:cNvSpPr/>
          <p:nvPr/>
        </p:nvSpPr>
        <p:spPr>
          <a:xfrm>
            <a:off x="6601107" y="2209800"/>
            <a:ext cx="1263243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7" name="Rectangle 366"/>
          <p:cNvSpPr/>
          <p:nvPr/>
        </p:nvSpPr>
        <p:spPr>
          <a:xfrm>
            <a:off x="6601105" y="2641600"/>
            <a:ext cx="1263243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400" b="1" dirty="0">
                <a:solidFill>
                  <a:srgbClr val="10151F"/>
                </a:solidFill>
                <a:latin typeface="페이퍼로지 9 Black"/>
                <a:ea typeface="페이퍼로지 9 Black"/>
                <a:cs typeface="페이퍼로지 9 Black"/>
              </a:rPr>
              <a:t>80명</a:t>
            </a:r>
          </a:p>
        </p:txBody>
      </p:sp>
      <p:sp>
        <p:nvSpPr>
          <p:cNvPr id="368" name="Rounded Rectangle 367"/>
          <p:cNvSpPr/>
          <p:nvPr/>
        </p:nvSpPr>
        <p:spPr>
          <a:xfrm>
            <a:off x="7931556" y="2209800"/>
            <a:ext cx="1263243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0" name="Rectangle 369"/>
          <p:cNvSpPr/>
          <p:nvPr/>
        </p:nvSpPr>
        <p:spPr>
          <a:xfrm>
            <a:off x="7931556" y="2641600"/>
            <a:ext cx="1263244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400" b="1" dirty="0">
                <a:solidFill>
                  <a:srgbClr val="10151F"/>
                </a:solidFill>
                <a:latin typeface="페이퍼로지 9 Black"/>
                <a:ea typeface="페이퍼로지 9 Black"/>
                <a:cs typeface="페이퍼로지 9 Black"/>
              </a:rPr>
              <a:t>180명</a:t>
            </a:r>
          </a:p>
        </p:txBody>
      </p:sp>
      <p:sp>
        <p:nvSpPr>
          <p:cNvPr id="371" name="Rounded Rectangle 370"/>
          <p:cNvSpPr/>
          <p:nvPr/>
        </p:nvSpPr>
        <p:spPr>
          <a:xfrm>
            <a:off x="5232400" y="3355708"/>
            <a:ext cx="3962400" cy="1600200"/>
          </a:xfrm>
          <a:prstGeom prst="roundRect">
            <a:avLst>
              <a:gd name="adj" fmla="val 5000"/>
            </a:avLst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2" name="Rectangle 371"/>
          <p:cNvSpPr/>
          <p:nvPr/>
        </p:nvSpPr>
        <p:spPr>
          <a:xfrm>
            <a:off x="5359400" y="3482708"/>
            <a:ext cx="1041400" cy="381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문제발생</a:t>
            </a:r>
          </a:p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(또는 감지)</a:t>
            </a:r>
          </a:p>
        </p:txBody>
      </p:sp>
      <p:sp>
        <p:nvSpPr>
          <p:cNvPr id="373" name="Rectangle 372"/>
          <p:cNvSpPr/>
          <p:nvPr/>
        </p:nvSpPr>
        <p:spPr>
          <a:xfrm>
            <a:off x="6731000" y="3482708"/>
            <a:ext cx="1041400" cy="381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하이텔레서비스</a:t>
            </a:r>
          </a:p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즉시보고</a:t>
            </a:r>
          </a:p>
        </p:txBody>
      </p:sp>
      <p:sp>
        <p:nvSpPr>
          <p:cNvPr id="374" name="Rectangle 373"/>
          <p:cNvSpPr/>
          <p:nvPr/>
        </p:nvSpPr>
        <p:spPr>
          <a:xfrm>
            <a:off x="8077200" y="3482708"/>
            <a:ext cx="1041400" cy="381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KT IS 본사</a:t>
            </a:r>
          </a:p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즉시보고</a:t>
            </a:r>
          </a:p>
        </p:txBody>
      </p:sp>
      <p:cxnSp>
        <p:nvCxnSpPr>
          <p:cNvPr id="375" name="Connector 374"/>
          <p:cNvCxnSpPr/>
          <p:nvPr/>
        </p:nvCxnSpPr>
        <p:spPr>
          <a:xfrm>
            <a:off x="6400800" y="3673208"/>
            <a:ext cx="304800" cy="0"/>
          </a:xfrm>
          <a:prstGeom prst="line">
            <a:avLst/>
          </a:prstGeom>
          <a:ln w="12700">
            <a:solidFill>
              <a:srgbClr val="1015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Connector 375"/>
          <p:cNvCxnSpPr/>
          <p:nvPr/>
        </p:nvCxnSpPr>
        <p:spPr>
          <a:xfrm>
            <a:off x="7772400" y="3673208"/>
            <a:ext cx="279400" cy="0"/>
          </a:xfrm>
          <a:prstGeom prst="line">
            <a:avLst/>
          </a:prstGeom>
          <a:ln w="12700">
            <a:solidFill>
              <a:srgbClr val="1015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7" name="Connector 376"/>
          <p:cNvCxnSpPr/>
          <p:nvPr/>
        </p:nvCxnSpPr>
        <p:spPr>
          <a:xfrm>
            <a:off x="8597900" y="3863708"/>
            <a:ext cx="0" cy="177800"/>
          </a:xfrm>
          <a:prstGeom prst="line">
            <a:avLst/>
          </a:prstGeom>
          <a:ln w="12700">
            <a:solidFill>
              <a:srgbClr val="1015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8" name="Rectangle 377"/>
          <p:cNvSpPr/>
          <p:nvPr/>
        </p:nvSpPr>
        <p:spPr>
          <a:xfrm>
            <a:off x="7620000" y="4066908"/>
            <a:ext cx="1498600" cy="203200"/>
          </a:xfrm>
          <a:prstGeom prst="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노무관리위원회</a:t>
            </a:r>
          </a:p>
        </p:txBody>
      </p:sp>
      <p:sp>
        <p:nvSpPr>
          <p:cNvPr id="383" name="Diamond 382"/>
          <p:cNvSpPr/>
          <p:nvPr/>
        </p:nvSpPr>
        <p:spPr>
          <a:xfrm>
            <a:off x="5308600" y="4295508"/>
            <a:ext cx="1092200" cy="508000"/>
          </a:xfrm>
          <a:prstGeom prst="diamond">
            <a:avLst/>
          </a:prstGeom>
          <a:solidFill>
            <a:srgbClr val="3A3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ko-KR" sz="900" b="1" dirty="0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현장 점검·</a:t>
            </a:r>
          </a:p>
          <a:p>
            <a:pPr algn="ctr">
              <a:lnSpc>
                <a:spcPct val="105000"/>
              </a:lnSpc>
            </a:pPr>
            <a:r>
              <a:rPr lang="ko-KR" sz="900" b="1" dirty="0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조치</a:t>
            </a:r>
          </a:p>
        </p:txBody>
      </p:sp>
      <p:cxnSp>
        <p:nvCxnSpPr>
          <p:cNvPr id="384" name="Connector 383"/>
          <p:cNvCxnSpPr/>
          <p:nvPr/>
        </p:nvCxnSpPr>
        <p:spPr>
          <a:xfrm flipV="1">
            <a:off x="5854700" y="3889108"/>
            <a:ext cx="0" cy="381000"/>
          </a:xfrm>
          <a:prstGeom prst="line">
            <a:avLst/>
          </a:prstGeom>
          <a:ln w="12700">
            <a:solidFill>
              <a:srgbClr val="1015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6" name="Rectangle 385"/>
          <p:cNvSpPr/>
          <p:nvPr/>
        </p:nvSpPr>
        <p:spPr>
          <a:xfrm>
            <a:off x="6240052" y="5454243"/>
            <a:ext cx="2768600" cy="55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</a:pPr>
            <a:r>
              <a:rPr lang="ko-KR" sz="1200" b="1" dirty="0" err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노란봉투법</a:t>
            </a:r>
            <a:r>
              <a:rPr lang="ko-KR" sz="1200" b="1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 관련</a:t>
            </a:r>
          </a:p>
          <a:p>
            <a:pPr algn="ctr">
              <a:lnSpc>
                <a:spcPct val="125000"/>
              </a:lnSpc>
            </a:pPr>
            <a:r>
              <a:rPr lang="ko-KR" sz="1200" b="1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노무 대응 </a:t>
            </a:r>
            <a:r>
              <a:rPr lang="ko-KR" sz="12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TF 구성 준비 완료</a:t>
            </a:r>
          </a:p>
        </p:txBody>
      </p:sp>
      <p:pic>
        <p:nvPicPr>
          <p:cNvPr id="64" name="그림 63">
            <a:extLst>
              <a:ext uri="{FF2B5EF4-FFF2-40B4-BE49-F238E27FC236}">
                <a16:creationId xmlns:a16="http://schemas.microsoft.com/office/drawing/2014/main" id="{72FFB876-FCEA-4629-AEE9-35AFB73FDBD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886" y="2165353"/>
            <a:ext cx="543793" cy="806447"/>
          </a:xfrm>
          <a:prstGeom prst="rect">
            <a:avLst/>
          </a:prstGeom>
        </p:spPr>
      </p:pic>
      <p:pic>
        <p:nvPicPr>
          <p:cNvPr id="65" name="그림 64">
            <a:extLst>
              <a:ext uri="{FF2B5EF4-FFF2-40B4-BE49-F238E27FC236}">
                <a16:creationId xmlns:a16="http://schemas.microsoft.com/office/drawing/2014/main" id="{E53E6F0B-54BC-47DC-82C1-D9E969915B4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48" t="1968" r="14501" b="27569"/>
          <a:stretch>
            <a:fillRect/>
          </a:stretch>
        </p:blipFill>
        <p:spPr>
          <a:xfrm>
            <a:off x="2030909" y="2143126"/>
            <a:ext cx="574457" cy="854074"/>
          </a:xfrm>
          <a:prstGeom prst="rect">
            <a:avLst/>
          </a:prstGeom>
        </p:spPr>
      </p:pic>
      <p:sp>
        <p:nvSpPr>
          <p:cNvPr id="66" name="모서리가 둥근 직사각형 91">
            <a:extLst>
              <a:ext uri="{FF2B5EF4-FFF2-40B4-BE49-F238E27FC236}">
                <a16:creationId xmlns:a16="http://schemas.microsoft.com/office/drawing/2014/main" id="{DBCBD640-04DD-4452-9A76-94A877042BDD}"/>
              </a:ext>
            </a:extLst>
          </p:cNvPr>
          <p:cNvSpPr/>
          <p:nvPr/>
        </p:nvSpPr>
        <p:spPr>
          <a:xfrm>
            <a:off x="6477000" y="4270108"/>
            <a:ext cx="2646680" cy="482600"/>
          </a:xfrm>
          <a:prstGeom prst="roundRect">
            <a:avLst>
              <a:gd name="adj" fmla="val 6591"/>
            </a:avLst>
          </a:prstGeom>
          <a:solidFill>
            <a:schemeClr val="bg1"/>
          </a:solidFill>
          <a:ln w="9525">
            <a:noFill/>
          </a:ln>
          <a:effectLst>
            <a:outerShdw blurRad="38100" dist="38100" dir="5400000" algn="t" rotWithShape="0">
              <a:schemeClr val="bg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ko-KR" altLang="en-US" sz="800" spc="-60" dirty="0">
              <a:ln>
                <a:solidFill>
                  <a:srgbClr val="F39800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5 Medium" pitchFamily="2" charset="-127"/>
              <a:ea typeface="페이퍼로지 5 Medium" pitchFamily="2" charset="-127"/>
              <a:cs typeface="페이퍼로지 7 Bold" pitchFamily="50" charset="-127"/>
            </a:endParaRPr>
          </a:p>
        </p:txBody>
      </p:sp>
      <p:sp>
        <p:nvSpPr>
          <p:cNvPr id="67" name="Rectangle 378">
            <a:extLst>
              <a:ext uri="{FF2B5EF4-FFF2-40B4-BE49-F238E27FC236}">
                <a16:creationId xmlns:a16="http://schemas.microsoft.com/office/drawing/2014/main" id="{9F71E743-AADD-413B-AA3C-B45CA106559E}"/>
              </a:ext>
            </a:extLst>
          </p:cNvPr>
          <p:cNvSpPr/>
          <p:nvPr/>
        </p:nvSpPr>
        <p:spPr>
          <a:xfrm>
            <a:off x="6511836" y="4355013"/>
            <a:ext cx="609600" cy="315264"/>
          </a:xfrm>
          <a:prstGeom prst="rect">
            <a:avLst/>
          </a:prstGeom>
          <a:solidFill>
            <a:srgbClr val="E3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노무사</a:t>
            </a:r>
          </a:p>
        </p:txBody>
      </p:sp>
      <p:sp>
        <p:nvSpPr>
          <p:cNvPr id="68" name="Rectangle 379">
            <a:extLst>
              <a:ext uri="{FF2B5EF4-FFF2-40B4-BE49-F238E27FC236}">
                <a16:creationId xmlns:a16="http://schemas.microsoft.com/office/drawing/2014/main" id="{EF80CEE8-D854-45DE-AD7C-4BDED6257783}"/>
              </a:ext>
            </a:extLst>
          </p:cNvPr>
          <p:cNvSpPr/>
          <p:nvPr/>
        </p:nvSpPr>
        <p:spPr>
          <a:xfrm>
            <a:off x="7172236" y="4355013"/>
            <a:ext cx="609600" cy="315264"/>
          </a:xfrm>
          <a:prstGeom prst="rect">
            <a:avLst/>
          </a:prstGeom>
          <a:solidFill>
            <a:srgbClr val="E3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변호사</a:t>
            </a:r>
          </a:p>
        </p:txBody>
      </p:sp>
      <p:sp>
        <p:nvSpPr>
          <p:cNvPr id="69" name="Rectangle 380">
            <a:extLst>
              <a:ext uri="{FF2B5EF4-FFF2-40B4-BE49-F238E27FC236}">
                <a16:creationId xmlns:a16="http://schemas.microsoft.com/office/drawing/2014/main" id="{C1D62278-E058-4ADC-AC71-2489F7A176D7}"/>
              </a:ext>
            </a:extLst>
          </p:cNvPr>
          <p:cNvSpPr/>
          <p:nvPr/>
        </p:nvSpPr>
        <p:spPr>
          <a:xfrm>
            <a:off x="7832636" y="4355013"/>
            <a:ext cx="609600" cy="315264"/>
          </a:xfrm>
          <a:prstGeom prst="rect">
            <a:avLst/>
          </a:prstGeom>
          <a:solidFill>
            <a:srgbClr val="E3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운영이사</a:t>
            </a:r>
          </a:p>
        </p:txBody>
      </p:sp>
      <p:sp>
        <p:nvSpPr>
          <p:cNvPr id="70" name="Rectangle 381">
            <a:extLst>
              <a:ext uri="{FF2B5EF4-FFF2-40B4-BE49-F238E27FC236}">
                <a16:creationId xmlns:a16="http://schemas.microsoft.com/office/drawing/2014/main" id="{2AA5BFF7-D607-47E0-999D-40522B909C07}"/>
              </a:ext>
            </a:extLst>
          </p:cNvPr>
          <p:cNvSpPr/>
          <p:nvPr/>
        </p:nvSpPr>
        <p:spPr>
          <a:xfrm>
            <a:off x="8493036" y="4355013"/>
            <a:ext cx="609600" cy="315264"/>
          </a:xfrm>
          <a:prstGeom prst="rect">
            <a:avLst/>
          </a:prstGeom>
          <a:solidFill>
            <a:srgbClr val="E3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ERM팀</a:t>
            </a:r>
            <a:endParaRPr lang="ko-KR" sz="900" b="0" dirty="0">
              <a:solidFill>
                <a:srgbClr val="10151F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pic>
        <p:nvPicPr>
          <p:cNvPr id="71" name="그림 70">
            <a:extLst>
              <a:ext uri="{FF2B5EF4-FFF2-40B4-BE49-F238E27FC236}">
                <a16:creationId xmlns:a16="http://schemas.microsoft.com/office/drawing/2014/main" id="{5FEEFCF3-B889-4F2F-9391-B562DDA02A4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5760377" y="5189586"/>
            <a:ext cx="1238749" cy="823954"/>
          </a:xfrm>
          <a:prstGeom prst="rect">
            <a:avLst/>
          </a:prstGeom>
        </p:spPr>
      </p:pic>
      <p:pic>
        <p:nvPicPr>
          <p:cNvPr id="72" name="그림 71">
            <a:extLst>
              <a:ext uri="{FF2B5EF4-FFF2-40B4-BE49-F238E27FC236}">
                <a16:creationId xmlns:a16="http://schemas.microsoft.com/office/drawing/2014/main" id="{96F96DB1-9EDF-48EE-8EEC-7E2B0BC730E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7491" y="2260600"/>
            <a:ext cx="874603" cy="389574"/>
          </a:xfrm>
          <a:prstGeom prst="rect">
            <a:avLst/>
          </a:prstGeom>
        </p:spPr>
      </p:pic>
      <p:pic>
        <p:nvPicPr>
          <p:cNvPr id="73" name="그림 72">
            <a:extLst>
              <a:ext uri="{FF2B5EF4-FFF2-40B4-BE49-F238E27FC236}">
                <a16:creationId xmlns:a16="http://schemas.microsoft.com/office/drawing/2014/main" id="{C079A223-8CD5-476C-92A7-FAE2BC075994}"/>
              </a:ext>
            </a:extLst>
          </p:cNvPr>
          <p:cNvPicPr preferRelativeResize="0">
            <a:picLocks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24245" y="2380070"/>
            <a:ext cx="1048155" cy="240751"/>
          </a:xfrm>
          <a:prstGeom prst="rect">
            <a:avLst/>
          </a:prstGeom>
        </p:spPr>
      </p:pic>
      <p:pic>
        <p:nvPicPr>
          <p:cNvPr id="74" name="그림 73">
            <a:extLst>
              <a:ext uri="{FF2B5EF4-FFF2-40B4-BE49-F238E27FC236}">
                <a16:creationId xmlns:a16="http://schemas.microsoft.com/office/drawing/2014/main" id="{E63B6A04-A82C-4EFD-B17C-B95871E1D43B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34382" y="2362200"/>
            <a:ext cx="1056811" cy="312553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Rectangle 2">
            <a:extLst>
              <a:ext uri="{FF2B5EF4-FFF2-40B4-BE49-F238E27FC236}">
                <a16:creationId xmlns:a16="http://schemas.microsoft.com/office/drawing/2014/main" id="{66282572-5816-422F-A5F6-6F46198BC839}"/>
              </a:ext>
            </a:extLst>
          </p:cNvPr>
          <p:cNvSpPr/>
          <p:nvPr/>
        </p:nvSpPr>
        <p:spPr>
          <a:xfrm>
            <a:off x="1929606" y="381000"/>
            <a:ext cx="61912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altLang="ko-KR" sz="900" b="0" dirty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3-1 ⑦ 안전보건 및 노무관리</a:t>
            </a:r>
            <a:endParaRPr lang="ko-KR" sz="900" b="0" dirty="0">
              <a:solidFill>
                <a:srgbClr val="A50034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179" name="Rectangle 3">
            <a:extLst>
              <a:ext uri="{FF2B5EF4-FFF2-40B4-BE49-F238E27FC236}">
                <a16:creationId xmlns:a16="http://schemas.microsoft.com/office/drawing/2014/main" id="{32FA807B-A07A-47B7-8748-91F14EE4A93C}"/>
              </a:ext>
            </a:extLst>
          </p:cNvPr>
          <p:cNvSpPr/>
          <p:nvPr/>
        </p:nvSpPr>
        <p:spPr>
          <a:xfrm>
            <a:off x="846138" y="660400"/>
            <a:ext cx="8461375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0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소통 창구와 케어 프로그램으로 </a:t>
            </a:r>
            <a:r>
              <a:rPr lang="ko-KR" sz="20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직원 만족도</a:t>
            </a:r>
            <a:r>
              <a:rPr lang="ko-KR" sz="20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를 높입니다</a:t>
            </a:r>
          </a:p>
        </p:txBody>
      </p:sp>
      <p:sp>
        <p:nvSpPr>
          <p:cNvPr id="180" name="Rectangle 4">
            <a:extLst>
              <a:ext uri="{FF2B5EF4-FFF2-40B4-BE49-F238E27FC236}">
                <a16:creationId xmlns:a16="http://schemas.microsoft.com/office/drawing/2014/main" id="{AFA34CF8-6FC8-470E-A633-424A91EECBE9}"/>
              </a:ext>
            </a:extLst>
          </p:cNvPr>
          <p:cNvSpPr/>
          <p:nvPr/>
        </p:nvSpPr>
        <p:spPr>
          <a:xfrm>
            <a:off x="846138" y="1079500"/>
            <a:ext cx="84613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다양한 케어 프로그램과 체계적인 소통 창구로 내부 직원의 만족도를 높여, 고품질 상담 서비스로 이어 가겠습니다.</a:t>
            </a:r>
          </a:p>
        </p:txBody>
      </p:sp>
      <p:sp>
        <p:nvSpPr>
          <p:cNvPr id="181" name="Rectangle 78">
            <a:extLst>
              <a:ext uri="{FF2B5EF4-FFF2-40B4-BE49-F238E27FC236}">
                <a16:creationId xmlns:a16="http://schemas.microsoft.com/office/drawing/2014/main" id="{7D347CCC-3F77-43D2-A599-83BD1A2ACE74}"/>
              </a:ext>
            </a:extLst>
          </p:cNvPr>
          <p:cNvSpPr/>
          <p:nvPr/>
        </p:nvSpPr>
        <p:spPr>
          <a:xfrm>
            <a:off x="4540250" y="64770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41 / 49</a:t>
            </a:r>
            <a:endParaRPr lang="ko-KR" sz="600" b="0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pic>
        <p:nvPicPr>
          <p:cNvPr id="329" name="Picture 3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  <p:sp>
        <p:nvSpPr>
          <p:cNvPr id="330" name="Rectangle 329"/>
          <p:cNvSpPr/>
          <p:nvPr/>
        </p:nvSpPr>
        <p:spPr>
          <a:xfrm>
            <a:off x="660400" y="1447800"/>
            <a:ext cx="38100" cy="177800"/>
          </a:xfrm>
          <a:prstGeom prst="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1" name="Rectangle 330"/>
          <p:cNvSpPr/>
          <p:nvPr/>
        </p:nvSpPr>
        <p:spPr>
          <a:xfrm>
            <a:off x="774700" y="1422400"/>
            <a:ext cx="4191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노무 관리 계획</a:t>
            </a:r>
          </a:p>
        </p:txBody>
      </p:sp>
      <p:sp>
        <p:nvSpPr>
          <p:cNvPr id="332" name="Rounded Rectangle 331"/>
          <p:cNvSpPr/>
          <p:nvPr/>
        </p:nvSpPr>
        <p:spPr>
          <a:xfrm>
            <a:off x="660400" y="1727200"/>
            <a:ext cx="3022600" cy="212052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3" name="Rounded Rectangle 332"/>
          <p:cNvSpPr/>
          <p:nvPr/>
        </p:nvSpPr>
        <p:spPr>
          <a:xfrm>
            <a:off x="1143000" y="1828800"/>
            <a:ext cx="2057400" cy="254000"/>
          </a:xfrm>
          <a:prstGeom prst="roundRect">
            <a:avLst>
              <a:gd name="adj" fmla="val 30000"/>
            </a:avLst>
          </a:prstGeom>
          <a:solidFill>
            <a:srgbClr val="101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0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단체교섭 선제대응 우수센터</a:t>
            </a:r>
          </a:p>
        </p:txBody>
      </p:sp>
      <p:sp>
        <p:nvSpPr>
          <p:cNvPr id="335" name="Rounded Rectangle 334"/>
          <p:cNvSpPr/>
          <p:nvPr/>
        </p:nvSpPr>
        <p:spPr>
          <a:xfrm>
            <a:off x="762000" y="2303418"/>
            <a:ext cx="889000" cy="423091"/>
          </a:xfrm>
          <a:prstGeom prst="roundRect">
            <a:avLst>
              <a:gd name="adj" fmla="val 20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 dirty="0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근로기준법</a:t>
            </a:r>
          </a:p>
          <a:p>
            <a:pPr algn="ctr">
              <a:lnSpc>
                <a:spcPct val="110000"/>
              </a:lnSpc>
            </a:pPr>
            <a:r>
              <a:rPr lang="ko-KR" sz="900" b="1" dirty="0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법령 준수</a:t>
            </a:r>
          </a:p>
        </p:txBody>
      </p:sp>
      <p:sp>
        <p:nvSpPr>
          <p:cNvPr id="336" name="Rounded Rectangle 335"/>
          <p:cNvSpPr/>
          <p:nvPr/>
        </p:nvSpPr>
        <p:spPr>
          <a:xfrm>
            <a:off x="2692400" y="2286000"/>
            <a:ext cx="889000" cy="457200"/>
          </a:xfrm>
          <a:prstGeom prst="roundRect">
            <a:avLst>
              <a:gd name="adj" fmla="val 20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 dirty="0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집단행동</a:t>
            </a:r>
          </a:p>
          <a:p>
            <a:pPr algn="ctr">
              <a:lnSpc>
                <a:spcPct val="110000"/>
              </a:lnSpc>
            </a:pPr>
            <a:r>
              <a:rPr lang="ko-KR" sz="900" b="1" dirty="0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사전 예방</a:t>
            </a:r>
          </a:p>
        </p:txBody>
      </p:sp>
      <p:sp>
        <p:nvSpPr>
          <p:cNvPr id="337" name="Rectangle 336"/>
          <p:cNvSpPr/>
          <p:nvPr/>
        </p:nvSpPr>
        <p:spPr>
          <a:xfrm>
            <a:off x="1303904" y="3139856"/>
            <a:ext cx="1778000" cy="635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ko-KR" sz="1000" b="1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신뢰와 화합의</a:t>
            </a:r>
          </a:p>
          <a:p>
            <a:pPr algn="ctr">
              <a:lnSpc>
                <a:spcPct val="120000"/>
              </a:lnSpc>
            </a:pPr>
            <a:r>
              <a:rPr lang="ko-KR" sz="12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안정적 노사관계 구축</a:t>
            </a:r>
          </a:p>
        </p:txBody>
      </p:sp>
      <p:sp>
        <p:nvSpPr>
          <p:cNvPr id="338" name="Rectangle 337"/>
          <p:cNvSpPr/>
          <p:nvPr/>
        </p:nvSpPr>
        <p:spPr>
          <a:xfrm>
            <a:off x="660400" y="3962400"/>
            <a:ext cx="965200" cy="50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소통채널 운영</a:t>
            </a:r>
          </a:p>
        </p:txBody>
      </p:sp>
      <p:sp>
        <p:nvSpPr>
          <p:cNvPr id="339" name="Rectangle 338"/>
          <p:cNvSpPr/>
          <p:nvPr/>
        </p:nvSpPr>
        <p:spPr>
          <a:xfrm>
            <a:off x="1701800" y="3962400"/>
            <a:ext cx="1981200" cy="50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직원 의견 수렴을 위한 소통채널 운영</a:t>
            </a:r>
          </a:p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(온라인 포털 게시판 · 센터 건의함 비치)</a:t>
            </a:r>
          </a:p>
        </p:txBody>
      </p:sp>
      <p:sp>
        <p:nvSpPr>
          <p:cNvPr id="340" name="Rectangle 339"/>
          <p:cNvSpPr/>
          <p:nvPr/>
        </p:nvSpPr>
        <p:spPr>
          <a:xfrm>
            <a:off x="660400" y="4546600"/>
            <a:ext cx="965200" cy="50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직원 만족도 평가</a:t>
            </a:r>
          </a:p>
        </p:txBody>
      </p:sp>
      <p:sp>
        <p:nvSpPr>
          <p:cNvPr id="341" name="Rectangle 340"/>
          <p:cNvSpPr/>
          <p:nvPr/>
        </p:nvSpPr>
        <p:spPr>
          <a:xfrm>
            <a:off x="1701800" y="4546600"/>
            <a:ext cx="1981200" cy="50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직원 만족도 평가를 위한 설문조사 진행</a:t>
            </a:r>
          </a:p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직원 의견 수렴 및 데이터화</a:t>
            </a:r>
          </a:p>
        </p:txBody>
      </p:sp>
      <p:sp>
        <p:nvSpPr>
          <p:cNvPr id="342" name="Rectangle 341"/>
          <p:cNvSpPr/>
          <p:nvPr/>
        </p:nvSpPr>
        <p:spPr>
          <a:xfrm>
            <a:off x="660400" y="5130800"/>
            <a:ext cx="965200" cy="50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개선활동 시행</a:t>
            </a:r>
          </a:p>
        </p:txBody>
      </p:sp>
      <p:sp>
        <p:nvSpPr>
          <p:cNvPr id="343" name="Rectangle 342"/>
          <p:cNvSpPr/>
          <p:nvPr/>
        </p:nvSpPr>
        <p:spPr>
          <a:xfrm>
            <a:off x="1701800" y="5130800"/>
            <a:ext cx="1981200" cy="50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조사·분석 결과를 토대로</a:t>
            </a:r>
          </a:p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개선활동 시행 및 센터 내 게시</a:t>
            </a:r>
          </a:p>
        </p:txBody>
      </p:sp>
      <p:sp>
        <p:nvSpPr>
          <p:cNvPr id="344" name="Rounded Rectangle 343"/>
          <p:cNvSpPr/>
          <p:nvPr/>
        </p:nvSpPr>
        <p:spPr>
          <a:xfrm>
            <a:off x="660400" y="5740400"/>
            <a:ext cx="3022600" cy="482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30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직원 정서적 케어 방안 마련으로</a:t>
            </a:r>
          </a:p>
          <a:p>
            <a:pPr algn="ctr">
              <a:lnSpc>
                <a:spcPct val="115000"/>
              </a:lnSpc>
            </a:pPr>
            <a:r>
              <a:rPr lang="ko-KR" sz="12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내부 만족도 향상</a:t>
            </a:r>
          </a:p>
        </p:txBody>
      </p:sp>
      <p:sp>
        <p:nvSpPr>
          <p:cNvPr id="345" name="Rectangle 344"/>
          <p:cNvSpPr/>
          <p:nvPr/>
        </p:nvSpPr>
        <p:spPr>
          <a:xfrm>
            <a:off x="3860800" y="1447800"/>
            <a:ext cx="38100" cy="177800"/>
          </a:xfrm>
          <a:prstGeom prst="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6" name="Rectangle 345"/>
          <p:cNvSpPr/>
          <p:nvPr/>
        </p:nvSpPr>
        <p:spPr>
          <a:xfrm>
            <a:off x="3975100" y="1422400"/>
            <a:ext cx="4191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노무 Care 프로세스</a:t>
            </a: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   사전 방지 → 징후 대응 → 사후 대응</a:t>
            </a:r>
          </a:p>
        </p:txBody>
      </p:sp>
      <p:sp>
        <p:nvSpPr>
          <p:cNvPr id="347" name="Rounded Rectangle 346"/>
          <p:cNvSpPr/>
          <p:nvPr/>
        </p:nvSpPr>
        <p:spPr>
          <a:xfrm>
            <a:off x="3860800" y="1727200"/>
            <a:ext cx="1765300" cy="88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8" name="Rectangle 347"/>
          <p:cNvSpPr/>
          <p:nvPr/>
        </p:nvSpPr>
        <p:spPr>
          <a:xfrm>
            <a:off x="3962400" y="1803400"/>
            <a:ext cx="330200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300" b="1">
                <a:solidFill>
                  <a:srgbClr val="E30C60"/>
                </a:solidFill>
                <a:latin typeface="페이퍼로지 9 Black"/>
                <a:ea typeface="페이퍼로지 9 Black"/>
                <a:cs typeface="페이퍼로지 9 Black"/>
              </a:rPr>
              <a:t>01</a:t>
            </a:r>
          </a:p>
        </p:txBody>
      </p:sp>
      <p:sp>
        <p:nvSpPr>
          <p:cNvPr id="349" name="Rectangle 348"/>
          <p:cNvSpPr/>
          <p:nvPr/>
        </p:nvSpPr>
        <p:spPr>
          <a:xfrm>
            <a:off x="4292600" y="1803400"/>
            <a:ext cx="1295400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노무 Care 환경 조성</a:t>
            </a:r>
          </a:p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(사전 방지)</a:t>
            </a:r>
          </a:p>
        </p:txBody>
      </p:sp>
      <p:sp>
        <p:nvSpPr>
          <p:cNvPr id="350" name="Rectangle 349"/>
          <p:cNvSpPr/>
          <p:nvPr/>
        </p:nvSpPr>
        <p:spPr>
          <a:xfrm>
            <a:off x="3962400" y="2184400"/>
            <a:ext cx="16256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직종 근로관계 법령 준수</a:t>
            </a:r>
          </a:p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직원 케어 활동 활성화</a:t>
            </a:r>
          </a:p>
        </p:txBody>
      </p:sp>
      <p:sp>
        <p:nvSpPr>
          <p:cNvPr id="351" name="Rounded Rectangle 350"/>
          <p:cNvSpPr/>
          <p:nvPr/>
        </p:nvSpPr>
        <p:spPr>
          <a:xfrm>
            <a:off x="5702300" y="1727200"/>
            <a:ext cx="1765300" cy="88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2" name="Rectangle 351"/>
          <p:cNvSpPr/>
          <p:nvPr/>
        </p:nvSpPr>
        <p:spPr>
          <a:xfrm>
            <a:off x="5803900" y="1803400"/>
            <a:ext cx="330200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300" b="1">
                <a:solidFill>
                  <a:srgbClr val="E30C60"/>
                </a:solidFill>
                <a:latin typeface="페이퍼로지 9 Black"/>
                <a:ea typeface="페이퍼로지 9 Black"/>
                <a:cs typeface="페이퍼로지 9 Black"/>
              </a:rPr>
              <a:t>02</a:t>
            </a:r>
          </a:p>
        </p:txBody>
      </p:sp>
      <p:sp>
        <p:nvSpPr>
          <p:cNvPr id="353" name="Rectangle 352"/>
          <p:cNvSpPr/>
          <p:nvPr/>
        </p:nvSpPr>
        <p:spPr>
          <a:xfrm>
            <a:off x="6134100" y="1803400"/>
            <a:ext cx="1295400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불안 징후 대응</a:t>
            </a:r>
          </a:p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(징후 대응)</a:t>
            </a:r>
          </a:p>
        </p:txBody>
      </p:sp>
      <p:sp>
        <p:nvSpPr>
          <p:cNvPr id="354" name="Rectangle 353"/>
          <p:cNvSpPr/>
          <p:nvPr/>
        </p:nvSpPr>
        <p:spPr>
          <a:xfrm>
            <a:off x="5803900" y="2184400"/>
            <a:ext cx="16256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적극적인 의견 수렴 창구</a:t>
            </a:r>
          </a:p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신속한 보고 및 대책 마련</a:t>
            </a:r>
          </a:p>
        </p:txBody>
      </p:sp>
      <p:sp>
        <p:nvSpPr>
          <p:cNvPr id="355" name="Rounded Rectangle 354"/>
          <p:cNvSpPr/>
          <p:nvPr/>
        </p:nvSpPr>
        <p:spPr>
          <a:xfrm>
            <a:off x="7543800" y="1727200"/>
            <a:ext cx="1765300" cy="88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6" name="Rectangle 355"/>
          <p:cNvSpPr/>
          <p:nvPr/>
        </p:nvSpPr>
        <p:spPr>
          <a:xfrm>
            <a:off x="7645400" y="1803400"/>
            <a:ext cx="330200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300" b="1">
                <a:solidFill>
                  <a:srgbClr val="E30C60"/>
                </a:solidFill>
                <a:latin typeface="페이퍼로지 9 Black"/>
                <a:ea typeface="페이퍼로지 9 Black"/>
                <a:cs typeface="페이퍼로지 9 Black"/>
              </a:rPr>
              <a:t>03</a:t>
            </a:r>
          </a:p>
        </p:txBody>
      </p:sp>
      <p:sp>
        <p:nvSpPr>
          <p:cNvPr id="357" name="Rectangle 356"/>
          <p:cNvSpPr/>
          <p:nvPr/>
        </p:nvSpPr>
        <p:spPr>
          <a:xfrm>
            <a:off x="7975600" y="1803400"/>
            <a:ext cx="1295400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만족도 제고 · 지속</a:t>
            </a:r>
          </a:p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(사후 대응)</a:t>
            </a:r>
          </a:p>
        </p:txBody>
      </p:sp>
      <p:sp>
        <p:nvSpPr>
          <p:cNvPr id="358" name="Rectangle 357"/>
          <p:cNvSpPr/>
          <p:nvPr/>
        </p:nvSpPr>
        <p:spPr>
          <a:xfrm>
            <a:off x="7645400" y="2184400"/>
            <a:ext cx="16256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업무의 연속성 보장</a:t>
            </a:r>
          </a:p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재발 방지 프로세스 시행</a:t>
            </a:r>
          </a:p>
        </p:txBody>
      </p:sp>
      <p:sp>
        <p:nvSpPr>
          <p:cNvPr id="359" name="Pentagon 358"/>
          <p:cNvSpPr/>
          <p:nvPr/>
        </p:nvSpPr>
        <p:spPr>
          <a:xfrm>
            <a:off x="5308600" y="2717800"/>
            <a:ext cx="1295400" cy="254000"/>
          </a:xfrm>
          <a:prstGeom prst="homePlate">
            <a:avLst/>
          </a:prstGeom>
          <a:solidFill>
            <a:srgbClr val="C9C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사전 대응</a:t>
            </a:r>
          </a:p>
        </p:txBody>
      </p:sp>
      <p:sp>
        <p:nvSpPr>
          <p:cNvPr id="360" name="Chevron 359"/>
          <p:cNvSpPr/>
          <p:nvPr/>
        </p:nvSpPr>
        <p:spPr>
          <a:xfrm>
            <a:off x="6654800" y="2717800"/>
            <a:ext cx="1295400" cy="254000"/>
          </a:xfrm>
          <a:prstGeom prst="chevron">
            <a:avLst/>
          </a:prstGeom>
          <a:solidFill>
            <a:srgbClr val="C9C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징후 대응</a:t>
            </a:r>
          </a:p>
        </p:txBody>
      </p:sp>
      <p:sp>
        <p:nvSpPr>
          <p:cNvPr id="361" name="Chevron 360"/>
          <p:cNvSpPr/>
          <p:nvPr/>
        </p:nvSpPr>
        <p:spPr>
          <a:xfrm>
            <a:off x="8001000" y="2717800"/>
            <a:ext cx="1295400" cy="254000"/>
          </a:xfrm>
          <a:prstGeom prst="chevron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사후 대응</a:t>
            </a:r>
          </a:p>
        </p:txBody>
      </p:sp>
      <p:sp>
        <p:nvSpPr>
          <p:cNvPr id="362" name="Rectangle 361"/>
          <p:cNvSpPr/>
          <p:nvPr/>
        </p:nvSpPr>
        <p:spPr>
          <a:xfrm>
            <a:off x="3860800" y="3048000"/>
            <a:ext cx="381000" cy="990600"/>
          </a:xfrm>
          <a:prstGeom prst="rect">
            <a:avLst/>
          </a:prstGeom>
          <a:solidFill>
            <a:srgbClr val="101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sz="900" b="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Case</a:t>
            </a:r>
          </a:p>
          <a:p>
            <a:pPr algn="ctr">
              <a:lnSpc>
                <a:spcPct val="100000"/>
              </a:lnSpc>
            </a:pPr>
            <a:r>
              <a:rPr lang="ko-KR" sz="1400" b="1">
                <a:solidFill>
                  <a:srgbClr val="FFFFFF"/>
                </a:solidFill>
                <a:latin typeface="페이퍼로지 9 Black"/>
                <a:ea typeface="페이퍼로지 9 Black"/>
                <a:cs typeface="페이퍼로지 9 Black"/>
              </a:rPr>
              <a:t>1</a:t>
            </a:r>
          </a:p>
        </p:txBody>
      </p:sp>
      <p:sp>
        <p:nvSpPr>
          <p:cNvPr id="363" name="Rectangle 362"/>
          <p:cNvSpPr/>
          <p:nvPr/>
        </p:nvSpPr>
        <p:spPr>
          <a:xfrm>
            <a:off x="4267200" y="3048000"/>
            <a:ext cx="990600" cy="990600"/>
          </a:xfrm>
          <a:prstGeom prst="rect">
            <a:avLst/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성희롱 ·</a:t>
            </a:r>
          </a:p>
          <a:p>
            <a:pPr algn="ctr">
              <a:lnSpc>
                <a:spcPct val="120000"/>
              </a:lnSpc>
            </a:pPr>
            <a:r>
              <a:rPr 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직장 내 괴롭힘</a:t>
            </a:r>
          </a:p>
        </p:txBody>
      </p:sp>
      <p:sp>
        <p:nvSpPr>
          <p:cNvPr id="364" name="Rectangle 363"/>
          <p:cNvSpPr/>
          <p:nvPr/>
        </p:nvSpPr>
        <p:spPr>
          <a:xfrm>
            <a:off x="5308600" y="3048000"/>
            <a:ext cx="129540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법정 교육 이수 필수</a:t>
            </a:r>
          </a:p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주기적 개별면담 진행</a:t>
            </a:r>
          </a:p>
        </p:txBody>
      </p:sp>
      <p:sp>
        <p:nvSpPr>
          <p:cNvPr id="365" name="Rectangle 364"/>
          <p:cNvSpPr/>
          <p:nvPr/>
        </p:nvSpPr>
        <p:spPr>
          <a:xfrm>
            <a:off x="6654800" y="3048000"/>
            <a:ext cx="129540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익명 신고 창구(온라인)</a:t>
            </a:r>
          </a:p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가해·피해자 분리 조치</a:t>
            </a:r>
          </a:p>
        </p:txBody>
      </p:sp>
      <p:sp>
        <p:nvSpPr>
          <p:cNvPr id="366" name="Rectangle 365"/>
          <p:cNvSpPr/>
          <p:nvPr/>
        </p:nvSpPr>
        <p:spPr>
          <a:xfrm>
            <a:off x="8001000" y="3048000"/>
            <a:ext cx="1295400" cy="990600"/>
          </a:xfrm>
          <a:prstGeom prst="rect">
            <a:avLst/>
          </a:prstGeom>
          <a:solidFill>
            <a:srgbClr val="FBE8E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노무사·변호사 상담 지원</a:t>
            </a:r>
          </a:p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재발 방지 교육</a:t>
            </a:r>
          </a:p>
        </p:txBody>
      </p:sp>
      <p:sp>
        <p:nvSpPr>
          <p:cNvPr id="367" name="Rectangle 366"/>
          <p:cNvSpPr/>
          <p:nvPr/>
        </p:nvSpPr>
        <p:spPr>
          <a:xfrm>
            <a:off x="3860800" y="4114800"/>
            <a:ext cx="381000" cy="990600"/>
          </a:xfrm>
          <a:prstGeom prst="rect">
            <a:avLst/>
          </a:prstGeom>
          <a:solidFill>
            <a:srgbClr val="101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sz="900" b="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Case</a:t>
            </a:r>
          </a:p>
          <a:p>
            <a:pPr algn="ctr">
              <a:lnSpc>
                <a:spcPct val="100000"/>
              </a:lnSpc>
            </a:pPr>
            <a:r>
              <a:rPr lang="ko-KR" sz="1400" b="1">
                <a:solidFill>
                  <a:srgbClr val="FFFFFF"/>
                </a:solidFill>
                <a:latin typeface="페이퍼로지 9 Black"/>
                <a:ea typeface="페이퍼로지 9 Black"/>
                <a:cs typeface="페이퍼로지 9 Black"/>
              </a:rPr>
              <a:t>2</a:t>
            </a:r>
          </a:p>
        </p:txBody>
      </p:sp>
      <p:sp>
        <p:nvSpPr>
          <p:cNvPr id="368" name="Rectangle 367"/>
          <p:cNvSpPr/>
          <p:nvPr/>
        </p:nvSpPr>
        <p:spPr>
          <a:xfrm>
            <a:off x="4267200" y="4114800"/>
            <a:ext cx="990600" cy="990600"/>
          </a:xfrm>
          <a:prstGeom prst="rect">
            <a:avLst/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각종</a:t>
            </a:r>
          </a:p>
          <a:p>
            <a:pPr algn="ctr">
              <a:lnSpc>
                <a:spcPct val="120000"/>
              </a:lnSpc>
            </a:pPr>
            <a:r>
              <a:rPr 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노무 이슈</a:t>
            </a:r>
          </a:p>
        </p:txBody>
      </p:sp>
      <p:sp>
        <p:nvSpPr>
          <p:cNvPr id="369" name="Rectangle 368"/>
          <p:cNvSpPr/>
          <p:nvPr/>
        </p:nvSpPr>
        <p:spPr>
          <a:xfrm>
            <a:off x="5308600" y="4114800"/>
            <a:ext cx="129540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운영 현황 정기 점검</a:t>
            </a:r>
          </a:p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법령 미준수 요소 파악</a:t>
            </a:r>
          </a:p>
        </p:txBody>
      </p:sp>
      <p:sp>
        <p:nvSpPr>
          <p:cNvPr id="370" name="Rectangle 369"/>
          <p:cNvSpPr/>
          <p:nvPr/>
        </p:nvSpPr>
        <p:spPr>
          <a:xfrm>
            <a:off x="6654800" y="4114800"/>
            <a:ext cx="129540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상시 모니터링</a:t>
            </a:r>
          </a:p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소통위원회 구성</a:t>
            </a:r>
          </a:p>
        </p:txBody>
      </p:sp>
      <p:sp>
        <p:nvSpPr>
          <p:cNvPr id="371" name="Rectangle 370"/>
          <p:cNvSpPr/>
          <p:nvPr/>
        </p:nvSpPr>
        <p:spPr>
          <a:xfrm>
            <a:off x="8001000" y="4114800"/>
            <a:ext cx="1295400" cy="990600"/>
          </a:xfrm>
          <a:prstGeom prst="rect">
            <a:avLst/>
          </a:prstGeom>
          <a:solidFill>
            <a:srgbClr val="FBE8E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센터 조치로 신속한 개선</a:t>
            </a:r>
          </a:p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재발방지위원회 진행</a:t>
            </a:r>
          </a:p>
        </p:txBody>
      </p:sp>
      <p:sp>
        <p:nvSpPr>
          <p:cNvPr id="372" name="Rectangle 371"/>
          <p:cNvSpPr/>
          <p:nvPr/>
        </p:nvSpPr>
        <p:spPr>
          <a:xfrm>
            <a:off x="3860800" y="5181600"/>
            <a:ext cx="381000" cy="990600"/>
          </a:xfrm>
          <a:prstGeom prst="rect">
            <a:avLst/>
          </a:prstGeom>
          <a:solidFill>
            <a:srgbClr val="101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sz="900" b="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Case</a:t>
            </a:r>
          </a:p>
          <a:p>
            <a:pPr algn="ctr">
              <a:lnSpc>
                <a:spcPct val="100000"/>
              </a:lnSpc>
            </a:pPr>
            <a:r>
              <a:rPr lang="ko-KR" sz="1400" b="1">
                <a:solidFill>
                  <a:srgbClr val="FFFFFF"/>
                </a:solidFill>
                <a:latin typeface="페이퍼로지 9 Black"/>
                <a:ea typeface="페이퍼로지 9 Black"/>
                <a:cs typeface="페이퍼로지 9 Black"/>
              </a:rPr>
              <a:t>3</a:t>
            </a:r>
          </a:p>
        </p:txBody>
      </p:sp>
      <p:sp>
        <p:nvSpPr>
          <p:cNvPr id="373" name="Rectangle 372"/>
          <p:cNvSpPr/>
          <p:nvPr/>
        </p:nvSpPr>
        <p:spPr>
          <a:xfrm>
            <a:off x="4267200" y="5181600"/>
            <a:ext cx="990600" cy="990600"/>
          </a:xfrm>
          <a:prstGeom prst="rect">
            <a:avLst/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파업 등</a:t>
            </a:r>
          </a:p>
          <a:p>
            <a:pPr algn="ctr">
              <a:lnSpc>
                <a:spcPct val="120000"/>
              </a:lnSpc>
            </a:pPr>
            <a:r>
              <a:rPr 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집단행동</a:t>
            </a:r>
          </a:p>
        </p:txBody>
      </p:sp>
      <p:sp>
        <p:nvSpPr>
          <p:cNvPr id="374" name="Rectangle 373"/>
          <p:cNvSpPr/>
          <p:nvPr/>
        </p:nvSpPr>
        <p:spPr>
          <a:xfrm>
            <a:off x="5308600" y="5181600"/>
            <a:ext cx="129540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정기 소통 기회 마련</a:t>
            </a:r>
          </a:p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정기 면담 진행</a:t>
            </a:r>
          </a:p>
        </p:txBody>
      </p:sp>
      <p:sp>
        <p:nvSpPr>
          <p:cNvPr id="375" name="Rectangle 374"/>
          <p:cNvSpPr/>
          <p:nvPr/>
        </p:nvSpPr>
        <p:spPr>
          <a:xfrm>
            <a:off x="6654800" y="5181600"/>
            <a:ext cx="129540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전 직원 면담</a:t>
            </a:r>
          </a:p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원인 분석 · 신속 대응</a:t>
            </a:r>
          </a:p>
        </p:txBody>
      </p:sp>
      <p:sp>
        <p:nvSpPr>
          <p:cNvPr id="376" name="Rectangle 375"/>
          <p:cNvSpPr/>
          <p:nvPr/>
        </p:nvSpPr>
        <p:spPr>
          <a:xfrm>
            <a:off x="8001000" y="5181600"/>
            <a:ext cx="1295400" cy="990600"/>
          </a:xfrm>
          <a:prstGeom prst="rect">
            <a:avLst/>
          </a:prstGeom>
          <a:solidFill>
            <a:srgbClr val="FBE8E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비상 인력 투입</a:t>
            </a:r>
          </a:p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재발 방지 대책 수립</a:t>
            </a:r>
          </a:p>
        </p:txBody>
      </p:sp>
      <p:cxnSp>
        <p:nvCxnSpPr>
          <p:cNvPr id="73" name="연결선: 꺾임 29">
            <a:extLst>
              <a:ext uri="{FF2B5EF4-FFF2-40B4-BE49-F238E27FC236}">
                <a16:creationId xmlns:a16="http://schemas.microsoft.com/office/drawing/2014/main" id="{7F0BFB55-1621-427A-B07B-8E9921322F88}"/>
              </a:ext>
            </a:extLst>
          </p:cNvPr>
          <p:cNvCxnSpPr>
            <a:cxnSpLocks/>
            <a:stCxn id="336" idx="1"/>
            <a:endCxn id="335" idx="3"/>
          </p:cNvCxnSpPr>
          <p:nvPr/>
        </p:nvCxnSpPr>
        <p:spPr>
          <a:xfrm rot="10800000" flipV="1">
            <a:off x="1651000" y="2514600"/>
            <a:ext cx="1041400" cy="364"/>
          </a:xfrm>
          <a:prstGeom prst="bentConnector3">
            <a:avLst>
              <a:gd name="adj1" fmla="val 50000"/>
            </a:avLst>
          </a:prstGeom>
          <a:noFill/>
          <a:ln w="15875" cap="flat" cmpd="sng" algn="ctr">
            <a:solidFill>
              <a:sysClr val="windowText" lastClr="000000">
                <a:alpha val="20000"/>
              </a:sysClr>
            </a:solidFill>
            <a:prstDash val="sysDot"/>
          </a:ln>
          <a:effectLst/>
        </p:spPr>
      </p:cxnSp>
      <p:sp>
        <p:nvSpPr>
          <p:cNvPr id="79" name="그래픽 74">
            <a:extLst>
              <a:ext uri="{FF2B5EF4-FFF2-40B4-BE49-F238E27FC236}">
                <a16:creationId xmlns:a16="http://schemas.microsoft.com/office/drawing/2014/main" id="{0CF7EFBA-5F9B-48DD-9FD4-B200A658C4AF}"/>
              </a:ext>
            </a:extLst>
          </p:cNvPr>
          <p:cNvSpPr>
            <a:spLocks noChangeAspect="1"/>
          </p:cNvSpPr>
          <p:nvPr/>
        </p:nvSpPr>
        <p:spPr>
          <a:xfrm>
            <a:off x="2057876" y="2963347"/>
            <a:ext cx="270055" cy="268205"/>
          </a:xfrm>
          <a:custGeom>
            <a:avLst/>
            <a:gdLst>
              <a:gd name="connsiteX0" fmla="*/ 432000 w 432000"/>
              <a:gd name="connsiteY0" fmla="*/ 181161 h 432000"/>
              <a:gd name="connsiteX1" fmla="*/ 416343 w 432000"/>
              <a:gd name="connsiteY1" fmla="*/ 181161 h 432000"/>
              <a:gd name="connsiteX2" fmla="*/ 393007 w 432000"/>
              <a:gd name="connsiteY2" fmla="*/ 193440 h 432000"/>
              <a:gd name="connsiteX3" fmla="*/ 384702 w 432000"/>
              <a:gd name="connsiteY3" fmla="*/ 190024 h 432000"/>
              <a:gd name="connsiteX4" fmla="*/ 355348 w 432000"/>
              <a:gd name="connsiteY4" fmla="*/ 182679 h 432000"/>
              <a:gd name="connsiteX5" fmla="*/ 355348 w 432000"/>
              <a:gd name="connsiteY5" fmla="*/ 179341 h 432000"/>
              <a:gd name="connsiteX6" fmla="*/ 376258 w 432000"/>
              <a:gd name="connsiteY6" fmla="*/ 139355 h 432000"/>
              <a:gd name="connsiteX7" fmla="*/ 376258 w 432000"/>
              <a:gd name="connsiteY7" fmla="*/ 127175 h 432000"/>
              <a:gd name="connsiteX8" fmla="*/ 328981 w 432000"/>
              <a:gd name="connsiteY8" fmla="*/ 76666 h 432000"/>
              <a:gd name="connsiteX9" fmla="*/ 325044 w 432000"/>
              <a:gd name="connsiteY9" fmla="*/ 76744 h 432000"/>
              <a:gd name="connsiteX10" fmla="*/ 332655 w 432000"/>
              <a:gd name="connsiteY10" fmla="*/ 58926 h 432000"/>
              <a:gd name="connsiteX11" fmla="*/ 295758 w 432000"/>
              <a:gd name="connsiteY11" fmla="*/ 22040 h 432000"/>
              <a:gd name="connsiteX12" fmla="*/ 274008 w 432000"/>
              <a:gd name="connsiteY12" fmla="*/ 36196 h 432000"/>
              <a:gd name="connsiteX13" fmla="*/ 247926 w 432000"/>
              <a:gd name="connsiteY13" fmla="*/ 25377 h 432000"/>
              <a:gd name="connsiteX14" fmla="*/ 242554 w 432000"/>
              <a:gd name="connsiteY14" fmla="*/ 0 h 432000"/>
              <a:gd name="connsiteX15" fmla="*/ 189453 w 432000"/>
              <a:gd name="connsiteY15" fmla="*/ 0 h 432000"/>
              <a:gd name="connsiteX16" fmla="*/ 184080 w 432000"/>
              <a:gd name="connsiteY16" fmla="*/ 25384 h 432000"/>
              <a:gd name="connsiteX17" fmla="*/ 157999 w 432000"/>
              <a:gd name="connsiteY17" fmla="*/ 36203 h 432000"/>
              <a:gd name="connsiteX18" fmla="*/ 136249 w 432000"/>
              <a:gd name="connsiteY18" fmla="*/ 22046 h 432000"/>
              <a:gd name="connsiteX19" fmla="*/ 99382 w 432000"/>
              <a:gd name="connsiteY19" fmla="*/ 58913 h 432000"/>
              <a:gd name="connsiteX20" fmla="*/ 106864 w 432000"/>
              <a:gd name="connsiteY20" fmla="*/ 76744 h 432000"/>
              <a:gd name="connsiteX21" fmla="*/ 106020 w 432000"/>
              <a:gd name="connsiteY21" fmla="*/ 76672 h 432000"/>
              <a:gd name="connsiteX22" fmla="*/ 70562 w 432000"/>
              <a:gd name="connsiteY22" fmla="*/ 90421 h 432000"/>
              <a:gd name="connsiteX23" fmla="*/ 55742 w 432000"/>
              <a:gd name="connsiteY23" fmla="*/ 125419 h 432000"/>
              <a:gd name="connsiteX24" fmla="*/ 55742 w 432000"/>
              <a:gd name="connsiteY24" fmla="*/ 139355 h 432000"/>
              <a:gd name="connsiteX25" fmla="*/ 76645 w 432000"/>
              <a:gd name="connsiteY25" fmla="*/ 179334 h 432000"/>
              <a:gd name="connsiteX26" fmla="*/ 76645 w 432000"/>
              <a:gd name="connsiteY26" fmla="*/ 182679 h 432000"/>
              <a:gd name="connsiteX27" fmla="*/ 57497 w 432000"/>
              <a:gd name="connsiteY27" fmla="*/ 187466 h 432000"/>
              <a:gd name="connsiteX28" fmla="*/ 22791 w 432000"/>
              <a:gd name="connsiteY28" fmla="*/ 167226 h 432000"/>
              <a:gd name="connsiteX29" fmla="*/ 0 w 432000"/>
              <a:gd name="connsiteY29" fmla="*/ 167226 h 432000"/>
              <a:gd name="connsiteX30" fmla="*/ 0 w 432000"/>
              <a:gd name="connsiteY30" fmla="*/ 311606 h 432000"/>
              <a:gd name="connsiteX31" fmla="*/ 68548 w 432000"/>
              <a:gd name="connsiteY31" fmla="*/ 334452 h 432000"/>
              <a:gd name="connsiteX32" fmla="*/ 81898 w 432000"/>
              <a:gd name="connsiteY32" fmla="*/ 334452 h 432000"/>
              <a:gd name="connsiteX33" fmla="*/ 83565 w 432000"/>
              <a:gd name="connsiteY33" fmla="*/ 328613 h 432000"/>
              <a:gd name="connsiteX34" fmla="*/ 104577 w 432000"/>
              <a:gd name="connsiteY34" fmla="*/ 341225 h 432000"/>
              <a:gd name="connsiteX35" fmla="*/ 125498 w 432000"/>
              <a:gd name="connsiteY35" fmla="*/ 362244 h 432000"/>
              <a:gd name="connsiteX36" fmla="*/ 146401 w 432000"/>
              <a:gd name="connsiteY36" fmla="*/ 383148 h 432000"/>
              <a:gd name="connsiteX37" fmla="*/ 167304 w 432000"/>
              <a:gd name="connsiteY37" fmla="*/ 404051 h 432000"/>
              <a:gd name="connsiteX38" fmla="*/ 188973 w 432000"/>
              <a:gd name="connsiteY38" fmla="*/ 425032 h 432000"/>
              <a:gd name="connsiteX39" fmla="*/ 201187 w 432000"/>
              <a:gd name="connsiteY39" fmla="*/ 421256 h 432000"/>
              <a:gd name="connsiteX40" fmla="*/ 207358 w 432000"/>
              <a:gd name="connsiteY40" fmla="*/ 426706 h 432000"/>
              <a:gd name="connsiteX41" fmla="*/ 221379 w 432000"/>
              <a:gd name="connsiteY41" fmla="*/ 432000 h 432000"/>
              <a:gd name="connsiteX42" fmla="*/ 222668 w 432000"/>
              <a:gd name="connsiteY42" fmla="*/ 432000 h 432000"/>
              <a:gd name="connsiteX43" fmla="*/ 243844 w 432000"/>
              <a:gd name="connsiteY43" fmla="*/ 411070 h 432000"/>
              <a:gd name="connsiteX44" fmla="*/ 264747 w 432000"/>
              <a:gd name="connsiteY44" fmla="*/ 390166 h 432000"/>
              <a:gd name="connsiteX45" fmla="*/ 285650 w 432000"/>
              <a:gd name="connsiteY45" fmla="*/ 369243 h 432000"/>
              <a:gd name="connsiteX46" fmla="*/ 306581 w 432000"/>
              <a:gd name="connsiteY46" fmla="*/ 347863 h 432000"/>
              <a:gd name="connsiteX47" fmla="*/ 306475 w 432000"/>
              <a:gd name="connsiteY47" fmla="*/ 345774 h 432000"/>
              <a:gd name="connsiteX48" fmla="*/ 432000 w 432000"/>
              <a:gd name="connsiteY48" fmla="*/ 283017 h 432000"/>
              <a:gd name="connsiteX49" fmla="*/ 362323 w 432000"/>
              <a:gd name="connsiteY49" fmla="*/ 127175 h 432000"/>
              <a:gd name="connsiteX50" fmla="*/ 362323 w 432000"/>
              <a:gd name="connsiteY50" fmla="*/ 139355 h 432000"/>
              <a:gd name="connsiteX51" fmla="*/ 344883 w 432000"/>
              <a:gd name="connsiteY51" fmla="*/ 169505 h 432000"/>
              <a:gd name="connsiteX52" fmla="*/ 341399 w 432000"/>
              <a:gd name="connsiteY52" fmla="*/ 171519 h 432000"/>
              <a:gd name="connsiteX53" fmla="*/ 341426 w 432000"/>
              <a:gd name="connsiteY53" fmla="*/ 193569 h 432000"/>
              <a:gd name="connsiteX54" fmla="*/ 376238 w 432000"/>
              <a:gd name="connsiteY54" fmla="*/ 202265 h 432000"/>
              <a:gd name="connsiteX55" fmla="*/ 299613 w 432000"/>
              <a:gd name="connsiteY55" fmla="*/ 242595 h 432000"/>
              <a:gd name="connsiteX56" fmla="*/ 299613 w 432000"/>
              <a:gd name="connsiteY56" fmla="*/ 223825 h 432000"/>
              <a:gd name="connsiteX57" fmla="*/ 289634 w 432000"/>
              <a:gd name="connsiteY57" fmla="*/ 199543 h 432000"/>
              <a:gd name="connsiteX58" fmla="*/ 313548 w 432000"/>
              <a:gd name="connsiteY58" fmla="*/ 193569 h 432000"/>
              <a:gd name="connsiteX59" fmla="*/ 313548 w 432000"/>
              <a:gd name="connsiteY59" fmla="*/ 171502 h 432000"/>
              <a:gd name="connsiteX60" fmla="*/ 310071 w 432000"/>
              <a:gd name="connsiteY60" fmla="*/ 169492 h 432000"/>
              <a:gd name="connsiteX61" fmla="*/ 292645 w 432000"/>
              <a:gd name="connsiteY61" fmla="*/ 139355 h 432000"/>
              <a:gd name="connsiteX62" fmla="*/ 292645 w 432000"/>
              <a:gd name="connsiteY62" fmla="*/ 125419 h 432000"/>
              <a:gd name="connsiteX63" fmla="*/ 303229 w 432000"/>
              <a:gd name="connsiteY63" fmla="*/ 100413 h 432000"/>
              <a:gd name="connsiteX64" fmla="*/ 328562 w 432000"/>
              <a:gd name="connsiteY64" fmla="*/ 90601 h 432000"/>
              <a:gd name="connsiteX65" fmla="*/ 362323 w 432000"/>
              <a:gd name="connsiteY65" fmla="*/ 127175 h 432000"/>
              <a:gd name="connsiteX66" fmla="*/ 226506 w 432000"/>
              <a:gd name="connsiteY66" fmla="*/ 237118 h 432000"/>
              <a:gd name="connsiteX67" fmla="*/ 194964 w 432000"/>
              <a:gd name="connsiteY67" fmla="*/ 227037 h 432000"/>
              <a:gd name="connsiteX68" fmla="*/ 150317 w 432000"/>
              <a:gd name="connsiteY68" fmla="*/ 225002 h 432000"/>
              <a:gd name="connsiteX69" fmla="*/ 146323 w 432000"/>
              <a:gd name="connsiteY69" fmla="*/ 225887 h 432000"/>
              <a:gd name="connsiteX70" fmla="*/ 146323 w 432000"/>
              <a:gd name="connsiteY70" fmla="*/ 223825 h 432000"/>
              <a:gd name="connsiteX71" fmla="*/ 162153 w 432000"/>
              <a:gd name="connsiteY71" fmla="*/ 203541 h 432000"/>
              <a:gd name="connsiteX72" fmla="*/ 202065 w 432000"/>
              <a:gd name="connsiteY72" fmla="*/ 193569 h 432000"/>
              <a:gd name="connsiteX73" fmla="*/ 202065 w 432000"/>
              <a:gd name="connsiteY73" fmla="*/ 171502 h 432000"/>
              <a:gd name="connsiteX74" fmla="*/ 198587 w 432000"/>
              <a:gd name="connsiteY74" fmla="*/ 169492 h 432000"/>
              <a:gd name="connsiteX75" fmla="*/ 181161 w 432000"/>
              <a:gd name="connsiteY75" fmla="*/ 139355 h 432000"/>
              <a:gd name="connsiteX76" fmla="*/ 181161 w 432000"/>
              <a:gd name="connsiteY76" fmla="*/ 125419 h 432000"/>
              <a:gd name="connsiteX77" fmla="*/ 191746 w 432000"/>
              <a:gd name="connsiteY77" fmla="*/ 100413 h 432000"/>
              <a:gd name="connsiteX78" fmla="*/ 217079 w 432000"/>
              <a:gd name="connsiteY78" fmla="*/ 90601 h 432000"/>
              <a:gd name="connsiteX79" fmla="*/ 250839 w 432000"/>
              <a:gd name="connsiteY79" fmla="*/ 127175 h 432000"/>
              <a:gd name="connsiteX80" fmla="*/ 250839 w 432000"/>
              <a:gd name="connsiteY80" fmla="*/ 139355 h 432000"/>
              <a:gd name="connsiteX81" fmla="*/ 233399 w 432000"/>
              <a:gd name="connsiteY81" fmla="*/ 169505 h 432000"/>
              <a:gd name="connsiteX82" fmla="*/ 229915 w 432000"/>
              <a:gd name="connsiteY82" fmla="*/ 171519 h 432000"/>
              <a:gd name="connsiteX83" fmla="*/ 229942 w 432000"/>
              <a:gd name="connsiteY83" fmla="*/ 193569 h 432000"/>
              <a:gd name="connsiteX84" fmla="*/ 269847 w 432000"/>
              <a:gd name="connsiteY84" fmla="*/ 203541 h 432000"/>
              <a:gd name="connsiteX85" fmla="*/ 285677 w 432000"/>
              <a:gd name="connsiteY85" fmla="*/ 223825 h 432000"/>
              <a:gd name="connsiteX86" fmla="*/ 285677 w 432000"/>
              <a:gd name="connsiteY86" fmla="*/ 249934 h 432000"/>
              <a:gd name="connsiteX87" fmla="*/ 283956 w 432000"/>
              <a:gd name="connsiteY87" fmla="*/ 250839 h 432000"/>
              <a:gd name="connsiteX88" fmla="*/ 279686 w 432000"/>
              <a:gd name="connsiteY88" fmla="*/ 250839 h 432000"/>
              <a:gd name="connsiteX89" fmla="*/ 236849 w 432000"/>
              <a:gd name="connsiteY89" fmla="*/ 238598 h 432000"/>
              <a:gd name="connsiteX90" fmla="*/ 226506 w 432000"/>
              <a:gd name="connsiteY90" fmla="*/ 237118 h 432000"/>
              <a:gd name="connsiteX91" fmla="*/ 147884 w 432000"/>
              <a:gd name="connsiteY91" fmla="*/ 104285 h 432000"/>
              <a:gd name="connsiteX92" fmla="*/ 216000 w 432000"/>
              <a:gd name="connsiteY92" fmla="*/ 62710 h 432000"/>
              <a:gd name="connsiteX93" fmla="*/ 283830 w 432000"/>
              <a:gd name="connsiteY93" fmla="*/ 103723 h 432000"/>
              <a:gd name="connsiteX94" fmla="*/ 278710 w 432000"/>
              <a:gd name="connsiteY94" fmla="*/ 125419 h 432000"/>
              <a:gd name="connsiteX95" fmla="*/ 278710 w 432000"/>
              <a:gd name="connsiteY95" fmla="*/ 139355 h 432000"/>
              <a:gd name="connsiteX96" fmla="*/ 299613 w 432000"/>
              <a:gd name="connsiteY96" fmla="*/ 179334 h 432000"/>
              <a:gd name="connsiteX97" fmla="*/ 299613 w 432000"/>
              <a:gd name="connsiteY97" fmla="*/ 182679 h 432000"/>
              <a:gd name="connsiteX98" fmla="*/ 271742 w 432000"/>
              <a:gd name="connsiteY98" fmla="*/ 189657 h 432000"/>
              <a:gd name="connsiteX99" fmla="*/ 243864 w 432000"/>
              <a:gd name="connsiteY99" fmla="*/ 182679 h 432000"/>
              <a:gd name="connsiteX100" fmla="*/ 243864 w 432000"/>
              <a:gd name="connsiteY100" fmla="*/ 179341 h 432000"/>
              <a:gd name="connsiteX101" fmla="*/ 264774 w 432000"/>
              <a:gd name="connsiteY101" fmla="*/ 139355 h 432000"/>
              <a:gd name="connsiteX102" fmla="*/ 264774 w 432000"/>
              <a:gd name="connsiteY102" fmla="*/ 127175 h 432000"/>
              <a:gd name="connsiteX103" fmla="*/ 217497 w 432000"/>
              <a:gd name="connsiteY103" fmla="*/ 76666 h 432000"/>
              <a:gd name="connsiteX104" fmla="*/ 182039 w 432000"/>
              <a:gd name="connsiteY104" fmla="*/ 90414 h 432000"/>
              <a:gd name="connsiteX105" fmla="*/ 167226 w 432000"/>
              <a:gd name="connsiteY105" fmla="*/ 125419 h 432000"/>
              <a:gd name="connsiteX106" fmla="*/ 167226 w 432000"/>
              <a:gd name="connsiteY106" fmla="*/ 139355 h 432000"/>
              <a:gd name="connsiteX107" fmla="*/ 188129 w 432000"/>
              <a:gd name="connsiteY107" fmla="*/ 179334 h 432000"/>
              <a:gd name="connsiteX108" fmla="*/ 188129 w 432000"/>
              <a:gd name="connsiteY108" fmla="*/ 182679 h 432000"/>
              <a:gd name="connsiteX109" fmla="*/ 160258 w 432000"/>
              <a:gd name="connsiteY109" fmla="*/ 189657 h 432000"/>
              <a:gd name="connsiteX110" fmla="*/ 132380 w 432000"/>
              <a:gd name="connsiteY110" fmla="*/ 182679 h 432000"/>
              <a:gd name="connsiteX111" fmla="*/ 132380 w 432000"/>
              <a:gd name="connsiteY111" fmla="*/ 179341 h 432000"/>
              <a:gd name="connsiteX112" fmla="*/ 153290 w 432000"/>
              <a:gd name="connsiteY112" fmla="*/ 139355 h 432000"/>
              <a:gd name="connsiteX113" fmla="*/ 153290 w 432000"/>
              <a:gd name="connsiteY113" fmla="*/ 127175 h 432000"/>
              <a:gd name="connsiteX114" fmla="*/ 147884 w 432000"/>
              <a:gd name="connsiteY114" fmla="*/ 104285 h 432000"/>
              <a:gd name="connsiteX115" fmla="*/ 115839 w 432000"/>
              <a:gd name="connsiteY115" fmla="*/ 62145 h 432000"/>
              <a:gd name="connsiteX116" fmla="*/ 138099 w 432000"/>
              <a:gd name="connsiteY116" fmla="*/ 39884 h 432000"/>
              <a:gd name="connsiteX117" fmla="*/ 157693 w 432000"/>
              <a:gd name="connsiteY117" fmla="*/ 52636 h 432000"/>
              <a:gd name="connsiteX118" fmla="*/ 161442 w 432000"/>
              <a:gd name="connsiteY118" fmla="*/ 50336 h 432000"/>
              <a:gd name="connsiteX119" fmla="*/ 191613 w 432000"/>
              <a:gd name="connsiteY119" fmla="*/ 37822 h 432000"/>
              <a:gd name="connsiteX120" fmla="*/ 195900 w 432000"/>
              <a:gd name="connsiteY120" fmla="*/ 36795 h 432000"/>
              <a:gd name="connsiteX121" fmla="*/ 200748 w 432000"/>
              <a:gd name="connsiteY121" fmla="*/ 13935 h 432000"/>
              <a:gd name="connsiteX122" fmla="*/ 231259 w 432000"/>
              <a:gd name="connsiteY122" fmla="*/ 13935 h 432000"/>
              <a:gd name="connsiteX123" fmla="*/ 236094 w 432000"/>
              <a:gd name="connsiteY123" fmla="*/ 36788 h 432000"/>
              <a:gd name="connsiteX124" fmla="*/ 240380 w 432000"/>
              <a:gd name="connsiteY124" fmla="*/ 37812 h 432000"/>
              <a:gd name="connsiteX125" fmla="*/ 270551 w 432000"/>
              <a:gd name="connsiteY125" fmla="*/ 50329 h 432000"/>
              <a:gd name="connsiteX126" fmla="*/ 274300 w 432000"/>
              <a:gd name="connsiteY126" fmla="*/ 52629 h 432000"/>
              <a:gd name="connsiteX127" fmla="*/ 293894 w 432000"/>
              <a:gd name="connsiteY127" fmla="*/ 39877 h 432000"/>
              <a:gd name="connsiteX128" fmla="*/ 316127 w 432000"/>
              <a:gd name="connsiteY128" fmla="*/ 62118 h 432000"/>
              <a:gd name="connsiteX129" fmla="*/ 308224 w 432000"/>
              <a:gd name="connsiteY129" fmla="*/ 80622 h 432000"/>
              <a:gd name="connsiteX130" fmla="*/ 293516 w 432000"/>
              <a:gd name="connsiteY130" fmla="*/ 90400 h 432000"/>
              <a:gd name="connsiteX131" fmla="*/ 292706 w 432000"/>
              <a:gd name="connsiteY131" fmla="*/ 91264 h 432000"/>
              <a:gd name="connsiteX132" fmla="*/ 216000 w 432000"/>
              <a:gd name="connsiteY132" fmla="*/ 48774 h 432000"/>
              <a:gd name="connsiteX133" fmla="*/ 139028 w 432000"/>
              <a:gd name="connsiteY133" fmla="*/ 91683 h 432000"/>
              <a:gd name="connsiteX134" fmla="*/ 123657 w 432000"/>
              <a:gd name="connsiteY134" fmla="*/ 80786 h 432000"/>
              <a:gd name="connsiteX135" fmla="*/ 90581 w 432000"/>
              <a:gd name="connsiteY135" fmla="*/ 193569 h 432000"/>
              <a:gd name="connsiteX136" fmla="*/ 90581 w 432000"/>
              <a:gd name="connsiteY136" fmla="*/ 171502 h 432000"/>
              <a:gd name="connsiteX137" fmla="*/ 87104 w 432000"/>
              <a:gd name="connsiteY137" fmla="*/ 169492 h 432000"/>
              <a:gd name="connsiteX138" fmla="*/ 69677 w 432000"/>
              <a:gd name="connsiteY138" fmla="*/ 139355 h 432000"/>
              <a:gd name="connsiteX139" fmla="*/ 69677 w 432000"/>
              <a:gd name="connsiteY139" fmla="*/ 125419 h 432000"/>
              <a:gd name="connsiteX140" fmla="*/ 80262 w 432000"/>
              <a:gd name="connsiteY140" fmla="*/ 100413 h 432000"/>
              <a:gd name="connsiteX141" fmla="*/ 105595 w 432000"/>
              <a:gd name="connsiteY141" fmla="*/ 90601 h 432000"/>
              <a:gd name="connsiteX142" fmla="*/ 139355 w 432000"/>
              <a:gd name="connsiteY142" fmla="*/ 127175 h 432000"/>
              <a:gd name="connsiteX143" fmla="*/ 139355 w 432000"/>
              <a:gd name="connsiteY143" fmla="*/ 139355 h 432000"/>
              <a:gd name="connsiteX144" fmla="*/ 121915 w 432000"/>
              <a:gd name="connsiteY144" fmla="*/ 169505 h 432000"/>
              <a:gd name="connsiteX145" fmla="*/ 118431 w 432000"/>
              <a:gd name="connsiteY145" fmla="*/ 171519 h 432000"/>
              <a:gd name="connsiteX146" fmla="*/ 118458 w 432000"/>
              <a:gd name="connsiteY146" fmla="*/ 193569 h 432000"/>
              <a:gd name="connsiteX147" fmla="*/ 142366 w 432000"/>
              <a:gd name="connsiteY147" fmla="*/ 199543 h 432000"/>
              <a:gd name="connsiteX148" fmla="*/ 132387 w 432000"/>
              <a:gd name="connsiteY148" fmla="*/ 223825 h 432000"/>
              <a:gd name="connsiteX149" fmla="*/ 132387 w 432000"/>
              <a:gd name="connsiteY149" fmla="*/ 228986 h 432000"/>
              <a:gd name="connsiteX150" fmla="*/ 110654 w 432000"/>
              <a:gd name="connsiteY150" fmla="*/ 233817 h 432000"/>
              <a:gd name="connsiteX151" fmla="*/ 111219 w 432000"/>
              <a:gd name="connsiteY151" fmla="*/ 231844 h 432000"/>
              <a:gd name="connsiteX152" fmla="*/ 111484 w 432000"/>
              <a:gd name="connsiteY152" fmla="*/ 218967 h 432000"/>
              <a:gd name="connsiteX153" fmla="*/ 74737 w 432000"/>
              <a:gd name="connsiteY153" fmla="*/ 197529 h 432000"/>
              <a:gd name="connsiteX154" fmla="*/ 13935 w 432000"/>
              <a:gd name="connsiteY154" fmla="*/ 181161 h 432000"/>
              <a:gd name="connsiteX155" fmla="*/ 19015 w 432000"/>
              <a:gd name="connsiteY155" fmla="*/ 181161 h 432000"/>
              <a:gd name="connsiteX156" fmla="*/ 69126 w 432000"/>
              <a:gd name="connsiteY156" fmla="*/ 210390 h 432000"/>
              <a:gd name="connsiteX157" fmla="*/ 43841 w 432000"/>
              <a:gd name="connsiteY157" fmla="*/ 311527 h 432000"/>
              <a:gd name="connsiteX158" fmla="*/ 13935 w 432000"/>
              <a:gd name="connsiteY158" fmla="*/ 301556 h 432000"/>
              <a:gd name="connsiteX159" fmla="*/ 70807 w 432000"/>
              <a:gd name="connsiteY159" fmla="*/ 320516 h 432000"/>
              <a:gd name="connsiteX160" fmla="*/ 57093 w 432000"/>
              <a:gd name="connsiteY160" fmla="*/ 315947 h 432000"/>
              <a:gd name="connsiteX161" fmla="*/ 81657 w 432000"/>
              <a:gd name="connsiteY161" fmla="*/ 217701 h 432000"/>
              <a:gd name="connsiteX162" fmla="*/ 97548 w 432000"/>
              <a:gd name="connsiteY162" fmla="*/ 226969 h 432000"/>
              <a:gd name="connsiteX163" fmla="*/ 97548 w 432000"/>
              <a:gd name="connsiteY163" fmla="*/ 228959 h 432000"/>
              <a:gd name="connsiteX164" fmla="*/ 71392 w 432000"/>
              <a:gd name="connsiteY164" fmla="*/ 320516 h 432000"/>
              <a:gd name="connsiteX165" fmla="*/ 118452 w 432000"/>
              <a:gd name="connsiteY165" fmla="*/ 340576 h 432000"/>
              <a:gd name="connsiteX166" fmla="*/ 120738 w 432000"/>
              <a:gd name="connsiteY166" fmla="*/ 335050 h 432000"/>
              <a:gd name="connsiteX167" fmla="*/ 132986 w 432000"/>
              <a:gd name="connsiteY167" fmla="*/ 322802 h 432000"/>
              <a:gd name="connsiteX168" fmla="*/ 138511 w 432000"/>
              <a:gd name="connsiteY168" fmla="*/ 320516 h 432000"/>
              <a:gd name="connsiteX169" fmla="*/ 146323 w 432000"/>
              <a:gd name="connsiteY169" fmla="*/ 328328 h 432000"/>
              <a:gd name="connsiteX170" fmla="*/ 144036 w 432000"/>
              <a:gd name="connsiteY170" fmla="*/ 333853 h 432000"/>
              <a:gd name="connsiteX171" fmla="*/ 131788 w 432000"/>
              <a:gd name="connsiteY171" fmla="*/ 346101 h 432000"/>
              <a:gd name="connsiteX172" fmla="*/ 126263 w 432000"/>
              <a:gd name="connsiteY172" fmla="*/ 348387 h 432000"/>
              <a:gd name="connsiteX173" fmla="*/ 118452 w 432000"/>
              <a:gd name="connsiteY173" fmla="*/ 340576 h 432000"/>
              <a:gd name="connsiteX174" fmla="*/ 139355 w 432000"/>
              <a:gd name="connsiteY174" fmla="*/ 361479 h 432000"/>
              <a:gd name="connsiteX175" fmla="*/ 141641 w 432000"/>
              <a:gd name="connsiteY175" fmla="*/ 355954 h 432000"/>
              <a:gd name="connsiteX176" fmla="*/ 153889 w 432000"/>
              <a:gd name="connsiteY176" fmla="*/ 343706 h 432000"/>
              <a:gd name="connsiteX177" fmla="*/ 159414 w 432000"/>
              <a:gd name="connsiteY177" fmla="*/ 341419 h 432000"/>
              <a:gd name="connsiteX178" fmla="*/ 167226 w 432000"/>
              <a:gd name="connsiteY178" fmla="*/ 349231 h 432000"/>
              <a:gd name="connsiteX179" fmla="*/ 164940 w 432000"/>
              <a:gd name="connsiteY179" fmla="*/ 354756 h 432000"/>
              <a:gd name="connsiteX180" fmla="*/ 152692 w 432000"/>
              <a:gd name="connsiteY180" fmla="*/ 367004 h 432000"/>
              <a:gd name="connsiteX181" fmla="*/ 147166 w 432000"/>
              <a:gd name="connsiteY181" fmla="*/ 369290 h 432000"/>
              <a:gd name="connsiteX182" fmla="*/ 139355 w 432000"/>
              <a:gd name="connsiteY182" fmla="*/ 361479 h 432000"/>
              <a:gd name="connsiteX183" fmla="*/ 160258 w 432000"/>
              <a:gd name="connsiteY183" fmla="*/ 382382 h 432000"/>
              <a:gd name="connsiteX184" fmla="*/ 162544 w 432000"/>
              <a:gd name="connsiteY184" fmla="*/ 376857 h 432000"/>
              <a:gd name="connsiteX185" fmla="*/ 174792 w 432000"/>
              <a:gd name="connsiteY185" fmla="*/ 364609 h 432000"/>
              <a:gd name="connsiteX186" fmla="*/ 180318 w 432000"/>
              <a:gd name="connsiteY186" fmla="*/ 362323 h 432000"/>
              <a:gd name="connsiteX187" fmla="*/ 188129 w 432000"/>
              <a:gd name="connsiteY187" fmla="*/ 370134 h 432000"/>
              <a:gd name="connsiteX188" fmla="*/ 185843 w 432000"/>
              <a:gd name="connsiteY188" fmla="*/ 375659 h 432000"/>
              <a:gd name="connsiteX189" fmla="*/ 173595 w 432000"/>
              <a:gd name="connsiteY189" fmla="*/ 387907 h 432000"/>
              <a:gd name="connsiteX190" fmla="*/ 168070 w 432000"/>
              <a:gd name="connsiteY190" fmla="*/ 390194 h 432000"/>
              <a:gd name="connsiteX191" fmla="*/ 160258 w 432000"/>
              <a:gd name="connsiteY191" fmla="*/ 382382 h 432000"/>
              <a:gd name="connsiteX192" fmla="*/ 188973 w 432000"/>
              <a:gd name="connsiteY192" fmla="*/ 411097 h 432000"/>
              <a:gd name="connsiteX193" fmla="*/ 181161 w 432000"/>
              <a:gd name="connsiteY193" fmla="*/ 403285 h 432000"/>
              <a:gd name="connsiteX194" fmla="*/ 183448 w 432000"/>
              <a:gd name="connsiteY194" fmla="*/ 397760 h 432000"/>
              <a:gd name="connsiteX195" fmla="*/ 195696 w 432000"/>
              <a:gd name="connsiteY195" fmla="*/ 385512 h 432000"/>
              <a:gd name="connsiteX196" fmla="*/ 201221 w 432000"/>
              <a:gd name="connsiteY196" fmla="*/ 383226 h 432000"/>
              <a:gd name="connsiteX197" fmla="*/ 209032 w 432000"/>
              <a:gd name="connsiteY197" fmla="*/ 391037 h 432000"/>
              <a:gd name="connsiteX198" fmla="*/ 206746 w 432000"/>
              <a:gd name="connsiteY198" fmla="*/ 396563 h 432000"/>
              <a:gd name="connsiteX199" fmla="*/ 194498 w 432000"/>
              <a:gd name="connsiteY199" fmla="*/ 408810 h 432000"/>
              <a:gd name="connsiteX200" fmla="*/ 188973 w 432000"/>
              <a:gd name="connsiteY200" fmla="*/ 411097 h 432000"/>
              <a:gd name="connsiteX201" fmla="*/ 222668 w 432000"/>
              <a:gd name="connsiteY201" fmla="*/ 418065 h 432000"/>
              <a:gd name="connsiteX202" fmla="*/ 221379 w 432000"/>
              <a:gd name="connsiteY202" fmla="*/ 418065 h 432000"/>
              <a:gd name="connsiteX203" fmla="*/ 216578 w 432000"/>
              <a:gd name="connsiteY203" fmla="*/ 416244 h 432000"/>
              <a:gd name="connsiteX204" fmla="*/ 211366 w 432000"/>
              <a:gd name="connsiteY204" fmla="*/ 411648 h 432000"/>
              <a:gd name="connsiteX205" fmla="*/ 216599 w 432000"/>
              <a:gd name="connsiteY205" fmla="*/ 406415 h 432000"/>
              <a:gd name="connsiteX206" fmla="*/ 220988 w 432000"/>
              <a:gd name="connsiteY206" fmla="*/ 399941 h 432000"/>
              <a:gd name="connsiteX207" fmla="*/ 227323 w 432000"/>
              <a:gd name="connsiteY207" fmla="*/ 405214 h 432000"/>
              <a:gd name="connsiteX208" fmla="*/ 229935 w 432000"/>
              <a:gd name="connsiteY208" fmla="*/ 410797 h 432000"/>
              <a:gd name="connsiteX209" fmla="*/ 222668 w 432000"/>
              <a:gd name="connsiteY209" fmla="*/ 418065 h 432000"/>
              <a:gd name="connsiteX210" fmla="*/ 285153 w 432000"/>
              <a:gd name="connsiteY210" fmla="*/ 355355 h 432000"/>
              <a:gd name="connsiteX211" fmla="*/ 283949 w 432000"/>
              <a:gd name="connsiteY211" fmla="*/ 355355 h 432000"/>
              <a:gd name="connsiteX212" fmla="*/ 279155 w 432000"/>
              <a:gd name="connsiteY212" fmla="*/ 353613 h 432000"/>
              <a:gd name="connsiteX213" fmla="*/ 241370 w 432000"/>
              <a:gd name="connsiteY213" fmla="*/ 322125 h 432000"/>
              <a:gd name="connsiteX214" fmla="*/ 232443 w 432000"/>
              <a:gd name="connsiteY214" fmla="*/ 332836 h 432000"/>
              <a:gd name="connsiteX215" fmla="*/ 269136 w 432000"/>
              <a:gd name="connsiteY215" fmla="*/ 363408 h 432000"/>
              <a:gd name="connsiteX216" fmla="*/ 271742 w 432000"/>
              <a:gd name="connsiteY216" fmla="*/ 368991 h 432000"/>
              <a:gd name="connsiteX217" fmla="*/ 264475 w 432000"/>
              <a:gd name="connsiteY217" fmla="*/ 376258 h 432000"/>
              <a:gd name="connsiteX218" fmla="*/ 262954 w 432000"/>
              <a:gd name="connsiteY218" fmla="*/ 376258 h 432000"/>
              <a:gd name="connsiteX219" fmla="*/ 258307 w 432000"/>
              <a:gd name="connsiteY219" fmla="*/ 374571 h 432000"/>
              <a:gd name="connsiteX220" fmla="*/ 220460 w 432000"/>
              <a:gd name="connsiteY220" fmla="*/ 343035 h 432000"/>
              <a:gd name="connsiteX221" fmla="*/ 211533 w 432000"/>
              <a:gd name="connsiteY221" fmla="*/ 353746 h 432000"/>
              <a:gd name="connsiteX222" fmla="*/ 248226 w 432000"/>
              <a:gd name="connsiteY222" fmla="*/ 384321 h 432000"/>
              <a:gd name="connsiteX223" fmla="*/ 250839 w 432000"/>
              <a:gd name="connsiteY223" fmla="*/ 389894 h 432000"/>
              <a:gd name="connsiteX224" fmla="*/ 243572 w 432000"/>
              <a:gd name="connsiteY224" fmla="*/ 397161 h 432000"/>
              <a:gd name="connsiteX225" fmla="*/ 236240 w 432000"/>
              <a:gd name="connsiteY225" fmla="*/ 394508 h 432000"/>
              <a:gd name="connsiteX226" fmla="*/ 220688 w 432000"/>
              <a:gd name="connsiteY226" fmla="*/ 381545 h 432000"/>
              <a:gd name="connsiteX227" fmla="*/ 201979 w 432000"/>
              <a:gd name="connsiteY227" fmla="*/ 369369 h 432000"/>
              <a:gd name="connsiteX228" fmla="*/ 181076 w 432000"/>
              <a:gd name="connsiteY228" fmla="*/ 348465 h 432000"/>
              <a:gd name="connsiteX229" fmla="*/ 160173 w 432000"/>
              <a:gd name="connsiteY229" fmla="*/ 327562 h 432000"/>
              <a:gd name="connsiteX230" fmla="*/ 138511 w 432000"/>
              <a:gd name="connsiteY230" fmla="*/ 306581 h 432000"/>
              <a:gd name="connsiteX231" fmla="*/ 123133 w 432000"/>
              <a:gd name="connsiteY231" fmla="*/ 312950 h 432000"/>
              <a:gd name="connsiteX232" fmla="*/ 110885 w 432000"/>
              <a:gd name="connsiteY232" fmla="*/ 325198 h 432000"/>
              <a:gd name="connsiteX233" fmla="*/ 108932 w 432000"/>
              <a:gd name="connsiteY233" fmla="*/ 327583 h 432000"/>
              <a:gd name="connsiteX234" fmla="*/ 87529 w 432000"/>
              <a:gd name="connsiteY234" fmla="*/ 314739 h 432000"/>
              <a:gd name="connsiteX235" fmla="*/ 106292 w 432000"/>
              <a:gd name="connsiteY235" fmla="*/ 249070 h 432000"/>
              <a:gd name="connsiteX236" fmla="*/ 153331 w 432000"/>
              <a:gd name="connsiteY236" fmla="*/ 238611 h 432000"/>
              <a:gd name="connsiteX237" fmla="*/ 190715 w 432000"/>
              <a:gd name="connsiteY237" fmla="*/ 240302 h 432000"/>
              <a:gd name="connsiteX238" fmla="*/ 200979 w 432000"/>
              <a:gd name="connsiteY238" fmla="*/ 243585 h 432000"/>
              <a:gd name="connsiteX239" fmla="*/ 166181 w 432000"/>
              <a:gd name="connsiteY239" fmla="*/ 260984 h 432000"/>
              <a:gd name="connsiteX240" fmla="*/ 153290 w 432000"/>
              <a:gd name="connsiteY240" fmla="*/ 281860 h 432000"/>
              <a:gd name="connsiteX241" fmla="*/ 153290 w 432000"/>
              <a:gd name="connsiteY241" fmla="*/ 283238 h 432000"/>
              <a:gd name="connsiteX242" fmla="*/ 176633 w 432000"/>
              <a:gd name="connsiteY242" fmla="*/ 306581 h 432000"/>
              <a:gd name="connsiteX243" fmla="*/ 188639 w 432000"/>
              <a:gd name="connsiteY243" fmla="*/ 303250 h 432000"/>
              <a:gd name="connsiteX244" fmla="*/ 214585 w 432000"/>
              <a:gd name="connsiteY244" fmla="*/ 287692 h 432000"/>
              <a:gd name="connsiteX245" fmla="*/ 231293 w 432000"/>
              <a:gd name="connsiteY245" fmla="*/ 289301 h 432000"/>
              <a:gd name="connsiteX246" fmla="*/ 290165 w 432000"/>
              <a:gd name="connsiteY246" fmla="*/ 342284 h 432000"/>
              <a:gd name="connsiteX247" fmla="*/ 292645 w 432000"/>
              <a:gd name="connsiteY247" fmla="*/ 347863 h 432000"/>
              <a:gd name="connsiteX248" fmla="*/ 285153 w 432000"/>
              <a:gd name="connsiteY248" fmla="*/ 355355 h 432000"/>
              <a:gd name="connsiteX249" fmla="*/ 418065 w 432000"/>
              <a:gd name="connsiteY249" fmla="*/ 274402 h 432000"/>
              <a:gd name="connsiteX250" fmla="*/ 300678 w 432000"/>
              <a:gd name="connsiteY250" fmla="*/ 333101 h 432000"/>
              <a:gd name="connsiteX251" fmla="*/ 299480 w 432000"/>
              <a:gd name="connsiteY251" fmla="*/ 331937 h 432000"/>
              <a:gd name="connsiteX252" fmla="*/ 240618 w 432000"/>
              <a:gd name="connsiteY252" fmla="*/ 278955 h 432000"/>
              <a:gd name="connsiteX253" fmla="*/ 221845 w 432000"/>
              <a:gd name="connsiteY253" fmla="*/ 271742 h 432000"/>
              <a:gd name="connsiteX254" fmla="*/ 207409 w 432000"/>
              <a:gd name="connsiteY254" fmla="*/ 275743 h 432000"/>
              <a:gd name="connsiteX255" fmla="*/ 181454 w 432000"/>
              <a:gd name="connsiteY255" fmla="*/ 291308 h 432000"/>
              <a:gd name="connsiteX256" fmla="*/ 176633 w 432000"/>
              <a:gd name="connsiteY256" fmla="*/ 292645 h 432000"/>
              <a:gd name="connsiteX257" fmla="*/ 167226 w 432000"/>
              <a:gd name="connsiteY257" fmla="*/ 283238 h 432000"/>
              <a:gd name="connsiteX258" fmla="*/ 167226 w 432000"/>
              <a:gd name="connsiteY258" fmla="*/ 281860 h 432000"/>
              <a:gd name="connsiteX259" fmla="*/ 172424 w 432000"/>
              <a:gd name="connsiteY259" fmla="*/ 273450 h 432000"/>
              <a:gd name="connsiteX260" fmla="*/ 211291 w 432000"/>
              <a:gd name="connsiteY260" fmla="*/ 254016 h 432000"/>
              <a:gd name="connsiteX261" fmla="*/ 233008 w 432000"/>
              <a:gd name="connsiteY261" fmla="*/ 252002 h 432000"/>
              <a:gd name="connsiteX262" fmla="*/ 276794 w 432000"/>
              <a:gd name="connsiteY262" fmla="*/ 264509 h 432000"/>
              <a:gd name="connsiteX263" fmla="*/ 287399 w 432000"/>
              <a:gd name="connsiteY263" fmla="*/ 264774 h 432000"/>
              <a:gd name="connsiteX264" fmla="*/ 418065 w 432000"/>
              <a:gd name="connsiteY264" fmla="*/ 196002 h 43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432000" h="432000">
                <a:moveTo>
                  <a:pt x="432000" y="181161"/>
                </a:moveTo>
                <a:lnTo>
                  <a:pt x="416343" y="181161"/>
                </a:lnTo>
                <a:lnTo>
                  <a:pt x="393007" y="193440"/>
                </a:lnTo>
                <a:cubicBezTo>
                  <a:pt x="390381" y="191991"/>
                  <a:pt x="387649" y="190762"/>
                  <a:pt x="384702" y="190024"/>
                </a:cubicBezTo>
                <a:lnTo>
                  <a:pt x="355348" y="182679"/>
                </a:lnTo>
                <a:lnTo>
                  <a:pt x="355348" y="179341"/>
                </a:lnTo>
                <a:cubicBezTo>
                  <a:pt x="368334" y="170278"/>
                  <a:pt x="376258" y="155304"/>
                  <a:pt x="376258" y="139355"/>
                </a:cubicBezTo>
                <a:lnTo>
                  <a:pt x="376258" y="127175"/>
                </a:lnTo>
                <a:cubicBezTo>
                  <a:pt x="376258" y="100107"/>
                  <a:pt x="355049" y="77455"/>
                  <a:pt x="328981" y="76666"/>
                </a:cubicBezTo>
                <a:cubicBezTo>
                  <a:pt x="327657" y="76632"/>
                  <a:pt x="326354" y="76679"/>
                  <a:pt x="325044" y="76744"/>
                </a:cubicBezTo>
                <a:lnTo>
                  <a:pt x="332655" y="58926"/>
                </a:lnTo>
                <a:lnTo>
                  <a:pt x="295758" y="22040"/>
                </a:lnTo>
                <a:lnTo>
                  <a:pt x="274008" y="36196"/>
                </a:lnTo>
                <a:cubicBezTo>
                  <a:pt x="265744" y="31542"/>
                  <a:pt x="257004" y="27919"/>
                  <a:pt x="247926" y="25377"/>
                </a:cubicBezTo>
                <a:lnTo>
                  <a:pt x="242554" y="0"/>
                </a:lnTo>
                <a:lnTo>
                  <a:pt x="189453" y="0"/>
                </a:lnTo>
                <a:lnTo>
                  <a:pt x="184080" y="25384"/>
                </a:lnTo>
                <a:cubicBezTo>
                  <a:pt x="175003" y="27925"/>
                  <a:pt x="166256" y="31549"/>
                  <a:pt x="157999" y="36203"/>
                </a:cubicBezTo>
                <a:lnTo>
                  <a:pt x="136249" y="22046"/>
                </a:lnTo>
                <a:lnTo>
                  <a:pt x="99382" y="58913"/>
                </a:lnTo>
                <a:lnTo>
                  <a:pt x="106864" y="76744"/>
                </a:lnTo>
                <a:cubicBezTo>
                  <a:pt x="106578" y="76730"/>
                  <a:pt x="106306" y="76679"/>
                  <a:pt x="106020" y="76672"/>
                </a:cubicBezTo>
                <a:cubicBezTo>
                  <a:pt x="92676" y="76285"/>
                  <a:pt x="80109" y="81153"/>
                  <a:pt x="70562" y="90421"/>
                </a:cubicBezTo>
                <a:cubicBezTo>
                  <a:pt x="61002" y="99682"/>
                  <a:pt x="55742" y="112110"/>
                  <a:pt x="55742" y="125419"/>
                </a:cubicBezTo>
                <a:lnTo>
                  <a:pt x="55742" y="139355"/>
                </a:lnTo>
                <a:cubicBezTo>
                  <a:pt x="55742" y="155304"/>
                  <a:pt x="63659" y="170271"/>
                  <a:pt x="76645" y="179334"/>
                </a:cubicBezTo>
                <a:lnTo>
                  <a:pt x="76645" y="182679"/>
                </a:lnTo>
                <a:lnTo>
                  <a:pt x="57497" y="187466"/>
                </a:lnTo>
                <a:lnTo>
                  <a:pt x="22791" y="167226"/>
                </a:lnTo>
                <a:lnTo>
                  <a:pt x="0" y="167226"/>
                </a:lnTo>
                <a:lnTo>
                  <a:pt x="0" y="311606"/>
                </a:lnTo>
                <a:lnTo>
                  <a:pt x="68548" y="334452"/>
                </a:lnTo>
                <a:lnTo>
                  <a:pt x="81898" y="334452"/>
                </a:lnTo>
                <a:lnTo>
                  <a:pt x="83565" y="328613"/>
                </a:lnTo>
                <a:lnTo>
                  <a:pt x="104577" y="341225"/>
                </a:lnTo>
                <a:cubicBezTo>
                  <a:pt x="104921" y="352650"/>
                  <a:pt x="114083" y="361843"/>
                  <a:pt x="125498" y="362244"/>
                </a:cubicBezTo>
                <a:cubicBezTo>
                  <a:pt x="125899" y="373611"/>
                  <a:pt x="135034" y="382746"/>
                  <a:pt x="146401" y="383148"/>
                </a:cubicBezTo>
                <a:cubicBezTo>
                  <a:pt x="146802" y="394514"/>
                  <a:pt x="155937" y="403649"/>
                  <a:pt x="167304" y="404051"/>
                </a:cubicBezTo>
                <a:cubicBezTo>
                  <a:pt x="167719" y="415683"/>
                  <a:pt x="177245" y="425032"/>
                  <a:pt x="188973" y="425032"/>
                </a:cubicBezTo>
                <a:cubicBezTo>
                  <a:pt x="193328" y="425032"/>
                  <a:pt x="197597" y="423675"/>
                  <a:pt x="201187" y="421256"/>
                </a:cubicBezTo>
                <a:lnTo>
                  <a:pt x="207358" y="426706"/>
                </a:lnTo>
                <a:cubicBezTo>
                  <a:pt x="211227" y="430112"/>
                  <a:pt x="216208" y="432000"/>
                  <a:pt x="221379" y="432000"/>
                </a:cubicBezTo>
                <a:lnTo>
                  <a:pt x="222668" y="432000"/>
                </a:lnTo>
                <a:cubicBezTo>
                  <a:pt x="234263" y="432000"/>
                  <a:pt x="243697" y="422627"/>
                  <a:pt x="243844" y="411070"/>
                </a:cubicBezTo>
                <a:cubicBezTo>
                  <a:pt x="255313" y="410923"/>
                  <a:pt x="264601" y="401635"/>
                  <a:pt x="264747" y="390166"/>
                </a:cubicBezTo>
                <a:cubicBezTo>
                  <a:pt x="276223" y="390020"/>
                  <a:pt x="285518" y="380718"/>
                  <a:pt x="285650" y="369243"/>
                </a:cubicBezTo>
                <a:cubicBezTo>
                  <a:pt x="297231" y="368971"/>
                  <a:pt x="306581" y="359509"/>
                  <a:pt x="306581" y="347863"/>
                </a:cubicBezTo>
                <a:cubicBezTo>
                  <a:pt x="306581" y="347162"/>
                  <a:pt x="306547" y="346472"/>
                  <a:pt x="306475" y="345774"/>
                </a:cubicBezTo>
                <a:lnTo>
                  <a:pt x="432000" y="283017"/>
                </a:lnTo>
                <a:close/>
                <a:moveTo>
                  <a:pt x="362323" y="127175"/>
                </a:moveTo>
                <a:lnTo>
                  <a:pt x="362323" y="139355"/>
                </a:lnTo>
                <a:cubicBezTo>
                  <a:pt x="362323" y="151722"/>
                  <a:pt x="355641" y="163276"/>
                  <a:pt x="344883" y="169505"/>
                </a:cubicBezTo>
                <a:lnTo>
                  <a:pt x="341399" y="171519"/>
                </a:lnTo>
                <a:lnTo>
                  <a:pt x="341426" y="193569"/>
                </a:lnTo>
                <a:lnTo>
                  <a:pt x="376238" y="202265"/>
                </a:lnTo>
                <a:lnTo>
                  <a:pt x="299613" y="242595"/>
                </a:lnTo>
                <a:lnTo>
                  <a:pt x="299613" y="223825"/>
                </a:lnTo>
                <a:cubicBezTo>
                  <a:pt x="299613" y="214459"/>
                  <a:pt x="295830" y="205882"/>
                  <a:pt x="289634" y="199543"/>
                </a:cubicBezTo>
                <a:lnTo>
                  <a:pt x="313548" y="193569"/>
                </a:lnTo>
                <a:lnTo>
                  <a:pt x="313548" y="171502"/>
                </a:lnTo>
                <a:lnTo>
                  <a:pt x="310071" y="169492"/>
                </a:lnTo>
                <a:cubicBezTo>
                  <a:pt x="299320" y="163276"/>
                  <a:pt x="292645" y="151722"/>
                  <a:pt x="292645" y="139355"/>
                </a:cubicBezTo>
                <a:lnTo>
                  <a:pt x="292645" y="125419"/>
                </a:lnTo>
                <a:cubicBezTo>
                  <a:pt x="292645" y="115917"/>
                  <a:pt x="296401" y="107030"/>
                  <a:pt x="303229" y="100413"/>
                </a:cubicBezTo>
                <a:cubicBezTo>
                  <a:pt x="310051" y="93799"/>
                  <a:pt x="319101" y="90234"/>
                  <a:pt x="328562" y="90601"/>
                </a:cubicBezTo>
                <a:cubicBezTo>
                  <a:pt x="347176" y="91159"/>
                  <a:pt x="362323" y="107568"/>
                  <a:pt x="362323" y="127175"/>
                </a:cubicBezTo>
                <a:close/>
                <a:moveTo>
                  <a:pt x="226506" y="237118"/>
                </a:moveTo>
                <a:lnTo>
                  <a:pt x="194964" y="227037"/>
                </a:lnTo>
                <a:cubicBezTo>
                  <a:pt x="180590" y="222430"/>
                  <a:pt x="165031" y="221743"/>
                  <a:pt x="150317" y="225002"/>
                </a:cubicBezTo>
                <a:lnTo>
                  <a:pt x="146323" y="225887"/>
                </a:lnTo>
                <a:lnTo>
                  <a:pt x="146323" y="223825"/>
                </a:lnTo>
                <a:cubicBezTo>
                  <a:pt x="146323" y="214217"/>
                  <a:pt x="152838" y="205875"/>
                  <a:pt x="162153" y="203541"/>
                </a:cubicBezTo>
                <a:lnTo>
                  <a:pt x="202065" y="193569"/>
                </a:lnTo>
                <a:lnTo>
                  <a:pt x="202065" y="171502"/>
                </a:lnTo>
                <a:lnTo>
                  <a:pt x="198587" y="169492"/>
                </a:lnTo>
                <a:cubicBezTo>
                  <a:pt x="187836" y="163276"/>
                  <a:pt x="181161" y="151722"/>
                  <a:pt x="181161" y="139355"/>
                </a:cubicBezTo>
                <a:lnTo>
                  <a:pt x="181161" y="125419"/>
                </a:lnTo>
                <a:cubicBezTo>
                  <a:pt x="181161" y="115917"/>
                  <a:pt x="184917" y="107030"/>
                  <a:pt x="191746" y="100413"/>
                </a:cubicBezTo>
                <a:cubicBezTo>
                  <a:pt x="198567" y="93799"/>
                  <a:pt x="207675" y="90234"/>
                  <a:pt x="217079" y="90601"/>
                </a:cubicBezTo>
                <a:cubicBezTo>
                  <a:pt x="235692" y="91159"/>
                  <a:pt x="250839" y="107568"/>
                  <a:pt x="250839" y="127175"/>
                </a:cubicBezTo>
                <a:lnTo>
                  <a:pt x="250839" y="139355"/>
                </a:lnTo>
                <a:cubicBezTo>
                  <a:pt x="250839" y="151722"/>
                  <a:pt x="244157" y="163276"/>
                  <a:pt x="233399" y="169505"/>
                </a:cubicBezTo>
                <a:lnTo>
                  <a:pt x="229915" y="171519"/>
                </a:lnTo>
                <a:lnTo>
                  <a:pt x="229942" y="193569"/>
                </a:lnTo>
                <a:lnTo>
                  <a:pt x="269847" y="203541"/>
                </a:lnTo>
                <a:cubicBezTo>
                  <a:pt x="279162" y="205875"/>
                  <a:pt x="285677" y="214217"/>
                  <a:pt x="285677" y="223825"/>
                </a:cubicBezTo>
                <a:lnTo>
                  <a:pt x="285677" y="249934"/>
                </a:lnTo>
                <a:lnTo>
                  <a:pt x="283956" y="250839"/>
                </a:lnTo>
                <a:lnTo>
                  <a:pt x="279686" y="250839"/>
                </a:lnTo>
                <a:lnTo>
                  <a:pt x="236849" y="238598"/>
                </a:lnTo>
                <a:cubicBezTo>
                  <a:pt x="233474" y="237642"/>
                  <a:pt x="229997" y="237250"/>
                  <a:pt x="226506" y="237118"/>
                </a:cubicBezTo>
                <a:close/>
                <a:moveTo>
                  <a:pt x="147884" y="104285"/>
                </a:moveTo>
                <a:cubicBezTo>
                  <a:pt x="160969" y="78931"/>
                  <a:pt x="187306" y="62710"/>
                  <a:pt x="216000" y="62710"/>
                </a:cubicBezTo>
                <a:cubicBezTo>
                  <a:pt x="244422" y="62710"/>
                  <a:pt x="270646" y="78714"/>
                  <a:pt x="283830" y="103723"/>
                </a:cubicBezTo>
                <a:cubicBezTo>
                  <a:pt x="280513" y="110375"/>
                  <a:pt x="278710" y="117741"/>
                  <a:pt x="278710" y="125419"/>
                </a:cubicBezTo>
                <a:lnTo>
                  <a:pt x="278710" y="139355"/>
                </a:lnTo>
                <a:cubicBezTo>
                  <a:pt x="278710" y="155304"/>
                  <a:pt x="286627" y="170271"/>
                  <a:pt x="299613" y="179334"/>
                </a:cubicBezTo>
                <a:lnTo>
                  <a:pt x="299613" y="182679"/>
                </a:lnTo>
                <a:lnTo>
                  <a:pt x="271742" y="189657"/>
                </a:lnTo>
                <a:lnTo>
                  <a:pt x="243864" y="182679"/>
                </a:lnTo>
                <a:lnTo>
                  <a:pt x="243864" y="179341"/>
                </a:lnTo>
                <a:cubicBezTo>
                  <a:pt x="256850" y="170278"/>
                  <a:pt x="264774" y="155304"/>
                  <a:pt x="264774" y="139355"/>
                </a:cubicBezTo>
                <a:lnTo>
                  <a:pt x="264774" y="127175"/>
                </a:lnTo>
                <a:cubicBezTo>
                  <a:pt x="264774" y="100107"/>
                  <a:pt x="243565" y="77455"/>
                  <a:pt x="217497" y="76666"/>
                </a:cubicBezTo>
                <a:cubicBezTo>
                  <a:pt x="204160" y="76274"/>
                  <a:pt x="191586" y="81146"/>
                  <a:pt x="182039" y="90414"/>
                </a:cubicBezTo>
                <a:cubicBezTo>
                  <a:pt x="172486" y="99682"/>
                  <a:pt x="167226" y="112110"/>
                  <a:pt x="167226" y="125419"/>
                </a:cubicBezTo>
                <a:lnTo>
                  <a:pt x="167226" y="139355"/>
                </a:lnTo>
                <a:cubicBezTo>
                  <a:pt x="167226" y="155304"/>
                  <a:pt x="175143" y="170271"/>
                  <a:pt x="188129" y="179334"/>
                </a:cubicBezTo>
                <a:lnTo>
                  <a:pt x="188129" y="182679"/>
                </a:lnTo>
                <a:lnTo>
                  <a:pt x="160258" y="189657"/>
                </a:lnTo>
                <a:lnTo>
                  <a:pt x="132380" y="182679"/>
                </a:lnTo>
                <a:lnTo>
                  <a:pt x="132380" y="179341"/>
                </a:lnTo>
                <a:cubicBezTo>
                  <a:pt x="145367" y="170278"/>
                  <a:pt x="153290" y="155304"/>
                  <a:pt x="153290" y="139355"/>
                </a:cubicBezTo>
                <a:lnTo>
                  <a:pt x="153290" y="127175"/>
                </a:lnTo>
                <a:cubicBezTo>
                  <a:pt x="153290" y="118976"/>
                  <a:pt x="151317" y="111191"/>
                  <a:pt x="147884" y="104285"/>
                </a:cubicBezTo>
                <a:close/>
                <a:moveTo>
                  <a:pt x="115839" y="62145"/>
                </a:moveTo>
                <a:lnTo>
                  <a:pt x="138099" y="39884"/>
                </a:lnTo>
                <a:lnTo>
                  <a:pt x="157693" y="52636"/>
                </a:lnTo>
                <a:lnTo>
                  <a:pt x="161442" y="50336"/>
                </a:lnTo>
                <a:cubicBezTo>
                  <a:pt x="170836" y="44579"/>
                  <a:pt x="180988" y="40364"/>
                  <a:pt x="191613" y="37822"/>
                </a:cubicBezTo>
                <a:lnTo>
                  <a:pt x="195900" y="36795"/>
                </a:lnTo>
                <a:lnTo>
                  <a:pt x="200748" y="13935"/>
                </a:lnTo>
                <a:lnTo>
                  <a:pt x="231259" y="13935"/>
                </a:lnTo>
                <a:lnTo>
                  <a:pt x="236094" y="36788"/>
                </a:lnTo>
                <a:lnTo>
                  <a:pt x="240380" y="37812"/>
                </a:lnTo>
                <a:cubicBezTo>
                  <a:pt x="251005" y="40357"/>
                  <a:pt x="261158" y="44572"/>
                  <a:pt x="270551" y="50329"/>
                </a:cubicBezTo>
                <a:lnTo>
                  <a:pt x="274300" y="52629"/>
                </a:lnTo>
                <a:lnTo>
                  <a:pt x="293894" y="39877"/>
                </a:lnTo>
                <a:lnTo>
                  <a:pt x="316127" y="62118"/>
                </a:lnTo>
                <a:lnTo>
                  <a:pt x="308224" y="80622"/>
                </a:lnTo>
                <a:cubicBezTo>
                  <a:pt x="302845" y="82936"/>
                  <a:pt x="297857" y="86192"/>
                  <a:pt x="293516" y="90400"/>
                </a:cubicBezTo>
                <a:cubicBezTo>
                  <a:pt x="293230" y="90679"/>
                  <a:pt x="292985" y="90979"/>
                  <a:pt x="292706" y="91264"/>
                </a:cubicBezTo>
                <a:cubicBezTo>
                  <a:pt x="276291" y="65169"/>
                  <a:pt x="247270" y="48774"/>
                  <a:pt x="216000" y="48774"/>
                </a:cubicBezTo>
                <a:cubicBezTo>
                  <a:pt x="184506" y="48774"/>
                  <a:pt x="155403" y="65323"/>
                  <a:pt x="139028" y="91683"/>
                </a:cubicBezTo>
                <a:cubicBezTo>
                  <a:pt x="134646" y="87097"/>
                  <a:pt x="129434" y="83382"/>
                  <a:pt x="123657" y="80786"/>
                </a:cubicBezTo>
                <a:close/>
                <a:moveTo>
                  <a:pt x="90581" y="193569"/>
                </a:moveTo>
                <a:lnTo>
                  <a:pt x="90581" y="171502"/>
                </a:lnTo>
                <a:lnTo>
                  <a:pt x="87104" y="169492"/>
                </a:lnTo>
                <a:cubicBezTo>
                  <a:pt x="76353" y="163276"/>
                  <a:pt x="69677" y="151722"/>
                  <a:pt x="69677" y="139355"/>
                </a:cubicBezTo>
                <a:lnTo>
                  <a:pt x="69677" y="125419"/>
                </a:lnTo>
                <a:cubicBezTo>
                  <a:pt x="69677" y="115917"/>
                  <a:pt x="73433" y="107030"/>
                  <a:pt x="80262" y="100413"/>
                </a:cubicBezTo>
                <a:cubicBezTo>
                  <a:pt x="87083" y="93799"/>
                  <a:pt x="96153" y="90234"/>
                  <a:pt x="105595" y="90601"/>
                </a:cubicBezTo>
                <a:cubicBezTo>
                  <a:pt x="124208" y="91159"/>
                  <a:pt x="139355" y="107568"/>
                  <a:pt x="139355" y="127175"/>
                </a:cubicBezTo>
                <a:lnTo>
                  <a:pt x="139355" y="139355"/>
                </a:lnTo>
                <a:cubicBezTo>
                  <a:pt x="139355" y="151722"/>
                  <a:pt x="132673" y="163276"/>
                  <a:pt x="121915" y="169505"/>
                </a:cubicBezTo>
                <a:lnTo>
                  <a:pt x="118431" y="171519"/>
                </a:lnTo>
                <a:lnTo>
                  <a:pt x="118458" y="193569"/>
                </a:lnTo>
                <a:lnTo>
                  <a:pt x="142366" y="199543"/>
                </a:lnTo>
                <a:cubicBezTo>
                  <a:pt x="136170" y="205882"/>
                  <a:pt x="132387" y="214459"/>
                  <a:pt x="132387" y="223825"/>
                </a:cubicBezTo>
                <a:lnTo>
                  <a:pt x="132387" y="228986"/>
                </a:lnTo>
                <a:lnTo>
                  <a:pt x="110654" y="233817"/>
                </a:lnTo>
                <a:lnTo>
                  <a:pt x="111219" y="231844"/>
                </a:lnTo>
                <a:lnTo>
                  <a:pt x="111484" y="218967"/>
                </a:lnTo>
                <a:lnTo>
                  <a:pt x="74737" y="197529"/>
                </a:lnTo>
                <a:close/>
                <a:moveTo>
                  <a:pt x="13935" y="181161"/>
                </a:moveTo>
                <a:lnTo>
                  <a:pt x="19015" y="181161"/>
                </a:lnTo>
                <a:lnTo>
                  <a:pt x="69126" y="210390"/>
                </a:lnTo>
                <a:lnTo>
                  <a:pt x="43841" y="311527"/>
                </a:lnTo>
                <a:lnTo>
                  <a:pt x="13935" y="301556"/>
                </a:lnTo>
                <a:close/>
                <a:moveTo>
                  <a:pt x="70807" y="320516"/>
                </a:moveTo>
                <a:lnTo>
                  <a:pt x="57093" y="315947"/>
                </a:lnTo>
                <a:lnTo>
                  <a:pt x="81657" y="217701"/>
                </a:lnTo>
                <a:lnTo>
                  <a:pt x="97548" y="226969"/>
                </a:lnTo>
                <a:lnTo>
                  <a:pt x="97548" y="228959"/>
                </a:lnTo>
                <a:lnTo>
                  <a:pt x="71392" y="320516"/>
                </a:lnTo>
                <a:close/>
                <a:moveTo>
                  <a:pt x="118452" y="340576"/>
                </a:moveTo>
                <a:cubicBezTo>
                  <a:pt x="118452" y="338521"/>
                  <a:pt x="119282" y="336507"/>
                  <a:pt x="120738" y="335050"/>
                </a:cubicBezTo>
                <a:lnTo>
                  <a:pt x="132986" y="322802"/>
                </a:lnTo>
                <a:cubicBezTo>
                  <a:pt x="134442" y="321346"/>
                  <a:pt x="136456" y="320516"/>
                  <a:pt x="138511" y="320516"/>
                </a:cubicBezTo>
                <a:cubicBezTo>
                  <a:pt x="142818" y="320516"/>
                  <a:pt x="146323" y="324020"/>
                  <a:pt x="146323" y="328328"/>
                </a:cubicBezTo>
                <a:cubicBezTo>
                  <a:pt x="146323" y="330383"/>
                  <a:pt x="145492" y="332397"/>
                  <a:pt x="144036" y="333853"/>
                </a:cubicBezTo>
                <a:lnTo>
                  <a:pt x="131788" y="346101"/>
                </a:lnTo>
                <a:cubicBezTo>
                  <a:pt x="130332" y="347557"/>
                  <a:pt x="128318" y="348387"/>
                  <a:pt x="126263" y="348387"/>
                </a:cubicBezTo>
                <a:cubicBezTo>
                  <a:pt x="121956" y="348387"/>
                  <a:pt x="118452" y="344883"/>
                  <a:pt x="118452" y="340576"/>
                </a:cubicBezTo>
                <a:close/>
                <a:moveTo>
                  <a:pt x="139355" y="361479"/>
                </a:moveTo>
                <a:cubicBezTo>
                  <a:pt x="139355" y="359424"/>
                  <a:pt x="140185" y="357410"/>
                  <a:pt x="141641" y="355954"/>
                </a:cubicBezTo>
                <a:lnTo>
                  <a:pt x="153889" y="343706"/>
                </a:lnTo>
                <a:cubicBezTo>
                  <a:pt x="155345" y="342250"/>
                  <a:pt x="157359" y="341419"/>
                  <a:pt x="159414" y="341419"/>
                </a:cubicBezTo>
                <a:cubicBezTo>
                  <a:pt x="163722" y="341419"/>
                  <a:pt x="167226" y="344924"/>
                  <a:pt x="167226" y="349231"/>
                </a:cubicBezTo>
                <a:cubicBezTo>
                  <a:pt x="167226" y="351286"/>
                  <a:pt x="166396" y="353300"/>
                  <a:pt x="164940" y="354756"/>
                </a:cubicBezTo>
                <a:lnTo>
                  <a:pt x="152692" y="367004"/>
                </a:lnTo>
                <a:cubicBezTo>
                  <a:pt x="151235" y="368460"/>
                  <a:pt x="149221" y="369290"/>
                  <a:pt x="147166" y="369290"/>
                </a:cubicBezTo>
                <a:cubicBezTo>
                  <a:pt x="142859" y="369290"/>
                  <a:pt x="139355" y="365786"/>
                  <a:pt x="139355" y="361479"/>
                </a:cubicBezTo>
                <a:close/>
                <a:moveTo>
                  <a:pt x="160258" y="382382"/>
                </a:moveTo>
                <a:cubicBezTo>
                  <a:pt x="160258" y="380327"/>
                  <a:pt x="161088" y="378313"/>
                  <a:pt x="162544" y="376857"/>
                </a:cubicBezTo>
                <a:lnTo>
                  <a:pt x="174792" y="364609"/>
                </a:lnTo>
                <a:cubicBezTo>
                  <a:pt x="176248" y="363153"/>
                  <a:pt x="178263" y="362323"/>
                  <a:pt x="180318" y="362323"/>
                </a:cubicBezTo>
                <a:cubicBezTo>
                  <a:pt x="184625" y="362323"/>
                  <a:pt x="188129" y="365827"/>
                  <a:pt x="188129" y="370134"/>
                </a:cubicBezTo>
                <a:cubicBezTo>
                  <a:pt x="188129" y="372189"/>
                  <a:pt x="187299" y="374203"/>
                  <a:pt x="185843" y="375659"/>
                </a:cubicBezTo>
                <a:lnTo>
                  <a:pt x="173595" y="387907"/>
                </a:lnTo>
                <a:cubicBezTo>
                  <a:pt x="172139" y="389363"/>
                  <a:pt x="170125" y="390194"/>
                  <a:pt x="168070" y="390194"/>
                </a:cubicBezTo>
                <a:cubicBezTo>
                  <a:pt x="163762" y="390194"/>
                  <a:pt x="160258" y="386689"/>
                  <a:pt x="160258" y="382382"/>
                </a:cubicBezTo>
                <a:close/>
                <a:moveTo>
                  <a:pt x="188973" y="411097"/>
                </a:moveTo>
                <a:cubicBezTo>
                  <a:pt x="184666" y="411097"/>
                  <a:pt x="181161" y="407593"/>
                  <a:pt x="181161" y="403285"/>
                </a:cubicBezTo>
                <a:cubicBezTo>
                  <a:pt x="181161" y="401230"/>
                  <a:pt x="181991" y="399216"/>
                  <a:pt x="183448" y="397760"/>
                </a:cubicBezTo>
                <a:lnTo>
                  <a:pt x="195696" y="385512"/>
                </a:lnTo>
                <a:cubicBezTo>
                  <a:pt x="197152" y="384056"/>
                  <a:pt x="199166" y="383226"/>
                  <a:pt x="201221" y="383226"/>
                </a:cubicBezTo>
                <a:cubicBezTo>
                  <a:pt x="205528" y="383226"/>
                  <a:pt x="209032" y="386730"/>
                  <a:pt x="209032" y="391037"/>
                </a:cubicBezTo>
                <a:cubicBezTo>
                  <a:pt x="209032" y="393092"/>
                  <a:pt x="208202" y="395106"/>
                  <a:pt x="206746" y="396563"/>
                </a:cubicBezTo>
                <a:lnTo>
                  <a:pt x="194498" y="408810"/>
                </a:lnTo>
                <a:cubicBezTo>
                  <a:pt x="193042" y="410267"/>
                  <a:pt x="191028" y="411097"/>
                  <a:pt x="188973" y="411097"/>
                </a:cubicBezTo>
                <a:close/>
                <a:moveTo>
                  <a:pt x="222668" y="418065"/>
                </a:moveTo>
                <a:lnTo>
                  <a:pt x="221379" y="418065"/>
                </a:lnTo>
                <a:cubicBezTo>
                  <a:pt x="219603" y="418065"/>
                  <a:pt x="217902" y="417418"/>
                  <a:pt x="216578" y="416244"/>
                </a:cubicBezTo>
                <a:lnTo>
                  <a:pt x="211366" y="411648"/>
                </a:lnTo>
                <a:lnTo>
                  <a:pt x="216599" y="406415"/>
                </a:lnTo>
                <a:cubicBezTo>
                  <a:pt x="218467" y="404548"/>
                  <a:pt x="219916" y="402326"/>
                  <a:pt x="220988" y="399941"/>
                </a:cubicBezTo>
                <a:lnTo>
                  <a:pt x="227323" y="405214"/>
                </a:lnTo>
                <a:cubicBezTo>
                  <a:pt x="228979" y="406596"/>
                  <a:pt x="229935" y="408630"/>
                  <a:pt x="229935" y="410797"/>
                </a:cubicBezTo>
                <a:cubicBezTo>
                  <a:pt x="229935" y="414805"/>
                  <a:pt x="226676" y="418065"/>
                  <a:pt x="222668" y="418065"/>
                </a:cubicBezTo>
                <a:close/>
                <a:moveTo>
                  <a:pt x="285153" y="355355"/>
                </a:moveTo>
                <a:lnTo>
                  <a:pt x="283949" y="355355"/>
                </a:lnTo>
                <a:cubicBezTo>
                  <a:pt x="282200" y="355355"/>
                  <a:pt x="280492" y="354736"/>
                  <a:pt x="279155" y="353613"/>
                </a:cubicBezTo>
                <a:lnTo>
                  <a:pt x="241370" y="322125"/>
                </a:lnTo>
                <a:lnTo>
                  <a:pt x="232443" y="332836"/>
                </a:lnTo>
                <a:lnTo>
                  <a:pt x="269136" y="363408"/>
                </a:lnTo>
                <a:cubicBezTo>
                  <a:pt x="270786" y="364789"/>
                  <a:pt x="271742" y="366824"/>
                  <a:pt x="271742" y="368991"/>
                </a:cubicBezTo>
                <a:cubicBezTo>
                  <a:pt x="271742" y="372999"/>
                  <a:pt x="268483" y="376258"/>
                  <a:pt x="264475" y="376258"/>
                </a:cubicBezTo>
                <a:lnTo>
                  <a:pt x="262954" y="376258"/>
                </a:lnTo>
                <a:cubicBezTo>
                  <a:pt x="261263" y="376258"/>
                  <a:pt x="259610" y="375659"/>
                  <a:pt x="258307" y="374571"/>
                </a:cubicBezTo>
                <a:lnTo>
                  <a:pt x="220460" y="343035"/>
                </a:lnTo>
                <a:lnTo>
                  <a:pt x="211533" y="353746"/>
                </a:lnTo>
                <a:lnTo>
                  <a:pt x="248226" y="384321"/>
                </a:lnTo>
                <a:cubicBezTo>
                  <a:pt x="249883" y="385692"/>
                  <a:pt x="250839" y="387727"/>
                  <a:pt x="250839" y="389894"/>
                </a:cubicBezTo>
                <a:cubicBezTo>
                  <a:pt x="250839" y="393902"/>
                  <a:pt x="247579" y="397161"/>
                  <a:pt x="243572" y="397161"/>
                </a:cubicBezTo>
                <a:cubicBezTo>
                  <a:pt x="240897" y="397161"/>
                  <a:pt x="238291" y="396212"/>
                  <a:pt x="236240" y="394508"/>
                </a:cubicBezTo>
                <a:lnTo>
                  <a:pt x="220688" y="381545"/>
                </a:lnTo>
                <a:cubicBezTo>
                  <a:pt x="217262" y="374543"/>
                  <a:pt x="210223" y="369661"/>
                  <a:pt x="201979" y="369369"/>
                </a:cubicBezTo>
                <a:cubicBezTo>
                  <a:pt x="201578" y="358002"/>
                  <a:pt x="192443" y="348867"/>
                  <a:pt x="181076" y="348465"/>
                </a:cubicBezTo>
                <a:cubicBezTo>
                  <a:pt x="180675" y="337099"/>
                  <a:pt x="171540" y="327964"/>
                  <a:pt x="160173" y="327562"/>
                </a:cubicBezTo>
                <a:cubicBezTo>
                  <a:pt x="159765" y="315930"/>
                  <a:pt x="150239" y="306581"/>
                  <a:pt x="138511" y="306581"/>
                </a:cubicBezTo>
                <a:cubicBezTo>
                  <a:pt x="132785" y="306581"/>
                  <a:pt x="127182" y="308901"/>
                  <a:pt x="123133" y="312950"/>
                </a:cubicBezTo>
                <a:lnTo>
                  <a:pt x="110885" y="325198"/>
                </a:lnTo>
                <a:cubicBezTo>
                  <a:pt x="110154" y="325929"/>
                  <a:pt x="109548" y="326759"/>
                  <a:pt x="108932" y="327583"/>
                </a:cubicBezTo>
                <a:lnTo>
                  <a:pt x="87529" y="314739"/>
                </a:lnTo>
                <a:lnTo>
                  <a:pt x="106292" y="249070"/>
                </a:lnTo>
                <a:lnTo>
                  <a:pt x="153331" y="238611"/>
                </a:lnTo>
                <a:cubicBezTo>
                  <a:pt x="165671" y="235852"/>
                  <a:pt x="178681" y="236451"/>
                  <a:pt x="190715" y="240302"/>
                </a:cubicBezTo>
                <a:lnTo>
                  <a:pt x="200979" y="243585"/>
                </a:lnTo>
                <a:lnTo>
                  <a:pt x="166181" y="260984"/>
                </a:lnTo>
                <a:cubicBezTo>
                  <a:pt x="158230" y="264968"/>
                  <a:pt x="153290" y="272967"/>
                  <a:pt x="153290" y="281860"/>
                </a:cubicBezTo>
                <a:lnTo>
                  <a:pt x="153290" y="283238"/>
                </a:lnTo>
                <a:cubicBezTo>
                  <a:pt x="153290" y="296109"/>
                  <a:pt x="163762" y="306581"/>
                  <a:pt x="176633" y="306581"/>
                </a:cubicBezTo>
                <a:cubicBezTo>
                  <a:pt x="180862" y="306581"/>
                  <a:pt x="185023" y="305431"/>
                  <a:pt x="188639" y="303250"/>
                </a:cubicBezTo>
                <a:lnTo>
                  <a:pt x="214585" y="287692"/>
                </a:lnTo>
                <a:cubicBezTo>
                  <a:pt x="219797" y="284568"/>
                  <a:pt x="226792" y="285252"/>
                  <a:pt x="231293" y="289301"/>
                </a:cubicBezTo>
                <a:lnTo>
                  <a:pt x="290165" y="342284"/>
                </a:lnTo>
                <a:cubicBezTo>
                  <a:pt x="291740" y="343712"/>
                  <a:pt x="292645" y="345740"/>
                  <a:pt x="292645" y="347863"/>
                </a:cubicBezTo>
                <a:cubicBezTo>
                  <a:pt x="292645" y="351997"/>
                  <a:pt x="289287" y="355355"/>
                  <a:pt x="285153" y="355355"/>
                </a:cubicBezTo>
                <a:close/>
                <a:moveTo>
                  <a:pt x="418065" y="274402"/>
                </a:moveTo>
                <a:lnTo>
                  <a:pt x="300678" y="333101"/>
                </a:lnTo>
                <a:cubicBezTo>
                  <a:pt x="300297" y="332696"/>
                  <a:pt x="299899" y="332312"/>
                  <a:pt x="299480" y="331937"/>
                </a:cubicBezTo>
                <a:lnTo>
                  <a:pt x="240618" y="278955"/>
                </a:lnTo>
                <a:cubicBezTo>
                  <a:pt x="235461" y="274300"/>
                  <a:pt x="228792" y="271742"/>
                  <a:pt x="221845" y="271742"/>
                </a:cubicBezTo>
                <a:cubicBezTo>
                  <a:pt x="216766" y="271742"/>
                  <a:pt x="211778" y="273123"/>
                  <a:pt x="207409" y="275743"/>
                </a:cubicBezTo>
                <a:lnTo>
                  <a:pt x="181454" y="291308"/>
                </a:lnTo>
                <a:cubicBezTo>
                  <a:pt x="179998" y="292186"/>
                  <a:pt x="178334" y="292645"/>
                  <a:pt x="176633" y="292645"/>
                </a:cubicBezTo>
                <a:cubicBezTo>
                  <a:pt x="171441" y="292645"/>
                  <a:pt x="167226" y="288430"/>
                  <a:pt x="167226" y="283238"/>
                </a:cubicBezTo>
                <a:lnTo>
                  <a:pt x="167226" y="281860"/>
                </a:lnTo>
                <a:cubicBezTo>
                  <a:pt x="167226" y="278271"/>
                  <a:pt x="169220" y="275052"/>
                  <a:pt x="172424" y="273450"/>
                </a:cubicBezTo>
                <a:lnTo>
                  <a:pt x="211291" y="254016"/>
                </a:lnTo>
                <a:cubicBezTo>
                  <a:pt x="217943" y="250686"/>
                  <a:pt x="225839" y="249941"/>
                  <a:pt x="233008" y="252002"/>
                </a:cubicBezTo>
                <a:lnTo>
                  <a:pt x="276794" y="264509"/>
                </a:lnTo>
                <a:lnTo>
                  <a:pt x="287399" y="264774"/>
                </a:lnTo>
                <a:lnTo>
                  <a:pt x="418065" y="196002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864" cap="flat">
            <a:noFill/>
            <a:prstDash val="solid"/>
            <a:miter/>
          </a:ln>
        </p:spPr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>
              <a:latin typeface="KT Flow Thin" pitchFamily="2" charset="-127"/>
              <a:ea typeface="KT Flow Thin" pitchFamily="2" charset="-127"/>
            </a:endParaRPr>
          </a:p>
        </p:txBody>
      </p:sp>
      <p:sp>
        <p:nvSpPr>
          <p:cNvPr id="80" name="그래픽 282">
            <a:extLst>
              <a:ext uri="{FF2B5EF4-FFF2-40B4-BE49-F238E27FC236}">
                <a16:creationId xmlns:a16="http://schemas.microsoft.com/office/drawing/2014/main" id="{A39A8C76-308E-4A02-8832-8B755CF1E27C}"/>
              </a:ext>
            </a:extLst>
          </p:cNvPr>
          <p:cNvSpPr/>
          <p:nvPr/>
        </p:nvSpPr>
        <p:spPr>
          <a:xfrm flipH="1" flipV="1">
            <a:off x="1290406" y="2819400"/>
            <a:ext cx="1773346" cy="1028322"/>
          </a:xfrm>
          <a:custGeom>
            <a:avLst/>
            <a:gdLst>
              <a:gd name="connsiteX0" fmla="*/ 2228140 w 2228139"/>
              <a:gd name="connsiteY0" fmla="*/ 0 h 1075869"/>
              <a:gd name="connsiteX1" fmla="*/ 1114089 w 2228139"/>
              <a:gd name="connsiteY1" fmla="*/ 1075870 h 1075869"/>
              <a:gd name="connsiteX2" fmla="*/ 0 w 2228139"/>
              <a:gd name="connsiteY2" fmla="*/ 0 h 1075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28139" h="1075869">
                <a:moveTo>
                  <a:pt x="2228140" y="0"/>
                </a:moveTo>
                <a:cubicBezTo>
                  <a:pt x="2228140" y="594180"/>
                  <a:pt x="1729356" y="1075870"/>
                  <a:pt x="1114089" y="1075870"/>
                </a:cubicBezTo>
                <a:cubicBezTo>
                  <a:pt x="498822" y="1075870"/>
                  <a:pt x="0" y="594180"/>
                  <a:pt x="0" y="0"/>
                </a:cubicBezTo>
              </a:path>
            </a:pathLst>
          </a:custGeom>
          <a:noFill/>
          <a:ln w="15875" cap="flat" cmpd="sng" algn="ctr">
            <a:solidFill>
              <a:sysClr val="windowText" lastClr="000000">
                <a:alpha val="20000"/>
              </a:sysClr>
            </a:solidFill>
            <a:prstDash val="sysDot"/>
          </a:ln>
          <a:effectLst/>
        </p:spPr>
        <p:txBody>
          <a:bodyPr rtlCol="0" anchor="ctr"/>
          <a:lstStyle/>
          <a:p>
            <a:pPr marL="0" marR="0" lvl="0" indent="0" defTabSz="1043056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T Flow Thin" pitchFamily="2" charset="-127"/>
              <a:ea typeface="KT Flow Thin" pitchFamily="2" charset="-127"/>
            </a:endParaRPr>
          </a:p>
        </p:txBody>
      </p: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B8ECBF9B-4079-493C-AC24-D17E51A59695}"/>
              </a:ext>
            </a:extLst>
          </p:cNvPr>
          <p:cNvCxnSpPr>
            <a:cxnSpLocks/>
          </p:cNvCxnSpPr>
          <p:nvPr/>
        </p:nvCxnSpPr>
        <p:spPr>
          <a:xfrm>
            <a:off x="2185850" y="2514600"/>
            <a:ext cx="0" cy="304800"/>
          </a:xfrm>
          <a:prstGeom prst="line">
            <a:avLst/>
          </a:prstGeom>
          <a:noFill/>
          <a:ln w="15875" cap="flat" cmpd="sng" algn="ctr">
            <a:solidFill>
              <a:sysClr val="windowText" lastClr="000000">
                <a:alpha val="20000"/>
              </a:sysClr>
            </a:solidFill>
            <a:prstDash val="sysDot"/>
          </a:ln>
          <a:effectLst/>
        </p:spPr>
      </p:cxnSp>
      <p:sp>
        <p:nvSpPr>
          <p:cNvPr id="86" name="현 85">
            <a:extLst>
              <a:ext uri="{FF2B5EF4-FFF2-40B4-BE49-F238E27FC236}">
                <a16:creationId xmlns:a16="http://schemas.microsoft.com/office/drawing/2014/main" id="{23233F23-3908-42DA-8C8E-16673747A18B}"/>
              </a:ext>
            </a:extLst>
          </p:cNvPr>
          <p:cNvSpPr/>
          <p:nvPr/>
        </p:nvSpPr>
        <p:spPr>
          <a:xfrm rot="5400000">
            <a:off x="1013178" y="3061409"/>
            <a:ext cx="2321450" cy="1801982"/>
          </a:xfrm>
          <a:prstGeom prst="chord">
            <a:avLst>
              <a:gd name="adj1" fmla="val 5806132"/>
              <a:gd name="adj2" fmla="val 15791465"/>
            </a:avLst>
          </a:prstGeom>
          <a:solidFill>
            <a:srgbClr val="E30C60">
              <a:alpha val="22000"/>
            </a:srgb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T Flow Thin" pitchFamily="2" charset="-127"/>
              <a:ea typeface="KT Flow Thin" pitchFamily="2" charset="-127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Rectangle 2">
            <a:extLst>
              <a:ext uri="{FF2B5EF4-FFF2-40B4-BE49-F238E27FC236}">
                <a16:creationId xmlns:a16="http://schemas.microsoft.com/office/drawing/2014/main" id="{66282572-5816-422F-A5F6-6F46198BC839}"/>
              </a:ext>
            </a:extLst>
          </p:cNvPr>
          <p:cNvSpPr/>
          <p:nvPr/>
        </p:nvSpPr>
        <p:spPr>
          <a:xfrm>
            <a:off x="1929606" y="381000"/>
            <a:ext cx="61912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altLang="ko-KR" sz="900" b="0" dirty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3-1 ⑦ 안전보건 및 노무관리</a:t>
            </a:r>
            <a:endParaRPr lang="ko-KR" sz="900" b="0" dirty="0">
              <a:solidFill>
                <a:srgbClr val="A50034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179" name="Rectangle 3">
            <a:extLst>
              <a:ext uri="{FF2B5EF4-FFF2-40B4-BE49-F238E27FC236}">
                <a16:creationId xmlns:a16="http://schemas.microsoft.com/office/drawing/2014/main" id="{32FA807B-A07A-47B7-8748-91F14EE4A93C}"/>
              </a:ext>
            </a:extLst>
          </p:cNvPr>
          <p:cNvSpPr/>
          <p:nvPr/>
        </p:nvSpPr>
        <p:spPr>
          <a:xfrm>
            <a:off x="846138" y="660400"/>
            <a:ext cx="8461375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0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법을 지키는 근로 환경, 감정노동자 보호 </a:t>
            </a:r>
            <a:r>
              <a:rPr lang="ko-KR" sz="20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'최고등급 우수'</a:t>
            </a:r>
          </a:p>
        </p:txBody>
      </p:sp>
      <p:sp>
        <p:nvSpPr>
          <p:cNvPr id="180" name="Rectangle 4">
            <a:extLst>
              <a:ext uri="{FF2B5EF4-FFF2-40B4-BE49-F238E27FC236}">
                <a16:creationId xmlns:a16="http://schemas.microsoft.com/office/drawing/2014/main" id="{AFA34CF8-6FC8-470E-A633-424A91EECBE9}"/>
              </a:ext>
            </a:extLst>
          </p:cNvPr>
          <p:cNvSpPr/>
          <p:nvPr/>
        </p:nvSpPr>
        <p:spPr>
          <a:xfrm>
            <a:off x="846138" y="1079500"/>
            <a:ext cx="84613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근로기준법 등 법률 규정을 지키고 근로 환경을 개선해, 상담사 만족도와 상담 품질을 함께 높이겠습니다.</a:t>
            </a:r>
          </a:p>
        </p:txBody>
      </p:sp>
      <p:sp>
        <p:nvSpPr>
          <p:cNvPr id="181" name="Rectangle 78">
            <a:extLst>
              <a:ext uri="{FF2B5EF4-FFF2-40B4-BE49-F238E27FC236}">
                <a16:creationId xmlns:a16="http://schemas.microsoft.com/office/drawing/2014/main" id="{7D347CCC-3F77-43D2-A599-83BD1A2ACE74}"/>
              </a:ext>
            </a:extLst>
          </p:cNvPr>
          <p:cNvSpPr/>
          <p:nvPr/>
        </p:nvSpPr>
        <p:spPr>
          <a:xfrm>
            <a:off x="4540250" y="64770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42 / 49</a:t>
            </a:r>
            <a:endParaRPr lang="ko-KR" sz="600" b="0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pic>
        <p:nvPicPr>
          <p:cNvPr id="329" name="Picture 3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  <p:sp>
        <p:nvSpPr>
          <p:cNvPr id="330" name="Rectangle 329"/>
          <p:cNvSpPr/>
          <p:nvPr/>
        </p:nvSpPr>
        <p:spPr>
          <a:xfrm>
            <a:off x="660400" y="1447800"/>
            <a:ext cx="38100" cy="177800"/>
          </a:xfrm>
          <a:prstGeom prst="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1" name="Rectangle 330"/>
          <p:cNvSpPr/>
          <p:nvPr/>
        </p:nvSpPr>
        <p:spPr>
          <a:xfrm>
            <a:off x="774700" y="1422400"/>
            <a:ext cx="4191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근로기준법 등 법률 규정 준수</a:t>
            </a:r>
          </a:p>
        </p:txBody>
      </p:sp>
      <p:sp>
        <p:nvSpPr>
          <p:cNvPr id="332" name="Rounded Rectangle 331"/>
          <p:cNvSpPr/>
          <p:nvPr/>
        </p:nvSpPr>
        <p:spPr>
          <a:xfrm>
            <a:off x="660400" y="1727200"/>
            <a:ext cx="4191000" cy="2717800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3" name="Rectangle 332"/>
          <p:cNvSpPr/>
          <p:nvPr/>
        </p:nvSpPr>
        <p:spPr>
          <a:xfrm>
            <a:off x="787400" y="1828800"/>
            <a:ext cx="3937000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■ </a:t>
            </a:r>
            <a:r>
              <a:rPr 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근로기준법</a:t>
            </a:r>
          </a:p>
        </p:txBody>
      </p:sp>
      <p:sp>
        <p:nvSpPr>
          <p:cNvPr id="334" name="Rectangle 333"/>
          <p:cNvSpPr/>
          <p:nvPr/>
        </p:nvSpPr>
        <p:spPr>
          <a:xfrm>
            <a:off x="939800" y="2057400"/>
            <a:ext cx="37846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- '관공서의 공휴일에 관한 규정' 적용</a:t>
            </a:r>
          </a:p>
          <a:p>
            <a:pPr algn="l">
              <a:lnSpc>
                <a:spcPct val="125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- 공휴일 근로 시 휴일근로수당 지급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787400" y="2489200"/>
            <a:ext cx="3937000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■ </a:t>
            </a:r>
            <a:r>
              <a:rPr 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남녀고용평등법</a:t>
            </a:r>
          </a:p>
        </p:txBody>
      </p:sp>
      <p:sp>
        <p:nvSpPr>
          <p:cNvPr id="336" name="Rectangle 335"/>
          <p:cNvSpPr/>
          <p:nvPr/>
        </p:nvSpPr>
        <p:spPr>
          <a:xfrm>
            <a:off x="939800" y="2717800"/>
            <a:ext cx="37846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- 가족돌봄휴가 확대 (조부모·손자녀까지)</a:t>
            </a:r>
          </a:p>
          <a:p>
            <a:pPr algn="l">
              <a:lnSpc>
                <a:spcPct val="125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- 연간 10일 범위에서 1일 단위 사용</a:t>
            </a:r>
          </a:p>
        </p:txBody>
      </p:sp>
      <p:sp>
        <p:nvSpPr>
          <p:cNvPr id="337" name="Rectangle 336"/>
          <p:cNvSpPr/>
          <p:nvPr/>
        </p:nvSpPr>
        <p:spPr>
          <a:xfrm>
            <a:off x="787400" y="3149600"/>
            <a:ext cx="3937000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■ </a:t>
            </a:r>
            <a:r>
              <a:rPr 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산업안전보건법</a:t>
            </a:r>
          </a:p>
        </p:txBody>
      </p:sp>
      <p:sp>
        <p:nvSpPr>
          <p:cNvPr id="338" name="Rectangle 337"/>
          <p:cNvSpPr/>
          <p:nvPr/>
        </p:nvSpPr>
        <p:spPr>
          <a:xfrm>
            <a:off x="939800" y="3378200"/>
            <a:ext cx="37846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- 보호 대상을 노무 제공자로 확대</a:t>
            </a:r>
          </a:p>
          <a:p>
            <a:pPr algn="l">
              <a:lnSpc>
                <a:spcPct val="125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- 산업재해 예방 책임 의무주체 확대</a:t>
            </a:r>
          </a:p>
        </p:txBody>
      </p:sp>
      <p:sp>
        <p:nvSpPr>
          <p:cNvPr id="339" name="Rectangle 338"/>
          <p:cNvSpPr/>
          <p:nvPr/>
        </p:nvSpPr>
        <p:spPr>
          <a:xfrm>
            <a:off x="787400" y="3810000"/>
            <a:ext cx="3937000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■ </a:t>
            </a:r>
            <a:r>
              <a:rPr 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민간위탁 노동자 근로조건 보호 가이드라인 준수</a:t>
            </a:r>
          </a:p>
        </p:txBody>
      </p:sp>
      <p:sp>
        <p:nvSpPr>
          <p:cNvPr id="340" name="Rectangle 339"/>
          <p:cNvSpPr/>
          <p:nvPr/>
        </p:nvSpPr>
        <p:spPr>
          <a:xfrm>
            <a:off x="3403600" y="1803400"/>
            <a:ext cx="13462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0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E30C60"/>
                </a:solidFill>
                <a:latin typeface="페이퍼로지 7 Bold"/>
                <a:ea typeface="페이퍼로지 7 Bold"/>
                <a:cs typeface="페이퍼로지 7 Bold"/>
              </a:rPr>
              <a:t>근로제도 관련 내용</a:t>
            </a:r>
          </a:p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E30C60"/>
                </a:solidFill>
                <a:latin typeface="페이퍼로지 7 Bold"/>
                <a:ea typeface="페이퍼로지 7 Bold"/>
                <a:cs typeface="페이퍼로지 7 Bold"/>
              </a:rPr>
              <a:t>센터 내 상시 비치</a:t>
            </a:r>
          </a:p>
        </p:txBody>
      </p:sp>
      <p:sp>
        <p:nvSpPr>
          <p:cNvPr id="341" name="Rounded Rectangle 340"/>
          <p:cNvSpPr/>
          <p:nvPr/>
        </p:nvSpPr>
        <p:spPr>
          <a:xfrm>
            <a:off x="787400" y="4038600"/>
            <a:ext cx="939800" cy="304800"/>
          </a:xfrm>
          <a:prstGeom prst="roundRect">
            <a:avLst>
              <a:gd name="adj" fmla="val 20000"/>
            </a:avLst>
          </a:prstGeom>
          <a:solidFill>
            <a:srgbClr val="101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근로시간</a:t>
            </a:r>
          </a:p>
        </p:txBody>
      </p:sp>
      <p:sp>
        <p:nvSpPr>
          <p:cNvPr id="342" name="Rounded Rectangle 341"/>
          <p:cNvSpPr/>
          <p:nvPr/>
        </p:nvSpPr>
        <p:spPr>
          <a:xfrm>
            <a:off x="1790700" y="4038600"/>
            <a:ext cx="939800" cy="304800"/>
          </a:xfrm>
          <a:prstGeom prst="roundRect">
            <a:avLst>
              <a:gd name="adj" fmla="val 20000"/>
            </a:avLst>
          </a:prstGeom>
          <a:solidFill>
            <a:srgbClr val="101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휴게시간</a:t>
            </a:r>
          </a:p>
        </p:txBody>
      </p:sp>
      <p:sp>
        <p:nvSpPr>
          <p:cNvPr id="343" name="Rounded Rectangle 342"/>
          <p:cNvSpPr/>
          <p:nvPr/>
        </p:nvSpPr>
        <p:spPr>
          <a:xfrm>
            <a:off x="2794000" y="4038600"/>
            <a:ext cx="939800" cy="304800"/>
          </a:xfrm>
          <a:prstGeom prst="roundRect">
            <a:avLst>
              <a:gd name="adj" fmla="val 20000"/>
            </a:avLst>
          </a:prstGeom>
          <a:solidFill>
            <a:srgbClr val="101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임금제도</a:t>
            </a:r>
          </a:p>
        </p:txBody>
      </p:sp>
      <p:sp>
        <p:nvSpPr>
          <p:cNvPr id="344" name="Rounded Rectangle 343"/>
          <p:cNvSpPr/>
          <p:nvPr/>
        </p:nvSpPr>
        <p:spPr>
          <a:xfrm>
            <a:off x="3797300" y="4038600"/>
            <a:ext cx="939800" cy="304800"/>
          </a:xfrm>
          <a:prstGeom prst="roundRect">
            <a:avLst>
              <a:gd name="adj" fmla="val 20000"/>
            </a:avLst>
          </a:prstGeom>
          <a:solidFill>
            <a:srgbClr val="101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휴가제도</a:t>
            </a:r>
          </a:p>
        </p:txBody>
      </p:sp>
      <p:sp>
        <p:nvSpPr>
          <p:cNvPr id="345" name="Rectangle 344"/>
          <p:cNvSpPr/>
          <p:nvPr/>
        </p:nvSpPr>
        <p:spPr>
          <a:xfrm>
            <a:off x="660400" y="4597400"/>
            <a:ext cx="38100" cy="177800"/>
          </a:xfrm>
          <a:prstGeom prst="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6" name="Rectangle 345"/>
          <p:cNvSpPr/>
          <p:nvPr/>
        </p:nvSpPr>
        <p:spPr>
          <a:xfrm>
            <a:off x="774700" y="4572000"/>
            <a:ext cx="4191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관리자 노무관리 교육</a:t>
            </a: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   연 5차</a:t>
            </a:r>
          </a:p>
        </p:txBody>
      </p:sp>
      <p:cxnSp>
        <p:nvCxnSpPr>
          <p:cNvPr id="347" name="Connector 346"/>
          <p:cNvCxnSpPr/>
          <p:nvPr/>
        </p:nvCxnSpPr>
        <p:spPr>
          <a:xfrm>
            <a:off x="914400" y="5080000"/>
            <a:ext cx="3683000" cy="0"/>
          </a:xfrm>
          <a:prstGeom prst="line">
            <a:avLst/>
          </a:prstGeom>
          <a:ln w="19050">
            <a:solidFill>
              <a:srgbClr val="C9C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8" name="Rectangle 347"/>
          <p:cNvSpPr/>
          <p:nvPr/>
        </p:nvSpPr>
        <p:spPr>
          <a:xfrm>
            <a:off x="787400" y="4851400"/>
            <a:ext cx="5080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1차</a:t>
            </a:r>
          </a:p>
        </p:txBody>
      </p:sp>
      <p:sp>
        <p:nvSpPr>
          <p:cNvPr id="349" name="Oval 348"/>
          <p:cNvSpPr/>
          <p:nvPr/>
        </p:nvSpPr>
        <p:spPr>
          <a:xfrm>
            <a:off x="977900" y="5016500"/>
            <a:ext cx="127000" cy="127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30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endParaRPr/>
          </a:p>
        </p:txBody>
      </p:sp>
      <p:sp>
        <p:nvSpPr>
          <p:cNvPr id="350" name="Rectangle 349"/>
          <p:cNvSpPr/>
          <p:nvPr/>
        </p:nvSpPr>
        <p:spPr>
          <a:xfrm>
            <a:off x="609600" y="5207000"/>
            <a:ext cx="8636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1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노무역량</a:t>
            </a:r>
          </a:p>
          <a:p>
            <a:pPr algn="ctr">
              <a:lnSpc>
                <a:spcPct val="11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향상 기초</a:t>
            </a:r>
          </a:p>
        </p:txBody>
      </p:sp>
      <p:sp>
        <p:nvSpPr>
          <p:cNvPr id="351" name="Rectangle 350"/>
          <p:cNvSpPr/>
          <p:nvPr/>
        </p:nvSpPr>
        <p:spPr>
          <a:xfrm>
            <a:off x="1676400" y="4851400"/>
            <a:ext cx="5080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chemeClr val="tx1">
                    <a:lumMod val="75000"/>
                    <a:lumOff val="2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2차</a:t>
            </a:r>
          </a:p>
        </p:txBody>
      </p:sp>
      <p:sp>
        <p:nvSpPr>
          <p:cNvPr id="352" name="Oval 351"/>
          <p:cNvSpPr/>
          <p:nvPr/>
        </p:nvSpPr>
        <p:spPr>
          <a:xfrm>
            <a:off x="1866900" y="5016500"/>
            <a:ext cx="127000" cy="127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30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endParaRPr/>
          </a:p>
        </p:txBody>
      </p:sp>
      <p:sp>
        <p:nvSpPr>
          <p:cNvPr id="353" name="Rectangle 352"/>
          <p:cNvSpPr/>
          <p:nvPr/>
        </p:nvSpPr>
        <p:spPr>
          <a:xfrm>
            <a:off x="1498600" y="5207000"/>
            <a:ext cx="8636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1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개별·집단적</a:t>
            </a:r>
          </a:p>
          <a:p>
            <a:pPr algn="ctr">
              <a:lnSpc>
                <a:spcPct val="11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노사문제</a:t>
            </a:r>
          </a:p>
        </p:txBody>
      </p:sp>
      <p:sp>
        <p:nvSpPr>
          <p:cNvPr id="354" name="Rectangle 353"/>
          <p:cNvSpPr/>
          <p:nvPr/>
        </p:nvSpPr>
        <p:spPr>
          <a:xfrm>
            <a:off x="2565400" y="4851400"/>
            <a:ext cx="5080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chemeClr val="tx1">
                    <a:lumMod val="75000"/>
                    <a:lumOff val="2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3차</a:t>
            </a:r>
          </a:p>
        </p:txBody>
      </p:sp>
      <p:sp>
        <p:nvSpPr>
          <p:cNvPr id="355" name="Oval 354"/>
          <p:cNvSpPr/>
          <p:nvPr/>
        </p:nvSpPr>
        <p:spPr>
          <a:xfrm>
            <a:off x="2755900" y="5016500"/>
            <a:ext cx="127000" cy="127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30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endParaRPr/>
          </a:p>
        </p:txBody>
      </p:sp>
      <p:sp>
        <p:nvSpPr>
          <p:cNvPr id="356" name="Rectangle 355"/>
          <p:cNvSpPr/>
          <p:nvPr/>
        </p:nvSpPr>
        <p:spPr>
          <a:xfrm>
            <a:off x="2387600" y="5207000"/>
            <a:ext cx="8636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1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현장사례 ·</a:t>
            </a:r>
          </a:p>
          <a:p>
            <a:pPr algn="ctr">
              <a:lnSpc>
                <a:spcPct val="11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노무관리 개선</a:t>
            </a:r>
          </a:p>
        </p:txBody>
      </p:sp>
      <p:sp>
        <p:nvSpPr>
          <p:cNvPr id="357" name="Rectangle 356"/>
          <p:cNvSpPr/>
          <p:nvPr/>
        </p:nvSpPr>
        <p:spPr>
          <a:xfrm>
            <a:off x="3454400" y="4851400"/>
            <a:ext cx="5080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chemeClr val="tx1">
                    <a:lumMod val="75000"/>
                    <a:lumOff val="2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4차</a:t>
            </a:r>
          </a:p>
        </p:txBody>
      </p:sp>
      <p:sp>
        <p:nvSpPr>
          <p:cNvPr id="358" name="Oval 357"/>
          <p:cNvSpPr/>
          <p:nvPr/>
        </p:nvSpPr>
        <p:spPr>
          <a:xfrm>
            <a:off x="3644900" y="5016500"/>
            <a:ext cx="127000" cy="127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30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endParaRPr/>
          </a:p>
        </p:txBody>
      </p:sp>
      <p:sp>
        <p:nvSpPr>
          <p:cNvPr id="359" name="Rectangle 358"/>
          <p:cNvSpPr/>
          <p:nvPr/>
        </p:nvSpPr>
        <p:spPr>
          <a:xfrm>
            <a:off x="3276600" y="5207000"/>
            <a:ext cx="8636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1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인간관계와</a:t>
            </a:r>
          </a:p>
          <a:p>
            <a:pPr algn="ctr">
              <a:lnSpc>
                <a:spcPct val="11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리더십</a:t>
            </a:r>
          </a:p>
        </p:txBody>
      </p:sp>
      <p:sp>
        <p:nvSpPr>
          <p:cNvPr id="360" name="Rectangle 359"/>
          <p:cNvSpPr/>
          <p:nvPr/>
        </p:nvSpPr>
        <p:spPr>
          <a:xfrm>
            <a:off x="4343400" y="4851400"/>
            <a:ext cx="5080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5차</a:t>
            </a:r>
          </a:p>
        </p:txBody>
      </p:sp>
      <p:sp>
        <p:nvSpPr>
          <p:cNvPr id="361" name="Oval 360"/>
          <p:cNvSpPr/>
          <p:nvPr/>
        </p:nvSpPr>
        <p:spPr>
          <a:xfrm>
            <a:off x="4533900" y="5016500"/>
            <a:ext cx="127000" cy="127000"/>
          </a:xfrm>
          <a:prstGeom prst="ellipse">
            <a:avLst/>
          </a:prstGeom>
          <a:solidFill>
            <a:srgbClr val="E30C60"/>
          </a:solidFill>
          <a:ln w="19050">
            <a:solidFill>
              <a:srgbClr val="E30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endParaRPr/>
          </a:p>
        </p:txBody>
      </p:sp>
      <p:sp>
        <p:nvSpPr>
          <p:cNvPr id="362" name="Rectangle 361"/>
          <p:cNvSpPr/>
          <p:nvPr/>
        </p:nvSpPr>
        <p:spPr>
          <a:xfrm>
            <a:off x="4165600" y="5207000"/>
            <a:ext cx="8636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1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감정코칭 ·</a:t>
            </a:r>
          </a:p>
          <a:p>
            <a:pPr algn="ctr">
              <a:lnSpc>
                <a:spcPct val="11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CS 교육</a:t>
            </a:r>
          </a:p>
        </p:txBody>
      </p:sp>
      <p:sp>
        <p:nvSpPr>
          <p:cNvPr id="363" name="Rectangle 362"/>
          <p:cNvSpPr/>
          <p:nvPr/>
        </p:nvSpPr>
        <p:spPr>
          <a:xfrm>
            <a:off x="660400" y="5715000"/>
            <a:ext cx="4191000" cy="508000"/>
          </a:xfrm>
          <a:prstGeom prst="rect">
            <a:avLst/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관리자가 먼저 배우고 현장에 적용해,</a:t>
            </a:r>
          </a:p>
          <a:p>
            <a:pPr algn="ctr">
              <a:lnSpc>
                <a:spcPct val="120000"/>
              </a:lnSpc>
            </a:pPr>
            <a:r>
              <a:rPr lang="ko-KR" sz="11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상담사가 안심하고 일하는 근로 환경</a:t>
            </a: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을 만듭니다</a:t>
            </a:r>
          </a:p>
        </p:txBody>
      </p:sp>
      <p:sp>
        <p:nvSpPr>
          <p:cNvPr id="364" name="Rectangle 363"/>
          <p:cNvSpPr/>
          <p:nvPr/>
        </p:nvSpPr>
        <p:spPr>
          <a:xfrm>
            <a:off x="5029200" y="1447800"/>
            <a:ext cx="38100" cy="177800"/>
          </a:xfrm>
          <a:prstGeom prst="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5" name="Rectangle 364"/>
          <p:cNvSpPr/>
          <p:nvPr/>
        </p:nvSpPr>
        <p:spPr>
          <a:xfrm>
            <a:off x="5143500" y="1422400"/>
            <a:ext cx="4191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고객응대근로자 보호 프로그램</a:t>
            </a:r>
          </a:p>
        </p:txBody>
      </p:sp>
      <p:sp>
        <p:nvSpPr>
          <p:cNvPr id="366" name="Rounded Rectangle 365"/>
          <p:cNvSpPr/>
          <p:nvPr/>
        </p:nvSpPr>
        <p:spPr>
          <a:xfrm>
            <a:off x="5029200" y="1727199"/>
            <a:ext cx="4292600" cy="2011759"/>
          </a:xfrm>
          <a:prstGeom prst="roundRect">
            <a:avLst>
              <a:gd name="adj" fmla="val 4000"/>
            </a:avLst>
          </a:prstGeom>
          <a:solidFill>
            <a:srgbClr val="FBE8EF"/>
          </a:solidFill>
          <a:ln w="9525">
            <a:solidFill>
              <a:srgbClr val="E30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7" name="Rectangle 366"/>
          <p:cNvSpPr/>
          <p:nvPr/>
        </p:nvSpPr>
        <p:spPr>
          <a:xfrm>
            <a:off x="5105400" y="2179730"/>
            <a:ext cx="2540000" cy="142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ko-KR" sz="1000" b="1" dirty="0" err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한국산업안전보건공단</a:t>
            </a:r>
            <a:endParaRPr lang="ko-KR" sz="1000" b="1" dirty="0">
              <a:solidFill>
                <a:srgbClr val="10151F"/>
              </a:solidFill>
              <a:latin typeface="페이퍼로지 8 ExtraBold"/>
              <a:ea typeface="페이퍼로지 8 ExtraBold"/>
              <a:cs typeface="페이퍼로지 8 ExtraBold"/>
            </a:endParaRPr>
          </a:p>
          <a:p>
            <a:pPr algn="ctr">
              <a:lnSpc>
                <a:spcPct val="11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감정노동자 실태점검 평가 결과</a:t>
            </a:r>
          </a:p>
          <a:p>
            <a:pPr algn="ctr">
              <a:lnSpc>
                <a:spcPct val="115000"/>
              </a:lnSpc>
            </a:pPr>
            <a:r>
              <a:rPr lang="ko-KR" sz="11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최고등급</a:t>
            </a:r>
          </a:p>
          <a:p>
            <a:pPr algn="ctr">
              <a:lnSpc>
                <a:spcPct val="115000"/>
              </a:lnSpc>
            </a:pPr>
            <a:r>
              <a:rPr lang="ko-KR" sz="3000" b="1" dirty="0">
                <a:solidFill>
                  <a:srgbClr val="E30C60"/>
                </a:solidFill>
                <a:latin typeface="페이퍼로지 9 Black"/>
                <a:ea typeface="페이퍼로지 9 Black"/>
                <a:cs typeface="페이퍼로지 9 Black"/>
              </a:rPr>
              <a:t>우수</a:t>
            </a:r>
          </a:p>
        </p:txBody>
      </p:sp>
      <p:sp>
        <p:nvSpPr>
          <p:cNvPr id="369" name="Rectangle 368"/>
          <p:cNvSpPr/>
          <p:nvPr/>
        </p:nvSpPr>
        <p:spPr>
          <a:xfrm>
            <a:off x="7694705" y="3479800"/>
            <a:ext cx="14224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평가 결과 확인서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5ADAB02B-F5F4-4D2D-8CCA-43ABA3B23DBA}"/>
              </a:ext>
            </a:extLst>
          </p:cNvPr>
          <p:cNvGrpSpPr/>
          <p:nvPr/>
        </p:nvGrpSpPr>
        <p:grpSpPr>
          <a:xfrm>
            <a:off x="5029200" y="3797300"/>
            <a:ext cx="4292600" cy="2400300"/>
            <a:chOff x="5029200" y="3454400"/>
            <a:chExt cx="4292600" cy="2743200"/>
          </a:xfrm>
        </p:grpSpPr>
        <p:sp>
          <p:nvSpPr>
            <p:cNvPr id="370" name="Rounded Rectangle 369"/>
            <p:cNvSpPr/>
            <p:nvPr/>
          </p:nvSpPr>
          <p:spPr>
            <a:xfrm>
              <a:off x="5029200" y="3454400"/>
              <a:ext cx="2108200" cy="13208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E3E5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1" name="Rectangle 370"/>
            <p:cNvSpPr/>
            <p:nvPr/>
          </p:nvSpPr>
          <p:spPr>
            <a:xfrm>
              <a:off x="5156200" y="3556000"/>
              <a:ext cx="1854200" cy="254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l">
                <a:lnSpc>
                  <a:spcPct val="110000"/>
                </a:lnSpc>
              </a:pPr>
              <a:r>
                <a:rPr lang="ko-KR" alt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8 ExtraBold"/>
                  <a:ea typeface="페이퍼로지 8 ExtraBold"/>
                </a:rPr>
                <a:t>표준 업무매뉴얼</a:t>
              </a:r>
            </a:p>
          </p:txBody>
        </p:sp>
        <p:sp>
          <p:nvSpPr>
            <p:cNvPr id="372" name="Rectangle 371"/>
            <p:cNvSpPr/>
            <p:nvPr/>
          </p:nvSpPr>
          <p:spPr>
            <a:xfrm>
              <a:off x="5156200" y="3835400"/>
              <a:ext cx="1854200" cy="9525"/>
            </a:xfrm>
            <a:prstGeom prst="rect">
              <a:avLst/>
            </a:prstGeom>
            <a:solidFill>
              <a:srgbClr val="E3E5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3" name="Rectangle 372"/>
            <p:cNvSpPr/>
            <p:nvPr/>
          </p:nvSpPr>
          <p:spPr>
            <a:xfrm>
              <a:off x="5156200" y="3911600"/>
              <a:ext cx="1905000" cy="787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/>
            <a:lstStyle/>
            <a:p>
              <a:pPr algn="l">
                <a:lnSpc>
                  <a:spcPct val="140000"/>
                </a:lnSpc>
              </a:pPr>
              <a:r>
                <a:rPr lang="ko-KR" sz="900" b="0">
                  <a:solidFill>
                    <a:srgbClr val="10151F"/>
                  </a:solidFill>
                  <a:latin typeface="페이퍼로지 5 Medium"/>
                  <a:ea typeface="페이퍼로지 5 Medium"/>
                  <a:cs typeface="페이퍼로지 5 Medium"/>
                </a:rPr>
                <a:t>· 사내 취업규칙 반영</a:t>
              </a:r>
            </a:p>
            <a:p>
              <a:pPr algn="l">
                <a:lnSpc>
                  <a:spcPct val="140000"/>
                </a:lnSpc>
              </a:pPr>
              <a:r>
                <a:rPr lang="ko-KR" sz="900" b="0">
                  <a:solidFill>
                    <a:srgbClr val="10151F"/>
                  </a:solidFill>
                  <a:latin typeface="페이퍼로지 5 Medium"/>
                  <a:ea typeface="페이퍼로지 5 Medium"/>
                  <a:cs typeface="페이퍼로지 5 Medium"/>
                </a:rPr>
                <a:t>· 표준 업무매뉴얼 운영</a:t>
              </a:r>
            </a:p>
            <a:p>
              <a:pPr algn="l">
                <a:lnSpc>
                  <a:spcPct val="140000"/>
                </a:lnSpc>
              </a:pPr>
              <a:r>
                <a:rPr lang="ko-KR" sz="900" b="0">
                  <a:solidFill>
                    <a:srgbClr val="10151F"/>
                  </a:solidFill>
                  <a:latin typeface="페이퍼로지 5 Medium"/>
                  <a:ea typeface="페이퍼로지 5 Medium"/>
                  <a:cs typeface="페이퍼로지 5 Medium"/>
                </a:rPr>
                <a:t>· 업무 이해 교육(연 1회 이상)</a:t>
              </a:r>
            </a:p>
          </p:txBody>
        </p:sp>
        <p:sp>
          <p:nvSpPr>
            <p:cNvPr id="374" name="Rounded Rectangle 373"/>
            <p:cNvSpPr/>
            <p:nvPr/>
          </p:nvSpPr>
          <p:spPr>
            <a:xfrm>
              <a:off x="7213600" y="3454400"/>
              <a:ext cx="2108200" cy="13208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E3E5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5" name="Rectangle 374"/>
            <p:cNvSpPr/>
            <p:nvPr/>
          </p:nvSpPr>
          <p:spPr>
            <a:xfrm>
              <a:off x="7340600" y="3556000"/>
              <a:ext cx="1854200" cy="254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l">
                <a:lnSpc>
                  <a:spcPct val="110000"/>
                </a:lnSpc>
              </a:pPr>
              <a:r>
                <a:rPr lang="ko-KR" sz="1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8 ExtraBold"/>
                  <a:ea typeface="페이퍼로지 8 ExtraBold"/>
                  <a:cs typeface="페이퍼로지 8 ExtraBold"/>
                </a:rPr>
                <a:t>고충 · 인권침해 신고 청구</a:t>
              </a:r>
            </a:p>
          </p:txBody>
        </p:sp>
        <p:sp>
          <p:nvSpPr>
            <p:cNvPr id="376" name="Rectangle 375"/>
            <p:cNvSpPr/>
            <p:nvPr/>
          </p:nvSpPr>
          <p:spPr>
            <a:xfrm>
              <a:off x="7340600" y="3835400"/>
              <a:ext cx="1854200" cy="9525"/>
            </a:xfrm>
            <a:prstGeom prst="rect">
              <a:avLst/>
            </a:prstGeom>
            <a:solidFill>
              <a:srgbClr val="E3E5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7" name="Rectangle 376"/>
            <p:cNvSpPr/>
            <p:nvPr/>
          </p:nvSpPr>
          <p:spPr>
            <a:xfrm>
              <a:off x="7340600" y="3911600"/>
              <a:ext cx="1905000" cy="787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/>
            <a:lstStyle/>
            <a:p>
              <a:pPr algn="l">
                <a:lnSpc>
                  <a:spcPct val="140000"/>
                </a:lnSpc>
              </a:pPr>
              <a:r>
                <a:rPr lang="ko-KR" sz="900" b="0">
                  <a:solidFill>
                    <a:srgbClr val="10151F"/>
                  </a:solidFill>
                  <a:latin typeface="페이퍼로지 5 Medium"/>
                  <a:ea typeface="페이퍼로지 5 Medium"/>
                  <a:cs typeface="페이퍼로지 5 Medium"/>
                </a:rPr>
                <a:t>· 고충처리위원회 운영</a:t>
              </a:r>
            </a:p>
            <a:p>
              <a:pPr algn="l">
                <a:lnSpc>
                  <a:spcPct val="140000"/>
                </a:lnSpc>
              </a:pPr>
              <a:r>
                <a:rPr lang="ko-KR" sz="900" b="0">
                  <a:solidFill>
                    <a:srgbClr val="10151F"/>
                  </a:solidFill>
                  <a:latin typeface="페이퍼로지 5 Medium"/>
                  <a:ea typeface="페이퍼로지 5 Medium"/>
                  <a:cs typeface="페이퍼로지 5 Medium"/>
                </a:rPr>
                <a:t>· 온라인 '두드림' · 오프라인 소리함</a:t>
              </a:r>
            </a:p>
            <a:p>
              <a:pPr algn="l">
                <a:lnSpc>
                  <a:spcPct val="140000"/>
                </a:lnSpc>
              </a:pPr>
              <a:r>
                <a:rPr lang="ko-KR" sz="900" b="0">
                  <a:solidFill>
                    <a:srgbClr val="10151F"/>
                  </a:solidFill>
                  <a:latin typeface="페이퍼로지 5 Medium"/>
                  <a:ea typeface="페이퍼로지 5 Medium"/>
                  <a:cs typeface="페이퍼로지 5 Medium"/>
                </a:rPr>
                <a:t>· 기관 접수 후 재발 방지 협의</a:t>
              </a:r>
            </a:p>
          </p:txBody>
        </p:sp>
        <p:sp>
          <p:nvSpPr>
            <p:cNvPr id="378" name="Rounded Rectangle 377"/>
            <p:cNvSpPr/>
            <p:nvPr/>
          </p:nvSpPr>
          <p:spPr>
            <a:xfrm>
              <a:off x="5029200" y="4876800"/>
              <a:ext cx="2108200" cy="13208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E3E5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9" name="Rectangle 378"/>
            <p:cNvSpPr/>
            <p:nvPr/>
          </p:nvSpPr>
          <p:spPr>
            <a:xfrm>
              <a:off x="5156200" y="4978400"/>
              <a:ext cx="1854200" cy="254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l">
                <a:lnSpc>
                  <a:spcPct val="110000"/>
                </a:lnSpc>
              </a:pPr>
              <a:r>
                <a:rPr lang="ko-KR" sz="1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8 ExtraBold"/>
                  <a:ea typeface="페이퍼로지 8 ExtraBold"/>
                  <a:cs typeface="페이퍼로지 8 ExtraBold"/>
                </a:rPr>
                <a:t>내부직원 만족도 조사</a:t>
              </a:r>
            </a:p>
          </p:txBody>
        </p:sp>
        <p:sp>
          <p:nvSpPr>
            <p:cNvPr id="380" name="Rectangle 379"/>
            <p:cNvSpPr/>
            <p:nvPr/>
          </p:nvSpPr>
          <p:spPr>
            <a:xfrm>
              <a:off x="5156200" y="5257800"/>
              <a:ext cx="1854200" cy="9525"/>
            </a:xfrm>
            <a:prstGeom prst="rect">
              <a:avLst/>
            </a:prstGeom>
            <a:solidFill>
              <a:srgbClr val="E3E5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1" name="Rectangle 380"/>
            <p:cNvSpPr/>
            <p:nvPr/>
          </p:nvSpPr>
          <p:spPr>
            <a:xfrm>
              <a:off x="5156200" y="5334000"/>
              <a:ext cx="1905000" cy="787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/>
            <a:lstStyle/>
            <a:p>
              <a:pPr algn="l">
                <a:lnSpc>
                  <a:spcPct val="140000"/>
                </a:lnSpc>
              </a:pPr>
              <a:r>
                <a:rPr lang="ko-KR" sz="900" b="0">
                  <a:solidFill>
                    <a:srgbClr val="10151F"/>
                  </a:solidFill>
                  <a:latin typeface="페이퍼로지 5 Medium"/>
                  <a:ea typeface="페이퍼로지 5 Medium"/>
                  <a:cs typeface="페이퍼로지 5 Medium"/>
                </a:rPr>
                <a:t>· 연 4회 정기 조사</a:t>
              </a:r>
            </a:p>
            <a:p>
              <a:pPr algn="l">
                <a:lnSpc>
                  <a:spcPct val="140000"/>
                </a:lnSpc>
              </a:pPr>
              <a:r>
                <a:rPr lang="ko-KR" sz="900" b="0">
                  <a:solidFill>
                    <a:srgbClr val="10151F"/>
                  </a:solidFill>
                  <a:latin typeface="페이퍼로지 5 Medium"/>
                  <a:ea typeface="페이퍼로지 5 Medium"/>
                  <a:cs typeface="페이퍼로지 5 Medium"/>
                </a:rPr>
                <a:t>· 개선 방향 설정</a:t>
              </a:r>
            </a:p>
            <a:p>
              <a:pPr algn="l">
                <a:lnSpc>
                  <a:spcPct val="140000"/>
                </a:lnSpc>
              </a:pPr>
              <a:r>
                <a:rPr lang="ko-KR" sz="900" b="0">
                  <a:solidFill>
                    <a:srgbClr val="10151F"/>
                  </a:solidFill>
                  <a:latin typeface="페이퍼로지 5 Medium"/>
                  <a:ea typeface="페이퍼로지 5 Medium"/>
                  <a:cs typeface="페이퍼로지 5 Medium"/>
                </a:rPr>
                <a:t>· 조사·조치 결과 공지</a:t>
              </a:r>
            </a:p>
          </p:txBody>
        </p:sp>
        <p:sp>
          <p:nvSpPr>
            <p:cNvPr id="382" name="Rounded Rectangle 381"/>
            <p:cNvSpPr/>
            <p:nvPr/>
          </p:nvSpPr>
          <p:spPr>
            <a:xfrm>
              <a:off x="7213600" y="4876800"/>
              <a:ext cx="2108200" cy="13208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E3E5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3" name="Rectangle 382"/>
            <p:cNvSpPr/>
            <p:nvPr/>
          </p:nvSpPr>
          <p:spPr>
            <a:xfrm>
              <a:off x="7340600" y="4978400"/>
              <a:ext cx="1854200" cy="254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l">
                <a:lnSpc>
                  <a:spcPct val="110000"/>
                </a:lnSpc>
              </a:pPr>
              <a:r>
                <a:rPr lang="ko-KR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8 ExtraBold"/>
                  <a:ea typeface="페이퍼로지 8 ExtraBold"/>
                  <a:cs typeface="페이퍼로지 8 ExtraBold"/>
                </a:rPr>
                <a:t>심리 상담 · 노무 프로그램</a:t>
              </a:r>
            </a:p>
          </p:txBody>
        </p:sp>
        <p:sp>
          <p:nvSpPr>
            <p:cNvPr id="384" name="Rectangle 383"/>
            <p:cNvSpPr/>
            <p:nvPr/>
          </p:nvSpPr>
          <p:spPr>
            <a:xfrm>
              <a:off x="7340600" y="5257800"/>
              <a:ext cx="1854200" cy="9525"/>
            </a:xfrm>
            <a:prstGeom prst="rect">
              <a:avLst/>
            </a:prstGeom>
            <a:solidFill>
              <a:srgbClr val="E3E5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5" name="Rectangle 384"/>
            <p:cNvSpPr/>
            <p:nvPr/>
          </p:nvSpPr>
          <p:spPr>
            <a:xfrm>
              <a:off x="7340600" y="5334000"/>
              <a:ext cx="1905000" cy="787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/>
            <a:lstStyle/>
            <a:p>
              <a:pPr algn="l">
                <a:lnSpc>
                  <a:spcPct val="140000"/>
                </a:lnSpc>
              </a:pPr>
              <a:r>
                <a:rPr lang="ko-KR" sz="900" b="0">
                  <a:solidFill>
                    <a:srgbClr val="10151F"/>
                  </a:solidFill>
                  <a:latin typeface="페이퍼로지 5 Medium"/>
                  <a:ea typeface="페이퍼로지 5 Medium"/>
                  <a:cs typeface="페이퍼로지 5 Medium"/>
                </a:rPr>
                <a:t>· 분기별 담당 PM 면담</a:t>
              </a:r>
            </a:p>
            <a:p>
              <a:pPr algn="l">
                <a:lnSpc>
                  <a:spcPct val="140000"/>
                </a:lnSpc>
              </a:pPr>
              <a:r>
                <a:rPr lang="ko-KR" sz="900" b="0">
                  <a:solidFill>
                    <a:srgbClr val="10151F"/>
                  </a:solidFill>
                  <a:latin typeface="페이퍼로지 5 Medium"/>
                  <a:ea typeface="페이퍼로지 5 Medium"/>
                  <a:cs typeface="페이퍼로지 5 Medium"/>
                </a:rPr>
                <a:t>· 전담 노무사 상담</a:t>
              </a:r>
            </a:p>
            <a:p>
              <a:pPr algn="l">
                <a:lnSpc>
                  <a:spcPct val="140000"/>
                </a:lnSpc>
              </a:pPr>
              <a:r>
                <a:rPr lang="ko-KR" sz="900" b="0">
                  <a:solidFill>
                    <a:srgbClr val="10151F"/>
                  </a:solidFill>
                  <a:latin typeface="페이퍼로지 5 Medium"/>
                  <a:ea typeface="페이퍼로지 5 Medium"/>
                  <a:cs typeface="페이퍼로지 5 Medium"/>
                </a:rPr>
                <a:t>· 힐링 교육 운영</a:t>
              </a:r>
            </a:p>
          </p:txBody>
        </p:sp>
        <p:sp>
          <p:nvSpPr>
            <p:cNvPr id="386" name="Oval 385"/>
            <p:cNvSpPr/>
            <p:nvPr/>
          </p:nvSpPr>
          <p:spPr>
            <a:xfrm>
              <a:off x="6667500" y="4547240"/>
              <a:ext cx="1016000" cy="508000"/>
            </a:xfrm>
            <a:prstGeom prst="ellipse">
              <a:avLst/>
            </a:prstGeom>
            <a:solidFill>
              <a:srgbClr val="F4F5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05000"/>
                </a:lnSpc>
              </a:pPr>
              <a:r>
                <a:rPr lang="ko-KR" sz="900" b="1" dirty="0">
                  <a:solidFill>
                    <a:schemeClr val="tx1"/>
                  </a:solidFill>
                  <a:latin typeface="페이퍼로지 7 Bold"/>
                  <a:ea typeface="페이퍼로지 7 Bold"/>
                  <a:cs typeface="페이퍼로지 7 Bold"/>
                </a:rPr>
                <a:t>산업안전보건법</a:t>
              </a:r>
            </a:p>
            <a:p>
              <a:pPr algn="ctr">
                <a:lnSpc>
                  <a:spcPct val="105000"/>
                </a:lnSpc>
              </a:pPr>
              <a:r>
                <a:rPr lang="ko-KR" sz="1000" b="1" dirty="0">
                  <a:solidFill>
                    <a:schemeClr val="tx1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준수</a:t>
              </a:r>
            </a:p>
          </p:txBody>
        </p:sp>
      </p:grpSp>
      <p:pic>
        <p:nvPicPr>
          <p:cNvPr id="68" name="그림 67" descr="왕관, 예술, 보석 머리장식이(가) 표시된 사진&#10;&#10;자동 생성된 설명">
            <a:extLst>
              <a:ext uri="{FF2B5EF4-FFF2-40B4-BE49-F238E27FC236}">
                <a16:creationId xmlns:a16="http://schemas.microsoft.com/office/drawing/2014/main" id="{E484E7F6-4368-4784-888D-7CE3C1EAC30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400" y="1830785"/>
            <a:ext cx="2540000" cy="1978130"/>
          </a:xfrm>
          <a:prstGeom prst="rect">
            <a:avLst/>
          </a:prstGeom>
        </p:spPr>
      </p:pic>
      <p:pic>
        <p:nvPicPr>
          <p:cNvPr id="70" name="그림 69">
            <a:extLst>
              <a:ext uri="{FF2B5EF4-FFF2-40B4-BE49-F238E27FC236}">
                <a16:creationId xmlns:a16="http://schemas.microsoft.com/office/drawing/2014/main" id="{F1C8218C-1499-4254-9B23-EACF9170EB48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44" r="16459" b="7941"/>
          <a:stretch/>
        </p:blipFill>
        <p:spPr>
          <a:xfrm>
            <a:off x="7315200" y="1382672"/>
            <a:ext cx="2095500" cy="2351670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20000"/>
              </a:prstClr>
            </a:outerShdw>
          </a:effec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929606" y="381000"/>
            <a:ext cx="61912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 dirty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3-2. 긴급상황 대응 전략</a:t>
            </a:r>
          </a:p>
        </p:txBody>
      </p:sp>
      <p:sp>
        <p:nvSpPr>
          <p:cNvPr id="4" name="Rectangle 3"/>
          <p:cNvSpPr/>
          <p:nvPr/>
        </p:nvSpPr>
        <p:spPr>
          <a:xfrm>
            <a:off x="846138" y="660400"/>
            <a:ext cx="8461375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000" b="1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콜 이슈와 노무 이슈, </a:t>
            </a:r>
            <a:r>
              <a:rPr lang="ko-KR" sz="20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같은 보고 체계로 빠르게</a:t>
            </a:r>
            <a:r>
              <a:rPr lang="ko-KR" sz="2000" b="1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 대응합니다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138" y="1079500"/>
            <a:ext cx="84613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이슈가 생기면 10분 안에 하이텔레서비스에 먼저 알리고, 30분 안에 대응을 시작해 재발 방지까지 마무리합니다.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40250" y="64770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fld id="{B6F15528-21DE-4FAA-801E-634DDDAF4B2B}" type="slidenum">
              <a:rPr lang="en-US" altLang="ko-KR" sz="600" b="1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43</a:t>
            </a:fld>
            <a:r>
              <a:rPr lang="en-US" altLang="ko-KR" sz="600" b="1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 / 49</a:t>
            </a:r>
            <a:endParaRPr lang="ko-KR" sz="600" b="1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1054389" y="1724789"/>
            <a:ext cx="7879772" cy="0"/>
          </a:xfrm>
          <a:prstGeom prst="line">
            <a:avLst/>
          </a:prstGeom>
          <a:ln w="25400">
            <a:solidFill>
              <a:srgbClr val="F3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985441" y="1650196"/>
            <a:ext cx="137896" cy="149186"/>
          </a:xfrm>
          <a:prstGeom prst="ellipse">
            <a:avLst/>
          </a:prstGeom>
          <a:solidFill>
            <a:srgbClr val="E30C60"/>
          </a:solidFill>
          <a:ln w="19050">
            <a:solidFill>
              <a:srgbClr val="E30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3405" y="1436252"/>
            <a:ext cx="1181966" cy="18361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chemeClr val="tx1">
                    <a:lumMod val="65000"/>
                    <a:lumOff val="3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T+0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6411" y="1855943"/>
            <a:ext cx="1575954" cy="2098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altLang="en-US" sz="900" b="1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이슈 </a:t>
            </a:r>
            <a:r>
              <a:rPr lang="ko-KR" sz="900" b="1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감지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6411" y="2065789"/>
            <a:ext cx="1575954" cy="18361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현장 보고</a:t>
            </a:r>
          </a:p>
        </p:txBody>
      </p:sp>
      <p:sp>
        <p:nvSpPr>
          <p:cNvPr id="12" name="Oval 11"/>
          <p:cNvSpPr/>
          <p:nvPr/>
        </p:nvSpPr>
        <p:spPr>
          <a:xfrm>
            <a:off x="2955383" y="1650196"/>
            <a:ext cx="137896" cy="149186"/>
          </a:xfrm>
          <a:prstGeom prst="ellipse">
            <a:avLst/>
          </a:prstGeom>
          <a:solidFill>
            <a:srgbClr val="E30C60"/>
          </a:solidFill>
          <a:ln w="19050">
            <a:solidFill>
              <a:srgbClr val="E30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433348" y="1436252"/>
            <a:ext cx="1181966" cy="18361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chemeClr val="tx1">
                    <a:lumMod val="65000"/>
                    <a:lumOff val="3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T+10분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36354" y="1855943"/>
            <a:ext cx="1575954" cy="2098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altLang="en-US" sz="900" b="1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고객사</a:t>
            </a:r>
            <a:r>
              <a:rPr lang="ko-KR" sz="900" b="1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 1차 보고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36354" y="2065789"/>
            <a:ext cx="1575954" cy="18361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핫라인 · 상황 공유</a:t>
            </a:r>
          </a:p>
        </p:txBody>
      </p:sp>
      <p:sp>
        <p:nvSpPr>
          <p:cNvPr id="16" name="Oval 15"/>
          <p:cNvSpPr/>
          <p:nvPr/>
        </p:nvSpPr>
        <p:spPr>
          <a:xfrm>
            <a:off x="4925326" y="1650196"/>
            <a:ext cx="137896" cy="149186"/>
          </a:xfrm>
          <a:prstGeom prst="ellipse">
            <a:avLst/>
          </a:prstGeom>
          <a:solidFill>
            <a:srgbClr val="E30C60"/>
          </a:solidFill>
          <a:ln w="19050">
            <a:solidFill>
              <a:srgbClr val="E30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403292" y="1436252"/>
            <a:ext cx="1181966" cy="18361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chemeClr val="tx1">
                    <a:lumMod val="65000"/>
                    <a:lumOff val="3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T+30분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97" y="1855943"/>
            <a:ext cx="1575954" cy="2098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대응 실행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97" y="2065789"/>
            <a:ext cx="1575954" cy="18361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사전 합의 시나리오</a:t>
            </a:r>
          </a:p>
        </p:txBody>
      </p:sp>
      <p:sp>
        <p:nvSpPr>
          <p:cNvPr id="20" name="Oval 19"/>
          <p:cNvSpPr/>
          <p:nvPr/>
        </p:nvSpPr>
        <p:spPr>
          <a:xfrm>
            <a:off x="6895270" y="1650196"/>
            <a:ext cx="137896" cy="149186"/>
          </a:xfrm>
          <a:prstGeom prst="ellipse">
            <a:avLst/>
          </a:prstGeom>
          <a:solidFill>
            <a:srgbClr val="E30C60"/>
          </a:solidFill>
          <a:ln w="19050">
            <a:solidFill>
              <a:srgbClr val="E30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373235" y="1436252"/>
            <a:ext cx="1181966" cy="18361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chemeClr val="tx1">
                    <a:lumMod val="65000"/>
                    <a:lumOff val="3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T+2시간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241" y="1855943"/>
            <a:ext cx="1575954" cy="2098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결과 보고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6241" y="2065789"/>
            <a:ext cx="1575954" cy="18361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영향 범위 · 잔여 리스크</a:t>
            </a:r>
          </a:p>
        </p:txBody>
      </p:sp>
      <p:sp>
        <p:nvSpPr>
          <p:cNvPr id="24" name="Oval 23"/>
          <p:cNvSpPr/>
          <p:nvPr/>
        </p:nvSpPr>
        <p:spPr>
          <a:xfrm>
            <a:off x="8865213" y="1650196"/>
            <a:ext cx="137896" cy="14918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30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8343178" y="1436252"/>
            <a:ext cx="1181966" cy="18361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chemeClr val="tx1">
                    <a:lumMod val="65000"/>
                    <a:lumOff val="3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D+3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46184" y="1855943"/>
            <a:ext cx="1575954" cy="2098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재발 방지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46184" y="2065789"/>
            <a:ext cx="1575954" cy="18361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원인 분석 · 매뉴얼 개정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0400" y="2344789"/>
            <a:ext cx="4274776" cy="278045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60400" y="2344789"/>
            <a:ext cx="4274776" cy="340999"/>
          </a:xfrm>
          <a:prstGeom prst="rect">
            <a:avLst/>
          </a:prstGeom>
          <a:solidFill>
            <a:srgbClr val="0F1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462" tIns="88900" rIns="144462" bIns="88900" rtlCol="0" anchor="ctr"/>
          <a:lstStyle/>
          <a:p>
            <a:pPr algn="ctr">
              <a:lnSpc>
                <a:spcPct val="110000"/>
              </a:lnSpc>
            </a:pPr>
            <a:r>
              <a:rPr lang="ko-KR" sz="10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콜 · 운영 이슈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8596" y="2712019"/>
            <a:ext cx="1241064" cy="577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ko-KR" sz="900" b="1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콜 </a:t>
            </a:r>
            <a:r>
              <a:rPr lang="ko-KR" sz="900" b="1" dirty="0" err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인입</a:t>
            </a:r>
            <a:r>
              <a:rPr lang="ko-KR" sz="900" b="1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 급증</a:t>
            </a:r>
          </a:p>
          <a:p>
            <a:pPr algn="l">
              <a:lnSpc>
                <a:spcPct val="120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제품 이슈 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59059" y="2712019"/>
            <a:ext cx="1950244" cy="577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ko-KR" altLang="en-US" sz="90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관련 내용 공유 및 공지</a:t>
            </a:r>
            <a:r>
              <a:rPr lang="en-US" altLang="ko-KR" sz="90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,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lang="ko-KR" sz="9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Peak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단계 발동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068401" y="2843172"/>
            <a:ext cx="787977" cy="314768"/>
          </a:xfrm>
          <a:prstGeom prst="roundRect">
            <a:avLst>
              <a:gd name="adj" fmla="val 40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 dirty="0">
                <a:solidFill>
                  <a:srgbClr val="0F131F"/>
                </a:solidFill>
                <a:latin typeface="페이퍼로지 8 ExtraBold"/>
                <a:ea typeface="페이퍼로지 8 ExtraBold"/>
                <a:cs typeface="페이퍼로지 8 ExtraBold"/>
              </a:rPr>
              <a:t>매니저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58897" y="3289095"/>
            <a:ext cx="4077782" cy="0"/>
          </a:xfrm>
          <a:prstGeom prst="line">
            <a:avLst/>
          </a:prstGeom>
          <a:ln w="12700">
            <a:solidFill>
              <a:srgbClr val="E3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778596" y="3315325"/>
            <a:ext cx="1241064" cy="577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시스템 장애</a:t>
            </a:r>
          </a:p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전산·통신 장애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59059" y="3315325"/>
            <a:ext cx="1950244" cy="577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수기 접수 · </a:t>
            </a:r>
            <a:r>
              <a:rPr lang="ko-KR" sz="9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콜백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전환 · 공지 협의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068401" y="3446479"/>
            <a:ext cx="787977" cy="314768"/>
          </a:xfrm>
          <a:prstGeom prst="roundRect">
            <a:avLst>
              <a:gd name="adj" fmla="val 40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 dirty="0">
                <a:solidFill>
                  <a:srgbClr val="0F131F"/>
                </a:solidFill>
                <a:latin typeface="페이퍼로지 8 ExtraBold"/>
                <a:ea typeface="페이퍼로지 8 ExtraBold"/>
                <a:cs typeface="페이퍼로지 8 ExtraBold"/>
              </a:rPr>
              <a:t>매니저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58897" y="3892401"/>
            <a:ext cx="4077782" cy="0"/>
          </a:xfrm>
          <a:prstGeom prst="line">
            <a:avLst/>
          </a:prstGeom>
          <a:ln w="12700">
            <a:solidFill>
              <a:srgbClr val="E3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778596" y="3918632"/>
            <a:ext cx="1241064" cy="577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ko-KR" sz="900" b="1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고위험 민원</a:t>
            </a:r>
          </a:p>
          <a:p>
            <a:pPr algn="l">
              <a:lnSpc>
                <a:spcPct val="120000"/>
              </a:lnSpc>
            </a:pPr>
            <a:r>
              <a:rPr lang="ko-KR" sz="900" b="0" dirty="0" err="1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폭언·위협·SNS</a:t>
            </a: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 확산 우려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59059" y="3918632"/>
            <a:ext cx="1950244" cy="577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상담사 보호 조치 · 즉시 보고 · 처리 추적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068401" y="4049786"/>
            <a:ext cx="787977" cy="314768"/>
          </a:xfrm>
          <a:prstGeom prst="roundRect">
            <a:avLst>
              <a:gd name="adj" fmla="val 40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0F131F"/>
                </a:solidFill>
                <a:latin typeface="페이퍼로지 8 ExtraBold"/>
                <a:ea typeface="페이퍼로지 8 ExtraBold"/>
                <a:cs typeface="페이퍼로지 8 ExtraBold"/>
              </a:rPr>
              <a:t>총괄매니저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58897" y="4495708"/>
            <a:ext cx="4077782" cy="0"/>
          </a:xfrm>
          <a:prstGeom prst="line">
            <a:avLst/>
          </a:prstGeom>
          <a:ln w="12700">
            <a:solidFill>
              <a:srgbClr val="E3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778596" y="4521939"/>
            <a:ext cx="1241064" cy="577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안전 위험</a:t>
            </a:r>
          </a:p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화재·정전·재난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059059" y="4521939"/>
            <a:ext cx="1950244" cy="577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대피·안전 확보 우선 · BCP 대체 운영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068401" y="4653092"/>
            <a:ext cx="787977" cy="314768"/>
          </a:xfrm>
          <a:prstGeom prst="roundRect">
            <a:avLst>
              <a:gd name="adj" fmla="val 40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altLang="ko-KR" sz="900" b="1" dirty="0">
                <a:solidFill>
                  <a:srgbClr val="0F131F"/>
                </a:solidFill>
                <a:latin typeface="페이퍼로지 8 ExtraBold"/>
                <a:ea typeface="페이퍼로지 8 ExtraBold"/>
                <a:cs typeface="페이퍼로지 8 ExtraBold"/>
              </a:rPr>
              <a:t>PM</a:t>
            </a:r>
            <a:endParaRPr lang="ko-KR" sz="900" b="1" dirty="0">
              <a:solidFill>
                <a:srgbClr val="0F131F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5053373" y="2344789"/>
            <a:ext cx="4274776" cy="278045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5053373" y="2344789"/>
            <a:ext cx="4274776" cy="340999"/>
          </a:xfrm>
          <a:prstGeom prst="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462" tIns="88900" rIns="144462" bIns="88900" rtlCol="0" anchor="ctr"/>
          <a:lstStyle/>
          <a:p>
            <a:pPr algn="ctr">
              <a:lnSpc>
                <a:spcPct val="110000"/>
              </a:lnSpc>
            </a:pPr>
            <a:r>
              <a:rPr lang="ko-KR" sz="1000" b="1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노무 이슈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171570" y="2712019"/>
            <a:ext cx="1241064" cy="577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집단 이탈 조짐</a:t>
            </a:r>
          </a:p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퇴사 의사 동시 발생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52032" y="2712019"/>
            <a:ext cx="1950244" cy="577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주간 이탈 신호 점검 · 48시간 내 면담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461375" y="2843172"/>
            <a:ext cx="787977" cy="314768"/>
          </a:xfrm>
          <a:prstGeom prst="roundRect">
            <a:avLst>
              <a:gd name="adj" fmla="val 40000"/>
            </a:avLst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매니저 · 노무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151870" y="3289095"/>
            <a:ext cx="4077782" cy="0"/>
          </a:xfrm>
          <a:prstGeom prst="line">
            <a:avLst/>
          </a:prstGeom>
          <a:ln w="12700">
            <a:solidFill>
              <a:srgbClr val="E3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5171570" y="3315325"/>
            <a:ext cx="1241064" cy="577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집단 고충 제기</a:t>
            </a:r>
          </a:p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처우·근무 불만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52032" y="3315325"/>
            <a:ext cx="1950244" cy="577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대화 채널 우선 · 본사 노무 자문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461375" y="3446479"/>
            <a:ext cx="787977" cy="314768"/>
          </a:xfrm>
          <a:prstGeom prst="roundRect">
            <a:avLst>
              <a:gd name="adj" fmla="val 40000"/>
            </a:avLst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 dirty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총괄매니저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5151870" y="3892401"/>
            <a:ext cx="4077782" cy="0"/>
          </a:xfrm>
          <a:prstGeom prst="line">
            <a:avLst/>
          </a:prstGeom>
          <a:ln w="12700">
            <a:solidFill>
              <a:srgbClr val="E3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5171570" y="3918632"/>
            <a:ext cx="1241064" cy="577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노조 결성·집단행동</a:t>
            </a:r>
          </a:p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쟁의·단체 행동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52032" y="3918632"/>
            <a:ext cx="1950244" cy="577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관계 법령 준수 · 성실 대화 · 업무 연속성 </a:t>
            </a:r>
            <a:endParaRPr lang="en-US" altLang="ko-KR" sz="900" b="0" dirty="0">
              <a:solidFill>
                <a:srgbClr val="10151F"/>
              </a:solidFill>
              <a:latin typeface="페이퍼로지 5 Medium"/>
              <a:ea typeface="페이퍼로지 5 Medium"/>
              <a:cs typeface="페이퍼로지 5 Medium"/>
            </a:endParaRPr>
          </a:p>
          <a:p>
            <a:pPr algn="l">
              <a:lnSpc>
                <a:spcPct val="12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계획 고객사 협의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461375" y="4049786"/>
            <a:ext cx="787977" cy="314768"/>
          </a:xfrm>
          <a:prstGeom prst="roundRect">
            <a:avLst>
              <a:gd name="adj" fmla="val 40000"/>
            </a:avLst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PM · 본사 노무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5151870" y="4495708"/>
            <a:ext cx="4077782" cy="0"/>
          </a:xfrm>
          <a:prstGeom prst="line">
            <a:avLst/>
          </a:prstGeom>
          <a:ln w="12700">
            <a:solidFill>
              <a:srgbClr val="E3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5171570" y="4521939"/>
            <a:ext cx="1241064" cy="577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분쟁 · 진정</a:t>
            </a:r>
          </a:p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노동청 진정·감독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52032" y="4521939"/>
            <a:ext cx="1950244" cy="577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본사 노무 대응 · 경과 보고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461375" y="4653092"/>
            <a:ext cx="787977" cy="314768"/>
          </a:xfrm>
          <a:prstGeom prst="roundRect">
            <a:avLst>
              <a:gd name="adj" fmla="val 40000"/>
            </a:avLst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 dirty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PM · </a:t>
            </a:r>
            <a:r>
              <a:rPr lang="ko-KR" altLang="en-US" sz="900" b="1" dirty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팀장</a:t>
            </a:r>
            <a:endParaRPr lang="ko-KR" sz="900" b="1" dirty="0">
              <a:solidFill>
                <a:srgbClr val="A50034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660400" y="5172940"/>
            <a:ext cx="4274776" cy="3147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커뮤니케이션 라인 (3단 비상연락망)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660400" y="5487709"/>
            <a:ext cx="4274776" cy="0"/>
          </a:xfrm>
          <a:prstGeom prst="line">
            <a:avLst/>
          </a:prstGeom>
          <a:ln w="12700">
            <a:solidFill>
              <a:srgbClr val="E3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ounded Rectangle 63"/>
          <p:cNvSpPr/>
          <p:nvPr/>
        </p:nvSpPr>
        <p:spPr>
          <a:xfrm>
            <a:off x="660400" y="5566401"/>
            <a:ext cx="1339561" cy="681998"/>
          </a:xfrm>
          <a:prstGeom prst="roundRect">
            <a:avLst>
              <a:gd name="adj" fmla="val 1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ko-KR" altLang="ko-KR" sz="900" b="1" dirty="0">
                <a:solidFill>
                  <a:srgbClr val="10151F"/>
                </a:solidFill>
                <a:latin typeface="페이퍼로지 8 ExtraBold"/>
                <a:ea typeface="페이퍼로지 8 ExtraBold"/>
              </a:rPr>
              <a:t>총괄매니저</a:t>
            </a:r>
          </a:p>
          <a:p>
            <a:pPr algn="ctr">
              <a:lnSpc>
                <a:spcPct val="120000"/>
              </a:lnSpc>
            </a:pPr>
            <a:r>
              <a:rPr lang="ko-KR" altLang="ko-KR" sz="900" dirty="0">
                <a:solidFill>
                  <a:srgbClr val="6A7180"/>
                </a:solidFill>
                <a:latin typeface="페이퍼로지 5 Medium"/>
                <a:ea typeface="페이퍼로지 5 Medium"/>
              </a:rPr>
              <a:t>1차 판단 · 보고</a:t>
            </a:r>
            <a:endParaRPr lang="ko-KR" altLang="en-US" sz="900" dirty="0">
              <a:solidFill>
                <a:srgbClr val="6A7180"/>
              </a:solidFill>
              <a:latin typeface="페이퍼로지 5 Medium"/>
              <a:ea typeface="페이퍼로지 5 Medium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1999961" y="5750016"/>
            <a:ext cx="118196" cy="3147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rgbClr val="9AA0AA"/>
                </a:solidFill>
                <a:latin typeface="페이퍼로지 8 ExtraBold"/>
                <a:ea typeface="페이퍼로지 8 ExtraBold"/>
                <a:cs typeface="페이퍼로지 8 ExtraBold"/>
              </a:rPr>
              <a:t>›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118157" y="5566401"/>
            <a:ext cx="1339561" cy="681998"/>
          </a:xfrm>
          <a:prstGeom prst="roundRect">
            <a:avLst>
              <a:gd name="adj" fmla="val 15000"/>
            </a:avLst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ko-KR" altLang="ko-KR" sz="900" b="1" dirty="0">
                <a:solidFill>
                  <a:srgbClr val="FFFFFF"/>
                </a:solidFill>
                <a:latin typeface="페이퍼로지 8 ExtraBold"/>
                <a:ea typeface="페이퍼로지 8 ExtraBold"/>
              </a:rPr>
              <a:t>PM · 본사</a:t>
            </a:r>
            <a:endParaRPr lang="ko-KR" sz="900" b="1" dirty="0">
              <a:solidFill>
                <a:srgbClr val="FFFFFF"/>
              </a:solidFill>
              <a:latin typeface="페이퍼로지 8 ExtraBold"/>
              <a:ea typeface="페이퍼로지 8 ExtraBold"/>
              <a:cs typeface="페이퍼로지 8 ExtraBold"/>
            </a:endParaRPr>
          </a:p>
          <a:p>
            <a:pPr algn="ctr">
              <a:lnSpc>
                <a:spcPct val="120000"/>
              </a:lnSpc>
            </a:pPr>
            <a:r>
              <a:rPr lang="ko-KR" altLang="ko-KR" sz="900" dirty="0">
                <a:solidFill>
                  <a:srgbClr val="FFE3EC"/>
                </a:solidFill>
                <a:latin typeface="페이퍼로지 5 Medium"/>
                <a:ea typeface="페이퍼로지 5 Medium"/>
              </a:rPr>
              <a:t>노무 · 법무 · 보안 지원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457719" y="5750016"/>
            <a:ext cx="118196" cy="3147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rgbClr val="9AA0AA"/>
                </a:solidFill>
                <a:latin typeface="페이퍼로지 8 ExtraBold"/>
                <a:ea typeface="페이퍼로지 8 ExtraBold"/>
                <a:cs typeface="페이퍼로지 8 ExtraBold"/>
              </a:rPr>
              <a:t>›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575916" y="5566401"/>
            <a:ext cx="1339561" cy="681998"/>
          </a:xfrm>
          <a:prstGeom prst="roundRect">
            <a:avLst>
              <a:gd name="adj" fmla="val 1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ko-KR" altLang="en-US" sz="900" b="1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고객사 담당자</a:t>
            </a:r>
            <a:endParaRPr lang="en-US" altLang="ko-KR" sz="900" b="1" dirty="0">
              <a:solidFill>
                <a:srgbClr val="10151F"/>
              </a:solidFill>
              <a:latin typeface="페이퍼로지 8 ExtraBold"/>
              <a:ea typeface="페이퍼로지 8 ExtraBold"/>
              <a:cs typeface="페이퍼로지 8 ExtraBold"/>
            </a:endParaRPr>
          </a:p>
          <a:p>
            <a:pPr algn="ctr">
              <a:lnSpc>
                <a:spcPct val="120000"/>
              </a:lnSpc>
            </a:pPr>
            <a:r>
              <a:rPr lang="ko-KR" altLang="en-US" sz="900" dirty="0">
                <a:solidFill>
                  <a:srgbClr val="6A7180"/>
                </a:solidFill>
              </a:rPr>
              <a:t>협의체 구성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053373" y="5172940"/>
            <a:ext cx="4274776" cy="3147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1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보고 체계 — 고객사 요구사항에 맞춰 보고 수행</a:t>
            </a:r>
            <a:endParaRPr lang="ko-KR" sz="900" b="1" dirty="0">
              <a:solidFill>
                <a:schemeClr val="bg1">
                  <a:lumMod val="50000"/>
                </a:schemeClr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cxnSp>
        <p:nvCxnSpPr>
          <p:cNvPr id="70" name="Connector 69"/>
          <p:cNvCxnSpPr/>
          <p:nvPr/>
        </p:nvCxnSpPr>
        <p:spPr>
          <a:xfrm>
            <a:off x="5053373" y="5487709"/>
            <a:ext cx="4274777" cy="0"/>
          </a:xfrm>
          <a:prstGeom prst="line">
            <a:avLst/>
          </a:prstGeom>
          <a:ln w="12700">
            <a:solidFill>
              <a:srgbClr val="E3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70"/>
          <p:cNvSpPr/>
          <p:nvPr/>
        </p:nvSpPr>
        <p:spPr>
          <a:xfrm>
            <a:off x="5053373" y="5566401"/>
            <a:ext cx="393989" cy="314768"/>
          </a:xfrm>
          <a:prstGeom prst="roundRect">
            <a:avLst>
              <a:gd name="adj" fmla="val 40000"/>
            </a:avLst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수시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506460" y="5566401"/>
            <a:ext cx="1674451" cy="3147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이슈 보고 (10분 내 1차)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210461" y="5566401"/>
            <a:ext cx="393989" cy="314768"/>
          </a:xfrm>
          <a:prstGeom prst="roundRect">
            <a:avLst>
              <a:gd name="adj" fmla="val 40000"/>
            </a:avLst>
          </a:prstGeom>
          <a:solidFill>
            <a:srgbClr val="0F1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일간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663548" y="5566401"/>
            <a:ext cx="1674451" cy="3147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운영 일보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053373" y="5933631"/>
            <a:ext cx="393989" cy="314768"/>
          </a:xfrm>
          <a:prstGeom prst="roundRect">
            <a:avLst>
              <a:gd name="adj" fmla="val 40000"/>
            </a:avLst>
          </a:prstGeom>
          <a:solidFill>
            <a:srgbClr val="0F1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주간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506460" y="5933631"/>
            <a:ext cx="1674451" cy="3147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운영 리뷰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210461" y="5933631"/>
            <a:ext cx="393989" cy="314768"/>
          </a:xfrm>
          <a:prstGeom prst="roundRect">
            <a:avLst>
              <a:gd name="adj" fmla="val 40000"/>
            </a:avLst>
          </a:prstGeom>
          <a:solidFill>
            <a:srgbClr val="0F1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월간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663548" y="5933631"/>
            <a:ext cx="1674451" cy="3147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운영리뷰 · </a:t>
            </a:r>
            <a:r>
              <a:rPr lang="ko-KR" altLang="en-US" sz="90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개선사항 진척 관리</a:t>
            </a:r>
            <a:endParaRPr lang="ko-KR" sz="900" b="0" dirty="0">
              <a:solidFill>
                <a:srgbClr val="10151F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3">
            <a:extLst>
              <a:ext uri="{FF2B5EF4-FFF2-40B4-BE49-F238E27FC236}">
                <a16:creationId xmlns:a16="http://schemas.microsoft.com/office/drawing/2014/main" id="{C6807522-730A-4479-8C96-26C8BF887E82}"/>
              </a:ext>
            </a:extLst>
          </p:cNvPr>
          <p:cNvSpPr/>
          <p:nvPr/>
        </p:nvSpPr>
        <p:spPr>
          <a:xfrm>
            <a:off x="5200650" y="1734840"/>
            <a:ext cx="4166298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500"/>
              </a:lnSpc>
              <a:buNone/>
            </a:pPr>
            <a:r>
              <a:rPr lang="en-US" sz="5400" b="0" kern="0" spc="-300" dirty="0">
                <a:solidFill>
                  <a:srgbClr val="E60059"/>
                </a:solidFill>
                <a:latin typeface="페이퍼로지 8 ExtraBold"/>
                <a:ea typeface="페이퍼로지 8 ExtraBold"/>
                <a:cs typeface="페이퍼로지 8 ExtraBold"/>
              </a:rPr>
              <a:t>04</a:t>
            </a:r>
            <a:endParaRPr lang="en-US" sz="5400" dirty="0">
              <a:solidFill>
                <a:srgbClr val="E60059"/>
              </a:solidFill>
              <a:latin typeface="+mn-ea"/>
            </a:endParaRPr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8B642D3E-B4CC-4337-A9E5-AB58B732E7A1}"/>
              </a:ext>
            </a:extLst>
          </p:cNvPr>
          <p:cNvSpPr/>
          <p:nvPr/>
        </p:nvSpPr>
        <p:spPr>
          <a:xfrm>
            <a:off x="5200650" y="2852440"/>
            <a:ext cx="4166298" cy="573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10"/>
              </a:lnSpc>
              <a:buNone/>
            </a:pPr>
            <a:r>
              <a:rPr lang="en-US" sz="2900" b="0" kern="0" spc="-50" dirty="0">
                <a:solidFill>
                  <a:srgbClr val="0F131F"/>
                </a:solidFill>
                <a:latin typeface="페이퍼로지 8 ExtraBold"/>
                <a:ea typeface="페이퍼로지 8 ExtraBold"/>
                <a:cs typeface="페이퍼로지 8 ExtraBold"/>
              </a:rPr>
              <a:t>기타</a:t>
            </a:r>
            <a:endParaRPr lang="en-US" sz="2900" dirty="0">
              <a:latin typeface="+mn-ea"/>
            </a:endParaRPr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ADBADF35-665A-4360-8EDE-877E717128C1}"/>
              </a:ext>
            </a:extLst>
          </p:cNvPr>
          <p:cNvSpPr/>
          <p:nvPr/>
        </p:nvSpPr>
        <p:spPr>
          <a:xfrm>
            <a:off x="5200650" y="3460104"/>
            <a:ext cx="416629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9"/>
              </a:lnSpc>
              <a:buNone/>
            </a:pPr>
            <a:r>
              <a:rPr lang="en-US" sz="1100" kern="0" spc="50" dirty="0">
                <a:solidFill>
                  <a:srgbClr val="8A8F99"/>
                </a:solidFill>
                <a:latin typeface="페이퍼로지 5 Medium"/>
                <a:ea typeface="페이퍼로지 5 Medium"/>
                <a:cs typeface="페이퍼로지 5 Medium"/>
              </a:rPr>
              <a:t>p.45–48</a:t>
            </a:r>
            <a:endParaRPr lang="en-US" sz="1100" dirty="0">
              <a:latin typeface="+mn-ea"/>
            </a:endParaRPr>
          </a:p>
        </p:txBody>
      </p:sp>
      <p:sp>
        <p:nvSpPr>
          <p:cNvPr id="26" name="Shape 6">
            <a:extLst>
              <a:ext uri="{FF2B5EF4-FFF2-40B4-BE49-F238E27FC236}">
                <a16:creationId xmlns:a16="http://schemas.microsoft.com/office/drawing/2014/main" id="{8191E20C-5FED-4839-9B88-D5243BDCD445}"/>
              </a:ext>
            </a:extLst>
          </p:cNvPr>
          <p:cNvSpPr/>
          <p:nvPr/>
        </p:nvSpPr>
        <p:spPr>
          <a:xfrm>
            <a:off x="5200650" y="3917851"/>
            <a:ext cx="4044950" cy="0"/>
          </a:xfrm>
          <a:prstGeom prst="line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solid"/>
          </a:ln>
        </p:spPr>
        <p:txBody>
          <a:bodyPr lIns="74295" rIns="74295"/>
          <a:lstStyle/>
          <a:p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230668" y="4038600"/>
            <a:ext cx="3939886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4-1  KT IS만의 차별화 전략</a:t>
            </a:r>
          </a:p>
        </p:txBody>
      </p:sp>
      <p:sp>
        <p:nvSpPr>
          <p:cNvPr id="2" name="Rectangle 26"/>
          <p:cNvSpPr/>
          <p:nvPr/>
        </p:nvSpPr>
        <p:spPr>
          <a:xfrm>
            <a:off x="5230668" y="4445000"/>
            <a:ext cx="3939886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4-2  지속 성장 지표</a:t>
            </a:r>
          </a:p>
        </p:txBody>
      </p:sp>
      <p:sp>
        <p:nvSpPr>
          <p:cNvPr id="3" name="Rectangle 26"/>
          <p:cNvSpPr/>
          <p:nvPr/>
        </p:nvSpPr>
        <p:spPr>
          <a:xfrm>
            <a:off x="5230668" y="4851400"/>
            <a:ext cx="3939886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4-3  기타 제안 · 품질 컨설팅 · AICC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  <p:sp>
        <p:nvSpPr>
          <p:cNvPr id="10" name="Rectangle 4">
            <a:extLst>
              <a:ext uri="{FF2B5EF4-FFF2-40B4-BE49-F238E27FC236}">
                <a16:creationId xmlns:a16="http://schemas.microsoft.com/office/drawing/2014/main" id="{37D6289B-DA42-4EDD-A2E1-4EF7A4BCB13F}"/>
              </a:ext>
            </a:extLst>
          </p:cNvPr>
          <p:cNvSpPr/>
          <p:nvPr/>
        </p:nvSpPr>
        <p:spPr>
          <a:xfrm>
            <a:off x="846138" y="1079500"/>
            <a:ext cx="84613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시행착오로 성장했고, 사람을 지켰으며, 확대에 필요한 관리자와 투자 계획까지 갖추었습니다.</a:t>
            </a:r>
          </a:p>
        </p:txBody>
      </p:sp>
      <p:sp>
        <p:nvSpPr>
          <p:cNvPr id="11" name="Rounded Rectangle 6">
            <a:extLst>
              <a:ext uri="{FF2B5EF4-FFF2-40B4-BE49-F238E27FC236}">
                <a16:creationId xmlns:a16="http://schemas.microsoft.com/office/drawing/2014/main" id="{4580A3F2-7CBC-4DBF-88F2-C6528EC6935B}"/>
              </a:ext>
            </a:extLst>
          </p:cNvPr>
          <p:cNvSpPr/>
          <p:nvPr/>
        </p:nvSpPr>
        <p:spPr>
          <a:xfrm>
            <a:off x="660400" y="1551708"/>
            <a:ext cx="2107839" cy="4673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DE41EA25-FD98-492B-A0E6-6BD03529D774}"/>
              </a:ext>
            </a:extLst>
          </p:cNvPr>
          <p:cNvSpPr/>
          <p:nvPr/>
        </p:nvSpPr>
        <p:spPr>
          <a:xfrm>
            <a:off x="660400" y="1551708"/>
            <a:ext cx="2107839" cy="6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>
              <a:solidFill>
                <a:srgbClr val="000000"/>
              </a:solidFill>
            </a:endParaRPr>
          </a:p>
        </p:txBody>
      </p:sp>
      <p:sp>
        <p:nvSpPr>
          <p:cNvPr id="13" name="Oval 8">
            <a:extLst>
              <a:ext uri="{FF2B5EF4-FFF2-40B4-BE49-F238E27FC236}">
                <a16:creationId xmlns:a16="http://schemas.microsoft.com/office/drawing/2014/main" id="{1B667B16-84E3-41BB-9FC2-CEAE4D6E5970}"/>
              </a:ext>
            </a:extLst>
          </p:cNvPr>
          <p:cNvSpPr/>
          <p:nvPr/>
        </p:nvSpPr>
        <p:spPr>
          <a:xfrm>
            <a:off x="857394" y="1948583"/>
            <a:ext cx="551584" cy="577850"/>
          </a:xfrm>
          <a:prstGeom prst="ellipse">
            <a:avLst/>
          </a:prstGeom>
          <a:solidFill>
            <a:srgbClr val="FF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14" name="Picture 9" descr="e9d9_E30C60.png">
            <a:extLst>
              <a:ext uri="{FF2B5EF4-FFF2-40B4-BE49-F238E27FC236}">
                <a16:creationId xmlns:a16="http://schemas.microsoft.com/office/drawing/2014/main" id="{363CA90D-31F0-425F-9F7F-AC2DF7837C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290" y="2091530"/>
            <a:ext cx="275792" cy="275792"/>
          </a:xfrm>
          <a:prstGeom prst="rect">
            <a:avLst/>
          </a:prstGeom>
        </p:spPr>
      </p:pic>
      <p:sp>
        <p:nvSpPr>
          <p:cNvPr id="15" name="Rectangle 10">
            <a:extLst>
              <a:ext uri="{FF2B5EF4-FFF2-40B4-BE49-F238E27FC236}">
                <a16:creationId xmlns:a16="http://schemas.microsoft.com/office/drawing/2014/main" id="{D4C7A0EB-CEF6-48B5-85F2-4E4A55A5A465}"/>
              </a:ext>
            </a:extLst>
          </p:cNvPr>
          <p:cNvSpPr/>
          <p:nvPr/>
        </p:nvSpPr>
        <p:spPr>
          <a:xfrm>
            <a:off x="2039360" y="1881908"/>
            <a:ext cx="551584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ko-KR" sz="2000" b="1">
                <a:solidFill>
                  <a:srgbClr val="E3E5E8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D79CDEF1-57A4-4678-91C3-3DE2E8872138}"/>
              </a:ext>
            </a:extLst>
          </p:cNvPr>
          <p:cNvSpPr/>
          <p:nvPr/>
        </p:nvSpPr>
        <p:spPr>
          <a:xfrm>
            <a:off x="857394" y="2821708"/>
            <a:ext cx="1772948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2500" b="1" dirty="0">
                <a:solidFill>
                  <a:srgbClr val="000000"/>
                </a:solidFill>
                <a:latin typeface="페이퍼로지 8 ExtraBold"/>
                <a:ea typeface="페이퍼로지 8 ExtraBold"/>
                <a:cs typeface="페이퍼로지 8 ExtraBold"/>
              </a:rPr>
              <a:t>지속 성장</a:t>
            </a:r>
            <a:r>
              <a:rPr lang="ko-KR" altLang="en-US" sz="2500" b="1" dirty="0">
                <a:solidFill>
                  <a:srgbClr val="000000"/>
                </a:solidFill>
                <a:latin typeface="페이퍼로지 8 ExtraBold"/>
                <a:ea typeface="페이퍼로지 8 ExtraBold"/>
                <a:cs typeface="페이퍼로지 8 ExtraBold"/>
              </a:rPr>
              <a:t>세</a:t>
            </a:r>
            <a:endParaRPr lang="ko-KR" sz="2500" b="1" dirty="0">
              <a:solidFill>
                <a:srgbClr val="000000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17" name="Rectangle 12">
            <a:extLst>
              <a:ext uri="{FF2B5EF4-FFF2-40B4-BE49-F238E27FC236}">
                <a16:creationId xmlns:a16="http://schemas.microsoft.com/office/drawing/2014/main" id="{1F034BA9-89F8-4482-8745-3AB355BB50C3}"/>
              </a:ext>
            </a:extLst>
          </p:cNvPr>
          <p:cNvSpPr/>
          <p:nvPr/>
        </p:nvSpPr>
        <p:spPr>
          <a:xfrm>
            <a:off x="857394" y="3355108"/>
            <a:ext cx="1772948" cy="55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35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시행착오를 개선으로 바꿔</a:t>
            </a:r>
          </a:p>
          <a:p>
            <a:pPr algn="ctr">
              <a:lnSpc>
                <a:spcPct val="135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매년 성장했습니다</a:t>
            </a:r>
          </a:p>
        </p:txBody>
      </p:sp>
      <p:cxnSp>
        <p:nvCxnSpPr>
          <p:cNvPr id="18" name="Connector 13">
            <a:extLst>
              <a:ext uri="{FF2B5EF4-FFF2-40B4-BE49-F238E27FC236}">
                <a16:creationId xmlns:a16="http://schemas.microsoft.com/office/drawing/2014/main" id="{C131C4EC-2D46-44F4-AC1A-BEF43F176172}"/>
              </a:ext>
            </a:extLst>
          </p:cNvPr>
          <p:cNvCxnSpPr/>
          <p:nvPr/>
        </p:nvCxnSpPr>
        <p:spPr>
          <a:xfrm>
            <a:off x="857394" y="4117108"/>
            <a:ext cx="1713851" cy="0"/>
          </a:xfrm>
          <a:prstGeom prst="line">
            <a:avLst/>
          </a:prstGeom>
          <a:ln w="12700">
            <a:solidFill>
              <a:srgbClr val="E3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4">
            <a:extLst>
              <a:ext uri="{FF2B5EF4-FFF2-40B4-BE49-F238E27FC236}">
                <a16:creationId xmlns:a16="http://schemas.microsoft.com/office/drawing/2014/main" id="{BE434327-1823-404C-B964-D8263494EE9E}"/>
              </a:ext>
            </a:extLst>
          </p:cNvPr>
          <p:cNvSpPr/>
          <p:nvPr/>
        </p:nvSpPr>
        <p:spPr>
          <a:xfrm>
            <a:off x="857394" y="4345708"/>
            <a:ext cx="1812347" cy="889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altLang="ko-KR" sz="2000" b="1" dirty="0">
                <a:solidFill>
                  <a:srgbClr val="E30C60"/>
                </a:solidFill>
                <a:latin typeface="페이퍼로지 8 ExtraBold"/>
                <a:ea typeface="페이퍼로지 8 ExtraBold"/>
              </a:rPr>
              <a:t>88.1 → 92.9</a:t>
            </a:r>
          </a:p>
        </p:txBody>
      </p:sp>
      <p:sp>
        <p:nvSpPr>
          <p:cNvPr id="20" name="Rectangle 15">
            <a:extLst>
              <a:ext uri="{FF2B5EF4-FFF2-40B4-BE49-F238E27FC236}">
                <a16:creationId xmlns:a16="http://schemas.microsoft.com/office/drawing/2014/main" id="{F197626A-D010-4D13-AB81-7ECA24D96A2C}"/>
              </a:ext>
            </a:extLst>
          </p:cNvPr>
          <p:cNvSpPr/>
          <p:nvPr/>
        </p:nvSpPr>
        <p:spPr>
          <a:xfrm>
            <a:off x="857394" y="5260108"/>
            <a:ext cx="1812347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상시 T-NPS (2024 → 2026)</a:t>
            </a:r>
          </a:p>
        </p:txBody>
      </p:sp>
      <p:sp>
        <p:nvSpPr>
          <p:cNvPr id="21" name="Rounded Rectangle 16">
            <a:extLst>
              <a:ext uri="{FF2B5EF4-FFF2-40B4-BE49-F238E27FC236}">
                <a16:creationId xmlns:a16="http://schemas.microsoft.com/office/drawing/2014/main" id="{CD386B2F-F5B8-42FE-9EC7-A7681A8BCA0E}"/>
              </a:ext>
            </a:extLst>
          </p:cNvPr>
          <p:cNvSpPr/>
          <p:nvPr/>
        </p:nvSpPr>
        <p:spPr>
          <a:xfrm>
            <a:off x="2847037" y="1551708"/>
            <a:ext cx="2107839" cy="4673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22" name="Rectangle 17">
            <a:extLst>
              <a:ext uri="{FF2B5EF4-FFF2-40B4-BE49-F238E27FC236}">
                <a16:creationId xmlns:a16="http://schemas.microsoft.com/office/drawing/2014/main" id="{28DBD9CF-A1CA-46D0-AB6E-0D84177CDD69}"/>
              </a:ext>
            </a:extLst>
          </p:cNvPr>
          <p:cNvSpPr/>
          <p:nvPr/>
        </p:nvSpPr>
        <p:spPr>
          <a:xfrm>
            <a:off x="2847037" y="1551708"/>
            <a:ext cx="2107839" cy="6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29" name="Oval 18">
            <a:extLst>
              <a:ext uri="{FF2B5EF4-FFF2-40B4-BE49-F238E27FC236}">
                <a16:creationId xmlns:a16="http://schemas.microsoft.com/office/drawing/2014/main" id="{0E382133-0D0D-4F73-B367-3BD314B1D179}"/>
              </a:ext>
            </a:extLst>
          </p:cNvPr>
          <p:cNvSpPr/>
          <p:nvPr/>
        </p:nvSpPr>
        <p:spPr>
          <a:xfrm>
            <a:off x="3044031" y="1948583"/>
            <a:ext cx="551584" cy="577850"/>
          </a:xfrm>
          <a:prstGeom prst="ellipse">
            <a:avLst/>
          </a:prstGeom>
          <a:solidFill>
            <a:srgbClr val="FF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30" name="Picture 19" descr="e716_E30C60.png">
            <a:extLst>
              <a:ext uri="{FF2B5EF4-FFF2-40B4-BE49-F238E27FC236}">
                <a16:creationId xmlns:a16="http://schemas.microsoft.com/office/drawing/2014/main" id="{2F72C2D1-D8A6-43A5-8285-0B29A8E9AE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1927" y="2091530"/>
            <a:ext cx="275792" cy="275792"/>
          </a:xfrm>
          <a:prstGeom prst="rect">
            <a:avLst/>
          </a:prstGeom>
        </p:spPr>
      </p:pic>
      <p:sp>
        <p:nvSpPr>
          <p:cNvPr id="31" name="Rectangle 20">
            <a:extLst>
              <a:ext uri="{FF2B5EF4-FFF2-40B4-BE49-F238E27FC236}">
                <a16:creationId xmlns:a16="http://schemas.microsoft.com/office/drawing/2014/main" id="{A7666D80-2E22-4747-BFC3-B94296F2624D}"/>
              </a:ext>
            </a:extLst>
          </p:cNvPr>
          <p:cNvSpPr/>
          <p:nvPr/>
        </p:nvSpPr>
        <p:spPr>
          <a:xfrm>
            <a:off x="4225997" y="1881908"/>
            <a:ext cx="551584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ko-KR" sz="2000" b="1">
                <a:solidFill>
                  <a:srgbClr val="E3E5E8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32" name="Rectangle 21">
            <a:extLst>
              <a:ext uri="{FF2B5EF4-FFF2-40B4-BE49-F238E27FC236}">
                <a16:creationId xmlns:a16="http://schemas.microsoft.com/office/drawing/2014/main" id="{E9A93C6A-664C-4DBF-B1D3-C20F96DAFE2E}"/>
              </a:ext>
            </a:extLst>
          </p:cNvPr>
          <p:cNvSpPr/>
          <p:nvPr/>
        </p:nvSpPr>
        <p:spPr>
          <a:xfrm>
            <a:off x="3044031" y="2821708"/>
            <a:ext cx="1772948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2500" b="1" dirty="0">
                <a:solidFill>
                  <a:srgbClr val="000000"/>
                </a:solidFill>
                <a:latin typeface="페이퍼로지 8 ExtraBold"/>
                <a:ea typeface="페이퍼로지 8 ExtraBold"/>
                <a:cs typeface="페이퍼로지 8 ExtraBold"/>
              </a:rPr>
              <a:t>인력 안정</a:t>
            </a:r>
            <a:r>
              <a:rPr lang="ko-KR" altLang="en-US" sz="2500" b="1" dirty="0">
                <a:solidFill>
                  <a:srgbClr val="000000"/>
                </a:solidFill>
                <a:latin typeface="페이퍼로지 8 ExtraBold"/>
                <a:ea typeface="페이퍼로지 8 ExtraBold"/>
                <a:cs typeface="페이퍼로지 8 ExtraBold"/>
              </a:rPr>
              <a:t>화</a:t>
            </a:r>
            <a:endParaRPr lang="ko-KR" sz="2500" b="1" dirty="0">
              <a:solidFill>
                <a:srgbClr val="000000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33" name="Rectangle 22">
            <a:extLst>
              <a:ext uri="{FF2B5EF4-FFF2-40B4-BE49-F238E27FC236}">
                <a16:creationId xmlns:a16="http://schemas.microsoft.com/office/drawing/2014/main" id="{1CF9E872-402C-4E3D-82CB-D031EF97AC0E}"/>
              </a:ext>
            </a:extLst>
          </p:cNvPr>
          <p:cNvSpPr/>
          <p:nvPr/>
        </p:nvSpPr>
        <p:spPr>
          <a:xfrm>
            <a:off x="3044031" y="3355108"/>
            <a:ext cx="1772948" cy="55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35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뽑은 사람을</a:t>
            </a:r>
          </a:p>
          <a:p>
            <a:pPr algn="ctr">
              <a:lnSpc>
                <a:spcPct val="135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끝까지 지킵니다</a:t>
            </a:r>
          </a:p>
        </p:txBody>
      </p:sp>
      <p:cxnSp>
        <p:nvCxnSpPr>
          <p:cNvPr id="34" name="Connector 23">
            <a:extLst>
              <a:ext uri="{FF2B5EF4-FFF2-40B4-BE49-F238E27FC236}">
                <a16:creationId xmlns:a16="http://schemas.microsoft.com/office/drawing/2014/main" id="{AD6D62E4-FF24-407C-9248-8E82FB556523}"/>
              </a:ext>
            </a:extLst>
          </p:cNvPr>
          <p:cNvCxnSpPr/>
          <p:nvPr/>
        </p:nvCxnSpPr>
        <p:spPr>
          <a:xfrm>
            <a:off x="3044031" y="4117108"/>
            <a:ext cx="1713850" cy="0"/>
          </a:xfrm>
          <a:prstGeom prst="line">
            <a:avLst/>
          </a:prstGeom>
          <a:ln w="12700">
            <a:solidFill>
              <a:srgbClr val="E3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24">
            <a:extLst>
              <a:ext uri="{FF2B5EF4-FFF2-40B4-BE49-F238E27FC236}">
                <a16:creationId xmlns:a16="http://schemas.microsoft.com/office/drawing/2014/main" id="{28D4CB03-7A0C-4C4C-A167-A01091364DE8}"/>
              </a:ext>
            </a:extLst>
          </p:cNvPr>
          <p:cNvSpPr/>
          <p:nvPr/>
        </p:nvSpPr>
        <p:spPr>
          <a:xfrm>
            <a:off x="3044031" y="4345708"/>
            <a:ext cx="1812347" cy="889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altLang="ko-KR" sz="2000" b="1" dirty="0">
                <a:solidFill>
                  <a:srgbClr val="E30C60"/>
                </a:solidFill>
                <a:latin typeface="페이퍼로지 8 ExtraBold"/>
                <a:ea typeface="페이퍼로지 8 ExtraBold"/>
              </a:rPr>
              <a:t>22.0 → 4.7%</a:t>
            </a:r>
          </a:p>
        </p:txBody>
      </p:sp>
      <p:sp>
        <p:nvSpPr>
          <p:cNvPr id="36" name="Rectangle 25">
            <a:extLst>
              <a:ext uri="{FF2B5EF4-FFF2-40B4-BE49-F238E27FC236}">
                <a16:creationId xmlns:a16="http://schemas.microsoft.com/office/drawing/2014/main" id="{ACC4326B-334F-4B72-B831-BFE0A93A9E98}"/>
              </a:ext>
            </a:extLst>
          </p:cNvPr>
          <p:cNvSpPr/>
          <p:nvPr/>
        </p:nvSpPr>
        <p:spPr>
          <a:xfrm>
            <a:off x="3044031" y="5260108"/>
            <a:ext cx="1812347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성수기 한시 퇴직률</a:t>
            </a:r>
          </a:p>
        </p:txBody>
      </p:sp>
      <p:sp>
        <p:nvSpPr>
          <p:cNvPr id="37" name="Rounded Rectangle 26">
            <a:extLst>
              <a:ext uri="{FF2B5EF4-FFF2-40B4-BE49-F238E27FC236}">
                <a16:creationId xmlns:a16="http://schemas.microsoft.com/office/drawing/2014/main" id="{1730682A-2E13-41EE-AF23-6D9CF01123B9}"/>
              </a:ext>
            </a:extLst>
          </p:cNvPr>
          <p:cNvSpPr/>
          <p:nvPr/>
        </p:nvSpPr>
        <p:spPr>
          <a:xfrm>
            <a:off x="5033673" y="1551708"/>
            <a:ext cx="2107839" cy="4673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38" name="Rectangle 27">
            <a:extLst>
              <a:ext uri="{FF2B5EF4-FFF2-40B4-BE49-F238E27FC236}">
                <a16:creationId xmlns:a16="http://schemas.microsoft.com/office/drawing/2014/main" id="{EC4154AF-3351-4064-AB29-B7F9A8470977}"/>
              </a:ext>
            </a:extLst>
          </p:cNvPr>
          <p:cNvSpPr/>
          <p:nvPr/>
        </p:nvSpPr>
        <p:spPr>
          <a:xfrm>
            <a:off x="5033673" y="1551708"/>
            <a:ext cx="2107839" cy="6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39" name="Oval 28">
            <a:extLst>
              <a:ext uri="{FF2B5EF4-FFF2-40B4-BE49-F238E27FC236}">
                <a16:creationId xmlns:a16="http://schemas.microsoft.com/office/drawing/2014/main" id="{D0DE3418-5A85-4375-9EC5-12311EE993F0}"/>
              </a:ext>
            </a:extLst>
          </p:cNvPr>
          <p:cNvSpPr/>
          <p:nvPr/>
        </p:nvSpPr>
        <p:spPr>
          <a:xfrm>
            <a:off x="5230668" y="1948583"/>
            <a:ext cx="551584" cy="577850"/>
          </a:xfrm>
          <a:prstGeom prst="ellipse">
            <a:avLst/>
          </a:prstGeom>
          <a:solidFill>
            <a:srgbClr val="FF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40" name="Picture 29" descr="e77b_E30C60.png">
            <a:extLst>
              <a:ext uri="{FF2B5EF4-FFF2-40B4-BE49-F238E27FC236}">
                <a16:creationId xmlns:a16="http://schemas.microsoft.com/office/drawing/2014/main" id="{FEA1E6FD-39FB-4410-A9D3-A6265455A6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8564" y="2091530"/>
            <a:ext cx="275792" cy="275792"/>
          </a:xfrm>
          <a:prstGeom prst="rect">
            <a:avLst/>
          </a:prstGeom>
        </p:spPr>
      </p:pic>
      <p:sp>
        <p:nvSpPr>
          <p:cNvPr id="41" name="Rectangle 30">
            <a:extLst>
              <a:ext uri="{FF2B5EF4-FFF2-40B4-BE49-F238E27FC236}">
                <a16:creationId xmlns:a16="http://schemas.microsoft.com/office/drawing/2014/main" id="{465A11BD-3072-4054-A0F3-F886B5456329}"/>
              </a:ext>
            </a:extLst>
          </p:cNvPr>
          <p:cNvSpPr/>
          <p:nvPr/>
        </p:nvSpPr>
        <p:spPr>
          <a:xfrm>
            <a:off x="6412634" y="1881908"/>
            <a:ext cx="551584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ko-KR" sz="2000" b="1">
                <a:solidFill>
                  <a:srgbClr val="E3E5E8"/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42" name="Rectangle 31">
            <a:extLst>
              <a:ext uri="{FF2B5EF4-FFF2-40B4-BE49-F238E27FC236}">
                <a16:creationId xmlns:a16="http://schemas.microsoft.com/office/drawing/2014/main" id="{0CA44FAC-8119-4C63-84A0-E2CA1C9953C9}"/>
              </a:ext>
            </a:extLst>
          </p:cNvPr>
          <p:cNvSpPr/>
          <p:nvPr/>
        </p:nvSpPr>
        <p:spPr>
          <a:xfrm>
            <a:off x="5230668" y="2821708"/>
            <a:ext cx="1772948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2500" b="1" dirty="0">
                <a:solidFill>
                  <a:srgbClr val="000000"/>
                </a:solidFill>
                <a:latin typeface="페이퍼로지 8 ExtraBold"/>
                <a:ea typeface="페이퍼로지 8 ExtraBold"/>
                <a:cs typeface="페이퍼로지 8 ExtraBold"/>
              </a:rPr>
              <a:t>관리자 보유</a:t>
            </a:r>
          </a:p>
        </p:txBody>
      </p:sp>
      <p:sp>
        <p:nvSpPr>
          <p:cNvPr id="43" name="Rectangle 32">
            <a:extLst>
              <a:ext uri="{FF2B5EF4-FFF2-40B4-BE49-F238E27FC236}">
                <a16:creationId xmlns:a16="http://schemas.microsoft.com/office/drawing/2014/main" id="{8DFD2890-BAB9-4A4C-AED0-EAD475243F48}"/>
              </a:ext>
            </a:extLst>
          </p:cNvPr>
          <p:cNvSpPr/>
          <p:nvPr/>
        </p:nvSpPr>
        <p:spPr>
          <a:xfrm>
            <a:off x="5230668" y="3355108"/>
            <a:ext cx="1772948" cy="55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35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확대에 필요한 관리자를</a:t>
            </a:r>
          </a:p>
          <a:p>
            <a:pPr algn="ctr">
              <a:lnSpc>
                <a:spcPct val="135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이미 확보했습니다</a:t>
            </a:r>
          </a:p>
        </p:txBody>
      </p:sp>
      <p:cxnSp>
        <p:nvCxnSpPr>
          <p:cNvPr id="44" name="Connector 33">
            <a:extLst>
              <a:ext uri="{FF2B5EF4-FFF2-40B4-BE49-F238E27FC236}">
                <a16:creationId xmlns:a16="http://schemas.microsoft.com/office/drawing/2014/main" id="{0C6B064E-5EF7-49AA-B75C-B604F4AD2C07}"/>
              </a:ext>
            </a:extLst>
          </p:cNvPr>
          <p:cNvCxnSpPr/>
          <p:nvPr/>
        </p:nvCxnSpPr>
        <p:spPr>
          <a:xfrm>
            <a:off x="5230668" y="4117108"/>
            <a:ext cx="1713851" cy="0"/>
          </a:xfrm>
          <a:prstGeom prst="line">
            <a:avLst/>
          </a:prstGeom>
          <a:ln w="12700">
            <a:solidFill>
              <a:srgbClr val="E3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34">
            <a:extLst>
              <a:ext uri="{FF2B5EF4-FFF2-40B4-BE49-F238E27FC236}">
                <a16:creationId xmlns:a16="http://schemas.microsoft.com/office/drawing/2014/main" id="{A6044367-16AE-462D-A38C-6A4253EEA491}"/>
              </a:ext>
            </a:extLst>
          </p:cNvPr>
          <p:cNvSpPr/>
          <p:nvPr/>
        </p:nvSpPr>
        <p:spPr>
          <a:xfrm>
            <a:off x="5230668" y="4345708"/>
            <a:ext cx="1812347" cy="889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altLang="ko-KR" sz="2000" b="1" dirty="0">
                <a:solidFill>
                  <a:srgbClr val="E30C60"/>
                </a:solidFill>
                <a:latin typeface="페이퍼로지 8 ExtraBold"/>
                <a:ea typeface="페이퍼로지 8 ExtraBold"/>
              </a:rPr>
              <a:t>5 + 5</a:t>
            </a:r>
            <a:r>
              <a:rPr lang="ko-KR" altLang="en-US" sz="2000" b="1" dirty="0">
                <a:solidFill>
                  <a:srgbClr val="E30C60"/>
                </a:solidFill>
                <a:latin typeface="페이퍼로지 8 ExtraBold"/>
                <a:ea typeface="페이퍼로지 8 ExtraBold"/>
              </a:rPr>
              <a:t>명</a:t>
            </a:r>
          </a:p>
        </p:txBody>
      </p:sp>
      <p:sp>
        <p:nvSpPr>
          <p:cNvPr id="46" name="Rectangle 35">
            <a:extLst>
              <a:ext uri="{FF2B5EF4-FFF2-40B4-BE49-F238E27FC236}">
                <a16:creationId xmlns:a16="http://schemas.microsoft.com/office/drawing/2014/main" id="{AE7FCCFA-AAC7-42CB-BCC5-A09FEF83D214}"/>
              </a:ext>
            </a:extLst>
          </p:cNvPr>
          <p:cNvSpPr/>
          <p:nvPr/>
        </p:nvSpPr>
        <p:spPr>
          <a:xfrm>
            <a:off x="5230668" y="5260108"/>
            <a:ext cx="1812347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현 관리자 + 예비관리자</a:t>
            </a:r>
          </a:p>
        </p:txBody>
      </p:sp>
      <p:sp>
        <p:nvSpPr>
          <p:cNvPr id="47" name="Rounded Rectangle 36">
            <a:extLst>
              <a:ext uri="{FF2B5EF4-FFF2-40B4-BE49-F238E27FC236}">
                <a16:creationId xmlns:a16="http://schemas.microsoft.com/office/drawing/2014/main" id="{04C86B0D-1E2C-424A-851C-904FA2D9272B}"/>
              </a:ext>
            </a:extLst>
          </p:cNvPr>
          <p:cNvSpPr/>
          <p:nvPr/>
        </p:nvSpPr>
        <p:spPr>
          <a:xfrm>
            <a:off x="7220310" y="1551708"/>
            <a:ext cx="2107839" cy="4673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48" name="Rectangle 37">
            <a:extLst>
              <a:ext uri="{FF2B5EF4-FFF2-40B4-BE49-F238E27FC236}">
                <a16:creationId xmlns:a16="http://schemas.microsoft.com/office/drawing/2014/main" id="{A9FD0511-BEC5-467B-90CA-6656479A01C7}"/>
              </a:ext>
            </a:extLst>
          </p:cNvPr>
          <p:cNvSpPr/>
          <p:nvPr/>
        </p:nvSpPr>
        <p:spPr>
          <a:xfrm>
            <a:off x="7220310" y="1551708"/>
            <a:ext cx="2107839" cy="6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49" name="Oval 38">
            <a:extLst>
              <a:ext uri="{FF2B5EF4-FFF2-40B4-BE49-F238E27FC236}">
                <a16:creationId xmlns:a16="http://schemas.microsoft.com/office/drawing/2014/main" id="{7F1DEB23-96E6-4572-841B-FB414E5511DC}"/>
              </a:ext>
            </a:extLst>
          </p:cNvPr>
          <p:cNvSpPr/>
          <p:nvPr/>
        </p:nvSpPr>
        <p:spPr>
          <a:xfrm>
            <a:off x="7417304" y="1948583"/>
            <a:ext cx="551584" cy="577850"/>
          </a:xfrm>
          <a:prstGeom prst="ellipse">
            <a:avLst/>
          </a:prstGeom>
          <a:solidFill>
            <a:srgbClr val="FF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50" name="Picture 39" descr="e8c7_E30C60.png">
            <a:extLst>
              <a:ext uri="{FF2B5EF4-FFF2-40B4-BE49-F238E27FC236}">
                <a16:creationId xmlns:a16="http://schemas.microsoft.com/office/drawing/2014/main" id="{E14B9081-AB12-4893-9CF2-48A2FD7DB73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55201" y="2091530"/>
            <a:ext cx="275792" cy="275792"/>
          </a:xfrm>
          <a:prstGeom prst="rect">
            <a:avLst/>
          </a:prstGeom>
        </p:spPr>
      </p:pic>
      <p:sp>
        <p:nvSpPr>
          <p:cNvPr id="51" name="Rectangle 40">
            <a:extLst>
              <a:ext uri="{FF2B5EF4-FFF2-40B4-BE49-F238E27FC236}">
                <a16:creationId xmlns:a16="http://schemas.microsoft.com/office/drawing/2014/main" id="{88A5E89B-BEDD-4D48-992A-7FDCA504F5A9}"/>
              </a:ext>
            </a:extLst>
          </p:cNvPr>
          <p:cNvSpPr/>
          <p:nvPr/>
        </p:nvSpPr>
        <p:spPr>
          <a:xfrm>
            <a:off x="8599271" y="1881908"/>
            <a:ext cx="551584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ko-KR" sz="2000" b="1">
                <a:solidFill>
                  <a:srgbClr val="E3E5E8"/>
                </a:solidFill>
                <a:latin typeface="페이퍼로지 8 ExtraBold"/>
                <a:ea typeface="페이퍼로지 8 ExtraBold"/>
                <a:cs typeface="페이퍼로지 8 ExtraBold"/>
              </a:rPr>
              <a:t>04</a:t>
            </a:r>
          </a:p>
        </p:txBody>
      </p:sp>
      <p:sp>
        <p:nvSpPr>
          <p:cNvPr id="52" name="Rectangle 41">
            <a:extLst>
              <a:ext uri="{FF2B5EF4-FFF2-40B4-BE49-F238E27FC236}">
                <a16:creationId xmlns:a16="http://schemas.microsoft.com/office/drawing/2014/main" id="{AA2A889E-1FA4-4E37-86AD-18366DB51D29}"/>
              </a:ext>
            </a:extLst>
          </p:cNvPr>
          <p:cNvSpPr/>
          <p:nvPr/>
        </p:nvSpPr>
        <p:spPr>
          <a:xfrm>
            <a:off x="7417304" y="2821708"/>
            <a:ext cx="1772948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2500" b="1" dirty="0">
                <a:solidFill>
                  <a:srgbClr val="000000"/>
                </a:solidFill>
                <a:latin typeface="페이퍼로지 8 ExtraBold"/>
                <a:ea typeface="페이퍼로지 8 ExtraBold"/>
                <a:cs typeface="페이퍼로지 8 ExtraBold"/>
              </a:rPr>
              <a:t>선제 투자</a:t>
            </a:r>
          </a:p>
        </p:txBody>
      </p:sp>
      <p:sp>
        <p:nvSpPr>
          <p:cNvPr id="53" name="Rectangle 42">
            <a:extLst>
              <a:ext uri="{FF2B5EF4-FFF2-40B4-BE49-F238E27FC236}">
                <a16:creationId xmlns:a16="http://schemas.microsoft.com/office/drawing/2014/main" id="{EFA29960-67B9-44A8-A16D-26EBE702249B}"/>
              </a:ext>
            </a:extLst>
          </p:cNvPr>
          <p:cNvSpPr/>
          <p:nvPr/>
        </p:nvSpPr>
        <p:spPr>
          <a:xfrm>
            <a:off x="7417304" y="3355108"/>
            <a:ext cx="1772948" cy="55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35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확대 초기, 더 뽑고</a:t>
            </a:r>
          </a:p>
          <a:p>
            <a:pPr algn="ctr">
              <a:lnSpc>
                <a:spcPct val="135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더 지킵니다</a:t>
            </a:r>
          </a:p>
        </p:txBody>
      </p:sp>
      <p:cxnSp>
        <p:nvCxnSpPr>
          <p:cNvPr id="54" name="Connector 43">
            <a:extLst>
              <a:ext uri="{FF2B5EF4-FFF2-40B4-BE49-F238E27FC236}">
                <a16:creationId xmlns:a16="http://schemas.microsoft.com/office/drawing/2014/main" id="{07FF02DC-D684-4C21-BAF9-2C753C5B4F0C}"/>
              </a:ext>
            </a:extLst>
          </p:cNvPr>
          <p:cNvCxnSpPr/>
          <p:nvPr/>
        </p:nvCxnSpPr>
        <p:spPr>
          <a:xfrm>
            <a:off x="7417304" y="4117108"/>
            <a:ext cx="1713851" cy="0"/>
          </a:xfrm>
          <a:prstGeom prst="line">
            <a:avLst/>
          </a:prstGeom>
          <a:ln w="12700">
            <a:solidFill>
              <a:srgbClr val="E3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44">
            <a:extLst>
              <a:ext uri="{FF2B5EF4-FFF2-40B4-BE49-F238E27FC236}">
                <a16:creationId xmlns:a16="http://schemas.microsoft.com/office/drawing/2014/main" id="{E2C74ECC-D7D3-4B54-A41A-A78D98E6E677}"/>
              </a:ext>
            </a:extLst>
          </p:cNvPr>
          <p:cNvSpPr/>
          <p:nvPr/>
        </p:nvSpPr>
        <p:spPr>
          <a:xfrm>
            <a:off x="7417304" y="4345708"/>
            <a:ext cx="1812347" cy="889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altLang="ko-KR" sz="2000" b="1" dirty="0">
                <a:solidFill>
                  <a:srgbClr val="E30C60"/>
                </a:solidFill>
                <a:latin typeface="페이퍼로지 8 ExtraBold"/>
                <a:ea typeface="페이퍼로지 8 ExtraBold"/>
              </a:rPr>
              <a:t>120~130%</a:t>
            </a:r>
          </a:p>
        </p:txBody>
      </p:sp>
      <p:sp>
        <p:nvSpPr>
          <p:cNvPr id="56" name="Rectangle 45">
            <a:extLst>
              <a:ext uri="{FF2B5EF4-FFF2-40B4-BE49-F238E27FC236}">
                <a16:creationId xmlns:a16="http://schemas.microsoft.com/office/drawing/2014/main" id="{78DC3900-7E50-419C-BB4F-C0CE58E6F846}"/>
              </a:ext>
            </a:extLst>
          </p:cNvPr>
          <p:cNvSpPr/>
          <p:nvPr/>
        </p:nvSpPr>
        <p:spPr>
          <a:xfrm>
            <a:off x="7417304" y="5260108"/>
            <a:ext cx="1812347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초기 인력 선확보 · 정착 · 포상</a:t>
            </a:r>
          </a:p>
        </p:txBody>
      </p:sp>
      <p:sp>
        <p:nvSpPr>
          <p:cNvPr id="57" name="Rectangle 2">
            <a:extLst>
              <a:ext uri="{FF2B5EF4-FFF2-40B4-BE49-F238E27FC236}">
                <a16:creationId xmlns:a16="http://schemas.microsoft.com/office/drawing/2014/main" id="{ADF6B1AD-7EBF-4648-A739-74707F1F3041}"/>
              </a:ext>
            </a:extLst>
          </p:cNvPr>
          <p:cNvSpPr/>
          <p:nvPr/>
        </p:nvSpPr>
        <p:spPr>
          <a:xfrm>
            <a:off x="1929606" y="381000"/>
            <a:ext cx="61912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altLang="ko-KR" sz="900" b="1" dirty="0">
                <a:solidFill>
                  <a:srgbClr val="A50034"/>
                </a:solidFill>
                <a:latin typeface="페이퍼로지 8 ExtraBold"/>
                <a:ea typeface="페이퍼로지 8 ExtraBold"/>
              </a:rPr>
              <a:t>4-1. KT </a:t>
            </a:r>
            <a:r>
              <a:rPr lang="en-US" altLang="ko-KR" sz="900" b="1" dirty="0" err="1">
                <a:solidFill>
                  <a:srgbClr val="A50034"/>
                </a:solidFill>
                <a:latin typeface="페이퍼로지 8 ExtraBold"/>
                <a:ea typeface="페이퍼로지 8 ExtraBold"/>
              </a:rPr>
              <a:t>IS</a:t>
            </a:r>
            <a:r>
              <a:rPr lang="ko-KR" altLang="en-US" sz="900" b="1" dirty="0" err="1">
                <a:solidFill>
                  <a:srgbClr val="A50034"/>
                </a:solidFill>
                <a:latin typeface="페이퍼로지 8 ExtraBold"/>
                <a:ea typeface="페이퍼로지 8 ExtraBold"/>
              </a:rPr>
              <a:t>만의</a:t>
            </a:r>
            <a:r>
              <a:rPr lang="ko-KR" altLang="en-US" sz="900" b="1" dirty="0">
                <a:solidFill>
                  <a:srgbClr val="A50034"/>
                </a:solidFill>
                <a:latin typeface="페이퍼로지 8 ExtraBold"/>
                <a:ea typeface="페이퍼로지 8 ExtraBold"/>
              </a:rPr>
              <a:t> 차별화 전략</a:t>
            </a:r>
          </a:p>
        </p:txBody>
      </p:sp>
      <p:sp>
        <p:nvSpPr>
          <p:cNvPr id="58" name="Rectangle 3">
            <a:extLst>
              <a:ext uri="{FF2B5EF4-FFF2-40B4-BE49-F238E27FC236}">
                <a16:creationId xmlns:a16="http://schemas.microsoft.com/office/drawing/2014/main" id="{624BE2DE-619C-4C20-AB6F-6E97FEB043FE}"/>
              </a:ext>
            </a:extLst>
          </p:cNvPr>
          <p:cNvSpPr/>
          <p:nvPr/>
        </p:nvSpPr>
        <p:spPr>
          <a:xfrm>
            <a:off x="846138" y="660400"/>
            <a:ext cx="8461375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000" b="1" dirty="0">
                <a:solidFill>
                  <a:srgbClr val="000000"/>
                </a:solidFill>
                <a:latin typeface="페이퍼로지 8 ExtraBold"/>
                <a:ea typeface="페이퍼로지 8 ExtraBold"/>
                <a:cs typeface="페이퍼로지 8 ExtraBold"/>
              </a:rPr>
              <a:t>이미 검증했고, </a:t>
            </a:r>
            <a:r>
              <a:rPr lang="ko-KR" altLang="en-US" sz="2000" b="1" dirty="0">
                <a:solidFill>
                  <a:srgbClr val="E30C60"/>
                </a:solidFill>
                <a:latin typeface="페이퍼로지 8 ExtraBold"/>
                <a:ea typeface="페이퍼로지 8 ExtraBold"/>
              </a:rPr>
              <a:t>이미 준비되어 있습니다</a:t>
            </a:r>
          </a:p>
        </p:txBody>
      </p:sp>
      <p:sp>
        <p:nvSpPr>
          <p:cNvPr id="9042" name="Rectangle 42"/>
          <p:cNvSpPr/>
          <p:nvPr/>
        </p:nvSpPr>
        <p:spPr>
          <a:xfrm>
            <a:off x="4540250" y="64770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fld id="{B6F15528-21DE-4FAA-801E-634DDDAF4B2B}" type="slidenum"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45</a:t>
            </a:fld>
            <a:r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 / 49</a:t>
            </a:r>
            <a:endParaRPr lang="ko-KR" sz="600" b="0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39910925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  <p:sp>
        <p:nvSpPr>
          <p:cNvPr id="59" name="Rectangle 2">
            <a:extLst>
              <a:ext uri="{FF2B5EF4-FFF2-40B4-BE49-F238E27FC236}">
                <a16:creationId xmlns:a16="http://schemas.microsoft.com/office/drawing/2014/main" id="{4F691B77-DF24-4290-A23C-889D54431841}"/>
              </a:ext>
            </a:extLst>
          </p:cNvPr>
          <p:cNvSpPr/>
          <p:nvPr/>
        </p:nvSpPr>
        <p:spPr>
          <a:xfrm>
            <a:off x="1929606" y="381000"/>
            <a:ext cx="61912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altLang="ko-KR" sz="900" b="1" dirty="0">
                <a:solidFill>
                  <a:srgbClr val="A50034"/>
                </a:solidFill>
                <a:latin typeface="페이퍼로지 8 ExtraBold"/>
                <a:ea typeface="페이퍼로지 8 ExtraBold"/>
              </a:rPr>
              <a:t>4-2. </a:t>
            </a:r>
            <a:r>
              <a:rPr lang="ko-KR" altLang="en-US" sz="900" b="1" dirty="0">
                <a:solidFill>
                  <a:srgbClr val="A50034"/>
                </a:solidFill>
                <a:latin typeface="페이퍼로지 8 ExtraBold"/>
                <a:ea typeface="페이퍼로지 8 ExtraBold"/>
              </a:rPr>
              <a:t>지속 성장 지표</a:t>
            </a:r>
          </a:p>
        </p:txBody>
      </p:sp>
      <p:sp>
        <p:nvSpPr>
          <p:cNvPr id="60" name="Rectangle 3">
            <a:extLst>
              <a:ext uri="{FF2B5EF4-FFF2-40B4-BE49-F238E27FC236}">
                <a16:creationId xmlns:a16="http://schemas.microsoft.com/office/drawing/2014/main" id="{EA914AB9-9A66-440C-A410-0B2A7BEF5BA7}"/>
              </a:ext>
            </a:extLst>
          </p:cNvPr>
          <p:cNvSpPr/>
          <p:nvPr/>
        </p:nvSpPr>
        <p:spPr>
          <a:xfrm>
            <a:off x="846138" y="660400"/>
            <a:ext cx="8461375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000" b="0" dirty="0">
                <a:solidFill>
                  <a:srgbClr val="000000"/>
                </a:solidFill>
                <a:latin typeface="페이퍼로지 8 ExtraBold"/>
                <a:ea typeface="페이퍼로지 8 ExtraBold"/>
                <a:cs typeface="페이퍼로지 8 ExtraBold"/>
              </a:rPr>
              <a:t>런칭 이후 빠르게 안정화하고, </a:t>
            </a:r>
            <a:r>
              <a:rPr lang="ko-KR" altLang="en-US" sz="2000" b="1" dirty="0">
                <a:solidFill>
                  <a:srgbClr val="E30C60"/>
                </a:solidFill>
                <a:latin typeface="페이퍼로지 8 ExtraBold"/>
                <a:ea typeface="페이퍼로지 8 ExtraBold"/>
              </a:rPr>
              <a:t>매년 성과를 높여 왔습니다</a:t>
            </a:r>
          </a:p>
        </p:txBody>
      </p:sp>
      <p:sp>
        <p:nvSpPr>
          <p:cNvPr id="61" name="Rectangle 4">
            <a:extLst>
              <a:ext uri="{FF2B5EF4-FFF2-40B4-BE49-F238E27FC236}">
                <a16:creationId xmlns:a16="http://schemas.microsoft.com/office/drawing/2014/main" id="{7618F984-AB31-4403-A502-D3936FA06F6F}"/>
              </a:ext>
            </a:extLst>
          </p:cNvPr>
          <p:cNvSpPr/>
          <p:nvPr/>
        </p:nvSpPr>
        <p:spPr>
          <a:xfrm>
            <a:off x="846138" y="1079500"/>
            <a:ext cx="84613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런칭 이후 빠르게 안정을 찾았고, 2026년 성수기에는 품질과 인력 지표가 함께 좋아졌습니다.</a:t>
            </a:r>
          </a:p>
        </p:txBody>
      </p:sp>
      <p:sp>
        <p:nvSpPr>
          <p:cNvPr id="62" name="Pentagon 5">
            <a:extLst>
              <a:ext uri="{FF2B5EF4-FFF2-40B4-BE49-F238E27FC236}">
                <a16:creationId xmlns:a16="http://schemas.microsoft.com/office/drawing/2014/main" id="{36ED80FD-24EA-40F1-8526-D3DE3769E7C6}"/>
              </a:ext>
            </a:extLst>
          </p:cNvPr>
          <p:cNvSpPr/>
          <p:nvPr/>
        </p:nvSpPr>
        <p:spPr>
          <a:xfrm>
            <a:off x="660400" y="1422400"/>
            <a:ext cx="1871446" cy="381000"/>
          </a:xfrm>
          <a:prstGeom prst="homePlate">
            <a:avLst>
              <a:gd name="adj" fmla="val 40625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4462" tIns="88900" rIns="144462" bIns="88900" rtlCol="0" anchor="ctr"/>
          <a:lstStyle/>
          <a:p>
            <a:pPr algn="l">
              <a:lnSpc>
                <a:spcPct val="110000"/>
              </a:lnSpc>
            </a:pPr>
            <a:r>
              <a:rPr lang="ko-KR" sz="12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'24년 11월 런칭</a:t>
            </a:r>
          </a:p>
        </p:txBody>
      </p:sp>
      <p:sp>
        <p:nvSpPr>
          <p:cNvPr id="63" name="Oval 6">
            <a:extLst>
              <a:ext uri="{FF2B5EF4-FFF2-40B4-BE49-F238E27FC236}">
                <a16:creationId xmlns:a16="http://schemas.microsoft.com/office/drawing/2014/main" id="{C364B2E6-1365-4C22-A6AB-7F5F14AC4383}"/>
              </a:ext>
            </a:extLst>
          </p:cNvPr>
          <p:cNvSpPr/>
          <p:nvPr/>
        </p:nvSpPr>
        <p:spPr>
          <a:xfrm>
            <a:off x="778596" y="1982788"/>
            <a:ext cx="433388" cy="454025"/>
          </a:xfrm>
          <a:prstGeom prst="ellipse">
            <a:avLst/>
          </a:prstGeom>
          <a:solidFill>
            <a:srgbClr val="FFFFFF"/>
          </a:solidFill>
          <a:ln w="15875">
            <a:solidFill>
              <a:srgbClr val="ED20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endParaRPr lang="ko-KR" sz="1500" b="0" dirty="0">
              <a:solidFill>
                <a:srgbClr val="ED2024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64" name="Rectangle 7">
            <a:extLst>
              <a:ext uri="{FF2B5EF4-FFF2-40B4-BE49-F238E27FC236}">
                <a16:creationId xmlns:a16="http://schemas.microsoft.com/office/drawing/2014/main" id="{B46C610C-9AE1-4881-9D1C-8C4401037092}"/>
              </a:ext>
            </a:extLst>
          </p:cNvPr>
          <p:cNvSpPr/>
          <p:nvPr/>
        </p:nvSpPr>
        <p:spPr>
          <a:xfrm>
            <a:off x="1290781" y="1905000"/>
            <a:ext cx="2560926" cy="609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ko-KR" sz="1200" b="0" dirty="0">
                <a:solidFill>
                  <a:srgbClr val="C8102E"/>
                </a:solidFill>
                <a:latin typeface="페이퍼로지 8 ExtraBold"/>
                <a:ea typeface="페이퍼로지 8 ExtraBold"/>
                <a:cs typeface="페이퍼로지 8 ExtraBold"/>
              </a:rPr>
              <a:t>매년 지속적인 성과 향상</a:t>
            </a:r>
          </a:p>
          <a:p>
            <a:pPr algn="l">
              <a:lnSpc>
                <a:spcPct val="130000"/>
              </a:lnSpc>
            </a:pPr>
            <a:r>
              <a:rPr lang="ko-KR" sz="12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KPI </a:t>
            </a:r>
            <a:r>
              <a:rPr lang="ko-KR" sz="1200" b="0" dirty="0" err="1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우상향</a:t>
            </a:r>
            <a:r>
              <a:rPr lang="ko-KR" sz="12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 및 센터 인력 안정화</a:t>
            </a:r>
          </a:p>
        </p:txBody>
      </p:sp>
      <p:sp>
        <p:nvSpPr>
          <p:cNvPr id="65" name="Rounded Rectangle 8">
            <a:extLst>
              <a:ext uri="{FF2B5EF4-FFF2-40B4-BE49-F238E27FC236}">
                <a16:creationId xmlns:a16="http://schemas.microsoft.com/office/drawing/2014/main" id="{B2DA638D-EEC6-48F8-BBEE-9678E6B2DADD}"/>
              </a:ext>
            </a:extLst>
          </p:cNvPr>
          <p:cNvSpPr/>
          <p:nvPr/>
        </p:nvSpPr>
        <p:spPr>
          <a:xfrm>
            <a:off x="5021010" y="1409700"/>
            <a:ext cx="689479" cy="304800"/>
          </a:xfrm>
          <a:prstGeom prst="roundRect">
            <a:avLst>
              <a:gd name="adj" fmla="val 20000"/>
            </a:avLst>
          </a:prstGeom>
          <a:solidFill>
            <a:srgbClr val="FF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altLang="ko-KR" sz="1200" b="1" dirty="0" err="1">
                <a:solidFill>
                  <a:srgbClr val="E30C60"/>
                </a:solidFill>
                <a:latin typeface="페이퍼로지 8 ExtraBold"/>
                <a:ea typeface="페이퍼로지 8 ExtraBold"/>
              </a:rPr>
              <a:t>Action</a:t>
            </a:r>
            <a:endParaRPr lang="ko-KR" altLang="en-US" sz="1200" b="1" dirty="0">
              <a:solidFill>
                <a:srgbClr val="E30C60"/>
              </a:solidFill>
              <a:latin typeface="페이퍼로지 8 ExtraBold"/>
              <a:ea typeface="페이퍼로지 8 ExtraBold"/>
            </a:endParaRPr>
          </a:p>
        </p:txBody>
      </p:sp>
      <p:sp>
        <p:nvSpPr>
          <p:cNvPr id="66" name="Rectangle 9">
            <a:extLst>
              <a:ext uri="{FF2B5EF4-FFF2-40B4-BE49-F238E27FC236}">
                <a16:creationId xmlns:a16="http://schemas.microsoft.com/office/drawing/2014/main" id="{2D14C321-F695-43A0-B2CC-3B9D8E46E492}"/>
              </a:ext>
            </a:extLst>
          </p:cNvPr>
          <p:cNvSpPr/>
          <p:nvPr/>
        </p:nvSpPr>
        <p:spPr>
          <a:xfrm>
            <a:off x="5365750" y="1670050"/>
            <a:ext cx="3941764" cy="889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75000"/>
              </a:lnSpc>
            </a:pPr>
            <a:r>
              <a:rPr lang="ko-KR" sz="900" b="0" dirty="0">
                <a:solidFill>
                  <a:srgbClr val="ED2024"/>
                </a:solidFill>
                <a:latin typeface="페이퍼로지 8 ExtraBold"/>
                <a:ea typeface="페이퍼로지 8 ExtraBold"/>
                <a:cs typeface="페이퍼로지 8 ExtraBold"/>
              </a:rPr>
              <a:t>■  </a:t>
            </a:r>
            <a:r>
              <a:rPr lang="ko-KR" sz="1000" b="0" dirty="0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현장 선별 채용 + 사전 CS 테스트(80점↑)로 안정적인 인력 </a:t>
            </a:r>
            <a:r>
              <a:rPr lang="ko-KR" sz="1000" b="0" dirty="0" err="1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수급·관리</a:t>
            </a:r>
            <a:endParaRPr lang="ko-KR" sz="1000" b="0" dirty="0">
              <a:solidFill>
                <a:srgbClr val="000000"/>
              </a:solidFill>
              <a:latin typeface="페이퍼로지 5 Medium"/>
              <a:ea typeface="페이퍼로지 5 Medium"/>
              <a:cs typeface="페이퍼로지 5 Medium"/>
            </a:endParaRPr>
          </a:p>
          <a:p>
            <a:pPr algn="l">
              <a:lnSpc>
                <a:spcPct val="175000"/>
              </a:lnSpc>
            </a:pPr>
            <a:r>
              <a:rPr lang="ko-KR" sz="1000" b="0" dirty="0">
                <a:solidFill>
                  <a:srgbClr val="ED2024"/>
                </a:solidFill>
                <a:latin typeface="페이퍼로지 8 ExtraBold"/>
                <a:ea typeface="페이퍼로지 8 ExtraBold"/>
                <a:cs typeface="페이퍼로지 8 ExtraBold"/>
              </a:rPr>
              <a:t>■  </a:t>
            </a:r>
            <a:r>
              <a:rPr lang="ko-KR" sz="1000" b="0" dirty="0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4차수 소규모 </a:t>
            </a:r>
            <a:r>
              <a:rPr lang="ko-KR" sz="1000" b="0" dirty="0" err="1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선교육·인큐베이팅으로</a:t>
            </a:r>
            <a:r>
              <a:rPr lang="ko-KR" sz="1000" b="0" dirty="0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 투입 품질 확보</a:t>
            </a:r>
          </a:p>
          <a:p>
            <a:pPr algn="l">
              <a:lnSpc>
                <a:spcPct val="175000"/>
              </a:lnSpc>
            </a:pPr>
            <a:r>
              <a:rPr lang="ko-KR" sz="1000" b="0" dirty="0">
                <a:solidFill>
                  <a:srgbClr val="ED2024"/>
                </a:solidFill>
                <a:latin typeface="페이퍼로지 8 ExtraBold"/>
                <a:ea typeface="페이퍼로지 8 ExtraBold"/>
                <a:cs typeface="페이퍼로지 8 ExtraBold"/>
              </a:rPr>
              <a:t>■  </a:t>
            </a:r>
            <a:r>
              <a:rPr lang="ko-KR" altLang="en-US" sz="1000" dirty="0">
                <a:solidFill>
                  <a:srgbClr val="000000"/>
                </a:solidFill>
                <a:latin typeface="페이퍼로지 5 Medium"/>
                <a:ea typeface="페이퍼로지 5 Medium"/>
              </a:rPr>
              <a:t>한시</a:t>
            </a:r>
            <a:r>
              <a:rPr lang="ko-KR" altLang="en-US" sz="1000" b="0" dirty="0">
                <a:solidFill>
                  <a:srgbClr val="ED2024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  <a:r>
              <a:rPr lang="ko-KR" sz="1000" b="0" dirty="0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인력 상시 전환(6명)으로 </a:t>
            </a:r>
            <a:r>
              <a:rPr lang="ko-KR" sz="1000" b="0" dirty="0" err="1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정착률</a:t>
            </a:r>
            <a:r>
              <a:rPr lang="ko-KR" sz="1000" b="0" dirty="0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 제고</a:t>
            </a:r>
          </a:p>
        </p:txBody>
      </p:sp>
      <p:sp>
        <p:nvSpPr>
          <p:cNvPr id="67" name="Rounded Rectangle 10">
            <a:extLst>
              <a:ext uri="{FF2B5EF4-FFF2-40B4-BE49-F238E27FC236}">
                <a16:creationId xmlns:a16="http://schemas.microsoft.com/office/drawing/2014/main" id="{7B33FA32-DD5E-4253-A062-194107844642}"/>
              </a:ext>
            </a:extLst>
          </p:cNvPr>
          <p:cNvSpPr/>
          <p:nvPr/>
        </p:nvSpPr>
        <p:spPr>
          <a:xfrm>
            <a:off x="660400" y="2616200"/>
            <a:ext cx="4274776" cy="3606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68" name="Rectangle 11">
            <a:extLst>
              <a:ext uri="{FF2B5EF4-FFF2-40B4-BE49-F238E27FC236}">
                <a16:creationId xmlns:a16="http://schemas.microsoft.com/office/drawing/2014/main" id="{B73B79C7-09EB-4359-81ED-149948E1801F}"/>
              </a:ext>
            </a:extLst>
          </p:cNvPr>
          <p:cNvSpPr/>
          <p:nvPr/>
        </p:nvSpPr>
        <p:spPr>
          <a:xfrm>
            <a:off x="660400" y="2616200"/>
            <a:ext cx="4274776" cy="304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chemeClr val="bg1"/>
                </a:solidFill>
                <a:latin typeface="페이퍼로지 8 ExtraBold"/>
                <a:ea typeface="페이퍼로지 8 ExtraBold"/>
                <a:cs typeface="페이퍼로지 8 ExtraBold"/>
              </a:rPr>
              <a:t>[상시] 연간 T-NPS · 생산성 · IN 생산성 Trend</a:t>
            </a:r>
          </a:p>
        </p:txBody>
      </p:sp>
      <p:sp>
        <p:nvSpPr>
          <p:cNvPr id="69" name="Rectangle 12">
            <a:extLst>
              <a:ext uri="{FF2B5EF4-FFF2-40B4-BE49-F238E27FC236}">
                <a16:creationId xmlns:a16="http://schemas.microsoft.com/office/drawing/2014/main" id="{C63681C8-3A13-4A2B-9006-1A7CA27A1F32}"/>
              </a:ext>
            </a:extLst>
          </p:cNvPr>
          <p:cNvSpPr/>
          <p:nvPr/>
        </p:nvSpPr>
        <p:spPr>
          <a:xfrm>
            <a:off x="798296" y="2997200"/>
            <a:ext cx="4038383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ED2024"/>
                </a:solidFill>
                <a:latin typeface="페이퍼로지 8 ExtraBold"/>
                <a:ea typeface="페이퍼로지 8 ExtraBold"/>
                <a:cs typeface="페이퍼로지 8 ExtraBold"/>
              </a:rPr>
              <a:t>✓ </a:t>
            </a:r>
            <a:r>
              <a:rPr lang="ko-KR" sz="900" b="0">
                <a:solidFill>
                  <a:srgbClr val="000000"/>
                </a:solidFill>
                <a:latin typeface="페이퍼로지 8 ExtraBold"/>
                <a:ea typeface="페이퍼로지 8 ExtraBold"/>
                <a:cs typeface="페이퍼로지 8 ExtraBold"/>
              </a:rPr>
              <a:t>런칭 대비 2026년 기준 T-NPS +4.8p, 생산성 +16.5 상승</a:t>
            </a:r>
          </a:p>
        </p:txBody>
      </p:sp>
      <p:sp>
        <p:nvSpPr>
          <p:cNvPr id="70" name="Rounded Rectangle 13">
            <a:extLst>
              <a:ext uri="{FF2B5EF4-FFF2-40B4-BE49-F238E27FC236}">
                <a16:creationId xmlns:a16="http://schemas.microsoft.com/office/drawing/2014/main" id="{EC01E8BC-E0AD-4FA6-9B12-0881FBB0B670}"/>
              </a:ext>
            </a:extLst>
          </p:cNvPr>
          <p:cNvSpPr/>
          <p:nvPr/>
        </p:nvSpPr>
        <p:spPr>
          <a:xfrm>
            <a:off x="5053373" y="2616200"/>
            <a:ext cx="4274776" cy="3606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71" name="Rectangle 14">
            <a:extLst>
              <a:ext uri="{FF2B5EF4-FFF2-40B4-BE49-F238E27FC236}">
                <a16:creationId xmlns:a16="http://schemas.microsoft.com/office/drawing/2014/main" id="{20DE58E2-F617-4ECB-88ED-B75FFB8CA16D}"/>
              </a:ext>
            </a:extLst>
          </p:cNvPr>
          <p:cNvSpPr/>
          <p:nvPr/>
        </p:nvSpPr>
        <p:spPr>
          <a:xfrm>
            <a:off x="5053373" y="2616200"/>
            <a:ext cx="4274776" cy="304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[한시 · 성수기] 2025 vs 2026 KPI · 인력 지표</a:t>
            </a:r>
          </a:p>
        </p:txBody>
      </p:sp>
      <p:sp>
        <p:nvSpPr>
          <p:cNvPr id="72" name="Rectangle 15">
            <a:extLst>
              <a:ext uri="{FF2B5EF4-FFF2-40B4-BE49-F238E27FC236}">
                <a16:creationId xmlns:a16="http://schemas.microsoft.com/office/drawing/2014/main" id="{3F861014-C930-44A5-A825-0675B611E796}"/>
              </a:ext>
            </a:extLst>
          </p:cNvPr>
          <p:cNvSpPr/>
          <p:nvPr/>
        </p:nvSpPr>
        <p:spPr>
          <a:xfrm>
            <a:off x="5191269" y="2997200"/>
            <a:ext cx="4038383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ED2024"/>
                </a:solidFill>
                <a:latin typeface="페이퍼로지 8 ExtraBold"/>
                <a:ea typeface="페이퍼로지 8 ExtraBold"/>
                <a:cs typeface="페이퍼로지 8 ExtraBold"/>
              </a:rPr>
              <a:t>✓ </a:t>
            </a:r>
            <a:r>
              <a:rPr lang="ko-KR" sz="900" b="0">
                <a:solidFill>
                  <a:srgbClr val="000000"/>
                </a:solidFill>
                <a:latin typeface="페이퍼로지 8 ExtraBold"/>
                <a:ea typeface="페이퍼로지 8 ExtraBold"/>
                <a:cs typeface="페이퍼로지 8 ExtraBold"/>
              </a:rPr>
              <a:t>2025 대비 2026년 T-NPS +7.3p, 유지율 +29.2%p 상승</a:t>
            </a:r>
          </a:p>
        </p:txBody>
      </p:sp>
      <p:graphicFrame>
        <p:nvGraphicFramePr>
          <p:cNvPr id="73" name="Chart 16">
            <a:extLst>
              <a:ext uri="{FF2B5EF4-FFF2-40B4-BE49-F238E27FC236}">
                <a16:creationId xmlns:a16="http://schemas.microsoft.com/office/drawing/2014/main" id="{654D35E3-7673-4B00-8787-9E201F988C92}"/>
              </a:ext>
            </a:extLst>
          </p:cNvPr>
          <p:cNvGraphicFramePr>
            <a:graphicFrameLocks noGrp="1"/>
          </p:cNvGraphicFramePr>
          <p:nvPr/>
        </p:nvGraphicFramePr>
        <p:xfrm>
          <a:off x="758897" y="3327400"/>
          <a:ext cx="4077782" cy="261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4" name="Chart 17">
            <a:extLst>
              <a:ext uri="{FF2B5EF4-FFF2-40B4-BE49-F238E27FC236}">
                <a16:creationId xmlns:a16="http://schemas.microsoft.com/office/drawing/2014/main" id="{3F8D726D-18E3-452E-8D8D-CF8C3FC7CD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6805508"/>
              </p:ext>
            </p:extLst>
          </p:nvPr>
        </p:nvGraphicFramePr>
        <p:xfrm>
          <a:off x="758897" y="3327400"/>
          <a:ext cx="4077782" cy="261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75" name="Rectangle 18">
            <a:extLst>
              <a:ext uri="{FF2B5EF4-FFF2-40B4-BE49-F238E27FC236}">
                <a16:creationId xmlns:a16="http://schemas.microsoft.com/office/drawing/2014/main" id="{750259B1-2A50-4ED2-9463-36A0BF5DFD3C}"/>
              </a:ext>
            </a:extLst>
          </p:cNvPr>
          <p:cNvSpPr/>
          <p:nvPr/>
        </p:nvSpPr>
        <p:spPr>
          <a:xfrm>
            <a:off x="3526666" y="3433618"/>
            <a:ext cx="1221365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r">
              <a:lnSpc>
                <a:spcPct val="110000"/>
              </a:lnSpc>
            </a:pPr>
            <a:r>
              <a:rPr lang="ko-KR" sz="9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━ T-NPS</a:t>
            </a:r>
          </a:p>
        </p:txBody>
      </p:sp>
      <p:graphicFrame>
        <p:nvGraphicFramePr>
          <p:cNvPr id="76" name="Chart 19">
            <a:extLst>
              <a:ext uri="{FF2B5EF4-FFF2-40B4-BE49-F238E27FC236}">
                <a16:creationId xmlns:a16="http://schemas.microsoft.com/office/drawing/2014/main" id="{6C0D0932-8BFC-4CF4-A63E-A37FCFD50A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2020733"/>
              </p:ext>
            </p:extLst>
          </p:nvPr>
        </p:nvGraphicFramePr>
        <p:xfrm>
          <a:off x="5151870" y="3327400"/>
          <a:ext cx="4077782" cy="261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77" name="Freeform 132">
            <a:extLst>
              <a:ext uri="{FF2B5EF4-FFF2-40B4-BE49-F238E27FC236}">
                <a16:creationId xmlns:a16="http://schemas.microsoft.com/office/drawing/2014/main" id="{154FAD3E-69CC-4858-8B5C-8FBB3BEDE47C}"/>
              </a:ext>
            </a:extLst>
          </p:cNvPr>
          <p:cNvSpPr>
            <a:spLocks/>
          </p:cNvSpPr>
          <p:nvPr/>
        </p:nvSpPr>
        <p:spPr bwMode="auto">
          <a:xfrm rot="4571176" flipH="1">
            <a:off x="2902663" y="2908399"/>
            <a:ext cx="419712" cy="2704001"/>
          </a:xfrm>
          <a:custGeom>
            <a:avLst/>
            <a:gdLst>
              <a:gd name="T0" fmla="*/ 294859856 w 123"/>
              <a:gd name="T1" fmla="*/ 307459058 h 722"/>
              <a:gd name="T2" fmla="*/ 0 w 123"/>
              <a:gd name="T3" fmla="*/ 133567492 h 722"/>
              <a:gd name="T4" fmla="*/ 70564563 w 123"/>
              <a:gd name="T5" fmla="*/ 216733463 h 722"/>
              <a:gd name="T6" fmla="*/ 47883886 w 123"/>
              <a:gd name="T7" fmla="*/ 322579990 h 722"/>
              <a:gd name="T8" fmla="*/ 30241957 w 123"/>
              <a:gd name="T9" fmla="*/ 430947565 h 722"/>
              <a:gd name="T10" fmla="*/ 15120979 w 123"/>
              <a:gd name="T11" fmla="*/ 554434386 h 722"/>
              <a:gd name="T12" fmla="*/ 7561283 w 123"/>
              <a:gd name="T13" fmla="*/ 662801862 h 722"/>
              <a:gd name="T14" fmla="*/ 2520957 w 123"/>
              <a:gd name="T15" fmla="*/ 766127439 h 722"/>
              <a:gd name="T16" fmla="*/ 2520957 w 123"/>
              <a:gd name="T17" fmla="*/ 869454803 h 722"/>
              <a:gd name="T18" fmla="*/ 10080651 w 123"/>
              <a:gd name="T19" fmla="*/ 985380364 h 722"/>
              <a:gd name="T20" fmla="*/ 27722589 w 123"/>
              <a:gd name="T21" fmla="*/ 1129030015 h 722"/>
              <a:gd name="T22" fmla="*/ 45362930 w 123"/>
              <a:gd name="T23" fmla="*/ 1247476525 h 722"/>
              <a:gd name="T24" fmla="*/ 65524239 w 123"/>
              <a:gd name="T25" fmla="*/ 1343244018 h 722"/>
              <a:gd name="T26" fmla="*/ 95766184 w 123"/>
              <a:gd name="T27" fmla="*/ 1444050234 h 722"/>
              <a:gd name="T28" fmla="*/ 138609758 w 123"/>
              <a:gd name="T29" fmla="*/ 1552416122 h 722"/>
              <a:gd name="T30" fmla="*/ 181451719 w 123"/>
              <a:gd name="T31" fmla="*/ 1645662665 h 722"/>
              <a:gd name="T32" fmla="*/ 214214670 w 123"/>
              <a:gd name="T33" fmla="*/ 1706146792 h 722"/>
              <a:gd name="T34" fmla="*/ 294859856 w 123"/>
              <a:gd name="T35" fmla="*/ 1817033629 h 722"/>
              <a:gd name="T36" fmla="*/ 219254994 w 123"/>
              <a:gd name="T37" fmla="*/ 1670864616 h 722"/>
              <a:gd name="T38" fmla="*/ 181451719 w 123"/>
              <a:gd name="T39" fmla="*/ 1577617676 h 722"/>
              <a:gd name="T40" fmla="*/ 153730730 w 123"/>
              <a:gd name="T41" fmla="*/ 1481851771 h 722"/>
              <a:gd name="T42" fmla="*/ 131048478 w 123"/>
              <a:gd name="T43" fmla="*/ 1388606815 h 722"/>
              <a:gd name="T44" fmla="*/ 115927505 w 123"/>
              <a:gd name="T45" fmla="*/ 1287799011 h 722"/>
              <a:gd name="T46" fmla="*/ 105846857 w 123"/>
              <a:gd name="T47" fmla="*/ 1194554055 h 722"/>
              <a:gd name="T48" fmla="*/ 100806508 w 123"/>
              <a:gd name="T49" fmla="*/ 1086186580 h 722"/>
              <a:gd name="T50" fmla="*/ 100806508 w 123"/>
              <a:gd name="T51" fmla="*/ 985380364 h 722"/>
              <a:gd name="T52" fmla="*/ 105846857 w 123"/>
              <a:gd name="T53" fmla="*/ 849293560 h 722"/>
              <a:gd name="T54" fmla="*/ 113408137 w 123"/>
              <a:gd name="T55" fmla="*/ 730845264 h 722"/>
              <a:gd name="T56" fmla="*/ 128529109 w 123"/>
              <a:gd name="T57" fmla="*/ 614918116 h 722"/>
              <a:gd name="T58" fmla="*/ 146169450 w 123"/>
              <a:gd name="T59" fmla="*/ 498990967 h 722"/>
              <a:gd name="T60" fmla="*/ 166330747 w 123"/>
              <a:gd name="T61" fmla="*/ 383063720 h 722"/>
              <a:gd name="T62" fmla="*/ 201613016 w 123"/>
              <a:gd name="T63" fmla="*/ 264615622 h 722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w 123"/>
              <a:gd name="T97" fmla="*/ 0 h 722"/>
              <a:gd name="T98" fmla="*/ 123 w 123"/>
              <a:gd name="T99" fmla="*/ 722 h 722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T96" t="T97" r="T98" b="T99"/>
            <a:pathLst>
              <a:path w="123" h="722">
                <a:moveTo>
                  <a:pt x="80" y="105"/>
                </a:moveTo>
                <a:lnTo>
                  <a:pt x="117" y="122"/>
                </a:lnTo>
                <a:lnTo>
                  <a:pt x="122" y="0"/>
                </a:lnTo>
                <a:lnTo>
                  <a:pt x="0" y="53"/>
                </a:lnTo>
                <a:lnTo>
                  <a:pt x="34" y="65"/>
                </a:lnTo>
                <a:lnTo>
                  <a:pt x="28" y="86"/>
                </a:lnTo>
                <a:lnTo>
                  <a:pt x="22" y="111"/>
                </a:lnTo>
                <a:lnTo>
                  <a:pt x="19" y="128"/>
                </a:lnTo>
                <a:lnTo>
                  <a:pt x="16" y="148"/>
                </a:lnTo>
                <a:lnTo>
                  <a:pt x="12" y="171"/>
                </a:lnTo>
                <a:lnTo>
                  <a:pt x="9" y="195"/>
                </a:lnTo>
                <a:lnTo>
                  <a:pt x="6" y="220"/>
                </a:lnTo>
                <a:lnTo>
                  <a:pt x="5" y="239"/>
                </a:lnTo>
                <a:lnTo>
                  <a:pt x="3" y="263"/>
                </a:lnTo>
                <a:lnTo>
                  <a:pt x="1" y="286"/>
                </a:lnTo>
                <a:lnTo>
                  <a:pt x="1" y="304"/>
                </a:lnTo>
                <a:lnTo>
                  <a:pt x="0" y="326"/>
                </a:lnTo>
                <a:lnTo>
                  <a:pt x="1" y="345"/>
                </a:lnTo>
                <a:lnTo>
                  <a:pt x="2" y="369"/>
                </a:lnTo>
                <a:lnTo>
                  <a:pt x="4" y="391"/>
                </a:lnTo>
                <a:lnTo>
                  <a:pt x="7" y="419"/>
                </a:lnTo>
                <a:lnTo>
                  <a:pt x="11" y="448"/>
                </a:lnTo>
                <a:lnTo>
                  <a:pt x="14" y="472"/>
                </a:lnTo>
                <a:lnTo>
                  <a:pt x="18" y="495"/>
                </a:lnTo>
                <a:lnTo>
                  <a:pt x="22" y="515"/>
                </a:lnTo>
                <a:lnTo>
                  <a:pt x="26" y="533"/>
                </a:lnTo>
                <a:lnTo>
                  <a:pt x="32" y="555"/>
                </a:lnTo>
                <a:lnTo>
                  <a:pt x="38" y="573"/>
                </a:lnTo>
                <a:lnTo>
                  <a:pt x="46" y="594"/>
                </a:lnTo>
                <a:lnTo>
                  <a:pt x="55" y="616"/>
                </a:lnTo>
                <a:lnTo>
                  <a:pt x="62" y="633"/>
                </a:lnTo>
                <a:lnTo>
                  <a:pt x="72" y="653"/>
                </a:lnTo>
                <a:lnTo>
                  <a:pt x="79" y="667"/>
                </a:lnTo>
                <a:lnTo>
                  <a:pt x="85" y="677"/>
                </a:lnTo>
                <a:lnTo>
                  <a:pt x="96" y="694"/>
                </a:lnTo>
                <a:lnTo>
                  <a:pt x="117" y="721"/>
                </a:lnTo>
                <a:lnTo>
                  <a:pt x="96" y="682"/>
                </a:lnTo>
                <a:lnTo>
                  <a:pt x="87" y="663"/>
                </a:lnTo>
                <a:lnTo>
                  <a:pt x="79" y="645"/>
                </a:lnTo>
                <a:lnTo>
                  <a:pt x="72" y="626"/>
                </a:lnTo>
                <a:lnTo>
                  <a:pt x="66" y="608"/>
                </a:lnTo>
                <a:lnTo>
                  <a:pt x="61" y="588"/>
                </a:lnTo>
                <a:lnTo>
                  <a:pt x="56" y="568"/>
                </a:lnTo>
                <a:lnTo>
                  <a:pt x="52" y="551"/>
                </a:lnTo>
                <a:lnTo>
                  <a:pt x="49" y="532"/>
                </a:lnTo>
                <a:lnTo>
                  <a:pt x="46" y="511"/>
                </a:lnTo>
                <a:lnTo>
                  <a:pt x="44" y="490"/>
                </a:lnTo>
                <a:lnTo>
                  <a:pt x="42" y="474"/>
                </a:lnTo>
                <a:lnTo>
                  <a:pt x="41" y="453"/>
                </a:lnTo>
                <a:lnTo>
                  <a:pt x="40" y="431"/>
                </a:lnTo>
                <a:lnTo>
                  <a:pt x="40" y="411"/>
                </a:lnTo>
                <a:lnTo>
                  <a:pt x="40" y="391"/>
                </a:lnTo>
                <a:lnTo>
                  <a:pt x="40" y="364"/>
                </a:lnTo>
                <a:lnTo>
                  <a:pt x="42" y="337"/>
                </a:lnTo>
                <a:lnTo>
                  <a:pt x="43" y="312"/>
                </a:lnTo>
                <a:lnTo>
                  <a:pt x="45" y="290"/>
                </a:lnTo>
                <a:lnTo>
                  <a:pt x="48" y="264"/>
                </a:lnTo>
                <a:lnTo>
                  <a:pt x="51" y="244"/>
                </a:lnTo>
                <a:lnTo>
                  <a:pt x="54" y="222"/>
                </a:lnTo>
                <a:lnTo>
                  <a:pt x="58" y="198"/>
                </a:lnTo>
                <a:lnTo>
                  <a:pt x="61" y="178"/>
                </a:lnTo>
                <a:lnTo>
                  <a:pt x="66" y="152"/>
                </a:lnTo>
                <a:lnTo>
                  <a:pt x="71" y="133"/>
                </a:lnTo>
                <a:lnTo>
                  <a:pt x="80" y="105"/>
                </a:lnTo>
              </a:path>
            </a:pathLst>
          </a:custGeom>
          <a:gradFill rotWithShape="0">
            <a:gsLst>
              <a:gs pos="0">
                <a:srgbClr val="CECECE">
                  <a:alpha val="0"/>
                </a:srgbClr>
              </a:gs>
              <a:gs pos="99000">
                <a:schemeClr val="tx1">
                  <a:lumMod val="75000"/>
                  <a:lumOff val="25000"/>
                  <a:alpha val="34000"/>
                </a:schemeClr>
              </a:gs>
            </a:gsLst>
            <a:lin ang="18900000" scaled="1"/>
          </a:gradFill>
          <a:ln w="12700" cap="rnd">
            <a:noFill/>
            <a:round/>
            <a:headEnd/>
            <a:tailEnd/>
          </a:ln>
        </p:spPr>
        <p:txBody>
          <a:bodyPr/>
          <a:lstStyle/>
          <a:p>
            <a:endParaRPr lang="ko-KR" altLang="en-US" sz="1200" dirty="0">
              <a:latin typeface="KT Flow Thin" pitchFamily="2" charset="-127"/>
              <a:ea typeface="KT Flow Thin" pitchFamily="2" charset="-127"/>
            </a:endParaRPr>
          </a:p>
        </p:txBody>
      </p:sp>
      <p:pic>
        <p:nvPicPr>
          <p:cNvPr id="78" name="Picture 2" descr="ppt 별 아이콘 png, psd 무료 다운로드">
            <a:extLst>
              <a:ext uri="{FF2B5EF4-FFF2-40B4-BE49-F238E27FC236}">
                <a16:creationId xmlns:a16="http://schemas.microsoft.com/office/drawing/2014/main" id="{25E03496-C0A6-4289-AFD9-052CA8E03E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hq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3347" b="95816" l="3318" r="94313">
                        <a14:foregroundMark x1="5213" y1="39749" x2="5213" y2="39749"/>
                        <a14:foregroundMark x1="57820" y1="6276" x2="57820" y2="6276"/>
                        <a14:foregroundMark x1="90995" y1="25105" x2="90995" y2="25105"/>
                        <a14:foregroundMark x1="94313" y1="25523" x2="94313" y2="25523"/>
                        <a14:foregroundMark x1="18483" y1="91213" x2="18483" y2="91213"/>
                        <a14:foregroundMark x1="18483" y1="95816" x2="18483" y2="95816"/>
                        <a14:foregroundMark x1="56872" y1="3347" x2="56872" y2="334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946" y="2042734"/>
            <a:ext cx="306688" cy="347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043" name="Rectangle 42"/>
          <p:cNvSpPr/>
          <p:nvPr/>
        </p:nvSpPr>
        <p:spPr>
          <a:xfrm>
            <a:off x="4540250" y="64770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fld id="{B6F15528-21DE-4FAA-801E-634DDDAF4B2B}" type="slidenum"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46</a:t>
            </a:fld>
            <a:r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 / 49</a:t>
            </a:r>
            <a:endParaRPr lang="ko-KR" sz="600" b="0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20152342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  <p:sp>
        <p:nvSpPr>
          <p:cNvPr id="23" name="Rectangle 3">
            <a:extLst>
              <a:ext uri="{FF2B5EF4-FFF2-40B4-BE49-F238E27FC236}">
                <a16:creationId xmlns:a16="http://schemas.microsoft.com/office/drawing/2014/main" id="{95785B5B-6513-4FCF-87E8-1FF67185E303}"/>
              </a:ext>
            </a:extLst>
          </p:cNvPr>
          <p:cNvSpPr/>
          <p:nvPr/>
        </p:nvSpPr>
        <p:spPr>
          <a:xfrm>
            <a:off x="846138" y="660400"/>
            <a:ext cx="8461375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altLang="en-US" sz="2000" b="1" dirty="0">
                <a:solidFill>
                  <a:srgbClr val="000000"/>
                </a:solidFill>
                <a:latin typeface="페이퍼로지 8 ExtraBold"/>
                <a:ea typeface="페이퍼로지 8 ExtraBold"/>
              </a:rPr>
              <a:t>주기적인 </a:t>
            </a:r>
            <a:r>
              <a:rPr lang="ko-KR" altLang="en-US" sz="2000" b="1" dirty="0">
                <a:solidFill>
                  <a:srgbClr val="E30C60"/>
                </a:solidFill>
                <a:latin typeface="페이퍼로지 8 ExtraBold"/>
                <a:ea typeface="페이퍼로지 8 ExtraBold"/>
              </a:rPr>
              <a:t>전문 품질 컨설팅</a:t>
            </a:r>
            <a:r>
              <a:rPr lang="ko-KR" altLang="en-US" sz="2000" b="1" dirty="0">
                <a:solidFill>
                  <a:srgbClr val="000000"/>
                </a:solidFill>
                <a:latin typeface="페이퍼로지 8 ExtraBold"/>
                <a:ea typeface="페이퍼로지 8 ExtraBold"/>
              </a:rPr>
              <a:t>과</a:t>
            </a:r>
            <a:r>
              <a:rPr lang="ko-KR" altLang="en-US" sz="2000" b="1" dirty="0">
                <a:solidFill>
                  <a:srgbClr val="E30C60"/>
                </a:solidFill>
                <a:latin typeface="페이퍼로지 8 ExtraBold"/>
                <a:ea typeface="페이퍼로지 8 ExtraBold"/>
              </a:rPr>
              <a:t> </a:t>
            </a:r>
            <a:r>
              <a:rPr lang="ko-KR" sz="2000" b="1" dirty="0">
                <a:solidFill>
                  <a:srgbClr val="000000"/>
                </a:solidFill>
                <a:latin typeface="페이퍼로지 8 ExtraBold"/>
                <a:ea typeface="페이퍼로지 8 ExtraBold"/>
                <a:cs typeface="페이퍼로지 8 ExtraBold"/>
              </a:rPr>
              <a:t>KS-CQI 활용으로 서비스 품질을 높입니다</a:t>
            </a:r>
          </a:p>
        </p:txBody>
      </p:sp>
      <p:sp>
        <p:nvSpPr>
          <p:cNvPr id="24" name="Rectangle 4">
            <a:extLst>
              <a:ext uri="{FF2B5EF4-FFF2-40B4-BE49-F238E27FC236}">
                <a16:creationId xmlns:a16="http://schemas.microsoft.com/office/drawing/2014/main" id="{91A17375-F63C-4D68-B5EB-99675DBA5226}"/>
              </a:ext>
            </a:extLst>
          </p:cNvPr>
          <p:cNvSpPr/>
          <p:nvPr/>
        </p:nvSpPr>
        <p:spPr>
          <a:xfrm>
            <a:off x="846138" y="1079500"/>
            <a:ext cx="84613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전문 컨설팅 전담팀이 주기적으로 품질 컨설팅을 진행하고, KS-CQI(콜센터 품질지수)로 서비스 품질 향상을 도모하겠습니다.</a:t>
            </a:r>
          </a:p>
        </p:txBody>
      </p:sp>
      <p:sp>
        <p:nvSpPr>
          <p:cNvPr id="25" name="Rectangle 6">
            <a:extLst>
              <a:ext uri="{FF2B5EF4-FFF2-40B4-BE49-F238E27FC236}">
                <a16:creationId xmlns:a16="http://schemas.microsoft.com/office/drawing/2014/main" id="{472A1019-9E97-431E-8D28-0196B8001FB3}"/>
              </a:ext>
            </a:extLst>
          </p:cNvPr>
          <p:cNvSpPr/>
          <p:nvPr/>
        </p:nvSpPr>
        <p:spPr>
          <a:xfrm>
            <a:off x="660400" y="1346200"/>
            <a:ext cx="413688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ED2024"/>
                </a:solidFill>
                <a:latin typeface="페이퍼로지 8 ExtraBold"/>
                <a:ea typeface="페이퍼로지 8 ExtraBold"/>
                <a:cs typeface="페이퍼로지 8 ExtraBold"/>
              </a:rPr>
              <a:t>◆ </a:t>
            </a:r>
            <a:r>
              <a:rPr lang="ko-KR" sz="1000" b="1">
                <a:solidFill>
                  <a:srgbClr val="000000"/>
                </a:solidFill>
                <a:latin typeface="페이퍼로지 8 ExtraBold"/>
                <a:ea typeface="페이퍼로지 8 ExtraBold"/>
                <a:cs typeface="페이퍼로지 8 ExtraBold"/>
              </a:rPr>
              <a:t>전문 품질 컨설팅 진행 (연 1회)</a:t>
            </a:r>
          </a:p>
        </p:txBody>
      </p:sp>
      <p:sp>
        <p:nvSpPr>
          <p:cNvPr id="26" name="Rounded Rectangle 7">
            <a:extLst>
              <a:ext uri="{FF2B5EF4-FFF2-40B4-BE49-F238E27FC236}">
                <a16:creationId xmlns:a16="http://schemas.microsoft.com/office/drawing/2014/main" id="{B2B24A5F-0C35-47DB-AE98-5CA2659BF60A}"/>
              </a:ext>
            </a:extLst>
          </p:cNvPr>
          <p:cNvSpPr/>
          <p:nvPr/>
        </p:nvSpPr>
        <p:spPr>
          <a:xfrm>
            <a:off x="660400" y="1651000"/>
            <a:ext cx="4235377" cy="121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27" name="Rounded Rectangle 8">
            <a:extLst>
              <a:ext uri="{FF2B5EF4-FFF2-40B4-BE49-F238E27FC236}">
                <a16:creationId xmlns:a16="http://schemas.microsoft.com/office/drawing/2014/main" id="{6BBA3CDC-2FDE-4EDA-9664-A5199DC305A4}"/>
              </a:ext>
            </a:extLst>
          </p:cNvPr>
          <p:cNvSpPr/>
          <p:nvPr/>
        </p:nvSpPr>
        <p:spPr>
          <a:xfrm>
            <a:off x="778596" y="1752600"/>
            <a:ext cx="3998984" cy="279400"/>
          </a:xfrm>
          <a:prstGeom prst="roundRect">
            <a:avLst>
              <a:gd name="adj" fmla="val 50000"/>
            </a:avLst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정기 모니터링을 통한 품질 수준 점검 및 개선</a:t>
            </a:r>
          </a:p>
        </p:txBody>
      </p:sp>
      <p:sp>
        <p:nvSpPr>
          <p:cNvPr id="29" name="Rectangle 9">
            <a:extLst>
              <a:ext uri="{FF2B5EF4-FFF2-40B4-BE49-F238E27FC236}">
                <a16:creationId xmlns:a16="http://schemas.microsoft.com/office/drawing/2014/main" id="{4A6CF8E6-F6F8-4241-A928-86E5D9636586}"/>
              </a:ext>
            </a:extLst>
          </p:cNvPr>
          <p:cNvSpPr/>
          <p:nvPr/>
        </p:nvSpPr>
        <p:spPr>
          <a:xfrm>
            <a:off x="817995" y="2082800"/>
            <a:ext cx="2009342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ED2024"/>
                </a:solidFill>
                <a:latin typeface="페이퍼로지 8 ExtraBold"/>
                <a:ea typeface="페이퍼로지 8 ExtraBold"/>
                <a:cs typeface="페이퍼로지 8 ExtraBold"/>
              </a:rPr>
              <a:t>■  </a:t>
            </a:r>
            <a:r>
              <a:rPr lang="ko-KR" sz="900" b="0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제안사 내부 전문 컨설팅 인력 활용</a:t>
            </a:r>
          </a:p>
        </p:txBody>
      </p:sp>
      <p:sp>
        <p:nvSpPr>
          <p:cNvPr id="30" name="Rectangle 10">
            <a:extLst>
              <a:ext uri="{FF2B5EF4-FFF2-40B4-BE49-F238E27FC236}">
                <a16:creationId xmlns:a16="http://schemas.microsoft.com/office/drawing/2014/main" id="{CF1A0C90-8F82-4B93-AF78-F921D086D1D5}"/>
              </a:ext>
            </a:extLst>
          </p:cNvPr>
          <p:cNvSpPr/>
          <p:nvPr/>
        </p:nvSpPr>
        <p:spPr>
          <a:xfrm>
            <a:off x="2847037" y="2082800"/>
            <a:ext cx="2009342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ED2024"/>
                </a:solidFill>
                <a:latin typeface="페이퍼로지 8 ExtraBold"/>
                <a:ea typeface="페이퍼로지 8 ExtraBold"/>
                <a:cs typeface="페이퍼로지 8 ExtraBold"/>
              </a:rPr>
              <a:t>■  </a:t>
            </a:r>
            <a:r>
              <a:rPr lang="ko-KR" sz="900" b="0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연 1회 (기간·표본 크기 협의 가능)</a:t>
            </a:r>
          </a:p>
        </p:txBody>
      </p:sp>
      <p:sp>
        <p:nvSpPr>
          <p:cNvPr id="31" name="Rectangle 11">
            <a:extLst>
              <a:ext uri="{FF2B5EF4-FFF2-40B4-BE49-F238E27FC236}">
                <a16:creationId xmlns:a16="http://schemas.microsoft.com/office/drawing/2014/main" id="{BA17DDA8-E31B-485F-A36C-9F2C6A05AD34}"/>
              </a:ext>
            </a:extLst>
          </p:cNvPr>
          <p:cNvSpPr/>
          <p:nvPr/>
        </p:nvSpPr>
        <p:spPr>
          <a:xfrm>
            <a:off x="817995" y="2311400"/>
            <a:ext cx="2009342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ED2024"/>
                </a:solidFill>
                <a:latin typeface="페이퍼로지 8 ExtraBold"/>
                <a:ea typeface="페이퍼로지 8 ExtraBold"/>
                <a:cs typeface="페이퍼로지 8 ExtraBold"/>
              </a:rPr>
              <a:t>■  </a:t>
            </a:r>
            <a:r>
              <a:rPr lang="ko-KR" sz="900" b="0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고객센터 방문 및 최신 통계자료 확인</a:t>
            </a:r>
          </a:p>
        </p:txBody>
      </p:sp>
      <p:sp>
        <p:nvSpPr>
          <p:cNvPr id="32" name="Rectangle 12">
            <a:extLst>
              <a:ext uri="{FF2B5EF4-FFF2-40B4-BE49-F238E27FC236}">
                <a16:creationId xmlns:a16="http://schemas.microsoft.com/office/drawing/2014/main" id="{8AE5846B-4323-4D5F-BE88-5AF3B50E9BCD}"/>
              </a:ext>
            </a:extLst>
          </p:cNvPr>
          <p:cNvSpPr/>
          <p:nvPr/>
        </p:nvSpPr>
        <p:spPr>
          <a:xfrm>
            <a:off x="2847037" y="2311400"/>
            <a:ext cx="2009342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ED2024"/>
                </a:solidFill>
                <a:latin typeface="페이퍼로지 8 ExtraBold"/>
                <a:ea typeface="페이퍼로지 8 ExtraBold"/>
                <a:cs typeface="페이퍼로지 8 ExtraBold"/>
              </a:rPr>
              <a:t>■  </a:t>
            </a:r>
            <a:r>
              <a:rPr lang="ko-KR" sz="900" b="0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센터 상담품질 모니터링 · 수준 분석</a:t>
            </a:r>
          </a:p>
        </p:txBody>
      </p:sp>
      <p:sp>
        <p:nvSpPr>
          <p:cNvPr id="33" name="Rectangle 13">
            <a:extLst>
              <a:ext uri="{FF2B5EF4-FFF2-40B4-BE49-F238E27FC236}">
                <a16:creationId xmlns:a16="http://schemas.microsoft.com/office/drawing/2014/main" id="{F3988E53-5B4E-4F9D-959C-7B1F4EF5B388}"/>
              </a:ext>
            </a:extLst>
          </p:cNvPr>
          <p:cNvSpPr/>
          <p:nvPr/>
        </p:nvSpPr>
        <p:spPr>
          <a:xfrm>
            <a:off x="778596" y="2590800"/>
            <a:ext cx="3998984" cy="228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전문 품질 관리로 정기적 품질 수준 파악 및 개선 기회 마련</a:t>
            </a:r>
          </a:p>
        </p:txBody>
      </p:sp>
      <p:sp>
        <p:nvSpPr>
          <p:cNvPr id="34" name="Rounded Rectangle 14">
            <a:extLst>
              <a:ext uri="{FF2B5EF4-FFF2-40B4-BE49-F238E27FC236}">
                <a16:creationId xmlns:a16="http://schemas.microsoft.com/office/drawing/2014/main" id="{95D2579D-FF57-4A04-B987-599A6845D2A3}"/>
              </a:ext>
            </a:extLst>
          </p:cNvPr>
          <p:cNvSpPr/>
          <p:nvPr/>
        </p:nvSpPr>
        <p:spPr>
          <a:xfrm>
            <a:off x="660400" y="2971800"/>
            <a:ext cx="2088140" cy="3276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35" name="Rounded Rectangle 15">
            <a:extLst>
              <a:ext uri="{FF2B5EF4-FFF2-40B4-BE49-F238E27FC236}">
                <a16:creationId xmlns:a16="http://schemas.microsoft.com/office/drawing/2014/main" id="{A928304E-9195-43EA-B6EF-66645987A8A4}"/>
              </a:ext>
            </a:extLst>
          </p:cNvPr>
          <p:cNvSpPr/>
          <p:nvPr/>
        </p:nvSpPr>
        <p:spPr>
          <a:xfrm>
            <a:off x="916492" y="3073400"/>
            <a:ext cx="1575954" cy="279400"/>
          </a:xfrm>
          <a:prstGeom prst="roundRect">
            <a:avLst>
              <a:gd name="adj" fmla="val 50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000000"/>
                </a:solidFill>
                <a:latin typeface="페이퍼로지 8 ExtraBold"/>
                <a:ea typeface="페이퍼로지 8 ExtraBold"/>
                <a:cs typeface="페이퍼로지 8 ExtraBold"/>
              </a:rPr>
              <a:t>KS-CQI 기준 평가 결과</a:t>
            </a:r>
          </a:p>
        </p:txBody>
      </p:sp>
      <p:sp>
        <p:nvSpPr>
          <p:cNvPr id="36" name="Rounded Rectangle 16">
            <a:extLst>
              <a:ext uri="{FF2B5EF4-FFF2-40B4-BE49-F238E27FC236}">
                <a16:creationId xmlns:a16="http://schemas.microsoft.com/office/drawing/2014/main" id="{20E2B549-791C-4305-BE61-D66A4F5B12CE}"/>
              </a:ext>
            </a:extLst>
          </p:cNvPr>
          <p:cNvSpPr/>
          <p:nvPr/>
        </p:nvSpPr>
        <p:spPr>
          <a:xfrm>
            <a:off x="2807638" y="2971800"/>
            <a:ext cx="2088140" cy="3276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37" name="Rounded Rectangle 17">
            <a:extLst>
              <a:ext uri="{FF2B5EF4-FFF2-40B4-BE49-F238E27FC236}">
                <a16:creationId xmlns:a16="http://schemas.microsoft.com/office/drawing/2014/main" id="{A1FE829F-46C0-4DD4-95C4-7A3AF5FF3BB9}"/>
              </a:ext>
            </a:extLst>
          </p:cNvPr>
          <p:cNvSpPr/>
          <p:nvPr/>
        </p:nvSpPr>
        <p:spPr>
          <a:xfrm>
            <a:off x="3063730" y="3073400"/>
            <a:ext cx="1575954" cy="279400"/>
          </a:xfrm>
          <a:prstGeom prst="roundRect">
            <a:avLst>
              <a:gd name="adj" fmla="val 50000"/>
            </a:avLst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상담품질 향상을 위한 제안</a:t>
            </a:r>
          </a:p>
        </p:txBody>
      </p:sp>
      <p:sp>
        <p:nvSpPr>
          <p:cNvPr id="38" name="Rectangle 18">
            <a:extLst>
              <a:ext uri="{FF2B5EF4-FFF2-40B4-BE49-F238E27FC236}">
                <a16:creationId xmlns:a16="http://schemas.microsoft.com/office/drawing/2014/main" id="{4813FA2D-D0FB-40CC-B55B-8EA113E7537D}"/>
              </a:ext>
            </a:extLst>
          </p:cNvPr>
          <p:cNvSpPr/>
          <p:nvPr/>
        </p:nvSpPr>
        <p:spPr>
          <a:xfrm>
            <a:off x="758897" y="3429000"/>
            <a:ext cx="1910845" cy="939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전체평균 79.7점으로 2022년 KS-CQI(전화모니터링 83.2점)와 비교 시 </a:t>
            </a:r>
            <a:r>
              <a:rPr lang="ko-KR" sz="9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3.5점</a:t>
            </a:r>
            <a:r>
              <a:rPr lang="ko-KR" sz="900" b="0" dirty="0">
                <a:solidFill>
                  <a:srgbClr val="E30C60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lang="ko-KR" sz="900" b="0" dirty="0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낮은 반면, 상반기 모니터링(6월) 대비 77.5점에서 </a:t>
            </a:r>
            <a:r>
              <a:rPr lang="ko-KR" sz="9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2.2점</a:t>
            </a:r>
            <a:r>
              <a:rPr lang="ko-KR" sz="900" b="0" dirty="0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 소폭 향상된 것으로 확인됨</a:t>
            </a:r>
          </a:p>
        </p:txBody>
      </p:sp>
      <p:sp>
        <p:nvSpPr>
          <p:cNvPr id="39" name="Rectangle 19">
            <a:extLst>
              <a:ext uri="{FF2B5EF4-FFF2-40B4-BE49-F238E27FC236}">
                <a16:creationId xmlns:a16="http://schemas.microsoft.com/office/drawing/2014/main" id="{D2CAAD45-D260-4A34-AA78-AE35D10179F3}"/>
              </a:ext>
            </a:extLst>
          </p:cNvPr>
          <p:cNvSpPr/>
          <p:nvPr/>
        </p:nvSpPr>
        <p:spPr>
          <a:xfrm>
            <a:off x="758897" y="4445000"/>
            <a:ext cx="1910845" cy="431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ko-KR" sz="9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✓</a:t>
            </a:r>
            <a:r>
              <a:rPr lang="ko-KR" sz="900" b="1" dirty="0">
                <a:solidFill>
                  <a:srgbClr val="ED2024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  <a:r>
              <a:rPr lang="ko-KR" sz="900" b="0" dirty="0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상반기와 동일하게 적극성 부분이 강점이며, 친밀성이 가장 큰 약점으로 나타남</a:t>
            </a:r>
          </a:p>
        </p:txBody>
      </p:sp>
      <p:sp>
        <p:nvSpPr>
          <p:cNvPr id="40" name="Rectangle 20">
            <a:extLst>
              <a:ext uri="{FF2B5EF4-FFF2-40B4-BE49-F238E27FC236}">
                <a16:creationId xmlns:a16="http://schemas.microsoft.com/office/drawing/2014/main" id="{22A76F4B-5E32-447A-9FC3-9F3615DECF44}"/>
              </a:ext>
            </a:extLst>
          </p:cNvPr>
          <p:cNvSpPr/>
          <p:nvPr/>
        </p:nvSpPr>
        <p:spPr>
          <a:xfrm>
            <a:off x="758897" y="4953000"/>
            <a:ext cx="1910845" cy="736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ko-KR" sz="9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✓</a:t>
            </a:r>
            <a:r>
              <a:rPr lang="ko-KR" sz="900" b="1" dirty="0">
                <a:solidFill>
                  <a:srgbClr val="ED2024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  <a:r>
              <a:rPr lang="ko-KR" sz="900" b="0" dirty="0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가장 개선이 필요했던 올바른 / </a:t>
            </a:r>
            <a:r>
              <a:rPr lang="ko-KR" sz="900" b="0" dirty="0" err="1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예의바른</a:t>
            </a:r>
            <a:r>
              <a:rPr lang="ko-KR" sz="900" b="0" dirty="0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 표현, 상담환경 항목이 상반기 대비 모두 향상되어 지속적인 관심으로 꾸준한 관리가 필요함</a:t>
            </a:r>
          </a:p>
        </p:txBody>
      </p:sp>
      <p:sp>
        <p:nvSpPr>
          <p:cNvPr id="41" name="Rectangle 21">
            <a:extLst>
              <a:ext uri="{FF2B5EF4-FFF2-40B4-BE49-F238E27FC236}">
                <a16:creationId xmlns:a16="http://schemas.microsoft.com/office/drawing/2014/main" id="{128406D2-0ADF-4575-A794-5D7D6FB54E17}"/>
              </a:ext>
            </a:extLst>
          </p:cNvPr>
          <p:cNvSpPr/>
          <p:nvPr/>
        </p:nvSpPr>
        <p:spPr>
          <a:xfrm>
            <a:off x="758897" y="5740400"/>
            <a:ext cx="1910845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표현 21.8 → 32.2점 (+10.4)</a:t>
            </a:r>
          </a:p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상담환경 48.2 → 61점 (+12.8)</a:t>
            </a:r>
          </a:p>
        </p:txBody>
      </p:sp>
      <p:sp>
        <p:nvSpPr>
          <p:cNvPr id="42" name="Rectangle 22">
            <a:extLst>
              <a:ext uri="{FF2B5EF4-FFF2-40B4-BE49-F238E27FC236}">
                <a16:creationId xmlns:a16="http://schemas.microsoft.com/office/drawing/2014/main" id="{41A3EE98-48C9-4734-85BC-CF3EFC8ADF9D}"/>
              </a:ext>
            </a:extLst>
          </p:cNvPr>
          <p:cNvSpPr/>
          <p:nvPr/>
        </p:nvSpPr>
        <p:spPr>
          <a:xfrm>
            <a:off x="2886436" y="3429000"/>
            <a:ext cx="1930544" cy="276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ko-KR" sz="900" b="0" dirty="0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잘못된 표현 사용 지양 및 예의 바른 / 올바른 언어표현을 위한 교육 강화</a:t>
            </a:r>
          </a:p>
          <a:p>
            <a:pPr algn="l">
              <a:lnSpc>
                <a:spcPct val="125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· 반말투(50건), 명령형(24건), 정중하지 못한 표현(8건), </a:t>
            </a:r>
            <a:r>
              <a:rPr lang="ko-KR" sz="900" b="0" dirty="0" err="1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추측성</a:t>
            </a: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 표현(7건), 혼잣말(1건), 비전문적인 표현(190건)</a:t>
            </a:r>
          </a:p>
          <a:p>
            <a:pPr algn="l">
              <a:lnSpc>
                <a:spcPct val="125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· 입문 교육과정(</a:t>
            </a:r>
            <a:r>
              <a:rPr lang="ko-KR" sz="900" b="0" dirty="0" err="1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RP시간</a:t>
            </a: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)</a:t>
            </a:r>
            <a:r>
              <a:rPr lang="ko-KR" sz="900" b="0" dirty="0" err="1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부터</a:t>
            </a: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 예의 바른 / 올바른 표현 교육 체계화로 내재화 필요</a:t>
            </a:r>
          </a:p>
          <a:p>
            <a:pPr algn="l">
              <a:lnSpc>
                <a:spcPct val="125000"/>
              </a:lnSpc>
            </a:pPr>
            <a:r>
              <a:rPr lang="ko-KR" sz="900" b="0" dirty="0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상황에 맞는 호응어 및 공감표현 활용으로 고객과의 내적 친밀도 향상</a:t>
            </a:r>
          </a:p>
          <a:p>
            <a:pPr algn="l">
              <a:lnSpc>
                <a:spcPct val="125000"/>
              </a:lnSpc>
            </a:pPr>
            <a:r>
              <a:rPr lang="ko-KR" sz="900" b="0" dirty="0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상담환경 중 소음 과다 발생으로 헤드셋 및 상담부스의 면밀한 점검 후 센터 환경에 따라 </a:t>
            </a:r>
            <a:r>
              <a:rPr lang="ko-KR" sz="900" b="0" dirty="0" err="1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소음기</a:t>
            </a:r>
            <a:r>
              <a:rPr lang="ko-KR" sz="900" b="0" dirty="0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 설치 필요</a:t>
            </a:r>
          </a:p>
          <a:p>
            <a:pPr algn="l">
              <a:lnSpc>
                <a:spcPct val="125000"/>
              </a:lnSpc>
            </a:pPr>
            <a:r>
              <a:rPr lang="ko-KR" sz="900" b="0" dirty="0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종료인사 전 ‘추가문의’ 멘트 습관화로 적극적인 상담에 대한 고객 만족도 향상</a:t>
            </a:r>
          </a:p>
        </p:txBody>
      </p:sp>
      <p:sp>
        <p:nvSpPr>
          <p:cNvPr id="43" name="Rectangle 23">
            <a:extLst>
              <a:ext uri="{FF2B5EF4-FFF2-40B4-BE49-F238E27FC236}">
                <a16:creationId xmlns:a16="http://schemas.microsoft.com/office/drawing/2014/main" id="{CDEB5A84-59C2-4962-81C1-D4C729100499}"/>
              </a:ext>
            </a:extLst>
          </p:cNvPr>
          <p:cNvSpPr/>
          <p:nvPr/>
        </p:nvSpPr>
        <p:spPr>
          <a:xfrm>
            <a:off x="5013974" y="1346200"/>
            <a:ext cx="2954915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ED2024"/>
                </a:solidFill>
                <a:latin typeface="페이퍼로지 8 ExtraBold"/>
                <a:ea typeface="페이퍼로지 8 ExtraBold"/>
                <a:cs typeface="페이퍼로지 8 ExtraBold"/>
              </a:rPr>
              <a:t>◆ </a:t>
            </a:r>
            <a:r>
              <a:rPr lang="ko-KR" sz="1000" b="1">
                <a:solidFill>
                  <a:srgbClr val="000000"/>
                </a:solidFill>
                <a:latin typeface="페이퍼로지 8 ExtraBold"/>
                <a:ea typeface="페이퍼로지 8 ExtraBold"/>
                <a:cs typeface="페이퍼로지 8 ExtraBold"/>
              </a:rPr>
              <a:t>KS-CQI Monitoring Report</a:t>
            </a:r>
          </a:p>
        </p:txBody>
      </p:sp>
      <p:sp>
        <p:nvSpPr>
          <p:cNvPr id="44" name="Rectangle 24">
            <a:extLst>
              <a:ext uri="{FF2B5EF4-FFF2-40B4-BE49-F238E27FC236}">
                <a16:creationId xmlns:a16="http://schemas.microsoft.com/office/drawing/2014/main" id="{9B47714E-51F8-45A7-BACE-0D671DF6DE59}"/>
              </a:ext>
            </a:extLst>
          </p:cNvPr>
          <p:cNvSpPr/>
          <p:nvPr/>
        </p:nvSpPr>
        <p:spPr>
          <a:xfrm>
            <a:off x="8441675" y="1346200"/>
            <a:ext cx="886474" cy="254000"/>
          </a:xfrm>
          <a:prstGeom prst="rect">
            <a:avLst/>
          </a:prstGeom>
          <a:noFill/>
          <a:ln w="19050">
            <a:solidFill>
              <a:srgbClr val="ED20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rgbClr val="ED2024"/>
                </a:solidFill>
                <a:latin typeface="페이퍼로지 8 ExtraBold"/>
                <a:ea typeface="페이퍼로지 8 ExtraBold"/>
                <a:cs typeface="페이퍼로지 8 ExtraBold"/>
              </a:rPr>
              <a:t>SAMPLE</a:t>
            </a:r>
          </a:p>
        </p:txBody>
      </p:sp>
      <p:graphicFrame>
        <p:nvGraphicFramePr>
          <p:cNvPr id="45" name="Table 25">
            <a:extLst>
              <a:ext uri="{FF2B5EF4-FFF2-40B4-BE49-F238E27FC236}">
                <a16:creationId xmlns:a16="http://schemas.microsoft.com/office/drawing/2014/main" id="{FC6373FF-4C22-45C9-A2F8-3DCFCF1306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5438193"/>
              </p:ext>
            </p:extLst>
          </p:nvPr>
        </p:nvGraphicFramePr>
        <p:xfrm>
          <a:off x="5013974" y="1651000"/>
          <a:ext cx="4314172" cy="685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05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53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35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74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74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979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3247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ko-KR" sz="900" b="1" dirty="0">
                          <a:solidFill>
                            <a:srgbClr val="FFFFF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구분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00" b="1" dirty="0">
                          <a:solidFill>
                            <a:srgbClr val="FFFFF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평균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00" b="1" dirty="0">
                          <a:solidFill>
                            <a:srgbClr val="FFFFF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건수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00" b="1" dirty="0">
                          <a:solidFill>
                            <a:srgbClr val="FFFFF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편차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00" b="1" dirty="0">
                          <a:solidFill>
                            <a:srgbClr val="FFFFF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최고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00" b="1" dirty="0">
                          <a:solidFill>
                            <a:srgbClr val="FFFFF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최저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00" b="1" dirty="0">
                          <a:solidFill>
                            <a:srgbClr val="FFFFF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우수항목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00" b="1" dirty="0">
                          <a:solidFill>
                            <a:srgbClr val="FFFFF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개선필요 항목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lang="ko-KR" sz="7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요약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700" b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89.7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700" b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209건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7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9.4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7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98.0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7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71.0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700" b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문의내용·적극안내·업무지식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7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올바른/</a:t>
                      </a:r>
                      <a:r>
                        <a:rPr lang="ko-KR" sz="7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예의바른</a:t>
                      </a:r>
                      <a:r>
                        <a:rPr lang="ko-KR" sz="7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 </a:t>
                      </a:r>
                      <a:r>
                        <a:rPr lang="ko-KR" sz="7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표현·종료인사·공감·상담환경</a:t>
                      </a:r>
                      <a:endParaRPr lang="ko-KR" sz="7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페이퍼로지 5 Medium"/>
                        <a:ea typeface="페이퍼로지 5 Medium"/>
                        <a:cs typeface="페이퍼로지 5 Medium"/>
                      </a:endParaRP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6" name="Rectangle 27">
            <a:extLst>
              <a:ext uri="{FF2B5EF4-FFF2-40B4-BE49-F238E27FC236}">
                <a16:creationId xmlns:a16="http://schemas.microsoft.com/office/drawing/2014/main" id="{69A21126-3254-4CBA-9513-17B52E9FF529}"/>
              </a:ext>
            </a:extLst>
          </p:cNvPr>
          <p:cNvSpPr/>
          <p:nvPr/>
        </p:nvSpPr>
        <p:spPr>
          <a:xfrm>
            <a:off x="5092772" y="2399148"/>
            <a:ext cx="886474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000000"/>
                </a:solidFill>
                <a:latin typeface="페이퍼로지 8 ExtraBold"/>
                <a:ea typeface="페이퍼로지 8 ExtraBold"/>
                <a:cs typeface="페이퍼로지 8 ExtraBold"/>
              </a:rPr>
              <a:t>차원별 추이</a:t>
            </a:r>
          </a:p>
        </p:txBody>
      </p:sp>
      <p:sp>
        <p:nvSpPr>
          <p:cNvPr id="47" name="Rectangle 34">
            <a:extLst>
              <a:ext uri="{FF2B5EF4-FFF2-40B4-BE49-F238E27FC236}">
                <a16:creationId xmlns:a16="http://schemas.microsoft.com/office/drawing/2014/main" id="{51E9EA6E-560A-41BE-BE46-B076E63947A2}"/>
              </a:ext>
            </a:extLst>
          </p:cNvPr>
          <p:cNvSpPr/>
          <p:nvPr/>
        </p:nvSpPr>
        <p:spPr>
          <a:xfrm>
            <a:off x="7279408" y="2399148"/>
            <a:ext cx="886474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000000"/>
                </a:solidFill>
                <a:latin typeface="페이퍼로지 8 ExtraBold"/>
                <a:ea typeface="페이퍼로지 8 ExtraBold"/>
                <a:cs typeface="페이퍼로지 8 ExtraBold"/>
              </a:rPr>
              <a:t>근속별 결과</a:t>
            </a:r>
          </a:p>
        </p:txBody>
      </p:sp>
      <p:sp>
        <p:nvSpPr>
          <p:cNvPr id="48" name="Rounded Rectangle 36">
            <a:extLst>
              <a:ext uri="{FF2B5EF4-FFF2-40B4-BE49-F238E27FC236}">
                <a16:creationId xmlns:a16="http://schemas.microsoft.com/office/drawing/2014/main" id="{015CDBA8-E20D-4092-BF12-D0BB61E3022C}"/>
              </a:ext>
            </a:extLst>
          </p:cNvPr>
          <p:cNvSpPr/>
          <p:nvPr/>
        </p:nvSpPr>
        <p:spPr>
          <a:xfrm>
            <a:off x="5013974" y="4368800"/>
            <a:ext cx="4314175" cy="18980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49" name="Rectangle 37">
            <a:extLst>
              <a:ext uri="{FF2B5EF4-FFF2-40B4-BE49-F238E27FC236}">
                <a16:creationId xmlns:a16="http://schemas.microsoft.com/office/drawing/2014/main" id="{79A9E7F7-81DD-4E76-9B8C-449EA767F2E5}"/>
              </a:ext>
            </a:extLst>
          </p:cNvPr>
          <p:cNvSpPr/>
          <p:nvPr/>
        </p:nvSpPr>
        <p:spPr>
          <a:xfrm>
            <a:off x="5056800" y="4378040"/>
            <a:ext cx="1181966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 dirty="0">
                <a:solidFill>
                  <a:srgbClr val="000000"/>
                </a:solidFill>
                <a:latin typeface="페이퍼로지 8 ExtraBold"/>
                <a:ea typeface="페이퍼로지 8 ExtraBold"/>
                <a:cs typeface="페이퍼로지 8 ExtraBold"/>
              </a:rPr>
              <a:t>세부항목별 추이</a:t>
            </a:r>
          </a:p>
        </p:txBody>
      </p:sp>
      <p:graphicFrame>
        <p:nvGraphicFramePr>
          <p:cNvPr id="50" name="Chart 38">
            <a:extLst>
              <a:ext uri="{FF2B5EF4-FFF2-40B4-BE49-F238E27FC236}">
                <a16:creationId xmlns:a16="http://schemas.microsoft.com/office/drawing/2014/main" id="{93AC0D62-5116-4B74-9931-39C3867ECC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9880273"/>
              </p:ext>
            </p:extLst>
          </p:nvPr>
        </p:nvGraphicFramePr>
        <p:xfrm>
          <a:off x="5053371" y="4546600"/>
          <a:ext cx="4235377" cy="172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1" name="Chart 39">
            <a:extLst>
              <a:ext uri="{FF2B5EF4-FFF2-40B4-BE49-F238E27FC236}">
                <a16:creationId xmlns:a16="http://schemas.microsoft.com/office/drawing/2014/main" id="{717D6411-76A1-426A-9057-C7AD5782BF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9230604"/>
              </p:ext>
            </p:extLst>
          </p:nvPr>
        </p:nvGraphicFramePr>
        <p:xfrm>
          <a:off x="5080072" y="4521201"/>
          <a:ext cx="4254140" cy="18588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2" name="Rectangle 40">
            <a:extLst>
              <a:ext uri="{FF2B5EF4-FFF2-40B4-BE49-F238E27FC236}">
                <a16:creationId xmlns:a16="http://schemas.microsoft.com/office/drawing/2014/main" id="{77FC56E3-6C19-496B-8330-F0DEB1EC7555}"/>
              </a:ext>
            </a:extLst>
          </p:cNvPr>
          <p:cNvSpPr/>
          <p:nvPr/>
        </p:nvSpPr>
        <p:spPr>
          <a:xfrm>
            <a:off x="8120856" y="4428840"/>
            <a:ext cx="1103168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*</a:t>
            </a:r>
            <a:r>
              <a:rPr lang="ko-KR" sz="700" b="1" dirty="0">
                <a:solidFill>
                  <a:schemeClr val="bg1">
                    <a:lumMod val="50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2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6</a:t>
            </a:r>
            <a:r>
              <a:rPr lang="ko-KR" sz="700" b="1" dirty="0">
                <a:solidFill>
                  <a:schemeClr val="bg1">
                    <a:lumMod val="50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년 KS-CQI</a:t>
            </a:r>
          </a:p>
        </p:txBody>
      </p:sp>
      <p:graphicFrame>
        <p:nvGraphicFramePr>
          <p:cNvPr id="53" name="차트 52">
            <a:extLst>
              <a:ext uri="{FF2B5EF4-FFF2-40B4-BE49-F238E27FC236}">
                <a16:creationId xmlns:a16="http://schemas.microsoft.com/office/drawing/2014/main" id="{66F1E7B1-2AFF-4A1F-91E7-D4E85D6FCA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36808178"/>
              </p:ext>
            </p:extLst>
          </p:nvPr>
        </p:nvGraphicFramePr>
        <p:xfrm>
          <a:off x="5004597" y="2360828"/>
          <a:ext cx="2088139" cy="18745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54" name="차트 53">
            <a:extLst>
              <a:ext uri="{FF2B5EF4-FFF2-40B4-BE49-F238E27FC236}">
                <a16:creationId xmlns:a16="http://schemas.microsoft.com/office/drawing/2014/main" id="{48C45185-F857-4DB2-AA42-605C5C8E4E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27570151"/>
              </p:ext>
            </p:extLst>
          </p:nvPr>
        </p:nvGraphicFramePr>
        <p:xfrm>
          <a:off x="7151835" y="2360829"/>
          <a:ext cx="2176312" cy="18745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55" name="Rectangle 2">
            <a:extLst>
              <a:ext uri="{FF2B5EF4-FFF2-40B4-BE49-F238E27FC236}">
                <a16:creationId xmlns:a16="http://schemas.microsoft.com/office/drawing/2014/main" id="{EA857131-C17A-4143-87B5-F9ADF80B08C5}"/>
              </a:ext>
            </a:extLst>
          </p:cNvPr>
          <p:cNvSpPr/>
          <p:nvPr/>
        </p:nvSpPr>
        <p:spPr>
          <a:xfrm>
            <a:off x="1929606" y="381000"/>
            <a:ext cx="61912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altLang="ko-KR" sz="900" b="1" dirty="0">
                <a:solidFill>
                  <a:srgbClr val="A50034"/>
                </a:solidFill>
                <a:latin typeface="페이퍼로지 8 ExtraBold"/>
                <a:ea typeface="페이퍼로지 8 ExtraBold"/>
              </a:rPr>
              <a:t>4-3. </a:t>
            </a:r>
            <a:r>
              <a:rPr lang="ko-KR" altLang="en-US" sz="900" b="1" dirty="0">
                <a:solidFill>
                  <a:srgbClr val="A50034"/>
                </a:solidFill>
                <a:latin typeface="페이퍼로지 8 ExtraBold"/>
                <a:ea typeface="페이퍼로지 8 ExtraBold"/>
              </a:rPr>
              <a:t>기타 제안 </a:t>
            </a:r>
            <a:r>
              <a:rPr lang="en-US" altLang="ko-KR" sz="900" b="1" dirty="0">
                <a:solidFill>
                  <a:srgbClr val="A50034"/>
                </a:solidFill>
                <a:latin typeface="페이퍼로지 8 ExtraBold"/>
                <a:ea typeface="페이퍼로지 8 ExtraBold"/>
              </a:rPr>
              <a:t>· </a:t>
            </a:r>
            <a:r>
              <a:rPr lang="ko-KR" altLang="en-US" sz="900" b="1" dirty="0">
                <a:solidFill>
                  <a:srgbClr val="A50034"/>
                </a:solidFill>
                <a:latin typeface="페이퍼로지 8 ExtraBold"/>
                <a:ea typeface="페이퍼로지 8 ExtraBold"/>
              </a:rPr>
              <a:t>전문 품질 컨설팅</a:t>
            </a:r>
          </a:p>
        </p:txBody>
      </p:sp>
      <p:sp>
        <p:nvSpPr>
          <p:cNvPr id="9044" name="Rectangle 42"/>
          <p:cNvSpPr/>
          <p:nvPr/>
        </p:nvSpPr>
        <p:spPr>
          <a:xfrm>
            <a:off x="4540250" y="64770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fld id="{B6F15528-21DE-4FAA-801E-634DDDAF4B2B}" type="slidenum"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47</a:t>
            </a:fld>
            <a:r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 / 49</a:t>
            </a:r>
            <a:endParaRPr lang="ko-KR" sz="600" b="0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325930718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  <p:sp>
        <p:nvSpPr>
          <p:cNvPr id="56" name="Rectangle 3">
            <a:extLst>
              <a:ext uri="{FF2B5EF4-FFF2-40B4-BE49-F238E27FC236}">
                <a16:creationId xmlns:a16="http://schemas.microsoft.com/office/drawing/2014/main" id="{01B1D6C4-C1BD-411B-AE98-0E2BCBD65A31}"/>
              </a:ext>
            </a:extLst>
          </p:cNvPr>
          <p:cNvSpPr/>
          <p:nvPr/>
        </p:nvSpPr>
        <p:spPr>
          <a:xfrm>
            <a:off x="846138" y="660400"/>
            <a:ext cx="8461375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000" b="1" dirty="0" err="1">
                <a:solidFill>
                  <a:srgbClr val="000000"/>
                </a:solidFill>
                <a:latin typeface="페이퍼로지 8 ExtraBold"/>
                <a:ea typeface="페이퍼로지 8 ExtraBold"/>
                <a:cs typeface="페이퍼로지 8 ExtraBold"/>
              </a:rPr>
              <a:t>KT의</a:t>
            </a:r>
            <a:r>
              <a:rPr lang="ko-KR" sz="2000" b="1" dirty="0">
                <a:solidFill>
                  <a:srgbClr val="000000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  <a:r>
              <a:rPr lang="en-US" altLang="ko-KR" sz="2000" b="1" dirty="0">
                <a:solidFill>
                  <a:srgbClr val="E30C60"/>
                </a:solidFill>
                <a:latin typeface="페이퍼로지 8 ExtraBold"/>
                <a:ea typeface="페이퍼로지 8 ExtraBold"/>
              </a:rPr>
              <a:t>AICC </a:t>
            </a:r>
            <a:r>
              <a:rPr lang="ko-KR" altLang="en-US" sz="2000" b="1" dirty="0">
                <a:solidFill>
                  <a:srgbClr val="E30C60"/>
                </a:solidFill>
                <a:latin typeface="페이퍼로지 8 ExtraBold"/>
                <a:ea typeface="페이퍼로지 8 ExtraBold"/>
              </a:rPr>
              <a:t>운영 경험</a:t>
            </a:r>
            <a:r>
              <a:rPr lang="ko-KR" sz="2000" b="1" dirty="0">
                <a:solidFill>
                  <a:srgbClr val="000000"/>
                </a:solidFill>
                <a:latin typeface="페이퍼로지 8 ExtraBold"/>
                <a:ea typeface="페이퍼로지 8 ExtraBold"/>
                <a:cs typeface="페이퍼로지 8 ExtraBold"/>
              </a:rPr>
              <a:t>으로 AI 상담의 현장 정착을 돕겠습니다</a:t>
            </a:r>
          </a:p>
        </p:txBody>
      </p:sp>
      <p:sp>
        <p:nvSpPr>
          <p:cNvPr id="57" name="Rectangle 4">
            <a:extLst>
              <a:ext uri="{FF2B5EF4-FFF2-40B4-BE49-F238E27FC236}">
                <a16:creationId xmlns:a16="http://schemas.microsoft.com/office/drawing/2014/main" id="{628952C0-C48D-4345-B599-684429DB615D}"/>
              </a:ext>
            </a:extLst>
          </p:cNvPr>
          <p:cNvSpPr/>
          <p:nvPr/>
        </p:nvSpPr>
        <p:spPr>
          <a:xfrm>
            <a:off x="846138" y="1079500"/>
            <a:ext cx="84613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AICC를 직접 운영해 온 경험을 바탕으로, 매년 AI 컨설팅과 고객사 초청 벤치마킹을 지원하겠습니다.</a:t>
            </a:r>
          </a:p>
        </p:txBody>
      </p:sp>
      <p:pic>
        <p:nvPicPr>
          <p:cNvPr id="58" name="FIT_ai" descr="ai_fit.jpg">
            <a:extLst>
              <a:ext uri="{FF2B5EF4-FFF2-40B4-BE49-F238E27FC236}">
                <a16:creationId xmlns:a16="http://schemas.microsoft.com/office/drawing/2014/main" id="{65FD39F1-D62E-4465-8873-0FA910E0BD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00" y="1524000"/>
            <a:ext cx="3979285" cy="3810000"/>
          </a:xfrm>
          <a:prstGeom prst="rect">
            <a:avLst/>
          </a:prstGeom>
        </p:spPr>
      </p:pic>
      <p:sp>
        <p:nvSpPr>
          <p:cNvPr id="59" name="Rounded Rectangle 7">
            <a:extLst>
              <a:ext uri="{FF2B5EF4-FFF2-40B4-BE49-F238E27FC236}">
                <a16:creationId xmlns:a16="http://schemas.microsoft.com/office/drawing/2014/main" id="{15723786-4A17-44A8-B7B5-4BEB44A7B074}"/>
              </a:ext>
            </a:extLst>
          </p:cNvPr>
          <p:cNvSpPr/>
          <p:nvPr/>
        </p:nvSpPr>
        <p:spPr>
          <a:xfrm>
            <a:off x="660400" y="5435600"/>
            <a:ext cx="3979285" cy="76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5100" tIns="101600" rIns="165100" bIns="101600" rtlCol="0" anchor="ctr"/>
          <a:lstStyle/>
          <a:p>
            <a:pPr algn="l">
              <a:lnSpc>
                <a:spcPct val="135000"/>
              </a:lnSpc>
            </a:pPr>
            <a:r>
              <a:rPr lang="ko-KR" sz="1100" b="1" dirty="0">
                <a:solidFill>
                  <a:srgbClr val="000000"/>
                </a:solidFill>
                <a:latin typeface="페이퍼로지 8 ExtraBold"/>
                <a:ea typeface="페이퍼로지 8 ExtraBold"/>
                <a:cs typeface="페이퍼로지 8 ExtraBold"/>
              </a:rPr>
              <a:t>AI 콜센터 · AI 상담사</a:t>
            </a:r>
          </a:p>
          <a:p>
            <a:pPr algn="l">
              <a:lnSpc>
                <a:spcPct val="135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사람의 공감과 </a:t>
            </a:r>
            <a:r>
              <a:rPr lang="ko-KR" sz="900" b="0" dirty="0" err="1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AI의</a:t>
            </a: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 정확성이 함께 일하는 상담 환경</a:t>
            </a:r>
          </a:p>
        </p:txBody>
      </p:sp>
      <p:sp>
        <p:nvSpPr>
          <p:cNvPr id="60" name="Rounded Rectangle 8">
            <a:extLst>
              <a:ext uri="{FF2B5EF4-FFF2-40B4-BE49-F238E27FC236}">
                <a16:creationId xmlns:a16="http://schemas.microsoft.com/office/drawing/2014/main" id="{79449800-1C26-4D55-8DFE-A3857E5AE008}"/>
              </a:ext>
            </a:extLst>
          </p:cNvPr>
          <p:cNvSpPr/>
          <p:nvPr/>
        </p:nvSpPr>
        <p:spPr>
          <a:xfrm>
            <a:off x="4757881" y="1524000"/>
            <a:ext cx="4570268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dirty="0"/>
          </a:p>
        </p:txBody>
      </p:sp>
      <p:sp>
        <p:nvSpPr>
          <p:cNvPr id="61" name="Rectangle 9">
            <a:extLst>
              <a:ext uri="{FF2B5EF4-FFF2-40B4-BE49-F238E27FC236}">
                <a16:creationId xmlns:a16="http://schemas.microsoft.com/office/drawing/2014/main" id="{60CC74E8-7705-4B40-BDE3-D9EAA54FD96D}"/>
              </a:ext>
            </a:extLst>
          </p:cNvPr>
          <p:cNvSpPr/>
          <p:nvPr/>
        </p:nvSpPr>
        <p:spPr>
          <a:xfrm>
            <a:off x="4757881" y="1524000"/>
            <a:ext cx="49248" cy="2286000"/>
          </a:xfrm>
          <a:prstGeom prst="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62" name="Picture 10" descr="e950_E30C60.png">
            <a:extLst>
              <a:ext uri="{FF2B5EF4-FFF2-40B4-BE49-F238E27FC236}">
                <a16:creationId xmlns:a16="http://schemas.microsoft.com/office/drawing/2014/main" id="{6BD9B3AA-3D02-4105-BC61-74C0EB2C61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4876" y="1731349"/>
            <a:ext cx="256092" cy="256092"/>
          </a:xfrm>
          <a:prstGeom prst="rect">
            <a:avLst/>
          </a:prstGeom>
        </p:spPr>
      </p:pic>
      <p:sp>
        <p:nvSpPr>
          <p:cNvPr id="63" name="Rectangle 11">
            <a:extLst>
              <a:ext uri="{FF2B5EF4-FFF2-40B4-BE49-F238E27FC236}">
                <a16:creationId xmlns:a16="http://schemas.microsoft.com/office/drawing/2014/main" id="{DDDF40EE-53C4-4FB2-A4E2-A7CB6BFFE1B8}"/>
              </a:ext>
            </a:extLst>
          </p:cNvPr>
          <p:cNvSpPr/>
          <p:nvPr/>
        </p:nvSpPr>
        <p:spPr>
          <a:xfrm>
            <a:off x="5289766" y="1651000"/>
            <a:ext cx="2954915" cy="431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5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  <a:r>
              <a:rPr lang="ko-KR" sz="1500" b="1" dirty="0">
                <a:solidFill>
                  <a:srgbClr val="ED2024"/>
                </a:solidFill>
                <a:latin typeface="페이퍼로지 8 ExtraBold"/>
                <a:ea typeface="페이퍼로지 8 ExtraBold"/>
                <a:cs typeface="페이퍼로지 8 ExtraBold"/>
              </a:rPr>
              <a:t>  </a:t>
            </a:r>
            <a:r>
              <a:rPr lang="ko-KR" sz="1500" b="1" dirty="0">
                <a:solidFill>
                  <a:srgbClr val="000000"/>
                </a:solidFill>
                <a:latin typeface="페이퍼로지 8 ExtraBold"/>
                <a:ea typeface="페이퍼로지 8 ExtraBold"/>
                <a:cs typeface="페이퍼로지 8 ExtraBold"/>
              </a:rPr>
              <a:t>AICC 운영 경험</a:t>
            </a:r>
          </a:p>
        </p:txBody>
      </p:sp>
      <p:sp>
        <p:nvSpPr>
          <p:cNvPr id="64" name="Rounded Rectangle 12">
            <a:extLst>
              <a:ext uri="{FF2B5EF4-FFF2-40B4-BE49-F238E27FC236}">
                <a16:creationId xmlns:a16="http://schemas.microsoft.com/office/drawing/2014/main" id="{AA8CA2DD-145D-4CED-B814-CF00F8484494}"/>
              </a:ext>
            </a:extLst>
          </p:cNvPr>
          <p:cNvSpPr/>
          <p:nvPr/>
        </p:nvSpPr>
        <p:spPr>
          <a:xfrm>
            <a:off x="8461375" y="1727200"/>
            <a:ext cx="709179" cy="279400"/>
          </a:xfrm>
          <a:prstGeom prst="roundRect">
            <a:avLst>
              <a:gd name="adj" fmla="val 50000"/>
            </a:avLst>
          </a:prstGeom>
          <a:solidFill>
            <a:srgbClr val="FF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 dirty="0" err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KT그룹</a:t>
            </a:r>
            <a:endParaRPr lang="ko-KR" sz="900" b="1" dirty="0">
              <a:solidFill>
                <a:srgbClr val="E30C60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65" name="Rounded Rectangle 13">
            <a:extLst>
              <a:ext uri="{FF2B5EF4-FFF2-40B4-BE49-F238E27FC236}">
                <a16:creationId xmlns:a16="http://schemas.microsoft.com/office/drawing/2014/main" id="{1388D102-7996-4D75-AAB5-690444DDFA6D}"/>
              </a:ext>
            </a:extLst>
          </p:cNvPr>
          <p:cNvSpPr/>
          <p:nvPr/>
        </p:nvSpPr>
        <p:spPr>
          <a:xfrm>
            <a:off x="4954876" y="2159000"/>
            <a:ext cx="4215678" cy="381000"/>
          </a:xfrm>
          <a:prstGeom prst="roundRect">
            <a:avLst>
              <a:gd name="adj" fmla="val 4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200" b="1" dirty="0">
                <a:solidFill>
                  <a:schemeClr val="bg1"/>
                </a:solidFill>
                <a:latin typeface="페이퍼로지 8 ExtraBold"/>
                <a:ea typeface="페이퍼로지 8 ExtraBold"/>
                <a:cs typeface="페이퍼로지 8 ExtraBold"/>
              </a:rPr>
              <a:t>AI 솔루션 </a:t>
            </a:r>
            <a:r>
              <a:rPr lang="ko-KR" sz="12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+</a:t>
            </a:r>
            <a:r>
              <a:rPr lang="ko-KR" sz="1200" b="1" dirty="0">
                <a:solidFill>
                  <a:srgbClr val="ED2024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  <a:r>
              <a:rPr lang="ko-KR" sz="1200" b="1" dirty="0">
                <a:solidFill>
                  <a:schemeClr val="bg1"/>
                </a:solidFill>
                <a:latin typeface="페이퍼로지 8 ExtraBold"/>
                <a:ea typeface="페이퍼로지 8 ExtraBold"/>
                <a:cs typeface="페이퍼로지 8 ExtraBold"/>
              </a:rPr>
              <a:t>AI 전문인력 </a:t>
            </a:r>
            <a:r>
              <a:rPr lang="ko-KR" sz="12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= AI 활성화</a:t>
            </a:r>
          </a:p>
        </p:txBody>
      </p:sp>
      <p:sp>
        <p:nvSpPr>
          <p:cNvPr id="66" name="Rectangle 14">
            <a:extLst>
              <a:ext uri="{FF2B5EF4-FFF2-40B4-BE49-F238E27FC236}">
                <a16:creationId xmlns:a16="http://schemas.microsoft.com/office/drawing/2014/main" id="{F55D8F41-2BCF-4BA5-AB15-51480523D0DD}"/>
              </a:ext>
            </a:extLst>
          </p:cNvPr>
          <p:cNvSpPr/>
          <p:nvPr/>
        </p:nvSpPr>
        <p:spPr>
          <a:xfrm>
            <a:off x="4954876" y="2692400"/>
            <a:ext cx="4215678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1" dirty="0">
                <a:solidFill>
                  <a:srgbClr val="ED2024"/>
                </a:solidFill>
                <a:latin typeface="페이퍼로지 8 ExtraBold"/>
                <a:ea typeface="페이퍼로지 8 ExtraBold"/>
                <a:cs typeface="페이퍼로지 8 ExtraBold"/>
              </a:rPr>
              <a:t>■  </a:t>
            </a:r>
            <a:r>
              <a:rPr lang="ko-KR" sz="1000" b="0" dirty="0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AI </a:t>
            </a:r>
            <a:r>
              <a:rPr lang="ko-KR" sz="1000" b="0" dirty="0" err="1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큐레이터</a:t>
            </a:r>
            <a:r>
              <a:rPr lang="ko-KR" sz="1000" b="0" dirty="0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 조직 기반 AI 지식 관리</a:t>
            </a:r>
          </a:p>
        </p:txBody>
      </p:sp>
      <p:sp>
        <p:nvSpPr>
          <p:cNvPr id="67" name="Rectangle 15">
            <a:extLst>
              <a:ext uri="{FF2B5EF4-FFF2-40B4-BE49-F238E27FC236}">
                <a16:creationId xmlns:a16="http://schemas.microsoft.com/office/drawing/2014/main" id="{C9B3E2BD-26F9-4102-B519-2C0FFD106672}"/>
              </a:ext>
            </a:extLst>
          </p:cNvPr>
          <p:cNvSpPr/>
          <p:nvPr/>
        </p:nvSpPr>
        <p:spPr>
          <a:xfrm>
            <a:off x="4954876" y="3022600"/>
            <a:ext cx="4215678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1" dirty="0">
                <a:solidFill>
                  <a:srgbClr val="ED2024"/>
                </a:solidFill>
                <a:latin typeface="페이퍼로지 8 ExtraBold"/>
                <a:ea typeface="페이퍼로지 8 ExtraBold"/>
                <a:cs typeface="페이퍼로지 8 ExtraBold"/>
              </a:rPr>
              <a:t>■  </a:t>
            </a:r>
            <a:r>
              <a:rPr lang="ko-KR" sz="1000" b="0" dirty="0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지식 </a:t>
            </a:r>
            <a:r>
              <a:rPr lang="ko-KR" sz="1000" b="0" dirty="0" err="1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큐레이션</a:t>
            </a:r>
            <a:r>
              <a:rPr lang="ko-KR" sz="1000" b="0" dirty="0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 체계화 · AI 학습 데이터 가공</a:t>
            </a:r>
          </a:p>
        </p:txBody>
      </p:sp>
      <p:sp>
        <p:nvSpPr>
          <p:cNvPr id="68" name="Rectangle 16">
            <a:extLst>
              <a:ext uri="{FF2B5EF4-FFF2-40B4-BE49-F238E27FC236}">
                <a16:creationId xmlns:a16="http://schemas.microsoft.com/office/drawing/2014/main" id="{971D6450-FD60-4580-812B-2FEBF7DFF9A9}"/>
              </a:ext>
            </a:extLst>
          </p:cNvPr>
          <p:cNvSpPr/>
          <p:nvPr/>
        </p:nvSpPr>
        <p:spPr>
          <a:xfrm>
            <a:off x="4954876" y="3352800"/>
            <a:ext cx="4215678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1" dirty="0">
                <a:solidFill>
                  <a:srgbClr val="ED2024"/>
                </a:solidFill>
                <a:latin typeface="페이퍼로지 8 ExtraBold"/>
                <a:ea typeface="페이퍼로지 8 ExtraBold"/>
                <a:cs typeface="페이퍼로지 8 ExtraBold"/>
              </a:rPr>
              <a:t>■  </a:t>
            </a:r>
            <a:r>
              <a:rPr lang="ko-KR" sz="1000" b="0" dirty="0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STT · TA 분석 기반 상담 품질 관리</a:t>
            </a:r>
          </a:p>
        </p:txBody>
      </p:sp>
      <p:sp>
        <p:nvSpPr>
          <p:cNvPr id="69" name="Rounded Rectangle 17">
            <a:extLst>
              <a:ext uri="{FF2B5EF4-FFF2-40B4-BE49-F238E27FC236}">
                <a16:creationId xmlns:a16="http://schemas.microsoft.com/office/drawing/2014/main" id="{F0BBF029-CD68-4704-A17E-9A763116B92A}"/>
              </a:ext>
            </a:extLst>
          </p:cNvPr>
          <p:cNvSpPr/>
          <p:nvPr/>
        </p:nvSpPr>
        <p:spPr>
          <a:xfrm>
            <a:off x="4757881" y="3911600"/>
            <a:ext cx="4570268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70" name="Rectangle 18">
            <a:extLst>
              <a:ext uri="{FF2B5EF4-FFF2-40B4-BE49-F238E27FC236}">
                <a16:creationId xmlns:a16="http://schemas.microsoft.com/office/drawing/2014/main" id="{1A110ADB-AF99-4686-B50F-018D279E229D}"/>
              </a:ext>
            </a:extLst>
          </p:cNvPr>
          <p:cNvSpPr/>
          <p:nvPr/>
        </p:nvSpPr>
        <p:spPr>
          <a:xfrm>
            <a:off x="4757881" y="3911600"/>
            <a:ext cx="49248" cy="2286000"/>
          </a:xfrm>
          <a:prstGeom prst="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71" name="Picture 19" descr="e9d9_E30C60.png">
            <a:extLst>
              <a:ext uri="{FF2B5EF4-FFF2-40B4-BE49-F238E27FC236}">
                <a16:creationId xmlns:a16="http://schemas.microsoft.com/office/drawing/2014/main" id="{992C2869-C188-478C-A1A6-A40F36F64C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4876" y="4118949"/>
            <a:ext cx="256092" cy="256092"/>
          </a:xfrm>
          <a:prstGeom prst="rect">
            <a:avLst/>
          </a:prstGeom>
        </p:spPr>
      </p:pic>
      <p:sp>
        <p:nvSpPr>
          <p:cNvPr id="72" name="Rectangle 20">
            <a:extLst>
              <a:ext uri="{FF2B5EF4-FFF2-40B4-BE49-F238E27FC236}">
                <a16:creationId xmlns:a16="http://schemas.microsoft.com/office/drawing/2014/main" id="{5326EF11-1D6C-494D-A92A-434443CD4769}"/>
              </a:ext>
            </a:extLst>
          </p:cNvPr>
          <p:cNvSpPr/>
          <p:nvPr/>
        </p:nvSpPr>
        <p:spPr>
          <a:xfrm>
            <a:off x="5289766" y="4038600"/>
            <a:ext cx="2954915" cy="431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5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  <a:r>
              <a:rPr lang="ko-KR" sz="1500" b="1" dirty="0">
                <a:solidFill>
                  <a:srgbClr val="ED2024"/>
                </a:solidFill>
                <a:latin typeface="페이퍼로지 8 ExtraBold"/>
                <a:ea typeface="페이퍼로지 8 ExtraBold"/>
                <a:cs typeface="페이퍼로지 8 ExtraBold"/>
              </a:rPr>
              <a:t>  </a:t>
            </a:r>
            <a:r>
              <a:rPr lang="ko-KR" sz="1500" b="1" dirty="0">
                <a:solidFill>
                  <a:srgbClr val="000000"/>
                </a:solidFill>
                <a:latin typeface="페이퍼로지 8 ExtraBold"/>
                <a:ea typeface="페이퍼로지 8 ExtraBold"/>
                <a:cs typeface="페이퍼로지 8 ExtraBold"/>
              </a:rPr>
              <a:t>AICC 컨설팅 · 벤치마킹</a:t>
            </a:r>
          </a:p>
        </p:txBody>
      </p:sp>
      <p:sp>
        <p:nvSpPr>
          <p:cNvPr id="73" name="Rounded Rectangle 21">
            <a:extLst>
              <a:ext uri="{FF2B5EF4-FFF2-40B4-BE49-F238E27FC236}">
                <a16:creationId xmlns:a16="http://schemas.microsoft.com/office/drawing/2014/main" id="{D49C920F-F707-401A-BAEC-B3C3D660F82C}"/>
              </a:ext>
            </a:extLst>
          </p:cNvPr>
          <p:cNvSpPr/>
          <p:nvPr/>
        </p:nvSpPr>
        <p:spPr>
          <a:xfrm>
            <a:off x="8461375" y="4114800"/>
            <a:ext cx="709179" cy="279400"/>
          </a:xfrm>
          <a:prstGeom prst="roundRect">
            <a:avLst>
              <a:gd name="adj" fmla="val 50000"/>
            </a:avLst>
          </a:prstGeom>
          <a:solidFill>
            <a:srgbClr val="FF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연 1회</a:t>
            </a:r>
          </a:p>
        </p:txBody>
      </p:sp>
      <p:sp>
        <p:nvSpPr>
          <p:cNvPr id="74" name="Rounded Rectangle 22">
            <a:extLst>
              <a:ext uri="{FF2B5EF4-FFF2-40B4-BE49-F238E27FC236}">
                <a16:creationId xmlns:a16="http://schemas.microsoft.com/office/drawing/2014/main" id="{A25AE16B-686C-4AA4-A7E3-6408BCE125E2}"/>
              </a:ext>
            </a:extLst>
          </p:cNvPr>
          <p:cNvSpPr/>
          <p:nvPr/>
        </p:nvSpPr>
        <p:spPr>
          <a:xfrm>
            <a:off x="4954876" y="4546600"/>
            <a:ext cx="4215678" cy="381000"/>
          </a:xfrm>
          <a:prstGeom prst="roundRect">
            <a:avLst>
              <a:gd name="adj" fmla="val 4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200" b="1" dirty="0" err="1">
                <a:solidFill>
                  <a:schemeClr val="bg1"/>
                </a:solidFill>
                <a:latin typeface="페이퍼로지 8 ExtraBold"/>
                <a:ea typeface="페이퍼로지 8 ExtraBold"/>
                <a:cs typeface="페이퍼로지 8 ExtraBold"/>
              </a:rPr>
              <a:t>LG전자</a:t>
            </a:r>
            <a:r>
              <a:rPr lang="ko-KR" sz="1200" b="1" dirty="0">
                <a:solidFill>
                  <a:schemeClr val="bg1"/>
                </a:solidFill>
                <a:latin typeface="페이퍼로지 8 ExtraBold"/>
                <a:ea typeface="페이퍼로지 8 ExtraBold"/>
                <a:cs typeface="페이퍼로지 8 ExtraBold"/>
              </a:rPr>
              <a:t> 상담 AI 고도화 시 </a:t>
            </a:r>
            <a:r>
              <a:rPr lang="ko-KR" sz="12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컨설팅 · 벤치마킹 지원</a:t>
            </a:r>
          </a:p>
        </p:txBody>
      </p:sp>
      <p:sp>
        <p:nvSpPr>
          <p:cNvPr id="75" name="Rectangle 23">
            <a:extLst>
              <a:ext uri="{FF2B5EF4-FFF2-40B4-BE49-F238E27FC236}">
                <a16:creationId xmlns:a16="http://schemas.microsoft.com/office/drawing/2014/main" id="{AA03EE6D-90CC-4A5F-A283-A020C1787069}"/>
              </a:ext>
            </a:extLst>
          </p:cNvPr>
          <p:cNvSpPr/>
          <p:nvPr/>
        </p:nvSpPr>
        <p:spPr>
          <a:xfrm>
            <a:off x="4954876" y="5080000"/>
            <a:ext cx="4215678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1" dirty="0">
                <a:solidFill>
                  <a:srgbClr val="ED2024"/>
                </a:solidFill>
                <a:latin typeface="페이퍼로지 8 ExtraBold"/>
                <a:ea typeface="페이퍼로지 8 ExtraBold"/>
                <a:cs typeface="페이퍼로지 8 ExtraBold"/>
              </a:rPr>
              <a:t>■  </a:t>
            </a:r>
            <a:r>
              <a:rPr lang="en-US" altLang="ko-KR" sz="1000" b="0" dirty="0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KT AICC</a:t>
            </a:r>
            <a:r>
              <a:rPr lang="ko-KR" altLang="en-US" sz="1000" b="0" dirty="0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솔루션 </a:t>
            </a:r>
            <a:r>
              <a:rPr lang="ko-KR" altLang="en-US" sz="1000" dirty="0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소개 및 컨설팅 제안</a:t>
            </a:r>
            <a:endParaRPr lang="ko-KR" sz="1000" b="0" dirty="0">
              <a:solidFill>
                <a:srgbClr val="000000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76" name="Rectangle 24">
            <a:extLst>
              <a:ext uri="{FF2B5EF4-FFF2-40B4-BE49-F238E27FC236}">
                <a16:creationId xmlns:a16="http://schemas.microsoft.com/office/drawing/2014/main" id="{ACE9E229-CB17-4FE3-8EA9-7D152B3EC4C0}"/>
              </a:ext>
            </a:extLst>
          </p:cNvPr>
          <p:cNvSpPr/>
          <p:nvPr/>
        </p:nvSpPr>
        <p:spPr>
          <a:xfrm>
            <a:off x="4954876" y="5410200"/>
            <a:ext cx="4215678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1">
                <a:solidFill>
                  <a:srgbClr val="ED2024"/>
                </a:solidFill>
                <a:latin typeface="페이퍼로지 8 ExtraBold"/>
                <a:ea typeface="페이퍼로지 8 ExtraBold"/>
                <a:cs typeface="페이퍼로지 8 ExtraBold"/>
              </a:rPr>
              <a:t>■  </a:t>
            </a:r>
            <a:r>
              <a:rPr lang="ko-KR" sz="1000" b="0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AICC 고객사 초청 벤치마킹</a:t>
            </a:r>
          </a:p>
        </p:txBody>
      </p:sp>
      <p:sp>
        <p:nvSpPr>
          <p:cNvPr id="77" name="Rectangle 25">
            <a:extLst>
              <a:ext uri="{FF2B5EF4-FFF2-40B4-BE49-F238E27FC236}">
                <a16:creationId xmlns:a16="http://schemas.microsoft.com/office/drawing/2014/main" id="{313308DF-532B-4DA6-8E0F-2694FFCA3902}"/>
              </a:ext>
            </a:extLst>
          </p:cNvPr>
          <p:cNvSpPr/>
          <p:nvPr/>
        </p:nvSpPr>
        <p:spPr>
          <a:xfrm>
            <a:off x="4954876" y="5740400"/>
            <a:ext cx="4215678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1">
                <a:solidFill>
                  <a:srgbClr val="ED2024"/>
                </a:solidFill>
                <a:latin typeface="페이퍼로지 8 ExtraBold"/>
                <a:ea typeface="페이퍼로지 8 ExtraBold"/>
                <a:cs typeface="페이퍼로지 8 ExtraBold"/>
              </a:rPr>
              <a:t>■  </a:t>
            </a:r>
            <a:r>
              <a:rPr lang="ko-KR" sz="1000" b="0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우수 운영 사례 공유 · 적용 과제 도출</a:t>
            </a:r>
          </a:p>
        </p:txBody>
      </p:sp>
      <p:sp>
        <p:nvSpPr>
          <p:cNvPr id="78" name="Rectangle 2">
            <a:extLst>
              <a:ext uri="{FF2B5EF4-FFF2-40B4-BE49-F238E27FC236}">
                <a16:creationId xmlns:a16="http://schemas.microsoft.com/office/drawing/2014/main" id="{4AE6BCEF-3365-4B80-AAD0-9BDF4CB801DA}"/>
              </a:ext>
            </a:extLst>
          </p:cNvPr>
          <p:cNvSpPr/>
          <p:nvPr/>
        </p:nvSpPr>
        <p:spPr>
          <a:xfrm>
            <a:off x="1929606" y="381000"/>
            <a:ext cx="61912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altLang="ko-KR" sz="900" b="1" dirty="0">
                <a:solidFill>
                  <a:srgbClr val="A50034"/>
                </a:solidFill>
                <a:latin typeface="페이퍼로지 8 ExtraBold"/>
                <a:ea typeface="페이퍼로지 8 ExtraBold"/>
              </a:rPr>
              <a:t>4-3. </a:t>
            </a:r>
            <a:r>
              <a:rPr lang="ko-KR" altLang="en-US" sz="900" b="1" dirty="0">
                <a:solidFill>
                  <a:srgbClr val="A50034"/>
                </a:solidFill>
                <a:latin typeface="페이퍼로지 8 ExtraBold"/>
                <a:ea typeface="페이퍼로지 8 ExtraBold"/>
              </a:rPr>
              <a:t>기타 제안 </a:t>
            </a:r>
            <a:r>
              <a:rPr lang="en-US" altLang="ko-KR" sz="900" b="1" dirty="0">
                <a:solidFill>
                  <a:srgbClr val="A50034"/>
                </a:solidFill>
                <a:latin typeface="페이퍼로지 8 ExtraBold"/>
                <a:ea typeface="페이퍼로지 8 ExtraBold"/>
              </a:rPr>
              <a:t>· AICC </a:t>
            </a:r>
            <a:r>
              <a:rPr lang="ko-KR" altLang="en-US" sz="900" b="1" dirty="0">
                <a:solidFill>
                  <a:srgbClr val="A50034"/>
                </a:solidFill>
                <a:latin typeface="페이퍼로지 8 ExtraBold"/>
                <a:ea typeface="페이퍼로지 8 ExtraBold"/>
              </a:rPr>
              <a:t>컨설팅</a:t>
            </a:r>
          </a:p>
        </p:txBody>
      </p:sp>
      <p:sp>
        <p:nvSpPr>
          <p:cNvPr id="9045" name="Rectangle 42"/>
          <p:cNvSpPr/>
          <p:nvPr/>
        </p:nvSpPr>
        <p:spPr>
          <a:xfrm>
            <a:off x="4540250" y="64770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fld id="{B6F15528-21DE-4FAA-801E-634DDDAF4B2B}" type="slidenum"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48</a:t>
            </a:fld>
            <a:r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 / 49</a:t>
            </a:r>
            <a:endParaRPr lang="ko-KR" sz="600" b="0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393789984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end_famil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0"/>
            <a:ext cx="6141720" cy="6858000"/>
          </a:xfrm>
          <a:prstGeom prst="rect">
            <a:avLst/>
          </a:prstGeom>
          <a:gradFill rotWithShape="1">
            <a:gsLst>
              <a:gs pos="0">
                <a:srgbClr val="10151F">
                  <a:alpha val="62000"/>
                </a:srgbClr>
              </a:gs>
              <a:gs pos="100000">
                <a:srgbClr val="10151F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58800" y="1092200"/>
            <a:ext cx="4826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10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고객경험의 현재와 미래를 연결합니다.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8800" y="1320800"/>
            <a:ext cx="5334000" cy="2634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60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AX Contact Platform Company, </a:t>
            </a:r>
            <a:endParaRPr sz="1600" dirty="0">
              <a:solidFill>
                <a:srgbClr val="FF5A64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58800" y="2235200"/>
            <a:ext cx="4826000" cy="812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440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감사합니다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9600" y="3327400"/>
            <a:ext cx="3175000" cy="0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09600" y="3505200"/>
            <a:ext cx="4064000" cy="889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40000"/>
              </a:lnSpc>
            </a:pPr>
            <a:r>
              <a:rPr sz="160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“우리의 가장 큰 경쟁력은</a:t>
            </a:r>
          </a:p>
          <a:p>
            <a:pPr>
              <a:lnSpc>
                <a:spcPct val="140000"/>
              </a:lnSpc>
            </a:pPr>
            <a:r>
              <a:rPr sz="1600">
                <a:solidFill>
                  <a:srgbClr val="FF7AA3"/>
                </a:solidFill>
                <a:latin typeface="페이퍼로지 8 ExtraBold"/>
                <a:ea typeface="페이퍼로지 8 ExtraBold"/>
                <a:cs typeface="페이퍼로지 8 ExtraBold"/>
              </a:rPr>
              <a:t>‘사람’입니다.”</a:t>
            </a:r>
          </a:p>
          <a:p>
            <a:pPr>
              <a:lnSpc>
                <a:spcPct val="140000"/>
              </a:lnSpc>
            </a:pPr>
            <a:r>
              <a:rPr sz="900">
                <a:solidFill>
                  <a:srgbClr val="D5D8DE"/>
                </a:solidFill>
                <a:latin typeface="페이퍼로지 4 Regular"/>
                <a:ea typeface="페이퍼로지 4 Regular"/>
                <a:cs typeface="페이퍼로지 4 Regular"/>
              </a:rPr>
              <a:t>— 하이텔레서비스 대표이사 인사말 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4597400"/>
            <a:ext cx="41910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110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KT IS도 같은 마음으로 사람을 지키고 키워,</a:t>
            </a:r>
          </a:p>
          <a:p>
            <a:pPr>
              <a:lnSpc>
                <a:spcPct val="150000"/>
              </a:lnSpc>
            </a:pPr>
            <a:r>
              <a:rPr sz="110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LG전자 고객의 </a:t>
            </a:r>
            <a:r>
              <a:rPr sz="1100">
                <a:solidFill>
                  <a:srgbClr val="FF7AA3"/>
                </a:solidFill>
                <a:latin typeface="페이퍼로지 8 ExtraBold"/>
                <a:ea typeface="페이퍼로지 8 ExtraBold"/>
                <a:cs typeface="페이퍼로지 8 ExtraBold"/>
              </a:rPr>
              <a:t>First Contact</a:t>
            </a:r>
            <a:r>
              <a:rPr sz="110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를 함께 지키겠습니다.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9600" y="5384800"/>
            <a:ext cx="3175000" cy="0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09600" y="5511800"/>
            <a:ext cx="4064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00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2026. 10.   제안사 ㈜케이티아이에스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2432" y="167579"/>
            <a:ext cx="1593568" cy="472083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1754" y="1422398"/>
            <a:ext cx="342053" cy="15875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페이퍼로지 8 ExtraBold"/>
        <a:ea typeface="페이퍼로지 8 ExtraBold"/>
        <a:cs typeface="페이퍼로지 7 Bold"/>
      </a:majorFont>
      <a:minorFont>
        <a:latin typeface="페이퍼로지 5 Medium"/>
        <a:ea typeface="페이퍼로지 5 Medium"/>
        <a:cs typeface="페이퍼로지 5 Medium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페이퍼로지 8 ExtraBold"/>
        <a:ea typeface="페이퍼로지 8 ExtraBold"/>
        <a:cs typeface="페이퍼로지 7 Bold"/>
      </a:majorFont>
      <a:minorFont>
        <a:latin typeface="페이퍼로지 5 Medium"/>
        <a:ea typeface="페이퍼로지 5 Medium"/>
        <a:cs typeface="페이퍼로지 5 Medium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페이퍼로지 8 ExtraBold" panose="020F0302020204030204"/>
        <a:ea typeface="페이퍼로지 8 ExtraBold"/>
        <a:cs typeface="페이퍼로지 7 Bold"/>
        <a:font script="Jpan" typeface="페이퍼로지 5 Medium"/>
        <a:font script="Hang" typeface="페이퍼로지 8 ExtraBold"/>
        <a:font script="Hans" typeface="페이퍼로지 5 Medium"/>
        <a:font script="Hant" typeface="페이퍼로지 5 Medium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페이퍼로지 5 Medium" panose="020F0502020204030204"/>
        <a:ea typeface="페이퍼로지 5 Medium"/>
        <a:cs typeface="페이퍼로지 5 Medium"/>
        <a:font script="Jpan" typeface="페이퍼로지 5 Medium"/>
        <a:font script="Hang" typeface="페이퍼로지 5 Medium"/>
        <a:font script="Hans" typeface="페이퍼로지 5 Medium"/>
        <a:font script="Hant" typeface="페이퍼로지 5 Medium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hatGPT">
    <a:dk1>
      <a:srgbClr val="000000"/>
    </a:dk1>
    <a:lt1>
      <a:srgbClr val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6076</TotalTime>
  <Words>12902</Words>
  <Application>Microsoft Office PowerPoint</Application>
  <DocSecurity>0</DocSecurity>
  <PresentationFormat>A4 용지(210x297mm)</PresentationFormat>
  <Paragraphs>2352</Paragraphs>
  <Slides>49</Slides>
  <Notes>49</Notes>
  <HiddenSlides>0</HiddenSlides>
  <MMClips>1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49</vt:i4>
      </vt:variant>
    </vt:vector>
  </HeadingPairs>
  <TitlesOfParts>
    <vt:vector size="57" baseType="lpstr">
      <vt:lpstr>페이퍼로지 7 Bold</vt:lpstr>
      <vt:lpstr>페이퍼로지 9 Black</vt:lpstr>
      <vt:lpstr>Arial</vt:lpstr>
      <vt:lpstr>페이퍼로지 8 ExtraBold</vt:lpstr>
      <vt:lpstr>kt flow thin</vt:lpstr>
      <vt:lpstr>페이퍼로지 5 Medium</vt:lpstr>
      <vt:lpstr>페이퍼로지 4 Regular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강성호</cp:lastModifiedBy>
  <cp:revision>223</cp:revision>
  <dcterms:created xsi:type="dcterms:W3CDTF">2026-09-24T15:36:20Z</dcterms:created>
  <dcterms:modified xsi:type="dcterms:W3CDTF">2026-10-07T12:30:28Z</dcterms:modified>
</cp:coreProperties>
</file>